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0"/>
    <p:sldId id="257" r:id="rId51"/>
    <p:sldId id="258" r:id="rId52"/>
    <p:sldId id="259" r:id="rId53"/>
    <p:sldId id="260" r:id="rId54"/>
    <p:sldId id="261" r:id="rId55"/>
    <p:sldId id="262" r:id="rId56"/>
    <p:sldId id="263" r:id="rId57"/>
    <p:sldId id="264" r:id="rId58"/>
    <p:sldId id="265" r:id="rId59"/>
    <p:sldId id="266" r:id="rId60"/>
    <p:sldId id="267" r:id="rId61"/>
    <p:sldId id="268" r:id="rId62"/>
    <p:sldId id="269" r:id="rId63"/>
    <p:sldId id="270" r:id="rId64"/>
    <p:sldId id="271" r:id="rId65"/>
    <p:sldId id="272" r:id="rId66"/>
    <p:sldId id="273" r:id="rId67"/>
    <p:sldId id="274" r:id="rId68"/>
    <p:sldId id="275" r:id="rId69"/>
    <p:sldId id="276" r:id="rId70"/>
    <p:sldId id="277" r:id="rId71"/>
    <p:sldId id="278" r:id="rId72"/>
    <p:sldId id="279" r:id="rId73"/>
    <p:sldId id="280" r:id="rId74"/>
    <p:sldId id="281" r:id="rId75"/>
    <p:sldId id="282" r:id="rId76"/>
    <p:sldId id="283" r:id="rId77"/>
    <p:sldId id="284" r:id="rId78"/>
    <p:sldId id="285" r:id="rId79"/>
    <p:sldId id="286" r:id="rId80"/>
    <p:sldId id="287" r:id="rId81"/>
    <p:sldId id="288" r:id="rId82"/>
    <p:sldId id="289" r:id="rId83"/>
    <p:sldId id="290" r:id="rId84"/>
    <p:sldId id="291" r:id="rId85"/>
    <p:sldId id="292" r:id="rId86"/>
    <p:sldId id="293" r:id="rId87"/>
    <p:sldId id="294" r:id="rId88"/>
    <p:sldId id="295" r:id="rId89"/>
    <p:sldId id="296" r:id="rId90"/>
    <p:sldId id="297" r:id="rId91"/>
    <p:sldId id="298" r:id="rId92"/>
    <p:sldId id="299" r:id="rId93"/>
    <p:sldId id="300" r:id="rId94"/>
    <p:sldId id="301" r:id="rId95"/>
    <p:sldId id="302" r:id="rId96"/>
    <p:sldId id="303" r:id="rId97"/>
    <p:sldId id="304" r:id="rId98"/>
    <p:sldId id="305" r:id="rId99"/>
    <p:sldId id="306" r:id="rId100"/>
    <p:sldId id="307" r:id="rId101"/>
    <p:sldId id="308" r:id="rId102"/>
    <p:sldId id="309" r:id="rId103"/>
    <p:sldId id="310" r:id="rId104"/>
    <p:sldId id="311" r:id="rId105"/>
    <p:sldId id="312" r:id="rId106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3.xml"/><Relationship Id="rId63" Type="http://schemas.openxmlformats.org/officeDocument/2006/relationships/slide" Target="slides/slide14.xml"/><Relationship Id="rId64" Type="http://schemas.openxmlformats.org/officeDocument/2006/relationships/slide" Target="slides/slide15.xml"/><Relationship Id="rId65" Type="http://schemas.openxmlformats.org/officeDocument/2006/relationships/slide" Target="slides/slide16.xml"/><Relationship Id="rId66" Type="http://schemas.openxmlformats.org/officeDocument/2006/relationships/slide" Target="slides/slide17.xml"/><Relationship Id="rId67" Type="http://schemas.openxmlformats.org/officeDocument/2006/relationships/slide" Target="slides/slide18.xml"/><Relationship Id="rId68" Type="http://schemas.openxmlformats.org/officeDocument/2006/relationships/slide" Target="slides/slide19.xml"/><Relationship Id="rId69" Type="http://schemas.openxmlformats.org/officeDocument/2006/relationships/slide" Target="slides/slide20.xml"/><Relationship Id="rId70" Type="http://schemas.openxmlformats.org/officeDocument/2006/relationships/slide" Target="slides/slide21.xml"/><Relationship Id="rId71" Type="http://schemas.openxmlformats.org/officeDocument/2006/relationships/slide" Target="slides/slide22.xml"/><Relationship Id="rId72" Type="http://schemas.openxmlformats.org/officeDocument/2006/relationships/slide" Target="slides/slide23.xml"/><Relationship Id="rId73" Type="http://schemas.openxmlformats.org/officeDocument/2006/relationships/slide" Target="slides/slide24.xml"/><Relationship Id="rId74" Type="http://schemas.openxmlformats.org/officeDocument/2006/relationships/slide" Target="slides/slide25.xml"/><Relationship Id="rId75" Type="http://schemas.openxmlformats.org/officeDocument/2006/relationships/slide" Target="slides/slide26.xml"/><Relationship Id="rId76" Type="http://schemas.openxmlformats.org/officeDocument/2006/relationships/slide" Target="slides/slide27.xml"/><Relationship Id="rId77" Type="http://schemas.openxmlformats.org/officeDocument/2006/relationships/slide" Target="slides/slide28.xml"/><Relationship Id="rId78" Type="http://schemas.openxmlformats.org/officeDocument/2006/relationships/slide" Target="slides/slide29.xml"/><Relationship Id="rId79" Type="http://schemas.openxmlformats.org/officeDocument/2006/relationships/slide" Target="slides/slide30.xml"/><Relationship Id="rId80" Type="http://schemas.openxmlformats.org/officeDocument/2006/relationships/slide" Target="slides/slide31.xml"/><Relationship Id="rId81" Type="http://schemas.openxmlformats.org/officeDocument/2006/relationships/slide" Target="slides/slide32.xml"/><Relationship Id="rId82" Type="http://schemas.openxmlformats.org/officeDocument/2006/relationships/slide" Target="slides/slide33.xml"/><Relationship Id="rId83" Type="http://schemas.openxmlformats.org/officeDocument/2006/relationships/slide" Target="slides/slide34.xml"/><Relationship Id="rId84" Type="http://schemas.openxmlformats.org/officeDocument/2006/relationships/slide" Target="slides/slide35.xml"/><Relationship Id="rId85" Type="http://schemas.openxmlformats.org/officeDocument/2006/relationships/slide" Target="slides/slide36.xml"/><Relationship Id="rId86" Type="http://schemas.openxmlformats.org/officeDocument/2006/relationships/slide" Target="slides/slide37.xml"/><Relationship Id="rId87" Type="http://schemas.openxmlformats.org/officeDocument/2006/relationships/slide" Target="slides/slide38.xml"/><Relationship Id="rId88" Type="http://schemas.openxmlformats.org/officeDocument/2006/relationships/slide" Target="slides/slide39.xml"/><Relationship Id="rId89" Type="http://schemas.openxmlformats.org/officeDocument/2006/relationships/slide" Target="slides/slide40.xml"/><Relationship Id="rId90" Type="http://schemas.openxmlformats.org/officeDocument/2006/relationships/slide" Target="slides/slide41.xml"/><Relationship Id="rId91" Type="http://schemas.openxmlformats.org/officeDocument/2006/relationships/slide" Target="slides/slide42.xml"/><Relationship Id="rId92" Type="http://schemas.openxmlformats.org/officeDocument/2006/relationships/slide" Target="slides/slide43.xml"/><Relationship Id="rId93" Type="http://schemas.openxmlformats.org/officeDocument/2006/relationships/slide" Target="slides/slide44.xml"/><Relationship Id="rId94" Type="http://schemas.openxmlformats.org/officeDocument/2006/relationships/slide" Target="slides/slide45.xml"/><Relationship Id="rId95" Type="http://schemas.openxmlformats.org/officeDocument/2006/relationships/slide" Target="slides/slide46.xml"/><Relationship Id="rId96" Type="http://schemas.openxmlformats.org/officeDocument/2006/relationships/slide" Target="slides/slide47.xml"/><Relationship Id="rId97" Type="http://schemas.openxmlformats.org/officeDocument/2006/relationships/slide" Target="slides/slide48.xml"/><Relationship Id="rId98" Type="http://schemas.openxmlformats.org/officeDocument/2006/relationships/slide" Target="slides/slide49.xml"/><Relationship Id="rId99" Type="http://schemas.openxmlformats.org/officeDocument/2006/relationships/slide" Target="slides/slide50.xml"/><Relationship Id="rId100" Type="http://schemas.openxmlformats.org/officeDocument/2006/relationships/slide" Target="slides/slide51.xml"/><Relationship Id="rId101" Type="http://schemas.openxmlformats.org/officeDocument/2006/relationships/slide" Target="slides/slide52.xml"/><Relationship Id="rId102" Type="http://schemas.openxmlformats.org/officeDocument/2006/relationships/slide" Target="slides/slide53.xml"/><Relationship Id="rId103" Type="http://schemas.openxmlformats.org/officeDocument/2006/relationships/slide" Target="slides/slide54.xml"/><Relationship Id="rId104" Type="http://schemas.openxmlformats.org/officeDocument/2006/relationships/slide" Target="slides/slide55.xml"/><Relationship Id="rId105" Type="http://schemas.openxmlformats.org/officeDocument/2006/relationships/slide" Target="slides/slide56.xml"/><Relationship Id="rId106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0--15 min: Motivation --- representations vs abstract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15--45 min: Kets as vectors, rays, normalization, global phase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45--70 min: Bras (informal), amplitudes,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70--90 min: Notation dictionary: ket $\leftrightarrow$ column vector $\leftrightarrow$ wavefunction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state as equivalence class $|\psi\rangle \sim e^{i\theta}|\psi\rangle$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 amplitudes and Born-rule probabilities $P(a_i)=|\langle a_i|\psi\rangle|^2$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the discrete-basis dictionary $c_n = \langle n|\psi\rangle$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Sakurai (operational) and Dirac (axiomatic) perspectives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completeness, normalization, and global-phase invariance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 1/2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equiv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 2/2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1430000" cy="5577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5577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11192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11265408" cy="5166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high-school level the goal is to build the single most important intuition: a quantum amplitude is a complex number (an arrow in the plane), and probability is its squared length.  Superposition is simply arrow addition, which immediately explains interference.  No Hilbert-space vocabulary is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2707804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091919"/>
            <a:ext cx="1542288" cy="4450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66494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89354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56077"/>
            <a:ext cx="1350264" cy="4450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" y="355594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38912" y="37916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38912" y="40202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182770"/>
            <a:ext cx="2630424" cy="2682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8912" y="450585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4154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38912" y="49701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132680"/>
            <a:ext cx="1990344" cy="4511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8912" y="563864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Complex Numbers as Arrows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 plane — z = a+ib as a 2D vector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COMPLEX NUMBER?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is a 2D vector in a plane.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77696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17877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has two axes: real (a) and imaginary (b).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4535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FORM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682164"/>
            <a:ext cx="2002536" cy="3779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11498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length (magnitude). θ is the angle (phase).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35066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IDENTITY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9266"/>
            <a:ext cx="2450592" cy="2682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912" y="390235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squared magnitude is always real and non-negative.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38912" y="426400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QM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38912" y="449260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amplitudes ARE complex numbers. The probability is their squared magnitude.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Complex Numbers as Arrows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Magnitude Squared as Probability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|A|² — squaring gives a valid probability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SQUARED AS PROBABILITY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BORN RULE (HIGH SCHOOL VERSION)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describing a process.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50264" cy="4450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23973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we SQUARE? Two reasons: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45966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— POSITIVITY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826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must be ≥ 0. Complex numbers can be negative or imaginary. Squaring always gives a non-negative real number.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31758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 — INTERFERENCE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8912" y="340446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used |A| instead of |A|², the interference term would look different. Only |A|² gives the correct two-slit experiment result.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8912" y="389206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PICTURE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8912" y="412066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shows: |z|² = (squared length) = the area of the square on the hypotenuse. It is always the sum of the squares of the sides.</a:t>
            </a:r>
            <a:endParaRPr lang="en-US" sz="9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Magnitude Squared as Probability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Superposition and Interference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amplitude arrows — constructive vs destructive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AND INTERFERENCE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processes can both contribute to an outcome, we ADD their amplitudes (not their probabilities).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240536" cy="32613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05101"/>
            <a:ext cx="2630424" cy="2682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0134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INTERFERENCE TERM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72994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term 2Re(A₁*A₂) is interference. It can be positive (constructive) or negative (destructive).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309158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CONTROLS THE SIGN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3320186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0: arrows align → P = 4 (maximum, constructive).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3482721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π: arrows cancel → P = 0 (minimum, destructive).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38912" y="3645256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π/2: perpendicular → P = 2 (no interference).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Superposition and Interference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Phase Dependence of Probability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P(φ) = 2 + 2cosφ — the interference pattern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DEPENDENCE OF PROBABILITY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INTERFERENCE 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A₁ = 1 and A₂ = e^{iφ}. As we vary the relative phase φ: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990344" cy="4511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30322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GRAPH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31821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 = 4 at φ = 0, 2π (constructive). Minimum P = 0 at φ = π (destructive). The oscillation between 0 and 4 is a hallmark of wave-like behaviour.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01942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248025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used probabilities directly (not amplitudes), we would get P = P₁ + P₂ = 2, always. NO interference. The interference pattern PROVES we must add amplitudes first.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86158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TWO-SLIT ANALOGY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8912" y="409018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pattern seen in the double-slit experiment — bright and dark bands as the phase difference varies across the screen.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HS · Phase Dependence of Probability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|3+4i|^2.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Recall |a+ib|^2 = a^2 + b^2.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Identify real and imaginary parts.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05122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279828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Equivalently compute (3+4i)^*(3+4i)=(3-4i)(3+4i).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|3+4i|^2 = 3^2+4^2 = 9+16 = 25.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A_1=1 and A_2=i. Compute |A_1+A_2|^2 and compare with |A_1|^2+|A_2|^2.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Add the complex numbers first: 1+i.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Compute the squared magnitude.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difference |A_1+A_2|^2 - |A_1|^2 - |A_2|^2 = 2Re(A_1^* A_2) is the interference term.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|1+i|^2 = 1^2+1^2 = 2. Meanwhile |A_1|^2+|A_2|^2 = 1+1 = 2. Here the interference term 2Re(1cdot(-i))=2Re(-i)=0, so there is no interference when amplitudes are perpendicular in the complex plane.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 a probability never be negative?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 we square the length of an amplitude rather than take the length directly?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can adding two arrows (amplitudes) make the result shorter than either arrow alone?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you double every arrow in a superposition, what happens to the probabilities?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difference between an amplitude and a probability?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(3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Compute $|3+4i|^2$.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Recall $|a+ib|^2 = a^2 + b^2$.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Let $A_1=1$ and $A_2=i$. Compute $|A_1+A_2|^2$ and compare with $|A_1|^2+|A_2|^2$.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Add the complex numbers first: $1+i$.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[HS-A3]  Let $A_2 = e^{i\pi} = -1$. Compute $|1+A_2|^2$. What does this correspond to physically?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$e^{i\pi} = \cos\pi + i\sin\pi = -1$.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Show that $|1+e^{i\phi}|^2 = 2+2\cos\phi$. Find the value(s) of $\phi\in[0,2\pi)$ that maximise and minimise this expression.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Write $e^{i\phi}=\cos\phi+i\sin\phi$ and expand.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Alternatively: $|1+e^{i\phi}|^2=(1+e^{i\phi})(1+e^{-i\phi})=2+2\cos\phi$.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[HS-B2]  Two amplitudes $A_1$ and $A_2$ have $|A_1|=|A_2|=r$. Show that $|A_1+A_2|^2$ ranges between $0$ and $4r^2$ depending on their relative phase…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Write $A_1=r$, $A_2=re^{i\delta}$ and compute.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Observe that $|A_1+A_2|^2=2r^2(1+\cos\delta)$.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[1926] Born,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"Zur Quantenmechanik der Stossvorgange"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Zeitschrift fur Physik 37, 863--867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paper that introduced the probability interpretation: $|\psi|^2$ as probability density.  Read as a historical anchor; do not 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[1965] Feynman, R. 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Feynman Lectures on Physics, Vol.~III,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Addison-Wesley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clearest introduction to quantum amplitude addition for a general audience.  The two-slit discussion is ideal for HS motivatio…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Susskind, L. and Friedman, A. (2014)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Mechanics: The Theoretical Minimum"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Books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An accessible first exposure to bra-ket ideas requiring only basic algebra and complex numbers.  Chapters 1--3 are suita…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Zettili, N. (2009)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Mechanics: Concepts and Applications,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Good review of complex numbers and vectors as preparation for quantum formalism.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Hardy, L. (2001)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Theory From Five Reasonable Axioms"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arXiv:quant-ph/0101012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Accessible reconstruction of quantum mechanics from operational axioms.  Shows why complex numbers and the Born rule are…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 undergraduate student learns to work fluently with the bra-ket formalism in a discrete basis: normalization, orthogonality, the key identity $c_n=\langle n|\psi\rangle$, and the Born rule. The emphasis is on computational fluency and physical interpretation.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$|z|^2$ as probability; vector addition and interference.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2063496" cy="34747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1982191"/>
            <a:ext cx="1537218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67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796007"/>
            <a:ext cx="1289957" cy="4572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308071"/>
            <a:ext cx="3797808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38912" y="37104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38912" y="3946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174693"/>
            <a:ext cx="2178698" cy="4572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686757"/>
            <a:ext cx="2142744" cy="268224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009845"/>
            <a:ext cx="2535594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38912" y="5595061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4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Basis Vectors and State Decomposition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c₁|1⟩ + c₂|2⟩ — expanding in a basis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VECTORS AND STATE DECOMPOSITION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AS A VECTOR 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state |ψ⟩ lives in a vector space, just like a 2D or 3D arrow.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316736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9958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42818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vectors |1⟩ and |2⟩ play the role of x̂ and ŷ in 2D space: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16682"/>
            <a:ext cx="1227328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30189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INNER PRODUCTS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30498"/>
            <a:ext cx="2383536" cy="4328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401817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identity. Just like a 2D dot product gives the component along each axis.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37982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60842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|ψ⟩ decomposed along |1⟩ (x-axis) and |2⟩ (y-axis) with dashed projection lines, exactly as in 2D vector geometry.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Basis Vectors and State Decomposition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Normalisation and the Unit Sphere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1 — all states live on the unit sphere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THE UNIT SPHERE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NORMALISATION?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must equal 1. This forces: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98143"/>
            <a:ext cx="1124339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8335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41195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2D (real amplitudes): normalised states lie exactly on the unit circle. In 2D complex (a qubit): they lie on the Bloch sphere.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289956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NORMALISE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128162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any |ψ⟩ ≠ 0, divide by its norm: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90697"/>
            <a:ext cx="1207363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" y="387591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10451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normalised states sit on the circle. Non-normalised states sit outside. Physical states must be on the circle — normalisation is a physical constraint, not just a convention.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Normalisation and the Unit Sphere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The Inner Product as Projection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c_n = ⟨n|ψ⟩ — the component IS the projection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AS PROJECTION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= OVERLAP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⟨φ|ψ⟩ measures how much |ψ⟩ overlaps with |φ⟩. Geometrically: it is the projection (shadow) of |ψ⟩ onto the direction of |φ⟩.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2321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FORMULA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151812"/>
            <a:ext cx="1551432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639492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θ is the angle between |ψ⟩ and the basis vector |n⟩.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00113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 FROM PROJECTION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29737"/>
            <a:ext cx="1975104" cy="4450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72960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normalised states). The probability is the SQUARED projection — the squared shadow length.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409125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319854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the projection construction. This is identical to decomposing a 2D vector along a coordinate axis. The only new feature in QM: the components are complex numbers.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BegUG · The Inner Product as Projection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{|1⟩,|2⟩} be orthonormal. Normalize |ψ⟩ = |1⟩ + i|2⟩.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Compute ⟨ψ|ψ⟩.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Divide by sqrt{⟨ψ|ψ⟩}.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⟨ψ| = ⟨ 1| - i⟨ 2| (conjugate coefficients).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(⟨ 1|-i⟨ 2|)(|1⟩+i|2⟩)=1+0+0+1=2. Normalized: |ψ⟩_{rm norm}=frac{1}{sqrt{2}}(|1⟩+i|2⟩).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|ψ⟩=frac{1}{sqrt{5}}(|1⟩+2i|2⟩), compute c_1, c_2, P(1), and P(2).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c_n = ⟨ n|ψ⟩.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P(n)=|c_n|^2.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Check: P(1)+P(2) should equal 1.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c_1=1/sqrt{5}, c_2=2i/sqrt{5}. P(1)=1/5, P(2)=4/5. Sum: 1. Correct.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we impose $\langle\psi|\psi\rangle=1$? What would happen if we allowed $\langle\psi|\psi\rangle=2$?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orthogonality $\langle m|n\rangle=0$ mean in terms of measurement outcomes?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a basis choice correspond to a measurement choice?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$c_n = \langle n|\psi\rangle$, what happens to $c_n$ if you multiply $|\psi\rangle$ by $e^{i\theta}$?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 two different states give the same set of probabilities $\{P(n)\}$ in some basis?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(5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Let $\{|1\rangle,|2\rangle\}$ be orthonormal. Normalize $|\psi\rangle = |1\rangle + i|2\rangle$.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Compute $\langle\psi|\psi\rangle$.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For $|\psi\rangle=\frac{1}{\sqrt{5}}(|1\rangle+2i|2\rangle)$, compute $c_1$, $c_2$, $P(1)$, and $P(2)$.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$c_n = \langle n|\psi\rangle$.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[BegUG-A3]  Show, starting from the expansion $|\psi\rangle=\sum_n c_n|n\rangle$, that $c_m = \langle m|\psi\rangle$.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Multiply on the left by $\langle m|$.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[BegUG-A4]  Show that global phase invariance holds: $|\langle n|e^{i\theta}\psi\rangle|^2=|\langle n|\psi\rangle|^2$.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Pull $e^{i\theta}$ out using linearity of the inner product.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[BegUG-A5]  Using completeness $\sum_n |n\rangle\langle n|=\hat{I}$, prove $\langle\psi|\psi\rangle=\sum_n|\langle n|\psi\rangle|^2$.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Insert the identity between $\langle\psi|$ and $|\psi\rangle$.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Insert the identity to prove: $\langle\phi|\psi\rangle=\sum_n \phi_n^*\psi_n$ where $\phi_n=\langle n|\phi\rangle$ and $\psi_n=\langle n|\ps…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Insert $\sum_n|n\rangle\langle n|$ between $\langle\phi|$ and $|\psi\rangle$.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Note $\langle\phi|n\rangle=(\langle n|\phi\rangle)^*=\phi_n^*$.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[BegUG-B2]  Let $|\psi'\rangle=\alpha|1\rangle+\beta|2\rangle$ with $|\alpha|^2+|\beta|^2=1$. Show that no matter which orthonormal basis $\{|n\rangle\}…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the result of BegUG-A5.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The key is that normalization $\langle\psi|\psi\rangle=1$ is basis-independent.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[1926] Born,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"Quantenmechanik der Stossvorgange"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Zeitschrift fur Physik 38, 803--827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Assign guided reading excerpts or a structured summary. Students identify the probability postulate and compare to the modern Born…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[1927] Dirac, P. A. 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Physical Interpretation of the Quantum Dynamics"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Royal Society A 113, 621--641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Dirac's earliest systematic use of transformation theory and probability amplitudes.  Use a guided secondary summary; the notation…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Sakurai, J. J. and Napolitano, J.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Quantum Mechanics, 3rd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primary text for this track. Chapter 1 develops the bra-ket formalism through the Stern-Gerlach experiment --- exact…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Griffiths, D. J. and Schroeter, D. F. (2018)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"Introduction to Quantum Mechanics, 3rd ed., Ch.~3"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Accessible treatment of Hilbert-space formalism for beginners. Use alongside Sakurai for complementary perspectives.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Shankar, R. (1994)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Quantum Mechanics,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Particularly clear on the mathematical prerequisites (linear algebra review in Chapter 1).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Gleason, A. M. (1957)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"Measures on the Closed Subspaces of a Hilbert Space"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Mathematics and Mechanics 6, 885--893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Gleason's theorem: any probability measure on the closed subspaces of a Hilbert space (dim $\geq 3$) must be of the Born…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undergraduates transition from computation to proof.  The Cauchy--Schwarz and triangle inequalities establish that the Hilbert space has a genuine geometry: overlaps measure 'angles', norms measure 'lengths', and probabilities are geometrically bounded.  The subtlety of the physically correct notion of distance (phase-invariant) motivates the projective Hilbert space perspective at the Ma…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$\langle\psi|\psi\rangle=1$; orthogonality; components $c_n=\langle n|\psi\rangle$.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17320"/>
            <a:ext cx="1106905" cy="4572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1929384"/>
            <a:ext cx="2471928" cy="4328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" y="249021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718816"/>
            <a:ext cx="1301496" cy="2682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" y="304190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38912" y="320443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366973"/>
            <a:ext cx="3041904" cy="2682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76321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3991813"/>
            <a:ext cx="1487424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8912" y="439414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38912" y="46298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858436"/>
            <a:ext cx="2706624" cy="326136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39436"/>
            <a:ext cx="2734056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38912" y="571492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MAPS PRESERVE GEOMETRY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Cauchy-Schwarz and the Geometry of Overlap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‖φ‖²‖ψ‖² — why probabilities are bounded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AND THE GEOMETRY OF OVERLAP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CAUCHY-SCHWARZ INEQUALITY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1301496" cy="2682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758696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normalised states this gives |⟨φ|ψ⟩|² ≤ 1 — transition probabilities are always bounded by 1.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12034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 (MINIMISATION)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48941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complex λ, define f(λ) = ‖|φ⟩ − λ|ψ⟩‖² ≥ 0.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511476"/>
            <a:ext cx="2322576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283456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λ = ⟨ψ|φ⟩/‖ψ‖² to minimise f → the inequality falls out.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19620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42480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two vectors. |⟨φ|ψ⟩| = ‖φ‖‖ψ‖|cosθ| ≤ ‖φ‖‖ψ‖ because |cosθ| ≤ 1. C-S is just the statement that the absolute cosine of an angle is ≤ 1.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Cauchy-Schwarz and the Geometry of Overlap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Triangle Inequality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‖φ+ψ‖ ≤ ‖φ‖+‖ψ‖ — the norm behaves like geometric length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INEQUALITY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1487424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3794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of the sum is at most the sum of the lengths. This is exactly the triangle inequality from Euclidean geometry.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2554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5414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both sides (both sides ≥ 0):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16682"/>
            <a:ext cx="2133600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03977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Re⟨φ|ψ⟩ ≤ |⟨φ|ψ⟩| ≤ ‖φ‖‖ψ‖ (by C-S):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02305"/>
            <a:ext cx="1597152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02177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square roots gives the result.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39378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16646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inequality makes ‖·‖ a proper norm, and (ℋ, ‖·‖) a metric space. Limits, continuity, and convergence all rely on this.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Triangle Inequality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The Fubini-Study Metric on Rays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d_FS = arccos|⟨φ|ψ⟩| — the physical distance between states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FUBINI-STUDY METRIC ON RAYS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‖φ−ψ‖ IS NOT THE RIGHT DISTANCE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— |ψ⟩ and e^{iθ}|ψ⟩ are the same state. But ‖|ψ⟩ − e^{iθ}|ψ⟩‖ depends on θ. So ‖φ−ψ‖ is NOT phase-invariant.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2321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DISTANCE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151812"/>
            <a:ext cx="2706624" cy="3261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6059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FUBINI-STUDY METRIC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34564"/>
            <a:ext cx="1926336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3690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angle between rays — invariant under global phase. On the Bloch circle (diagram), it is the arc length between two points.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7245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VALUES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95310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d_FS = 0 iff same ray (same physical state). d_FS = π/2 iff orthogonal states (mutually exclusive outcomes). d_FS = π/2 is the maximum distinguishability.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AdvUG · The Fubini-Study Metric on Rays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Cauchy--Schwarz inequality: |⟨φ|ψ⟩|^2 le ⟨φ|φ⟩,⟨ψ|ψ⟩.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Consider f(lambda)=||φ⟩-lambda|ψ⟩|^2ge 0 for any complex lambda.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93417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Expand f(lambda) and choose lambda to minimise it.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5506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783662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Choose lambda=⟨ψ|φ⟩/⟨ψ|ψ⟩.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072155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Identify the resulting inequality as the Cauchy--Schwarz bound.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62472" y="1490472"/>
            <a:ext cx="5751576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f(lambda)=⟨φ-lambdaψ|φ-lambdaψ⟩=|φ|^2 - lambda⟨φ|ψ⟩ - barlambda⟨ψ|φ⟩+|lambda|^2|ψ|^2 ge 0. Set lambda=⟨ψ|φ⟩/|ψ|^2: f=|φ|^2-|⟨φ|ψ⟩|^2/|ψ|^2ge 0, giving |⟨φ|ψ⟩|^2le|φ|^2|ψ|^2. square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triangle inequality |φ+ψ|le|φ|+|ψ|.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Square both sides.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94150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Expand |φ+ψ|^2 and apply Re z le |z|.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7718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05786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Cauchy--Schwarz on the cross term 2Re⟨φ|ψ⟩.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|φ+ψ|^2=|φ|^2+2Re⟨φ|ψ⟩+|ψ|^2le |φ|^2+2|⟨φ|ψ⟩|+|ψ|^2le |φ|^2+2|φ||ψ|+|ψ|^2=(|φ|+|ψ|)^2. Take square roots (both sides non-negative). square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must $|\langle\phi|\psi\rangle|\le 1$ for normalized states?  What would happen if it could exceed 1?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what sense is probability a 'geometry' on the space of states?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$d(\phi,\psi)=\|\phi-\psi\|$ not a physically meaningful distance on quantum states?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role of completeness of $\mathcal{H}$ (convergence of Cauchy sequences)?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$\|\psi\|$ a norm in the mathematical sense?  Verify all three norm axioms.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(3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Prove the Cauchy--Schwarz inequality: $|\langle\phi|\psi\rangle|^2 \le \langle\phi|\phi\rangle\,\langle\psi|\psi\rangle$.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Consider $f(\lambda)=\||\phi\rangle-\lambda|\psi\rangle\|^2\ge 0$ for any complex $\lambda…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Prove the triangle inequality $\|\phi+\psi\|\le\|\phi\|+\|\psi\|$.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Square both sides.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[AdvUG-A3]  Show that $\|\psi\|=0$ implies $|\psi\rangle=0$.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positive-definiteness of the inner product: $\langle\psi|\psi\rangle\ge 0$ with equali…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Define the phase-invariant distance on normalised states: $d(\phi,\psi)=\min_{\theta\in[0,2\pi)}\||\phi\rangle-e^{i\theta}|\psi\rangle\|$. S…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Expand $\||\phi\rangle-e^{i\theta}|\psi\rangle\|^2$ and use normalisation.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Write $\langle\phi|\psi\rangle=|\langle\phi|\psi\rangle|e^{i\alpha}$ and choose 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[AdvUG-B2]  Let $\hat U$ be unitary ($\hat U^\dagger \hat U=\hat I$). Show that $\langle\hat U\phi|\hat U\psi\rangle=\langle\phi|\psi\rangle$ for all $|…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$\langle\hat U\phi|=\langle\phi|\hat U^\dagger$.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Conclude: unitary maps preserve the entire geometry of the Hilbert space.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[1932] von Neumann, 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"Mathematische Grundlagen der Quantenmechanik"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Springer, Berlin (English trans. Princeton UP, 1955)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foundational text establishing quantum mechanics on a rigorous Hilbert-space basis.  Assign selected sections on inner-product…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[1885] Schwarz, H. 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"\"Uber ein die Fl\"achen kleinsten Fl\"acheninhalts betreffendes Probl…"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Societatis Scientiarum Fennicae 15, 315--362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Historical origin of the Cauchy--Schwarz inequality in the continuous (integral) setting.  Use as a historical note --- the inequa…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Dirac, P. A. M. (1958)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Principles of Quantum Mechanics, 4th ed."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Read Chapter 1 for the formalist perspective. Dirac introduces bras and kets axiomatically with extraordinary economy of…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Axler, S. (2015)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"Linear Algebra Done Right, 3rd ed., Ch.~6"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Best undergraduate proof-based treatment of inner products, norms, and the Cauchy--Schwarz inequality.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Cohen-Tannoudji, C., Diu, B., and Lalo\"e, F.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Mechanics, Vol.~1, Ch.~II"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Comprehensive mathematical complement sections (II-A through II-D) covering inner products, orthonormal bases, and the D…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Wigner, E. P. (1959)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 Theory and Its Application to the Quantum Mechanics of Atomic Sp…"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Contains the original proof of Wigner's theorem on symmetry transformations.  Assign as preview reading for the Master's…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students focus on what is physically real vs representational. States are rays in projective Hilbert space $\mathbb{P}(\mathcal{H})$; the Fubini--Study metric is the natural distance on this space. Wigner's theorem reveals that any transformation preserving transition probabilities must be unitary or antiunitary --- a profound structural result connecting measurement statistics directly t…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Cauchy--Schwarz; triangle inequality; metric viewpoint on state space.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79855"/>
            <a:ext cx="1453896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091919"/>
            <a:ext cx="2118360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57959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8912" y="274213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06420"/>
            <a:ext cx="2426208" cy="359664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20948"/>
            <a:ext cx="1926336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409643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38912" y="43250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38912" y="448757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65010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1143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38912" y="527692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Projective Hilbert Space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ℙ(ℋ) — states as lines through the origin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= EQUIVALENCE CLASSES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vectors represent the same physical state if they differ by a non-zero complex scalar: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664208" cy="432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1178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the equivalence class — a one-dimensional complex subspace.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57342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02026"/>
            <a:ext cx="1447800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04362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of ℙ(ℋ) is a ray — a physical pure state.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44004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66864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ℝ² (or ℂ²). Each line through the origin is one ray — one physical state. Points on the same line (same colour) differ only by phase or scale.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38912" y="4282211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510811"/>
            <a:ext cx="1490472" cy="4328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8912" y="499849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qubit (n=2): dim = 2 real dimensions → the Bloch sphere S².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MSc · Projective Hilbert Space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The Bloch Sphere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ℙ(ℂ²) ≅ S² — every qubit state is a point on a 3-sphere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BLOCH SPHERE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STATES AS SPHERE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normalised qubit state can be written: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598143"/>
            <a:ext cx="1807464" cy="377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030959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parameters (θ,φ) label a point on S² — the Bloch sphere.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3926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21204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and |1⟩ are the North and South poles.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2783738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Superpositions (|0⟩+|1⟩)/√2 live on the equator.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01942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ANTIPODAL POINTS = ORTHOGONAL STATES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248025"/>
            <a:ext cx="2926080" cy="4450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8912" y="382104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FUBINI-STUDY ON THE SPHERE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38912" y="404964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Fubini-Study metric on ℙ(ℂ²) is exactly the round metric on S² (up to a factor). The geodesics are great circle arcs.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MSc · The Bloch Sphere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|⟨φ|ψ⟩|^2 is invariant under independent global phase changes: |φ⟩→ e^{ialpha}|φ⟩ and |ψ⟩→ e^{ibeta}|ψ⟩.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0228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03088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Substitute and use |e^{ialpha}|=1.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90472"/>
            <a:ext cx="575157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 e^{ialpha}φ|e^{ibeta}ψ⟩|^2=|e^{-ialpha}e^{ibeta}⟨φ|ψ⟩|^2=|⟨φ|ψ⟩|^2. square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the Fubini--Study distance d_{FS}(φ,ψ)=arccos(|⟨φ|ψ⟩|) satisfies d_{FS}=0 if and only if |φ⟩ and |ψ⟩ represent the same ray.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0228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03088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arccos(x)=0 iff x=1.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93417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|⟨φ|ψ⟩|=1 iff |φ⟩=e^{itheta}|ψ⟩ for normalised states.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55506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78366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the equality condition of Cauchy--Schwarz.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d_{FS}=0⟺|⟨φ|ψ⟩|=1. By C-S equality, this holds iff |φ⟩=lambda|ψ⟩ for some lambda∈C, i.e., they represent the same ray. square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the physical state space $\mathbb{P}(\mathcal{H})$ and not $\mathcal{H}$ itself?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precisely does 'global phase is gauge redundancy' mean?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$|\langle\phi|\psi\rangle|^2$ the physically invariant object, not $\langle\phi|\psi\rangle$ itself?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 Wigner's theorem precisely.  What does 'antiunitary' mean?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the Fubini--Study distance reduce to the ordinary angle between unit vectors when $\mathcal{H}=\mathbb{R}^n$?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Show that $|\langle\phi|\psi\rangle|^2$ is invariant under independent global phase changes: $|\phi\rangle\to e^{i\alpha}|\phi\rangle$ and $…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Substitute and use $|e^{i\alpha}|=1$.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Show that the Fubini--Study distance $d_{FS}(\phi,\psi)=\arccos(|\langle\phi|\psi\rangle|)$ satisfies $d_{FS}=0$ if and only if $|\phi\rangl…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$\arccos(x)=0$ iff $x=1$.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Outline the proof of Wigner's theorem: any bijection $T:\mathbb{P}(\mathcal{H})\to\mathbb{P}(\mathcal{H})$ preserving $|\langle\phi|\psi\ran…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an orthonormal basis and show $T$ must map it to an orthonormal set.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Bargmann (1964) gives the cleanest proof.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[MSc-B2]  Show that a unitary change of basis $|n\rangle\to\hat{U}|n\rangle$ is a representation change, not a physical transformation. Concretely: al…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Define $|m'\rangle=\hat{U}|m\rangle$ and compute $|\langle m'|\psi\rangle|^2$.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Compare with $|\langle m|\hat{U}^\dagger\psi\rangle|^2$ to see both descriptions…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[1931] Wigner, E. 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"Gruppentheorie und ihre Anwendung auf die Quantenmechanik der Atomspek…"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Vieweg, Braunschweig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source of Wigner's theorem. Use Bargmann's 1964 proof (below) for a rigorous modern version.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[1964] Bargmann, V.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"Note on Wigner's Theorem on Symmetry Operations"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Mathematical Physics 5, 862--868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clearest and most rigorous proof of Wigner's theorem. Assign as the primary reference for the theorem at MSc level.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Weinberg, S. (2015)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"Lectures on Quantum Mechanics, 2nd ed.,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Contains a clear discussion of state vectors as rays and a derivation of the Wigner theorem at a level appropriate for M…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Isham, C. J. (1995)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"Lectures on Quantum Theory: Mathematical and Structural Foundations"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treatment of the projective Hilbert space and the geometric formulation of quantum mechanics.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Braunstein, S. L. and Caves, C. M. (1994)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"Statistical Distance and the Geometry of Quantum States"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Review Letters 72, 3439--3443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Derives the quantum Fisher information metric as the operationally natural geometry on quantum state space. Advanced rea…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PhD level, all handwaving is removed. A Hilbert space is precisely a complete complex inner-product space. Separability (countable ONB) is verified for all standard QM systems. The physical state space is $\mathbb{P}(\mathcal{H})$ --- the space of one-dimensional complex subspaces (rays). The critical domain subtlety: Hermitian on a dense domain does not imply self-adjoint.  This distinctio…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and projective Hilbert space $\mathbb{P}(\mathcal{H})$; Wigner theorem preview.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 space axioms; separability; rays as 1D subspaces; domain caveats.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57985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74238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2066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36921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833497"/>
            <a:ext cx="144475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38912" y="323583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38912" y="347152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700120"/>
            <a:ext cx="2700528" cy="4572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212184"/>
            <a:ext cx="2535936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8912" y="472424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38912" y="488678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Completeness and Cauchy Sequences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ℋ must be complete — limits must stay in the space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AND CAUCHY SEQUENCES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COMPLETENESS AXIOM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ℋ must be COMPLETE: every Cauchy sequence converges in ℋ.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2502408" cy="432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8493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PHYSICISTS NEED THIS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1353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QM we constantly take limits: Fourier series, perturbation theory, time evolution, spectral expansions. If ℋ were not complete, these limits might not exist in the space.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3127096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355696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partial Fourier sums approximating √x in L²([0,1]). Each partial sum is in L², and their L²-norm distance shrinks (Cauchy sequence). The limit f(x) = √x is also in L² because L² is complete.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8912" y="396925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NON-COMPLETE SPACE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8912" y="419785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rationals ℚ are NOT complete: the sequence 1, 1.4, 1.41, 1.414, … is Cauchy in ℚ but converges to √2 ∉ ℚ. Physics needs ℝ or ℂ, not ℚ.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PhD · Completeness and Cauchy Sequences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Hermitian vs Self-Adjoint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subtlety — why this distinction is physical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VS SELF-ADJOINT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bounded operators on a finite-dimensional space, Hermitian = self-adjoint. For UNBOUNDED operators (p̂, x̂), these are different: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50060"/>
            <a:ext cx="2700528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62124"/>
            <a:ext cx="2535936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94734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3175940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spectral theorem (real eigenvalues, complete eigenbasis) REQUIRES self-adjointness, not just Hermitian symmetry. Physical observables must be self-adjoint.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3789502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p̂ on [0,1]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4018102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-iℏd/dx on C^∞_c(0,1) is Hermitian but NOT self-adjoint. Each boundary condition ψ(1) = e^{iθ}ψ(0) gives a different self-adjoint extension, with a different spectrum.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38912" y="463166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38912" y="4860265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diagram shows 𝒟(Â) ⊊ 𝒟(Â†). The self-adjoint case (green) has equal domains.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— PhD · Hermitian vs Self-Adjoint Operators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any separable Hilbert space has a countable orthonormal basis (i.e., that the two definitions of 'separable' are equivalent for Hilbert spaces).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Gram--Schmidt on a countable dense subset.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14061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36921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Density ensures the resulting ONB spans 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78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D={d_k} be a countable dense subset. Apply Gram--Schmidt to D (discarding linearly dependent elements) to obtain a countable ONB {e_n}.  For any |ψ⟩∈H and varepsilon&gt;0, there exists d_k with ||ψ⟩-|d_k⟩|&lt;varepsilon, hence the ONB expansion converges.  square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rigorously that any two representatives of the same ray in P(H) yield the same transition probabilities.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7632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04924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Two representatives of the same ray satisfy |φ'⟩=c|φ⟩ for some c≠ 0.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66569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495169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Normalisation reduces to c=e^{itheta}.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|φ'⟩=e^{ialpha}|φ⟩ and |ψ'⟩=e^{ibeta}|ψ⟩. |⟨φ'|ψ'⟩|^2=|e^{-ialpha}e^{ibeta}⟨φ|ψ⟩|^2=|⟨φ|ψ⟩|^2. square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precisely does 'completeness' of a Hilbert space mean?  Why does it matter for physics?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separability (countable ONB) typically assumed in non-relativistic QM?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Give an example where 'Hermitian' and 'self-adjoint' differ.  What are the consequences?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$|x\rangle\notin\mathcal{H}$?  What space does it belong to?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precisely what $\mathbb{P}(\mathcal{H})$ is as a topological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Show that any separable Hilbert space has a countable orthonormal basis (i.e., that the two definitions of 'separable' are equivalent for Hi…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Gram--Schmidt on a countable dense subset.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Prove rigorously that any two representatives of the same ray in $\mathbb{P}(\mathcal{H})$ yield the same transition probabilities.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Two representatives of the same ray satisfy $|\phi'\rangle=c|\phi\rangle$ for some $c\neq 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(2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Provide a precise example of an operator that is Hermitian on a dense domain but is not self-adjoint.  What is the physical consequence of t…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Consider $\hat{p}=-i\hbar\frac{d}{dx}$ on $L^2([0,1])$ with domain $C^\infty_0((…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deficiency indices $(n_+,n_-)$.  Self-adjoint extensions correspond to dis…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[PhD-B2]  Motivate the rigged Hilbert space construction $\Phi\subset\mathcal{H}\subset\Phi'$. Explain why $|x\rangle$ lives in $\Phi'$ and not in $\m…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Note that $\langle x|x\rangle=\delta(0)$ is not a finite number.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Nuclear spectral theorem: if $\hat{A}$ is self-adjoint on $\mathcal{H}$ and $\Ph…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[1929] von Neumann, 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"Allgemeine Eigenwerttheorie Hermitescher Funktionaloperatoren"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Mathematische Annalen 102, 49--131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Von Neumann's foundational paper developing spectral theory for Hermitian operators on Hilbert space.  Read selected sections on t…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[1932] Stone, M. 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One-Parameter Unitary Groups in Hilbert Space"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Annals of Mathematics 33, 643--648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Stone's theorem: every strongly continuous one-parameter unitary group has a self-adjoint generator. This underpins all of time ev…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Reed, M. and Simon, B. (1972)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"Methods of Modern Mathematical Physics, Vol.~1: Functional Analysis"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standard rigorous reference. Chapter 2 (Hilbert spaces) and Chapter 8 (unbounded operators) are essential for PhD-le…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Galindo, A. and Pascual, P. (1990)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Mechanics I, Ch.~1"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Provides a careful mathematical treatment of Hilbert spaces, separability, and the domain question at a physics-oriented…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Thirring, W. (2002)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Mathematical Physics, 2nd ed."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treatment of quantum mechanics using $C^*$-algebra and functional analysis.  Chapters 1--2 are relevant.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(2)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Gel'fand, I. M. and Vilenkin, N. Ya. (1964)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"Generalized Functions, Vol.~4: Applications of Harmonic Analysis"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Introduces the rigged Hilbert space (Gel'fand triple) $\Phi\subset\mathcal{H}\subset\Phi'$.  The mathematical foundation…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Bohm, A. and Gadella, M. (1989)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"Dirac Kets, Gamow Vectors and Gel'fand Triplets"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Lecture Notes in Physics 348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Physics-oriented treatment of rigged Hilbert spaces. Shows how $|x\rangle$ and $|p\rangle$ are elements of $\Phi'$, not 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$|\psi\rangle$ (abstract ket) with a column vector (representation-dependent).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complex conjugation: if $|\psi\rangle=\sum c_n|n\rangle$ then $\langle\psi|=\sum c_n^*\langle n|$.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global phase as physically meaningful --- only relative phases affect probabilities.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normalization is automatic --- always verify $\langle\psi|\psi\rangle=1$.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(1926) --- probability interpretation of the wave function.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(1927--1930) --- transformation theory and bra-ket formalism.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--- Hilbert-space axiomatic foundations.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Wigner --- symmetry principles and transition probabilities (preview).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ray_equiv  ·  born_rule  ·  superposition  ·  normalization  ·  component  ·  completeness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~1h): Interference as Arrow Addition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~2-3h): Interference Pattern Plotter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Explain, using only arrow addition in the complex plane, how the two-slit experi…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Could we build a consistent theory of probability using real-valued amplitudes (…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5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Basis-Expansion Calculator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~4-6h): Representations of the Same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in a 2-page note why the choice of measurement basis is equivalent to th…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What is the minimum set of axioms from which $c_n=\langle n|\psi\rangle$ and the…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Numerical Verification of Cauchy--Schwarz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~6-8h): Geometry of State Distinguishability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3-page proof-based note showing that the Cauchy--Schwarz inequality guar…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Are there physically motivated geometries on the space of quantum states other t…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Fubini--Study Distance on the Bloch Sphere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Symmetries, Unitaries, and Conservation Laws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structured 5-page reading report on Wigner's theorem: state the theorem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Which operational assumptions uniquely single out complex Hilbert spaces (versus…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+ 2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Rigor Checklist for Dirac Notation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~15-20h): Projective Hilbert Space in Quantum Information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Write a 10-page note on separability assumptions in quantum mechanics: which phy…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Operational reconstructions of quantum mechanics: what is the minimal set of axi…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L01 (full): Why Dirac Notation? States as Rays &amp; Superposition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