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6366F1">
              <a:alpha val="9000"/>
            </a:srgbClr>
          </a:solidFill>
          <a:ln w="1270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6366F1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Dirac Notation? States as Rays &amp; Superposition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↔ Dirac Dual-Track — Lecture 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lecture  ·  Dirac + Sakurai Dual-Track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Dirac Notation? States as Rays &amp; Superposition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651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 min: Motivation — representations vs abstract states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15–45 min: Kets as vectors, rays, normalization, global phase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45–70 min: Bras (informal), amplitudes, Born rule preview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70–90 min: Notation dictionary: ket ↔ column vector ↔ wavefunction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651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 state as equivalence class |ψ⟩ ~ e^{iθ}|ψ⟩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Interpret amplitudes and Born-rule probabilities P(a) = |⟨a|ψ⟩|²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 the notation dictionary in a discrete basis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 Sakurai (physical) and Dirac (abstract) perspectives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30168"/>
            <a:ext cx="64008" cy="16276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numbers; |z|² as probability; vector addition &amp; interference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630168"/>
            <a:ext cx="64008" cy="16276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⟨ψ|ψ⟩=1; orthogonality; components cₙ = ⟨n|ψ⟩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630168"/>
            <a:ext cx="64008" cy="16276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Cauchy–Schwarz; triangle inequality; metric viewpoint on states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630168"/>
            <a:ext cx="64008" cy="16276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&amp; projective Hilbert space P(H); Wigner theorem preview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630168"/>
            <a:ext cx="64008" cy="16276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Hilbert-space statements; separability; rays as points in P(H)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Normalize |ψ⟩ = (1+i)|1⟩ + 2|2⟩ · Find P(1) and P(2) for |ψ⟩ = (1/√5)(|1⟩ + 2i|2⟩)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 Cauchy-Schwarz: |⟨φ|ψ⟩|² ≤ ⟨φ|φ⟩⟨ψ|ψ⟩  [Hint: ||φ⟩ - λ|ψ⟩||² ≥ 0] · Prove triangle inequality: ||φ+ψ|| ≤ ||φ|| + ||ψ||  [Hint: square; use C-S]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L01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Why Dirac Notation? States as Rays &amp; Superposition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↔ Dirac Dual-Track — Lecture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548640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64008" cy="2651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4183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TRACK: Operational Starting Point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216152"/>
            <a:ext cx="524865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procedures → stable frequencies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outcomes encode state statistics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encodes probabilities, not properties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Interference motivates complex amplitudes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 = |A₁ + A₂|² — phase controls cross term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868680"/>
            <a:ext cx="585216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0" y="868680"/>
            <a:ext cx="64008" cy="2651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94183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 TRACK: Abstract Axioms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99632" y="1216152"/>
            <a:ext cx="561441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Quantum state is a ray in Hilbert space 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|ψ⟩ ~ e^{iθ}|ψ⟩ — global phase unobservable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Completeness: Σₙ |n⟩⟨n| = 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Components: cₙ = ⟨n|ψ⟩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Probability: P(aᵢ) = |⟨aᵢ|ψ⟩|²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11612880" cy="2670048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57600"/>
            <a:ext cx="64008" cy="2670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3075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DICTIONARY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133088"/>
            <a:ext cx="2651760" cy="1920240"/>
          </a:xfrm>
          <a:prstGeom prst="rect">
            <a:avLst/>
          </a:prstGeom>
          <a:solidFill>
            <a:srgbClr val="0A0E1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1788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preparation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45902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⟷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48646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 |ψ⟩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4133088"/>
            <a:ext cx="2651760" cy="1920240"/>
          </a:xfrm>
          <a:prstGeom prst="rect">
            <a:avLst/>
          </a:prstGeom>
          <a:solidFill>
            <a:srgbClr val="0A0E1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41788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outcome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45902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⟷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48646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ket |aᵢ⟩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4133088"/>
            <a:ext cx="2651760" cy="1920240"/>
          </a:xfrm>
          <a:prstGeom prst="rect">
            <a:avLst/>
          </a:prstGeom>
          <a:solidFill>
            <a:srgbClr val="0A0E1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41788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amplitude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63640" y="45902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⟷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63640" y="48646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⟨aᵢ|ψ⟩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44000" y="4133088"/>
            <a:ext cx="2651760" cy="1920240"/>
          </a:xfrm>
          <a:prstGeom prst="rect">
            <a:avLst/>
          </a:prstGeom>
          <a:solidFill>
            <a:srgbClr val="0A0E1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0" y="41788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144000" y="45902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⟷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0" y="48646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|⟨aᵢ|ψ⟩|²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L01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Content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Key Formulas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3700272" cy="1764792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17647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equiv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261872"/>
            <a:ext cx="3480816" cy="136245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75760" y="914400"/>
            <a:ext cx="3700272" cy="1764792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75760" y="914400"/>
            <a:ext cx="64008" cy="17647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rule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0352" y="1261872"/>
            <a:ext cx="3480816" cy="136245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985760" y="914400"/>
            <a:ext cx="3700272" cy="1764792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985760" y="914400"/>
            <a:ext cx="64008" cy="17647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5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50352" y="1261872"/>
            <a:ext cx="3480816" cy="1362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65760" y="2788920"/>
            <a:ext cx="3700272" cy="1764792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" y="2788920"/>
            <a:ext cx="64008" cy="17647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30352" y="286207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0352" y="3136392"/>
            <a:ext cx="3480816" cy="136245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75760" y="2788920"/>
            <a:ext cx="3700272" cy="1764792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75760" y="2788920"/>
            <a:ext cx="64008" cy="17647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40352" y="286207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40352" y="3136392"/>
            <a:ext cx="3480816" cy="1362456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7985760" y="2788920"/>
            <a:ext cx="3700272" cy="1764792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7985760" y="2788920"/>
            <a:ext cx="64008" cy="17647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150352" y="286207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9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50352" y="3136392"/>
            <a:ext cx="3480816" cy="1362456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365760" y="4663440"/>
            <a:ext cx="3700272" cy="1764792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365760" y="4663440"/>
            <a:ext cx="64008" cy="17647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530352" y="473659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</a:t>
            </a:r>
            <a:endParaRPr lang="en-US" sz="9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30352" y="5010912"/>
            <a:ext cx="3480816" cy="136245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L01</a:t>
            </a:r>
            <a:endParaRPr lang="en-US" sz="750" dirty="0"/>
          </a:p>
        </p:txBody>
      </p:sp>
      <p:sp>
        <p:nvSpPr>
          <p:cNvPr id="36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Common Pitfalls &amp; Historical Notes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576072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64008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1440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PITFALLS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188720"/>
            <a:ext cx="552297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Confusing |ψ⟩ (abstract) with a column vector (representation-dependent)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Forgetting complex conjugation when ket → bra: ⟨ψ| = Σ cₙ* ⟨n|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Treating phase difference as extra probability — phase only affects interference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Assuming normalization is automatic — always check ⟨ψ|ψ⟩ =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841248"/>
            <a:ext cx="562356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841248"/>
            <a:ext cx="64008" cy="22860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914400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8232" y="1188720"/>
            <a:ext cx="53858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Born (1926) — probability interpretation of 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Dirac (1927–30) — amplitude formalism, bra-ket notation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von Neumann (1932) — Hilbert-space axiomatics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Wigner — symmetry principles (preview for later lectures)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264408"/>
            <a:ext cx="576072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64408"/>
            <a:ext cx="64008" cy="3291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33756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611880"/>
            <a:ext cx="552297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A1. Normalize |ψ⟩ = (1+i)|1⟩ + 2|2⟩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 Find P(1) and P(2) for |ψ⟩ = (1/√5)(|1⟩ + 2i|2⟩)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 If |φ⟩ = α|1⟩ + β|2⟩, find conditions for |φ⟩ ⊥ |ψ⟩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A4. Verify Σₙ |cₙ|² = 1 for a given normalized state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A5. Compute ⟨ψ|φ⟩ for two given 3-component states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A6. Show |ψ⟩ and e^{iπ/3}|ψ⟩ give identical probabilities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63640" y="3264408"/>
            <a:ext cx="562356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3264408"/>
            <a:ext cx="64008" cy="3291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3337560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Complex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8232" y="3611880"/>
            <a:ext cx="538581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B1. Prove Cauchy-Schwarz: |⟨φ|ψ⟩|² ≤ ⟨φ|φ⟩⟨ψ|ψ⟩  [Hint: ||φ⟩ - λ|ψ⟩||² ≥ 0]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B2. Prove triangle inequality: ||φ+ψ|| ≤ ||φ|| + ||ψ||  [Hint: square; use C-S]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B3. Show unitary basis change preserves Σ|cₙ|²  [Hint: U†U = I]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B4. (MSc+) Interpret physical states as points in P(H)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L01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Problems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L01: Why Dirac Notation? States as Rays &amp; Superposition</dc:title>
  <dc:subject>PptxGenJS Presentation</dc:subject>
  <dc:creator>Diego Bragato</dc:creator>
  <cp:lastModifiedBy>Diego Bragato</cp:lastModifiedBy>
  <cp:revision>1</cp:revision>
  <dcterms:created xsi:type="dcterms:W3CDTF">2026-04-21T17:01:18Z</dcterms:created>
  <dcterms:modified xsi:type="dcterms:W3CDTF">2026-04-21T17:01:18Z</dcterms:modified>
</cp:coreProperties>
</file>