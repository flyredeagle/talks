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6366F1">
              <a:alpha val="9000"/>
            </a:srgbClr>
          </a:solidFill>
          <a:ln w="1270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Concept Slides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Dirac Notation? States as Rays &amp; Superposition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 per core concept  ·  Full LaTeX derivation  ·  2D/3D geometric diagram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53312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57984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57984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62656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62656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67328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concept slides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Bra-Ket Notation — L01 Concepts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Complex Numbers as Arrows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Magnitude Squared as Probability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Superposition and Interference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Phase Dependence of Probability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High School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HS: Complex Numbers as Arrows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complex plane — z = a+ib as a 2D vector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COMPLEX NUMBER?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is a 2D vector in a plane.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724101"/>
            <a:ext cx="1377696" cy="4389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217877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plane has two axes: real (a) and imaginary (b).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38912" y="245356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FORM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682164"/>
            <a:ext cx="2002536" cy="3779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" y="311498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is the length (magnitude). θ is the angle (phase).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350666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IDENTITY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9266"/>
            <a:ext cx="2450592" cy="2682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8912" y="3902354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squared magnitude is always real and non-negative.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38912" y="4264000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QM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38912" y="4492600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amplitudes ARE complex numbers. The probability is their squared magnitude.</a:t>
            </a:r>
            <a:endParaRPr lang="en-US" sz="9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HS · Complex Numbers as Arrows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HS: Magnitude Squared as Probability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|A|² — squaring gives a valid probability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SQUARED AS PROBABILITY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BORN RULE (HIGH SCHOOL VERSION)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describing a process.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724101"/>
            <a:ext cx="1350264" cy="4450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223973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we SQUARE? Two reasons: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38912" y="2459660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1 — POSITIVITY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8260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must be ≥ 0. Complex numbers can be negative or imaginary. Squaring always gives a non-negative real number.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38912" y="317586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2 — INTERFERENCE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38912" y="3404464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used |A| instead of |A|², the interference term would look different. Only |A|² gives the correct two-slit experiment result.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38912" y="3892067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PICTURE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38912" y="4120667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shows: |z|² = (squared length) = the area of the square on the hypotenuse. It is always the sum of the squares of the sides.</a:t>
            </a:r>
            <a:endParaRPr lang="en-US" sz="9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HS · Magnitude Squared as Probability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HS: Superposition and Interference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amplitude arrows — constructive vs destructive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AND INTERFERENCE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processes can both contribute to an outcome, we ADD their amplitudes (not their probabilities).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724101"/>
            <a:ext cx="1240536" cy="326136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105101"/>
            <a:ext cx="2630424" cy="2682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501341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INTERFERENCE TERM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38912" y="2729941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 term 2Re(A₁*A₂) is interference. It can be positive (constructive) or negative (destructive).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3091586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CONTROLS THE SIGN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38912" y="3320186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0: arrows align → P = 4 (maximum, constructive).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38912" y="3482721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π: arrows cancel → P = 0 (minimum, destructive).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38912" y="3645256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π/2: perpendicular → P = 2 (no interference).</a:t>
            </a:r>
            <a:endParaRPr lang="en-US" sz="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HS · Superposition and Interference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HS: Phase Dependence of Probability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P(φ) = 2 + 2cosφ — the interference pattern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DEPENDENCE OF PROBABILITY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INTERFERENCE PATTERN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A₁ = 1 and A₂ = e^{iφ}. As we vary the relative phase φ: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724101"/>
            <a:ext cx="1990344" cy="45110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303221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GRAPH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" y="2531821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 = 4 at φ = 0, 2π (constructive). Minimum P = 0 at φ = π (destructive). The oscillation between 0 and 4 is a hallmark of wave-like behaviour.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38912" y="3019425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38912" y="3248025"/>
            <a:ext cx="47914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had used probabilities directly (not amplitudes), we would get P = P₁ + P₂ = 2, always. NO interference. The interference pattern PROVES we must add amplitudes first.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38912" y="3861587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TWO-SLIT ANALOGY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38912" y="4090187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pattern seen in the double-slit experiment — bright and dark bands as the phase difference varies across the screen.</a:t>
            </a:r>
            <a:endParaRPr lang="en-US" sz="9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HS · Phase Dependence of Probability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Basis Vectors and State Decomposition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Normalisation and the Unit Sphere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Inner Product as Projection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Beginning Undergraduate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BegUG: Basis Vectors and State Decomposition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|ψ⟩ = c₁|1⟩ + c₂|2⟩ — expanding in a basis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VECTORS AND STATE DECOMPOSITION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AS A VECTOR SPACE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state |ψ⟩ lives in a vector space, just like a 2D or 3D arrow.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724101"/>
            <a:ext cx="1316736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199589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ORTHONORMAL BASIS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" y="2428189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basis vectors |1⟩ and |2⟩ play the role of x̂ and ŷ in 2D space: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716682"/>
            <a:ext cx="1227328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" y="330189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ARE INNER PRODUCTS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30498"/>
            <a:ext cx="2383536" cy="4328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401817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key identity. Just like a 2D dot product gives the component along each axis.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437982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608424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shows |ψ⟩ decomposed along |1⟩ (x-axis) and |2⟩ (y-axis) with dashed projection lines, exactly as in 2D vector geometry.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BegUG · Basis Vectors and State Decomposition</a:t>
            </a:r>
            <a:endParaRPr lang="en-US" sz="750" dirty="0"/>
          </a:p>
        </p:txBody>
      </p:sp>
      <p:sp>
        <p:nvSpPr>
          <p:cNvPr id="23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BegUG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BegUG: Normalisation and the Unit Sphere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⟨ψ|ψ⟩ = 1 — all states live on the unit sphere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THE UNIT SPHERE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NORMALISATION?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probability must equal 1. This forces: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598143"/>
            <a:ext cx="1124339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183359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MEANING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" y="2411959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2D (real amplitudes): normalised states lie exactly on the unit circle. In 2D complex (a qubit): they lie on the Bloch sphere.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38912" y="2899562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NORMALISE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38912" y="3128162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any |ψ⟩ ≠ 0, divide by its norm: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290697"/>
            <a:ext cx="1207363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38912" y="387591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38912" y="4104513"/>
            <a:ext cx="47914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normalised states sit on the circle. Non-normalised states sit outside. Physical states must be on the circle — normalisation is a physical constraint, not just a convention.</a:t>
            </a:r>
            <a:endParaRPr lang="en-US" sz="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BegUG · Normalisation and the Unit Sphere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BegUG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BegUG: The Inner Product as Projection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c_n = ⟨n|ψ⟩ — the component IS the projection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PRODUCT AS PROJECTION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= OVERLAP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product ⟨φ|ψ⟩ measures how much |ψ⟩ overlaps with |φ⟩. Geometrically: it is the projection (shadow) of |ψ⟩ onto the direction of |φ⟩.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923212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COMPONENT FORMULA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2151812"/>
            <a:ext cx="1551432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639492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θ is the angle between |ψ⟩ and the basis vector |n⟩.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38912" y="3001137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RULE FROM PROJECTION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229737"/>
            <a:ext cx="1975104" cy="4450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729609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 normalised states). The probability is the SQUARED projection — the squared shadow length.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38912" y="409125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38912" y="4319854"/>
            <a:ext cx="47914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shows the projection construction. This is identical to decomposing a 2D vector along a coordinate axis. The only new feature in QM: the components are complex numbers.</a:t>
            </a:r>
            <a:endParaRPr lang="en-US" sz="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BegUG · The Inner Product as Projection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BegUG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Cauchy-Schwarz and the Geometry of Overlap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Triangle Inequality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Fubini-Study Metric on Rays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Advanced Undergraduate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AdvUG: Cauchy-Schwarz and the Geometry of Overlap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|⟨φ|ψ⟩|² ≤ ‖φ‖²‖ψ‖² — why probabilities are bounded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AND THE GEOMETRY OF OVERLAP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CAUCHY-SCHWARZ INEQUALITY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435608"/>
            <a:ext cx="1301496" cy="26822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38912" y="1758696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normalised states this gives |⟨φ|ψ⟩|² ≤ 1 — transition probabilities are always bounded by 1.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38912" y="2120341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IDEA (MINIMISATION)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" y="2348941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complex λ, define f(λ) = ‖|φ⟩ − λ|ψ⟩‖² ≥ 0.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511476"/>
            <a:ext cx="2322576" cy="2682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" y="2834564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λ = ⟨ψ|φ⟩/‖ψ‖² to minimise f → the inequality falls out.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196209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MEANING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38912" y="3424809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shows two vectors. |⟨φ|ψ⟩| = ‖φ‖‖ψ‖|cosθ| ≤ ‖φ‖‖ψ‖ because |cosθ| ≤ 1. C-S is just the statement that the absolute cosine of an angle is ≤ 1.</a:t>
            </a:r>
            <a:endParaRPr lang="en-US" sz="9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AdvUG · Cauchy-Schwarz and the Geometry of Overlap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AdvUG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AdvUG: Triangle Inequality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‖φ+ψ‖ ≤ ‖φ‖+‖ψ‖ — the norm behaves like geometric length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TRIANGLE INEQUALITY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435608"/>
            <a:ext cx="1487424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38912" y="1837944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length of the sum is at most the sum of the lengths. This is exactly the triangle inequality from Euclidean geometry.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38912" y="232554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" y="2554148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both sides (both sides ≥ 0):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716682"/>
            <a:ext cx="2133600" cy="2682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" y="303977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Re⟨φ|ψ⟩ ≤ |⟨φ|ψ⟩| ≤ ‖φ‖‖ψ‖ (by C-S):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02305"/>
            <a:ext cx="1597152" cy="445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3702177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square roots gives the result.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393786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166464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triangle inequality makes ‖·‖ a proper norm, and (ℋ, ‖·‖) a metric space. Limits, continuity, and convergence all rely on this.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AdvUG · Triangle Inequality</a:t>
            </a:r>
            <a:endParaRPr lang="en-US" sz="750" dirty="0"/>
          </a:p>
        </p:txBody>
      </p:sp>
      <p:sp>
        <p:nvSpPr>
          <p:cNvPr id="23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AdvUG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AdvUG: The Fubini-Study Metric on Rays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d_FS = arccos|⟨φ|ψ⟩| — the physical distance between states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FUBINI-STUDY METRIC ON RAYS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‖φ−ψ‖ IS NOT THE RIGHT DISTANCE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— |ψ⟩ and e^{iθ}|ψ⟩ are the same state. But ‖|ψ⟩ − e^{iθ}|ψ⟩‖ depends on θ. So ‖φ−ψ‖ is NOT phase-invariant.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923212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DISTANCE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2151812"/>
            <a:ext cx="2706624" cy="32613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60596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FUBINI-STUDY METRIC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34564"/>
            <a:ext cx="1926336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" y="3236900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angle between rays — invariant under global phase. On the Bloch circle (diagram), it is the arc length between two points.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72450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VALUES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38912" y="3953104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d_FS = 0 iff same ray (same physical state). d_FS = π/2 iff orthogonal states (mutually exclusive outcomes). d_FS = π/2 is the maximum distinguishability.</a:t>
            </a:r>
            <a:endParaRPr lang="en-US" sz="9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AdvUG · The Fubini-Study Metric on Rays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AdvUG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Projective Hilbert Space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Bloch Sphere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Master's Level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MSc: Projective Hilbert Space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ℙ(ℋ) — states as lines through the origin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= EQUIVALENCE CLASSES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vectors represent the same physical state if they differ by a non-zero complex scalar: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724101"/>
            <a:ext cx="1664208" cy="43281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211781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the equivalence class — a one-dimensional complex subspace.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38912" y="2573426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02026"/>
            <a:ext cx="1447800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" y="3204362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of ℙ(ℋ) is a ray — a physical pure state.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440049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38912" y="3668649"/>
            <a:ext cx="47914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shows ℝ² (or ℂ²). Each line through the origin is one ray — one physical state. Points on the same line (same colour) differ only by phase or scale.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38912" y="4282211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510811"/>
            <a:ext cx="1490472" cy="4328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38912" y="4998491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qubit (n=2): dim = 2 real dimensions → the Bloch sphere S².</a:t>
            </a:r>
            <a:endParaRPr lang="en-US" sz="9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MSc · Projective Hilbert Space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MSc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MSc: The Bloch Sphere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ℙ(ℂ²) ≅ S² — every qubit state is a point on a 3-sphere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BLOCH SPHERE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 STATES AS SPHERE POINTS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normalised qubit state can be written: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598143"/>
            <a:ext cx="1807464" cy="37795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030959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parameters (θ,φ) label a point on S² — the Bloch sphere.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38912" y="239260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21204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 and |1⟩ are the North and South poles.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38912" y="2783738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Superpositions (|0⟩+|1⟩)/√2 live on the equator.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38912" y="3019425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ANTIPODAL POINTS = ORTHOGONAL STATES</a:t>
            </a:r>
            <a:endParaRPr lang="en-US" sz="1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248025"/>
            <a:ext cx="2926080" cy="4450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38912" y="3821049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FUBINI-STUDY ON THE SPHERE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38912" y="4049649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Fubini-Study metric on ℙ(ℂ²) is exactly the round metric on S² (up to a factor). The geodesics are great circle arcs.</a:t>
            </a:r>
            <a:endParaRPr lang="en-US" sz="9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MSc · The Bloch Sphere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MSc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Level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Completeness and Cauchy Sequences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Hermitian vs Self-Adjoint Operators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PhD Level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PhD: Completeness and Cauchy Sequences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ℋ must be complete — limits must stay in the space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AND CAUCHY SEQUENCES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COMPLETENESS AXIOM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Hilbert space ℋ must be COMPLETE: every Cauchy sequence converges in ℋ.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724101"/>
            <a:ext cx="2502408" cy="43281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28493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PHYSICISTS NEED THIS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" y="2513533"/>
            <a:ext cx="47914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QM we constantly take limits: Fourier series, perturbation theory, time evolution, spectral expansions. If ℋ were not complete, these limits might not exist in the space.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38912" y="3127096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38912" y="3355696"/>
            <a:ext cx="47914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shows partial Fourier sums approximating √x in L²([0,1]). Each partial sum is in L², and their L²-norm distance shrinks (Cauchy sequence). The limit f(x) = √x is also in L² because L² is complete.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38912" y="396925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CONTRAST: NON-COMPLETE SPACE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38912" y="4197858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rationals ℚ are NOT complete: the sequence 1, 1.4, 1.41, 1.414, … is Cauchy in ℚ but converges to √2 ∉ ℚ. Physics needs ℝ or ℂ, not ℚ.</a:t>
            </a:r>
            <a:endParaRPr lang="en-US" sz="9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PhD · Completeness and Cauchy Sequences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PhD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PhD: Hermitian vs Self-Adjoint Operators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subtlety — why this distinction is physical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 VS SELF-ADJOINT OPERATORS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bounded operators on a finite-dimensional space, Hermitian = self-adjoint. For UNBOUNDED operators (p̂, x̂), these are different: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50060"/>
            <a:ext cx="2700528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62124"/>
            <a:ext cx="2535936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947340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CONSEQUENCE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38912" y="3175940"/>
            <a:ext cx="47914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spectral theorem (real eigenvalues, complete eigenbasis) REQUIRES self-adjointness, not just Hermitian symmetry. Physical observables must be self-adjoint.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3789502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p̂ on [0,1]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38912" y="4018102"/>
            <a:ext cx="47914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 = -iℏd/dx on C^∞_c(0,1) is Hermitian but NOT self-adjoint. Each boundary condition ψ(1) = e^{iθ}ψ(0) gives a different self-adjoint extension, with a different spectrum.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38912" y="4631665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38912" y="4860265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diagram shows 𝒟(Â) ⊊ 𝒟(Â†). The self-adjoint case (green) has equal domains.</a:t>
            </a:r>
            <a:endParaRPr lang="en-US" sz="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PhD · Hermitian vs Self-Adjoint Operators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PhD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L01 Deep Concept Slides</dc:title>
  <dc:subject>PptxGenJS Presentation</dc:subject>
  <dc:creator>Diego Bragato</dc:creator>
  <cp:lastModifiedBy>Diego Bragato</cp:lastModifiedBy>
  <cp:revision>1</cp:revision>
  <dcterms:created xsi:type="dcterms:W3CDTF">2026-04-23T01:01:54Z</dcterms:created>
  <dcterms:modified xsi:type="dcterms:W3CDTF">2026-04-23T01:01:54Z</dcterms:modified>
</cp:coreProperties>
</file>