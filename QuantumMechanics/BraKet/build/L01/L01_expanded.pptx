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  ·  5 Tiers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0--15 min: Motivation --- representations vs abstract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15--45 min: Kets as vectors, rays, normalization, global phase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45--70 min: Bras (informal), amplitudes,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70--90 min: Notation dictionary: ket $\leftrightarrow$ column vector $\leftrightarrow$ wavefunction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state as equivalence class $|\psi\rangle \sim e^{i\theta}|\psi\rangle$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 amplitudes and Born-rule probabilities $P(a_i)=|\langle a_i|\psi\rangle|^2$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the discrete-basis dictionary $c_n = \langle n|\psi\rangle$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Sakurai (operational) and Dirac (axiomatic) perspectives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completeness, normalization, and global-phase invariance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Normalization, amplitudes, global phase, completeness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Cauchy–Schwarz, triangle inequality, unitary basis change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Sakurai Track: Operational Starting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 derivation of bra-ket 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57784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34009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reproducible lab protocol defines a 'state'.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OUTCOMES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Measurement device returns outcomes aᵢ with stable frequencies.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AMPLITUDES?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Interference demands combining before squaring: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|A₁ + A₂|² = |A₁|² + |A₂|² + 2Re(A₁*A₂)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cross-term is interference — only complex numbers carry this.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OPERATIONAL BORN RULE (postulated)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P(aᵢ) = |⟨aᵢ|ψ⟩|²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Normalization: Σᵢ P(aᵢ) = 1  ⟹  ⟨ψ|ψ⟩ =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841248"/>
            <a:ext cx="580644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841248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914400"/>
            <a:ext cx="5568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TRACK: Abstract Axioms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5352" y="1188720"/>
            <a:ext cx="556869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SPACE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States = rays in complex Hilbert space 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|ψ⟩ ~ e^{iθ}|ψ⟩  (global phase unobservable)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BASIS &amp; ORTHONORMALITY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⟨m|n⟩ = δₘₙ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Σₙ |n⟩⟨n| = Î  (completeness)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COMPONENTS ARE INNER PRODUCTS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|ψ⟩ = Σₙ cₙ|n⟩  →  cₘ = ⟨m|ψ⟩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(multiply expansion by ⟨m|, use δₘₙ)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NORMALIZATION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⟨ψ|ψ⟩ = Σₙ|⟨n|ψ⟩|² = Σₙ|cₙ|² =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GLOBAL PHASE INVARIANCE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|⟨n|e^{iθ}ψ⟩|² = |⟨n|ψ⟩|²  ∀ basis {|n⟩}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Tracks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Synthesis: Operational ↔ Structural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1612880" cy="100584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DICTIONARY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16128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preparation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202996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02996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 |ψ⟩  (ray in ℋ)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11612880" cy="658368"/>
          </a:xfrm>
          <a:prstGeom prst="rect">
            <a:avLst/>
          </a:prstGeom>
          <a:solidFill>
            <a:srgbClr val="131C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24328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340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outcomes aᵢ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273405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3405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kets |aᵢ⟩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116128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381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amplitude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0" y="343814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43814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⟨aᵢ|ψ⟩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32504"/>
            <a:ext cx="11612880" cy="658368"/>
          </a:xfrm>
          <a:prstGeom prst="rect">
            <a:avLst/>
          </a:prstGeom>
          <a:solidFill>
            <a:srgbClr val="131C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032504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42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0" y="414223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414223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|⟨aᵢ|ψ⟩|²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116128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736592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463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= 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89120" y="4846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484632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⟨ψ|ψ⟩ = 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5440680"/>
            <a:ext cx="11612880" cy="658368"/>
          </a:xfrm>
          <a:prstGeom prst="rect">
            <a:avLst/>
          </a:prstGeom>
          <a:solidFill>
            <a:srgbClr val="131C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544068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550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0" y="55504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555040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phase structure  Re(A₁*A₂)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Synthesis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equiv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25880"/>
            <a:ext cx="356616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25880"/>
            <a:ext cx="3566160" cy="1325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25880"/>
            <a:ext cx="3566160" cy="1325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283464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83464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29077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3200400"/>
            <a:ext cx="3566160" cy="1325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283464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283464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29077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3200400"/>
            <a:ext cx="3566160" cy="13258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283464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283464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29077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3200400"/>
            <a:ext cx="3566160" cy="1325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20040" y="4709160"/>
            <a:ext cx="3749040" cy="178308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20040" y="4709160"/>
            <a:ext cx="64008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4632" y="47823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9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29768" y="5074920"/>
            <a:ext cx="3566160" cy="1325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high-school level the goal is to build the single most important intuitio…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0233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785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 a probability never be negative?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 we square the length of an amplitude rather than take the length directly…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can adding two arrows (amplitudes) make the result shorter than either arrow…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you double every arrow in a superposition, what happens to the probabilities?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difference between an amplitude and a probability?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41248"/>
            <a:ext cx="370332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144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1188720"/>
            <a:ext cx="34655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Compute $|3+4i|^2$.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Let $A_1=1$ and $A_2=i$. Compute $|A_1+A_2|^2$ and compare with $|A_1|…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[HS-A3] Let $A_2 = e^{i\pi} = -1$. Compute $|1+A_2|^2$. What does this corresp…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41248"/>
            <a:ext cx="3429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914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PROBLEMS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1188720"/>
            <a:ext cx="3191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Show that $|1+e^{i\phi}|^2 = 2+2\cos\phi$. Find the value(s) of $\phi\…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[HS-B2] Two amplitudes $A_1$ and $A_2$ have $|A_1|=|A_2|=r$. Show that $|A_1+A…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566928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0332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(SIMPLE): Interference as Arrow Addition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5431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by hand or with a spreadsheet, amplitude arrows for $A_1=1$ and $A_2=e^{i\phi}$ for $\phi=0,\pi/4,\pi/2,3\pi/4,\pi$. Compute and plot $P(\phi)=|A_1+A_2|^2…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57150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630168"/>
            <a:ext cx="64008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0332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(ADVANCED): Interference Pattern Plotter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36792" y="3977640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Python script that: (1) takes two complex amplitudes $A_1, A_2$ as inputs; (2) plots $|A_1+A_2e^{i\phi}|^2$ as a function of $\phi \in [0,2\pi]$; 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5422392"/>
            <a:ext cx="56692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5422392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49554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(Well-Defined)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5769864"/>
            <a:ext cx="54315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only arrow addition in the complex plane, how the two-slit experiment produces bright and dark bands. Your explanat…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5422392"/>
            <a:ext cx="571500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5422392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54955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(Open-Ended)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5769864"/>
            <a:ext cx="5477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we build a consistent theory of probability using real-valued amplitudes (not complex) and a different rule than squaring th…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 undergraduate student learns to work fluently with the bra-ket for…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0233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785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we impose $\langle\psi|\psi\rangle=1$? What would happen if we allowed $\…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orthogonality $\langle m|n\rangle=0$ mean in terms of measurement outc…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a basis choice correspond to a measurement choice?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$c_n = \langle n|\psi\rangle$, what happens to $c_n$ if you multiply $|\psi\r…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Can two different states give the same set of probabilities $\{P(n)\}$ in some b…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41248"/>
            <a:ext cx="370332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144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1188720"/>
            <a:ext cx="34655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Let $\{|1\rangle,|2\rangle\}$ be orthonormal. Normalize $|\psi\rangle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For $|\psi\rangle=\frac{1}{\sqrt{5}}(|1\rangle+2i|2\rangle)$, compute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[BegUG-A3] Show, starting from the expansion $|\psi\rangle=\sum_n c_n|n\rangle$, 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41248"/>
            <a:ext cx="3429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914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PROBLEMS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1188720"/>
            <a:ext cx="3191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Insert the identity to prove: $\langle\phi|\psi\rangle=\sum_n \phi_n^*…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[BegUG-B2] Let $|\psi'\rangle=\alpha|1\rangle+\beta|2\rangle$ with $|\alpha|^2+|\…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566928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0332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(SIMPLE): Basis-Expansion Calculator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5431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Python function that takes: (1) a complex vector $\psi$ in a 2D or 3D basis; (2) a unitary matrix $U$ defining a new basis. Output: coefficients in the 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57150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630168"/>
            <a:ext cx="64008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0332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(ADVANCED): Representations of the Same State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36792" y="3977640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fixed physical state $|\psi\rangle$ and represent it in three ways: (a) as a column vector in the $\{|1\rangle,|2\rangle\}$ basis; (b) as a column vector…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5422392"/>
            <a:ext cx="56692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5422392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49554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(Well-Defined)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5769864"/>
            <a:ext cx="54315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a 2-page note why the choice of measurement basis is equivalent to the choice of observable.  Use the normalization and…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5422392"/>
            <a:ext cx="571500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5422392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54955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(Open-Ended)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5769864"/>
            <a:ext cx="5477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set of axioms from which $c_n=\langle n|\psi\rangle$ and the Born rule can be derived, rather than postulated?…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undergraduates transition from computation to proof.  The Cauchy--Schwa…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0233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785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must $|\langle\phi|\psi\rangle|\le 1$ for normalized states?  What would hap…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what sense is probability a 'geometry' on the space of states?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$d(\phi,\psi)=\|\phi-\psi\|$ not a physically meaningful distance on quan…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role of completeness of $\mathcal{H}$ (convergence of Cauchy sequenc…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$\|\psi\|$ a norm in the mathematical sense?  Verify all three norm axioms.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41248"/>
            <a:ext cx="370332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144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1188720"/>
            <a:ext cx="34655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Prove the Cauchy--Schwarz inequality: $|\langle\phi|\psi\rangle|^2 \le…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Prove the triangle inequality $\|\phi+\psi\|\le\|\phi\|+\|\psi\|$.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[AdvUG-A3] Show that $\|\psi\|=0$ implies $|\psi\rangle=0$.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41248"/>
            <a:ext cx="3429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914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PROBLEMS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1188720"/>
            <a:ext cx="3191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Define the phase-invariant distance on normalised states: $d(\phi,\psi…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[AdvUG-B2] Let $\hat U$ be unitary ($\hat U^\dagger \hat U=\hat I$). Show that $\…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566928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0332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(SIMPLE): Numerical Verification of Cauchy--Schwarz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5431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1000 pairs of random complex vectors in $\mathbb{C}^4$. For each pair, compute $|\langle\phi|\psi\rangle|^2$ and $\|\phi\|^2\|\psi\|^2$. Verify numeric…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57150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630168"/>
            <a:ext cx="64008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0332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(ADVANCED): Geometry of State Distinguishability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36792" y="3977640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the Fubini--Study distance $d_{FS}=\arccos|\langle\phi|\psi\rangle|$ relates to the optimal measurement that distinguishes two pure states. Compute 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5422392"/>
            <a:ext cx="56692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5422392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49554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(Well-Defined)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5769864"/>
            <a:ext cx="54315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3-page proof-based note showing that the Cauchy--Schwarz inequality guarantees that transition probabilities $|\langle\phi…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5422392"/>
            <a:ext cx="571500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5422392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54955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(Open-Ended)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5769864"/>
            <a:ext cx="5477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physically motivated geometries on the space of quantum states other than the Fubini--Study metric?  What operational me…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students focus on what is physically real vs representational. States a…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0233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785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the physical state space $\mathbb{P}(\mathcal{H})$ and not $\mathcal{H}$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precisely does 'global phase is gauge redundancy' mean?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$|\langle\phi|\psi\rangle|^2$ the physically invariant object, not $\lang…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Wigner's theorem precisely.  What does 'antiunitary' mean?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the Fubini--Study distance reduce to the ordinary angle between unit ve…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41248"/>
            <a:ext cx="370332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144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1188720"/>
            <a:ext cx="34655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Show that $|\langle\phi|\psi\rangle|^2$ is invariant under independent…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Show that the Fubini--Study distance $d_{FS}(\phi,\psi)=\arccos(|\lang…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41248"/>
            <a:ext cx="3429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914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PROBLEMS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1188720"/>
            <a:ext cx="3191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Outline the proof of Wigner's theorem: any bijection $T:\mathbb{P}(\ma…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[MSc-B2] Show that a unitary change of basis $|n\rangle\to\hat{U}|n\rangle$ is 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566928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0332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(SIMPLE): Fubini--Study Distance on the Bloch Sphere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5431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 spin-1/2 states by $(\theta,\phi)$ on the Bloch sphere. Compute $d_{FS}$ between 20 randomly chosen pairs and compare with the Euclidean distance b…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57150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630168"/>
            <a:ext cx="64008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0332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(ADVANCED): Symmetries, Unitaries, and Conservation Laws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36792" y="3977640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5-page essay connecting: (1) Wigner's theorem (symmetries $\Rightarrow$ unitary/antiunitary operators); (2) Stone's theorem (one-parameter unitary group…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5422392"/>
            <a:ext cx="56692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5422392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49554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(Well-Defined)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5769864"/>
            <a:ext cx="54315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structured 5-page reading report on Wigner's theorem: state the theorem precisely, outline the proof strategy, and give tw…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5422392"/>
            <a:ext cx="571500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5422392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54955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(Open-Ended)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5769864"/>
            <a:ext cx="5477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operational assumptions uniquely single out complex Hilbert spaces (versus real or quaternionic) as the arena for quantum me…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PhD level, all handwaving is removed. A Hilbert space is precisely a comp…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0233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785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precisely does 'completeness' of a Hilbert space mean?  Why does it matter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separability (countable ONB) typically assumed in non-relativistic QM?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Give an example where 'Hermitian' and 'self-adjoint' differ.  What are the conse…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is $|x\rangle\notin\mathcal{H}$?  What space does it belong to?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State precisely what $\mathbb{P}(\mathcal{H})$ is as a topological space.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41248"/>
            <a:ext cx="370332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144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1188720"/>
            <a:ext cx="34655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Show that any separable Hilbert space has a countable orthonormal basi…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Prove rigorously that any two representatives of the same ray in $\mat…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41248"/>
            <a:ext cx="3429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914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PROBLEMS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1188720"/>
            <a:ext cx="3191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Provide a precise example of an operator that is Hermitian on a dense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[PhD-B2] Motivate the rigged Hilbert space construction $\Phi\subset\mathcal{H}…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566928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0332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(SIMPLE): Rigor Checklist for Dirac Notation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5431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one-page 'safety checklist' for using Dirac notation rigorously: for each common manipulation (insert completeness, take $\langle x|$, expand in conti…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57150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630168"/>
            <a:ext cx="64008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0332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(ADVANCED): Projective Hilbert Space in Quantum Information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36792" y="3977640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10-page mini-survey on how the projective Hilbert space structure appears in quantum information: (1) pure state tomography; (2) the Bloch sphere as $\m…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5422392"/>
            <a:ext cx="56692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5422392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49554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(Well-Defined)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5769864"/>
            <a:ext cx="54315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10-page note on separability assumptions in quantum mechanics: which physical systems require non-separable Hilbert spaces…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5422392"/>
            <a:ext cx="571500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5422392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54955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(Open-Ended)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5769864"/>
            <a:ext cx="5477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reconstructions of quantum mechanics: what is the minimal set of axioms from which the full Hilbert-space structure (i…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references by tier and category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77240" cy="2560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85953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Born, M. (1926). Zur Quantenmechanik der Stossvorgange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Feynman, R. P. (1965). The Feynman Lectures on Physics, Vol.~III, Ch.~1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[EDU] Susskind, L. and Friedman, A. (2014). Quantum Mechanics: The Theoretical Minimum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777240" cy="2560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89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40817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Born, M. (1926). Quantenmechanik der Stossvorgange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Dirac, P. A. M. (1927). The Physical Interpretation of the Quantum Dynamics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[EDU] Sakurai, J. J. and Napolitano, J. (2021). Modern Quantum Mechanics, 3rd ed., Ch.~1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777240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195681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von Neumann, J. (1932). Mathematische Grundlagen der Quantenmechanik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Schwarz, H. A. (1885). \"Uber ein die Fl\"achen kleinsten Fl\"acheninhalts betreffe…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[EDU] Dirac, P. A. M. (1958). The Principles of Quantum Mechanics, 4th 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777240" cy="2560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250545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Wigner, E. P. (1931). Gruppentheorie und ihre Anwendung auf die Quantenmechanik de…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Bargmann, V. (1964). Note on Wigner's Theorem on Symmetry Operations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[EDU] Weinberg, S. (2015). Lectures on Quantum Mechanics, 2nd ed., Ch.~1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77724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35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305409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von Neumann, J. (1929). Allgemeine Eigenwerttheorie Hermitescher Funktionaloperatore…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[HIS] Stone, M. H. (1932). On One-Parameter Unitary Groups in Hilbert Space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[EDU] Reed, M. and Simon, B. (1972). Methods of Modern Mathematical Physics, Vol.~1: Functional A…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6172200"/>
            <a:ext cx="3200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172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6172200"/>
            <a:ext cx="320040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6172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31920" y="6172200"/>
            <a:ext cx="32004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6172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Bibliography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Common Pitfalls &amp; Homework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66928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43153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$|\psi\rangle$ (abstract ket) with a column vector (representation-dependent).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complex conjugation: if $|\psi\rangle=\sum c_n|n\rangle$ then $\langle\psi|=\sum c_n^*\langle n|$.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global phase as physically meaningful --- only relative phases affect probabilities.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normalization is automatic --- always verify $\langle\psi|\psi\rangle=1$.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841248"/>
            <a:ext cx="57150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841248"/>
            <a:ext cx="64008" cy="2651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914400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36792" y="1188720"/>
            <a:ext cx="5477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(1926) --- probability interpretation of the wave function.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(1927--1930) --- transformation theory and bra-ket formalism.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--- Hilbert-space axiomatic foundations.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Wigner --- symmetry principles and transition probabilities (preview).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1161288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30168"/>
            <a:ext cx="64008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70332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977640"/>
            <a:ext cx="11375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HS-A1, BegUG-A1..A3, AdvUG-A1  |  Optional honors: AdvUG-B1..B2, MSc-A1..B1  |  PhD elective: PhD-A1..B2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(choose): Basis-expansion calculator (simple) OR Representations comparison (advanced)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5001768"/>
            <a:ext cx="2249424" cy="1563624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5001768"/>
            <a:ext cx="64008" cy="156362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53492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simple /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 · 2 research 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references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96896" y="5001768"/>
            <a:ext cx="2249424" cy="1563624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96896" y="5001768"/>
            <a:ext cx="64008" cy="156362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61488" y="53492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simple /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 · 2 research 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references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9472" y="5001768"/>
            <a:ext cx="2249424" cy="1563624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19472" y="5001768"/>
            <a:ext cx="64008" cy="156362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4064" y="53492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simple /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 · 2 research 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references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42048" y="5001768"/>
            <a:ext cx="2249424" cy="1563624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42048" y="5001768"/>
            <a:ext cx="64008" cy="156362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53492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simple /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 · 2 research 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references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64624" y="5001768"/>
            <a:ext cx="2249424" cy="1563624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64624" y="5001768"/>
            <a:ext cx="64008" cy="156362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9216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29216" y="53492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simple /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 · 2 research 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references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Pitfalls &amp; HW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L01 (expanded): Why Dirac Notation? States as Rays &amp; Superposition</dc:title>
  <dc:subject>PptxGenJS Presentation</dc:subject>
  <dc:creator>Diego Bragato</dc:creator>
  <cp:lastModifiedBy>Diego Bragato</cp:lastModifiedBy>
  <cp:revision>1</cp:revision>
  <dcterms:created xsi:type="dcterms:W3CDTF">2026-04-21T17:01:34Z</dcterms:created>
  <dcterms:modified xsi:type="dcterms:W3CDTF">2026-04-21T17:01:34Z</dcterms:modified>
</cp:coreProperties>
</file>