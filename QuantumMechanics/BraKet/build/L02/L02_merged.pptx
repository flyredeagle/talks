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9"/>
    <p:sldId id="257" r:id="rId50"/>
    <p:sldId id="258" r:id="rId51"/>
    <p:sldId id="259" r:id="rId52"/>
    <p:sldId id="260" r:id="rId53"/>
    <p:sldId id="261" r:id="rId54"/>
    <p:sldId id="262" r:id="rId55"/>
    <p:sldId id="263" r:id="rId56"/>
    <p:sldId id="264" r:id="rId57"/>
    <p:sldId id="265" r:id="rId58"/>
    <p:sldId id="266" r:id="rId59"/>
    <p:sldId id="267" r:id="rId60"/>
    <p:sldId id="268" r:id="rId61"/>
    <p:sldId id="269" r:id="rId62"/>
    <p:sldId id="270" r:id="rId63"/>
    <p:sldId id="271" r:id="rId64"/>
    <p:sldId id="272" r:id="rId65"/>
    <p:sldId id="273" r:id="rId66"/>
    <p:sldId id="274" r:id="rId67"/>
    <p:sldId id="275" r:id="rId68"/>
    <p:sldId id="276" r:id="rId69"/>
    <p:sldId id="277" r:id="rId70"/>
    <p:sldId id="278" r:id="rId71"/>
    <p:sldId id="279" r:id="rId72"/>
    <p:sldId id="280" r:id="rId73"/>
    <p:sldId id="281" r:id="rId74"/>
    <p:sldId id="282" r:id="rId75"/>
    <p:sldId id="283" r:id="rId76"/>
    <p:sldId id="284" r:id="rId77"/>
    <p:sldId id="285" r:id="rId78"/>
    <p:sldId id="286" r:id="rId79"/>
    <p:sldId id="287" r:id="rId80"/>
    <p:sldId id="288" r:id="rId81"/>
    <p:sldId id="289" r:id="rId82"/>
    <p:sldId id="290" r:id="rId83"/>
    <p:sldId id="291" r:id="rId84"/>
    <p:sldId id="292" r:id="rId85"/>
    <p:sldId id="293" r:id="rId86"/>
    <p:sldId id="294" r:id="rId87"/>
    <p:sldId id="295" r:id="rId88"/>
    <p:sldId id="296" r:id="rId89"/>
    <p:sldId id="297" r:id="rId90"/>
    <p:sldId id="298" r:id="rId91"/>
    <p:sldId id="299" r:id="rId92"/>
    <p:sldId id="300" r:id="rId93"/>
    <p:sldId id="301" r:id="rId94"/>
    <p:sldId id="302" r:id="rId95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1.xml"/><Relationship Id="rId50" Type="http://schemas.openxmlformats.org/officeDocument/2006/relationships/slide" Target="slides/slide2.xml"/><Relationship Id="rId51" Type="http://schemas.openxmlformats.org/officeDocument/2006/relationships/slide" Target="slides/slide3.xml"/><Relationship Id="rId52" Type="http://schemas.openxmlformats.org/officeDocument/2006/relationships/slide" Target="slides/slide4.xml"/><Relationship Id="rId53" Type="http://schemas.openxmlformats.org/officeDocument/2006/relationships/slide" Target="slides/slide5.xml"/><Relationship Id="rId54" Type="http://schemas.openxmlformats.org/officeDocument/2006/relationships/slide" Target="slides/slide6.xml"/><Relationship Id="rId55" Type="http://schemas.openxmlformats.org/officeDocument/2006/relationships/slide" Target="slides/slide7.xml"/><Relationship Id="rId56" Type="http://schemas.openxmlformats.org/officeDocument/2006/relationships/slide" Target="slides/slide8.xml"/><Relationship Id="rId57" Type="http://schemas.openxmlformats.org/officeDocument/2006/relationships/slide" Target="slides/slide9.xml"/><Relationship Id="rId58" Type="http://schemas.openxmlformats.org/officeDocument/2006/relationships/slide" Target="slides/slide10.xml"/><Relationship Id="rId59" Type="http://schemas.openxmlformats.org/officeDocument/2006/relationships/slide" Target="slides/slide11.xml"/><Relationship Id="rId60" Type="http://schemas.openxmlformats.org/officeDocument/2006/relationships/slide" Target="slides/slide12.xml"/><Relationship Id="rId61" Type="http://schemas.openxmlformats.org/officeDocument/2006/relationships/slide" Target="slides/slide13.xml"/><Relationship Id="rId62" Type="http://schemas.openxmlformats.org/officeDocument/2006/relationships/slide" Target="slides/slide14.xml"/><Relationship Id="rId63" Type="http://schemas.openxmlformats.org/officeDocument/2006/relationships/slide" Target="slides/slide15.xml"/><Relationship Id="rId64" Type="http://schemas.openxmlformats.org/officeDocument/2006/relationships/slide" Target="slides/slide16.xml"/><Relationship Id="rId65" Type="http://schemas.openxmlformats.org/officeDocument/2006/relationships/slide" Target="slides/slide17.xml"/><Relationship Id="rId66" Type="http://schemas.openxmlformats.org/officeDocument/2006/relationships/slide" Target="slides/slide18.xml"/><Relationship Id="rId67" Type="http://schemas.openxmlformats.org/officeDocument/2006/relationships/slide" Target="slides/slide19.xml"/><Relationship Id="rId68" Type="http://schemas.openxmlformats.org/officeDocument/2006/relationships/slide" Target="slides/slide20.xml"/><Relationship Id="rId69" Type="http://schemas.openxmlformats.org/officeDocument/2006/relationships/slide" Target="slides/slide21.xml"/><Relationship Id="rId70" Type="http://schemas.openxmlformats.org/officeDocument/2006/relationships/slide" Target="slides/slide22.xml"/><Relationship Id="rId71" Type="http://schemas.openxmlformats.org/officeDocument/2006/relationships/slide" Target="slides/slide23.xml"/><Relationship Id="rId72" Type="http://schemas.openxmlformats.org/officeDocument/2006/relationships/slide" Target="slides/slide24.xml"/><Relationship Id="rId73" Type="http://schemas.openxmlformats.org/officeDocument/2006/relationships/slide" Target="slides/slide25.xml"/><Relationship Id="rId74" Type="http://schemas.openxmlformats.org/officeDocument/2006/relationships/slide" Target="slides/slide26.xml"/><Relationship Id="rId75" Type="http://schemas.openxmlformats.org/officeDocument/2006/relationships/slide" Target="slides/slide27.xml"/><Relationship Id="rId76" Type="http://schemas.openxmlformats.org/officeDocument/2006/relationships/slide" Target="slides/slide28.xml"/><Relationship Id="rId77" Type="http://schemas.openxmlformats.org/officeDocument/2006/relationships/slide" Target="slides/slide29.xml"/><Relationship Id="rId78" Type="http://schemas.openxmlformats.org/officeDocument/2006/relationships/slide" Target="slides/slide30.xml"/><Relationship Id="rId79" Type="http://schemas.openxmlformats.org/officeDocument/2006/relationships/slide" Target="slides/slide31.xml"/><Relationship Id="rId80" Type="http://schemas.openxmlformats.org/officeDocument/2006/relationships/slide" Target="slides/slide32.xml"/><Relationship Id="rId81" Type="http://schemas.openxmlformats.org/officeDocument/2006/relationships/slide" Target="slides/slide33.xml"/><Relationship Id="rId82" Type="http://schemas.openxmlformats.org/officeDocument/2006/relationships/slide" Target="slides/slide34.xml"/><Relationship Id="rId83" Type="http://schemas.openxmlformats.org/officeDocument/2006/relationships/slide" Target="slides/slide35.xml"/><Relationship Id="rId84" Type="http://schemas.openxmlformats.org/officeDocument/2006/relationships/slide" Target="slides/slide36.xml"/><Relationship Id="rId85" Type="http://schemas.openxmlformats.org/officeDocument/2006/relationships/slide" Target="slides/slide37.xml"/><Relationship Id="rId86" Type="http://schemas.openxmlformats.org/officeDocument/2006/relationships/slide" Target="slides/slide38.xml"/><Relationship Id="rId87" Type="http://schemas.openxmlformats.org/officeDocument/2006/relationships/slide" Target="slides/slide39.xml"/><Relationship Id="rId88" Type="http://schemas.openxmlformats.org/officeDocument/2006/relationships/slide" Target="slides/slide40.xml"/><Relationship Id="rId89" Type="http://schemas.openxmlformats.org/officeDocument/2006/relationships/slide" Target="slides/slide41.xml"/><Relationship Id="rId90" Type="http://schemas.openxmlformats.org/officeDocument/2006/relationships/slide" Target="slides/slide42.xml"/><Relationship Id="rId91" Type="http://schemas.openxmlformats.org/officeDocument/2006/relationships/slide" Target="slides/slide43.xml"/><Relationship Id="rId92" Type="http://schemas.openxmlformats.org/officeDocument/2006/relationships/slide" Target="slides/slide44.xml"/><Relationship Id="rId93" Type="http://schemas.openxmlformats.org/officeDocument/2006/relationships/slide" Target="slides/slide45.xml"/><Relationship Id="rId94" Type="http://schemas.openxmlformats.org/officeDocument/2006/relationships/slide" Target="slides/slide46.xml"/><Relationship Id="rId95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A78BFA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Bras, Dual Space &amp; Inner Product Structure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Duality, conjugate linearity, Riesz representation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Bras, Dual Space &amp; Inner Product Structure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Define bras as linear functionals on 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Conjugate linearity; inner product axioms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min: Probability amplitude ⟨φ|ψ⟩ and Born rule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Orthonormal basis; Gram–Schmidt sketch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bra ⟨ψ| as element of dual space H*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conjugate linearity: (a⟨φ₁|+b⟨φ₂|)|ψ⟩ = a*⟨φ₁|ψ⟩ + b*⟨φ₂|ψ⟩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Born-rule probability from inner product structure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Riesz representation theorem (intuition)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Conjugation rules; dot-product analogy for real vectors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Orthonormal bases; Gram–Schmidt procedure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 theorem intuition; proofs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Anti-linear maps; adjoint rigorously defined; continuity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vs unbounded functionals; Banach space context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Compute ⟨φ|ψ⟩ for |φ⟩ = (1/√2)(|1⟩-i|2⟩), |ψ⟩ = (1/√5)(|1⟩+2i|2⟩) · Verify conjugate symmetry for the above pair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that inner product positive-definiteness implies norm &gt; 0 for |ψ⟩ ≠ 0 · Prove Gram–Schmidt produces orthonormal vectors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 symmetry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ket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 lin bra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via ip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Orthonormal bases; Gram–Schmidt procedure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Conjugation rules; dot-product analogy for real vectors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L02 (HS). Conjugation rules; dot-product analogy for real vectors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Bras as Row Vectors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⟨φ| is the transpose-conjugate of |φ⟩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 AS ROW VECTORS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 IS A DUAL VECTOR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ket |ψ⟩ has a corresponding bra ⟨ψ|. In a finite basis, the bra is the conjugate-transpose (row vector) of the ket (column vector).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85006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|psi
angle 	o (c1,c2)T, quad langlepsi| = (c1*, c2*)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2012594"/>
            <a:ext cx="1394039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597810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826410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inner product ⟨φ|ψ⟩ is the complex dot product — the projection of |ψ⟩ onto |φ⟩.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114904"/>
            <a:ext cx="1883664" cy="268224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HS · Bras as Row Vectors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L02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L02 (HS). Conjugation rules; dot-product analogy for real vectors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exercise for L02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L02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L02.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Conjugation rules; dot-product analogy for real vectors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 theorem intuition; proofs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Orthonormal bases; Gram–Schmidt procedure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L02 (BegUG). Orthonormal bases; Gram–Schmidt procedure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Gram-Schmidt Process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orthonormal basis from any linearly independent set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GRAM-SCHMIDT PROCESS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GRAM-SCHMIDT ORTHOGONALISATION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any set of linearly independent vectors, Gram-Schmidt builds an orthonormal basis step by step: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100328" cy="432816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1781"/>
            <a:ext cx="159715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68726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38912" y="2915869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Hilbert space has an orthonormal basis. Gram-Schmidt proves it constructively — it converts any independent set into one with ⟨eᵢ|eⱼ⟩ = δᵢⱼ.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330321"/>
            <a:ext cx="865632" cy="435864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BegUG · Gram-Schmidt Process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L02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L02 (BegUG). Orthonormal bases; Gram–Schmidt procedure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exercise for L02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L02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L02.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Orthonormal bases; Gram–Schmidt procedure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Anti-linear maps; adjoint rigorously defined; continuity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 theorem intuition; proofs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L02 (AdvUG). Riesz representation theorem intuition; proofs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Riesz Representation Theorem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bounded linear functional on ℋ is an inner product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 THEOREM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 THEOREM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f: ℋ → ℂ be a bounded linear functional. Then there exists a unique |φ_f⟩ ∈ ℋ such that: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639824" cy="259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111197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H ≅ H*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339797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|φ⟩ ↦ ⟨φ| is an anti-linear isomorphism between ℋ and its dual ℋ*. This is WHY bra-ket notation works — every bra is a ket in disguise.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754249"/>
            <a:ext cx="1511808" cy="4328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241929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Anti-linear: ⟨cφ| = c*⟨φ| (note the conjugate). This reflects the sesquilinear nature of the inner product.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AdvUG · Riesz Representation Theorem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L02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L02 (AdvUG). Riesz representation theorem intuition; proofs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exercise for L02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L02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L02.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Riesz representation theorem intuition; proofs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vs unbounded functionals; Banach space context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Anti-linear maps; adjoint rigorously defined; continuity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L02 (MSc). Anti-linear maps; adjoint rigorously defined; continuity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Dual Space as Functionals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ℋ* = {bounded linear maps ℋ → ℂ}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SPACE AS FUNCTIONALS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 SPACE ℋ*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 space ℋ* consists of all bounded linear functionals f: ℋ → ℂ. Each bra ⟨φ| is such a functional: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850060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langlephi|: |psirangle longmapsto langlephi|psirangle in mathbbC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211705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ON ℋ*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2440305"/>
            <a:ext cx="1609344" cy="35661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38912" y="2851785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Riesz, ‖⟨φ|‖ = ‖|φ⟩‖ — the dual norm equals the original norm. ℋ and ℋ* are isometrically anti-isomorphic.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38912" y="333938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BOUNDED?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38912" y="3567989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functionals exist on infinite-dimensional spaces but are not continuous. Physics requires continuous operations — hence we restrict to bounded (= continuous) functionals.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MSc · Dual Space as Functionals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L02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L02 (MSc). Anti-linear maps; adjoint rigorously defined; continuity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exercise for L02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L02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L02.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Anti-linear maps; adjoint rigorously defined; continuity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vs unbounded functionals; Banach space context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Bras, Dual Space &amp; Inner Product Structure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L02 (PhD). Bounded vs unbounded functionals; Banach space context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Reflexivity and Bidual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 ≅ ℋ** — Hilbert spaces are reflexive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REFLEXIVITY AND BIDUAL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REFLEXIVITY OF HILBERT SPACES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Hilbert space ℋ, the bidual ℋ** = (ℋ*)* is naturally isometric to ℋ itself. This is reflexivity.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798576" cy="3169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16910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397709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of ℋ** is evaluation at some point of ℋ. In physics: there are no 'exotic' second-order duals — the double bra ⟨⟨φ|| is just |φ⟩ back.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38912" y="288531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BANACH SPACES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38912" y="3113913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Banach spaces need not be reflexive (example: L¹ is not). Reflexivity of Hilbert spaces is a deep consequence of the parallelogram law and completeness.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654323"/>
            <a:ext cx="3099816" cy="4450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— PhD · Reflexivity and Bidual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L02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L02.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L02.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L02.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L02 (PhD). Bounded vs unbounded functionals; Banach space context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exercise for L02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L02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L02.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that bra is antilinear: bra of (a|ψ⟩) is a*⟨ψ|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Treating ⟨φ|ψ⟩ as symmetric — it is conjugate symmetric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row vector (bra in a basis) with abstract dual vector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Hilbert (1900s) — inner product spaces formalized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Riesz (1907) — representation theorem for bounded functionals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(1930) — bra as dual vector, bracket notation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inner_product  ·  conj_symmetry  ·  linearity_ket  ·  conj_lin_bra  ·  component_via_ip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L02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L02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L02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L02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L02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L02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L02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L02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L02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L02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L02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L02 (full): Bras, Dual Space &amp; Inner Product Structure</dc:title>
  <dc:subject>PptxGenJS Presentation</dc:subject>
  <dc:creator>Diego Bragato</dc:creator>
  <cp:lastModifiedBy>Diego Bragato</cp:lastModifiedBy>
  <cp:revision>1</cp:revision>
  <dcterms:created xsi:type="dcterms:W3CDTF">2026-04-22T19:43:23Z</dcterms:created>
  <dcterms:modified xsi:type="dcterms:W3CDTF">2026-04-22T19:43:23Z</dcterms:modified>
</cp:coreProperties>
</file>