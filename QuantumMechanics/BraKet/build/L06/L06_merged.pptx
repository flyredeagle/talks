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49"/>
    <p:sldId id="257" r:id="rId50"/>
    <p:sldId id="258" r:id="rId51"/>
    <p:sldId id="259" r:id="rId52"/>
    <p:sldId id="260" r:id="rId53"/>
    <p:sldId id="261" r:id="rId54"/>
    <p:sldId id="262" r:id="rId55"/>
    <p:sldId id="263" r:id="rId56"/>
    <p:sldId id="264" r:id="rId57"/>
    <p:sldId id="265" r:id="rId58"/>
    <p:sldId id="266" r:id="rId59"/>
    <p:sldId id="267" r:id="rId60"/>
    <p:sldId id="268" r:id="rId61"/>
    <p:sldId id="269" r:id="rId62"/>
    <p:sldId id="270" r:id="rId63"/>
    <p:sldId id="271" r:id="rId64"/>
    <p:sldId id="272" r:id="rId65"/>
    <p:sldId id="273" r:id="rId66"/>
    <p:sldId id="274" r:id="rId67"/>
    <p:sldId id="275" r:id="rId68"/>
    <p:sldId id="276" r:id="rId69"/>
    <p:sldId id="277" r:id="rId70"/>
    <p:sldId id="278" r:id="rId71"/>
    <p:sldId id="279" r:id="rId72"/>
    <p:sldId id="280" r:id="rId73"/>
    <p:sldId id="281" r:id="rId74"/>
    <p:sldId id="282" r:id="rId75"/>
    <p:sldId id="283" r:id="rId76"/>
    <p:sldId id="284" r:id="rId77"/>
    <p:sldId id="285" r:id="rId78"/>
    <p:sldId id="286" r:id="rId79"/>
    <p:sldId id="287" r:id="rId80"/>
    <p:sldId id="288" r:id="rId81"/>
    <p:sldId id="289" r:id="rId82"/>
    <p:sldId id="290" r:id="rId83"/>
    <p:sldId id="291" r:id="rId84"/>
    <p:sldId id="292" r:id="rId85"/>
    <p:sldId id="293" r:id="rId86"/>
    <p:sldId id="294" r:id="rId87"/>
    <p:sldId id="295" r:id="rId88"/>
    <p:sldId id="296" r:id="rId89"/>
    <p:sldId id="297" r:id="rId90"/>
    <p:sldId id="298" r:id="rId91"/>
    <p:sldId id="299" r:id="rId92"/>
    <p:sldId id="300" r:id="rId93"/>
    <p:sldId id="301" r:id="rId94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openxmlformats.org/officeDocument/2006/relationships/slide" Target="slides/slide1.xml"/><Relationship Id="rId50" Type="http://schemas.openxmlformats.org/officeDocument/2006/relationships/slide" Target="slides/slide2.xml"/><Relationship Id="rId51" Type="http://schemas.openxmlformats.org/officeDocument/2006/relationships/slide" Target="slides/slide3.xml"/><Relationship Id="rId52" Type="http://schemas.openxmlformats.org/officeDocument/2006/relationships/slide" Target="slides/slide4.xml"/><Relationship Id="rId53" Type="http://schemas.openxmlformats.org/officeDocument/2006/relationships/slide" Target="slides/slide5.xml"/><Relationship Id="rId54" Type="http://schemas.openxmlformats.org/officeDocument/2006/relationships/slide" Target="slides/slide6.xml"/><Relationship Id="rId55" Type="http://schemas.openxmlformats.org/officeDocument/2006/relationships/slide" Target="slides/slide7.xml"/><Relationship Id="rId56" Type="http://schemas.openxmlformats.org/officeDocument/2006/relationships/slide" Target="slides/slide8.xml"/><Relationship Id="rId57" Type="http://schemas.openxmlformats.org/officeDocument/2006/relationships/slide" Target="slides/slide9.xml"/><Relationship Id="rId58" Type="http://schemas.openxmlformats.org/officeDocument/2006/relationships/slide" Target="slides/slide10.xml"/><Relationship Id="rId59" Type="http://schemas.openxmlformats.org/officeDocument/2006/relationships/slide" Target="slides/slide11.xml"/><Relationship Id="rId60" Type="http://schemas.openxmlformats.org/officeDocument/2006/relationships/slide" Target="slides/slide12.xml"/><Relationship Id="rId61" Type="http://schemas.openxmlformats.org/officeDocument/2006/relationships/slide" Target="slides/slide13.xml"/><Relationship Id="rId62" Type="http://schemas.openxmlformats.org/officeDocument/2006/relationships/slide" Target="slides/slide14.xml"/><Relationship Id="rId63" Type="http://schemas.openxmlformats.org/officeDocument/2006/relationships/slide" Target="slides/slide15.xml"/><Relationship Id="rId64" Type="http://schemas.openxmlformats.org/officeDocument/2006/relationships/slide" Target="slides/slide16.xml"/><Relationship Id="rId65" Type="http://schemas.openxmlformats.org/officeDocument/2006/relationships/slide" Target="slides/slide17.xml"/><Relationship Id="rId66" Type="http://schemas.openxmlformats.org/officeDocument/2006/relationships/slide" Target="slides/slide18.xml"/><Relationship Id="rId67" Type="http://schemas.openxmlformats.org/officeDocument/2006/relationships/slide" Target="slides/slide19.xml"/><Relationship Id="rId68" Type="http://schemas.openxmlformats.org/officeDocument/2006/relationships/slide" Target="slides/slide20.xml"/><Relationship Id="rId69" Type="http://schemas.openxmlformats.org/officeDocument/2006/relationships/slide" Target="slides/slide21.xml"/><Relationship Id="rId70" Type="http://schemas.openxmlformats.org/officeDocument/2006/relationships/slide" Target="slides/slide22.xml"/><Relationship Id="rId71" Type="http://schemas.openxmlformats.org/officeDocument/2006/relationships/slide" Target="slides/slide23.xml"/><Relationship Id="rId72" Type="http://schemas.openxmlformats.org/officeDocument/2006/relationships/slide" Target="slides/slide24.xml"/><Relationship Id="rId73" Type="http://schemas.openxmlformats.org/officeDocument/2006/relationships/slide" Target="slides/slide25.xml"/><Relationship Id="rId74" Type="http://schemas.openxmlformats.org/officeDocument/2006/relationships/slide" Target="slides/slide26.xml"/><Relationship Id="rId75" Type="http://schemas.openxmlformats.org/officeDocument/2006/relationships/slide" Target="slides/slide27.xml"/><Relationship Id="rId76" Type="http://schemas.openxmlformats.org/officeDocument/2006/relationships/slide" Target="slides/slide28.xml"/><Relationship Id="rId77" Type="http://schemas.openxmlformats.org/officeDocument/2006/relationships/slide" Target="slides/slide29.xml"/><Relationship Id="rId78" Type="http://schemas.openxmlformats.org/officeDocument/2006/relationships/slide" Target="slides/slide30.xml"/><Relationship Id="rId79" Type="http://schemas.openxmlformats.org/officeDocument/2006/relationships/slide" Target="slides/slide31.xml"/><Relationship Id="rId80" Type="http://schemas.openxmlformats.org/officeDocument/2006/relationships/slide" Target="slides/slide32.xml"/><Relationship Id="rId81" Type="http://schemas.openxmlformats.org/officeDocument/2006/relationships/slide" Target="slides/slide33.xml"/><Relationship Id="rId82" Type="http://schemas.openxmlformats.org/officeDocument/2006/relationships/slide" Target="slides/slide34.xml"/><Relationship Id="rId83" Type="http://schemas.openxmlformats.org/officeDocument/2006/relationships/slide" Target="slides/slide35.xml"/><Relationship Id="rId84" Type="http://schemas.openxmlformats.org/officeDocument/2006/relationships/slide" Target="slides/slide36.xml"/><Relationship Id="rId85" Type="http://schemas.openxmlformats.org/officeDocument/2006/relationships/slide" Target="slides/slide37.xml"/><Relationship Id="rId86" Type="http://schemas.openxmlformats.org/officeDocument/2006/relationships/slide" Target="slides/slide38.xml"/><Relationship Id="rId87" Type="http://schemas.openxmlformats.org/officeDocument/2006/relationships/slide" Target="slides/slide39.xml"/><Relationship Id="rId88" Type="http://schemas.openxmlformats.org/officeDocument/2006/relationships/slide" Target="slides/slide40.xml"/><Relationship Id="rId89" Type="http://schemas.openxmlformats.org/officeDocument/2006/relationships/slide" Target="slides/slide41.xml"/><Relationship Id="rId90" Type="http://schemas.openxmlformats.org/officeDocument/2006/relationships/slide" Target="slides/slide42.xml"/><Relationship Id="rId91" Type="http://schemas.openxmlformats.org/officeDocument/2006/relationships/slide" Target="slides/slide43.xml"/><Relationship Id="rId92" Type="http://schemas.openxmlformats.org/officeDocument/2006/relationships/slide" Target="slides/slide44.xml"/><Relationship Id="rId93" Type="http://schemas.openxmlformats.org/officeDocument/2006/relationships/slide" Target="slides/slide45.xml"/><Relationship Id="rId94" Type="http://schemas.openxmlformats.org/officeDocument/2006/relationships/slide" Target="slides/slide46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FB7185">
              <a:alpha val="9000"/>
            </a:srgbClr>
          </a:solidFill>
          <a:ln w="12700">
            <a:solidFill>
              <a:srgbClr val="FB7185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FB7185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Bases: |x⟩, |p⟩ &amp; Delta Functions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Position/momentum bases, wavefunctions, Fourier connection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L06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B7185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Bases: |x⟩, |p⟩ &amp; Delta Functions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Continuous completeness ∫|x⟩⟨x|dx = Î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min: Wavefunction as ψ(x) = ⟨x|ψ⟩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50–75 min: Momentum basis; ⟨x|p⟩ = e^{ipx/ℏ}/√(2πℏ)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75–90 min: Fourier connection; delta function identities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7432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Understand ⟨x|x'⟩ = δ(x−x') as continuous orthonormality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wavefunction ψ(x) as projection onto position basis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 Fourier transform to ⟨x|p⟩ inner product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 Dirac delta distributions carefully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21608"/>
            <a:ext cx="64008" cy="153619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continuum of outcomes means physically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721608"/>
            <a:ext cx="64008" cy="153619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integrals; qualitative delta function properties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721608"/>
            <a:ext cx="64008" cy="153619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delta manipulations; normalization conventions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721608"/>
            <a:ext cx="64008" cy="153619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theory viewpoint; generalized eigenvectors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721608"/>
            <a:ext cx="64008" cy="15361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Rigged Hilbert spaces motivation; Gel'fand triple preview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Show ∫|x⟩⟨x|dx=Î implies ⟨φ|ψ⟩ = ∫φ*(x)ψ(x)dx · Verify ψ̃(p) = ⟨p|ψ⟩ is the Fourier transform of ψ(x)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Derive ψ(x) as Fourier transform of φ(p) from ⟨x|p⟩ kernel · Prove Parseval–Plancherel: ∫|ψ|² dx = ∫|φ|² dp from completeness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Sakurai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Measurement-first, operational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72237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6986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→ STATISTICS → AMPLITUDES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TO STATISTICS TO AMPLITUDES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PREPARATION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preparation is a reproducible laboratory protocol.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9989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procedure always yields the same statistical predictions.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135581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MEASUREMENT OUTCOMES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364181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measurement device returns outcomes a_i with stable frequencies.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526716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encodes probabilities, not definite property values.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762402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WHY AMPLITUDES?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29910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demands combining paths BEFORE squaring:</a:t>
            </a:r>
            <a:endParaRPr lang="en-US" sz="9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153537"/>
            <a:ext cx="2630424" cy="26822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662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cross-term is interference — real and measurable.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6391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complex amplitudes can produce this cross-term.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38912" y="3874846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OPERATIONAL BORN RULE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4103446"/>
            <a:ext cx="1143000" cy="445008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603318"/>
            <a:ext cx="2149072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38912" y="5188534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IS UNOBSERVABLE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5417134"/>
            <a:ext cx="2493264" cy="4511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38912" y="59231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states are RAYS not vectors.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726680" y="841248"/>
            <a:ext cx="41605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26680" y="841248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891272" y="914400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DIRAC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891272" y="1188720"/>
            <a:ext cx="39227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Preparation procedure  ↔  ket |ψ⟩ (ray in ℋ)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Measurement outcome aᵢ  ↔  basis ket |aᵢ⟩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Transition amplitude  ↔  inner product ⟨aᵢ|ψ⟩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 rule  ↔  |⟨aᵢ|ψ⟩|²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prob. = 1  ↔  ⟨ψ|ψ⟩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Interference  ↔  complex phase structure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Sakurai Track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B7185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Dirac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Abstract, representation-independent axioms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 OF QUANTUM MECHANICS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1 — STATE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physical state is a ray in a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99895"/>
            <a:ext cx="2118360" cy="4328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8912" y="246072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2 — OBSERVABLES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" y="268932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observable A corresponds to a Hermitian operator A = A^†.</a:t>
            </a:r>
            <a:endParaRPr lang="en-US" sz="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851861"/>
            <a:ext cx="1432560" cy="3688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8912" y="334868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3 — COMPLETENESS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577285"/>
            <a:ext cx="1590869" cy="45720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089349"/>
            <a:ext cx="1457908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67456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4 — BORN RULE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903165"/>
            <a:ext cx="954024" cy="2682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522625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Post-measurement state (ideal projective): |ψ⟩ → |a⟩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38912" y="546194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5 — DYNAMICS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690540"/>
            <a:ext cx="2179320" cy="2956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</a:t>
            </a:r>
            <a:endParaRPr lang="en-US" sz="750" dirty="0"/>
          </a:p>
        </p:txBody>
      </p:sp>
      <p:sp>
        <p:nvSpPr>
          <p:cNvPr id="26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Dirac Track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B7185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Key Formulas 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64008" cy="27432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 completeness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" y="1307592"/>
            <a:ext cx="3584448" cy="2331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6052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60520" y="960120"/>
            <a:ext cx="64008" cy="27432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2511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ortho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0248" y="1307592"/>
            <a:ext cx="3584448" cy="23317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00100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01000" y="960120"/>
            <a:ext cx="64008" cy="27432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6559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wavefunction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10728" y="1307592"/>
            <a:ext cx="3584448" cy="23317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2004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3794760"/>
            <a:ext cx="64008" cy="27432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463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kernel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9768" y="4142232"/>
            <a:ext cx="3584448" cy="233172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6052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60520" y="3794760"/>
            <a:ext cx="64008" cy="27432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2511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via bk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70248" y="4142232"/>
            <a:ext cx="3584448" cy="233172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800100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8001000" y="3794760"/>
            <a:ext cx="64008" cy="27432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816559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as integral</a:t>
            </a:r>
            <a:endParaRPr lang="en-US" sz="9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10728" y="4142232"/>
            <a:ext cx="3584448" cy="23317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</a:t>
            </a:r>
            <a:endParaRPr lang="en-US" sz="750" dirty="0"/>
          </a:p>
        </p:txBody>
      </p:sp>
      <p:sp>
        <p:nvSpPr>
          <p:cNvPr id="32" name="Text 2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HS: High School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Continuous Bases: |x⟩, |p⟩ &amp; Delta Functions at the HS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point: pre-university mathematics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basic algebra and complex arithmetic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Beginning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integrals; qualitative delta function properties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continuum of outcomes means physically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HS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HS · Intro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HS: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Continuous Bases: |x⟩, |p⟩ &amp; Delta Functions at the HS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 AS ARROWS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complex number z = a + ib lives in a 2D plane.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707804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1542288" cy="4450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900629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TO PROBABILITY (BORN RULE)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38912" y="312922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amplitude A is a complex number for a process.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291764"/>
            <a:ext cx="1350264" cy="4450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8912" y="37916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squaring? Gives a real, non-negative number. Phase alone does not.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38912" y="40273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= ARROW ADDITION = INTERFERENCE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38912" y="42559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paths: amplitudes A_1 and A_2. Total: A = A_1 + A_2.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418457"/>
            <a:ext cx="2630424" cy="2682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38912" y="474154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term can be positive (constructive) or negative (destructive).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97723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FORMULA: PHASE DEPENDENCE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38912" y="520583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A_1 = 1, A_2 = e^{iφ} (unit magnitude, phase φ).</a:t>
            </a:r>
            <a:endParaRPr lang="en-US" sz="9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5368366"/>
            <a:ext cx="1990344" cy="45110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38912" y="58743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P=4 at φ=0 (constructive). Minimum P=0 at φ=pi (destructive).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HS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HS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HS: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HS-A1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L06 (HS). What a continuum of outcomes means physically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HS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HS: Continuum Limit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— Continuous Bases: |x⟩, |p⟩ &amp; Delta Functions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CONTINUUM LIMIT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— CONTINUUM LIMIT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Continuous Bases: |x⟩, |p⟩ &amp; Delta Functions at the HS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HS question for L06.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HS question for L06.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— HS · Continuum Limit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HS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HS: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HS-A2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L06 (HS).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HS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HS: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HS question for L06.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HS question for L06.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HS question for L06.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HS question for L06.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HS question for L06.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questions have no calculation — think about what probability MEANS.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squaring is the minimal operation that gives a non-negative re…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HS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HS: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[HS-A1]  Core problem for L06 (HS). What a continuum of outcomes means physically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[HS-A2]  Verification for L06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[HS-B1]  Proof exercise for L06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HS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HS: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HS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HS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BegUG: Beginning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Continuous Bases: |x⟩, |p⟩ &amp; Delta Functions at the BegUG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High School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continuum of outcomes means physically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Advanced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delta manipulations; normalization conventions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integrals; qualitative delta function properties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BegUG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BegUG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BegUG: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Continuous Bases: |x⟩, |p⟩ &amp; Delta Functions at the BegUG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FORMALISM — DISCRETE BASIS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 |ψ⟩ in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063496" cy="34747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217877"/>
            <a:ext cx="1537218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0309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AND COMPONENTS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031693"/>
            <a:ext cx="1289957" cy="45720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543757"/>
            <a:ext cx="3797808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8912" y="394609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⟨ m|ψ⟩ = sum_n c_n ⟨ m|n⟩ = sum_n c_ndelta_{mn} = c_m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38912" y="418178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AND PROBABILITIES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410380"/>
            <a:ext cx="2178698" cy="45720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4922444"/>
            <a:ext cx="2142744" cy="268224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245532"/>
            <a:ext cx="2535594" cy="4572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38912" y="583074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INVARIANCE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BegUG</a:t>
            </a:r>
            <a:endParaRPr lang="en-US" sz="750" dirty="0"/>
          </a:p>
        </p:txBody>
      </p:sp>
      <p:sp>
        <p:nvSpPr>
          <p:cNvPr id="25" name="Text 16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BegUG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BegUG: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BegUG-A1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L06 (BegUG). Basic integrals; qualitative delta function properties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BegUG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BegUG: Delta Function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Undergraduate — Continuous Bases: |x⟩, |p⟩ &amp; Delta Functions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FUNCTION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 — DELTA FUNCTION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Continuous Bases: |x⟩, |p⟩ &amp; Delta Functions at the BegUG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BegUG question for L06.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BegUG question for L06.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— BegUG · Delta Function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BegUG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BegUG: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BegUG-A2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L06 (BegUG).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BegUG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BegUG: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BegUG question for L06.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BegUG question for L06.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BegUG question for L06.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BegUG question for L06.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BegUG question for L06.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the definition: write out the expansion, act with ⟨m| on the left, use δₘₙ.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normalization: total probability must equal 1 — that is the…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BegUG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BegUG: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[BegUG-A1]  Core problem for L06 (BegUG). Basic integrals; qualitative delta function properties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[BegUG-A2]  Verification for L06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[BegUG-B1]  Proof exercise for L06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BegUG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BegUG: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BegUG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BegUG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AdvUG: Advanced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Continuous Bases: |x⟩, |p⟩ &amp; Delta Functions at the AdvUG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Beginning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integrals; qualitative delta function properties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Master's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theory viewpoint; generalized eigenvectors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delta manipulations; normalization conventions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AdvUG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AdvUG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AdvUG: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Continuous Bases: |x⟩, |p⟩ &amp; Delta Functions at the AdvUG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SPACE GEOMETRY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653007"/>
            <a:ext cx="1106905" cy="4572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165071"/>
            <a:ext cx="2471928" cy="4328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272590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CAUCHY-SCHWARZ INEQUALITY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2954503"/>
            <a:ext cx="1301496" cy="2682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8912" y="327759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set f(lambda) = | |φ⟩ - lambda|ψ⟩ |^2 ≥ 0.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38912" y="344012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lambda = ⟨ψ|φ⟩ / |ψ|^2 to minimise.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602660"/>
            <a:ext cx="3041904" cy="2682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38912" y="399890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INEQUALITY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227500"/>
            <a:ext cx="1487424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8912" y="46298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square both sides; apply C-S to the cross term.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438912" y="48655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PHASE-INVARIANT DISTANCE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094122"/>
            <a:ext cx="2706624" cy="326136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475122"/>
            <a:ext cx="2734056" cy="34747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AdvUG</a:t>
            </a:r>
            <a:endParaRPr lang="en-US" sz="750" dirty="0"/>
          </a:p>
        </p:txBody>
      </p:sp>
      <p:sp>
        <p:nvSpPr>
          <p:cNvPr id="26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AdvUG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AdvUG: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AdvUG-A1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L06 (AdvUG). Careful delta manipulations; normalization conventions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AdvUG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AdvUG: Position Momentum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Undergraduate — Continuous Bases: |x⟩, |p⟩ &amp; Delta Functions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MOMENTUM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 — POSITION MOMENTUM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Continuous Bases: |x⟩, |p⟩ &amp; Delta Functions at the AdvUG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AdvUG question for L06.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AdvUG question for L06.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— AdvUG · Position Momentum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AdvUG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AdvUG: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AdvUG-A2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L06 (AdvUG).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AdvUG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AdvUG: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AdvUG question for L06.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AdvUG question for L06.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AdvUG question for L06.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AdvUG question for L06.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AdvUG question for L06.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C–S: the proof idea is to consider ‖|φ⟩ - λ|ψ⟩‖² ≥ 0 and choose the minimising λ.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geometry questions: draw a unit circle in ℂ²; overlap |…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AdvUG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AdvUG: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[AdvUG-A1]  Core problem for L06 (AdvUG). Careful delta manipulations; normalization conventions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[AdvUG-A2]  Verification for L06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[AdvUG-B1]  Proof exercise for L06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AdvUG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AdvUG: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AdvUG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AdvUG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MSc: Master's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Continuous Bases: |x⟩, |p⟩ &amp; Delta Functions at the MSc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Advanced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delta manipulations; normalization conventions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PhD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Rigged Hilbert spaces motivation; Gel'fand triple preview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theory viewpoint; generalized eigenvectors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MSc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MSc · Intro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MSc: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Continuous Bases: |x⟩, |p⟩ &amp; Delta Functions at the MSc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HILBERT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 space is P(H), not H itself.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1453896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2118360" cy="4328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1528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ray [ψ] is a one-dimensional complex subspace of H.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38912" y="29778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P(C^2) cong S^2 — the Bloch sphere.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8912" y="32135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INVARIANT QUANTITIES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442106"/>
            <a:ext cx="2426208" cy="359664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856634"/>
            <a:ext cx="1926336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3321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WIGNER'S THEOREM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38912" y="45607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bijection T:P(H)→P(H) preserving |⟨φ|ψ⟩|^2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438912" y="472325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implemented by a UNITARY or ANTIUNITARY operator U on H.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88579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all quantum symmetries are (anti)unitary.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438912" y="512147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38912" y="5350078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group G acting on states gives projective representation of G.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38912" y="551261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spin SO(3)→ SU(2), superselection rules, CPT symmetry.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MSc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MSc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MSc: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MSc-A1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L06 (MSc). Distribution theory viewpoint; generalized eigenvectors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MSc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MSc: Fourier Duality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Level — Continuous Bases: |x⟩, |p⟩ &amp; Delta Functions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DUALITY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— FOURIER DUALITY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Continuous Bases: |x⟩, |p⟩ &amp; Delta Functions at the MSc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MSc question for L06.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MSc question for L06.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— MSc · Fourier Duality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MSc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MSc: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MSc-A2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L06 (MSc).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MSc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MSc: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MSc question for L06.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MSc question for L06.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MSc question for L06.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MSc question for L06.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MSc question for L06.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projective space: think of it as points on a sphere (for 2D), or more generally a complex manifold.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Wigner: the key word is 'preserves transi…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MSc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MSc: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[MSc-A1]  Core problem for L06 (MSc). Distribution theory viewpoint; generalized eigenvectors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[MSc-A2]  Verification for L06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[MSc-B1]  Proof exercise for L06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MSc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MSc: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MSc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MSc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PhD: PhD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Continuous Bases: |x⟩, |p⟩ &amp; Delta Functions at the PhD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Master's Level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theory viewpoint; generalized eigenvectors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level: connects to active research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literature and open problems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Rigged Hilbert spaces motivation; Gel'fand triple preview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PhD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PhD · Intro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PhD: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Continuous Bases: |x⟩, |p⟩ &amp; Delta Functions at the PhD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— PRECISE AXIOMS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 complex vector space H with ⟨cdot|cdot⟩ that is COMPLETE.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1554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every Cauchy sequence {ψ_n} converges in H.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197807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for: spectral theory, Fourier expansions, Stone's theorem.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21376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44236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separable ⟺ countable dense subset ⟺ countable ONB {e_n}.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60489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standard NRQM spaces: L^2(R^n), C^n, ell^2(N).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2840584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AS ONE-DIMENSIONAL SUBSPACES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069184"/>
            <a:ext cx="144475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15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P(H) is a Kahler manifold with Fubini-Study metric.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7072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— DOMAIN SUBTLETY</a:t>
            </a:r>
            <a:endParaRPr lang="en-US" sz="10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935806"/>
            <a:ext cx="2700528" cy="457200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447870"/>
            <a:ext cx="2535936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38912" y="49599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Self-adjoint ≠ Hermitian for unbounded operators (x̂, p̂).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38912" y="512246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and Stone's theorem REQUIRE self-adjointness.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PhD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PhD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PhD: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PhD-A1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L06 (PhD). Rigged Hilbert spaces motivation; Gel'fand triple preview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PhD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PhD: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PhD-A2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L06 (PhD).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PhD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PhD: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PhD question for L06.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PhD question for L06.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PhD question for L06.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PhD question for L06.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PhD question for L06.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completeness: construct Cauchy sequences that don't converge to a square-integrable function in a non-complete space.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separability: construct…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PhD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PhD: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[PhD-A1]  Core problem for L06 (PhD). Rigged Hilbert spaces motivation; Gel'fand triple preview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[PhD-A2]  Verification for L06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[PhD-B1]  Proof exercise for L06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PhD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PhD: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PhD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PhD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Common Pitfalls &amp; Misconceptions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pitfalls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Treating δ(x−x') as a regular function — it is a distribution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Wrong normalization: ⟨x|x'⟩ uses δ not Kronecker δ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(B)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Confusing momentum eigenstate normalization conventions (ℏ vs 1)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794760"/>
            <a:ext cx="566928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94760"/>
            <a:ext cx="64008" cy="2423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8679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142232"/>
            <a:ext cx="543153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Schrödinger (1926) — wave mechanics and ψ(x)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Dirac (1927) — δ-function introduced (informally)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Schwartz (1950s) — distribution theory: rigorous foundation for δ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71500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3794760"/>
            <a:ext cx="64008" cy="24231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38679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QUICK REFERENCE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36792" y="4142232"/>
            <a:ext cx="547725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 in this lecture: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cont_completeness  ·  position_ortho  ·  wavefunction  ·  momentum_kernel  ·  fourier_via_bk  ·  ip_as_integral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formula slides for full LaTeX-rendered versions.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Pitfalls</a:t>
            </a:r>
            <a:endParaRPr lang="en-US" sz="7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Homework &amp; Project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overview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36576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HS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HS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(HS).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(HS).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96896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96896" y="822960"/>
            <a:ext cx="64008" cy="36576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61488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BegUG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BegUG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(BegUG).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(BegUG).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19472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19472" y="822960"/>
            <a:ext cx="64008" cy="36576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4064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84064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AdvUG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AdvUG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(AdvUG).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(AdvUG).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42048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42048" y="822960"/>
            <a:ext cx="64008" cy="36576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MSc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MSc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(MSc).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(MSc).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564624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64624" y="822960"/>
            <a:ext cx="64008" cy="36576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29216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29216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PhD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PhD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(PhD).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(PhD).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617720"/>
            <a:ext cx="11612880" cy="203911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617720"/>
            <a:ext cx="64008" cy="20391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69087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" y="4965192"/>
            <a:ext cx="113751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(all students): Problems from your track's Set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(optional): Set B problems from your track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Choose simple OR advanced track from your tier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At least one well-defined question; open questions for MSc/PhD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Homework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L06 (full): Continuous Bases: |x⟩, |p⟩ &amp; Delta Functions</dc:title>
  <dc:subject>PptxGenJS Presentation</dc:subject>
  <dc:creator>Diego Bragato</dc:creator>
  <cp:lastModifiedBy>Diego Bragato</cp:lastModifiedBy>
  <cp:revision>1</cp:revision>
  <dcterms:created xsi:type="dcterms:W3CDTF">2026-04-22T19:43:23Z</dcterms:created>
  <dcterms:modified xsi:type="dcterms:W3CDTF">2026-04-22T19:43:23Z</dcterms:modified>
</cp:coreProperties>
</file>