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FB7185">
              <a:alpha val="9000"/>
            </a:srgbClr>
          </a:solidFill>
          <a:ln w="12700">
            <a:solidFill>
              <a:srgbClr val="FB7185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FB7185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Bases: |x⟩, |p⟩ &amp; Delta Functions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Position/momentum bases, wavefunctions, Fourier connection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L06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Bases: |x⟩, |p⟩ &amp; Delta Functions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Continuous completeness ∫|x⟩⟨x|dx = Î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Wavefunction as ψ(x) = ⟨x|ψ⟩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min: Momentum basis; ⟨x|p⟩ = e^{ipx/ℏ}/√(2πℏ)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min: Fourier connection; delta function identities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743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 ⟨x|x'⟩ = δ(x−x') as continuous orthonormality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wavefunction ψ(x) as projection onto position basis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 Fourier transform to ⟨x|p⟩ inner product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 Dirac delta distributions carefully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21608"/>
            <a:ext cx="64008" cy="15361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continuum of outcomes means physically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721608"/>
            <a:ext cx="64008" cy="15361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integrals; qualitative delta function properties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721608"/>
            <a:ext cx="64008" cy="15361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delta manipulations; normalization conventions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721608"/>
            <a:ext cx="64008" cy="153619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theory viewpoint; generalized eigenvectors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721608"/>
            <a:ext cx="64008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 Hilbert spaces motivation; Gel'fand triple preview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Show ∫|x⟩⟨x|dx=Î implies ⟨φ|ψ⟩ = ∫φ*(x)ψ(x)dx · Verify ψ̃(p) = ⟨p|ψ⟩ is the Fourier transform of ψ(x)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Derive ψ(x) as Fourier transform of φ(p) from ⟨x|p⟩ kernel · Prove Parseval–Plancherel: ∫|ψ|² dx = ∫|φ|² dp from completeness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Sakurai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Measurement-first, operational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2237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TO STATISTICS TO AMPLITUDES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PREPARATION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is a reproducible laboratory protocol.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9989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always yields the same statistical predictions.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35581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MEASUREMENT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64181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device returns outcomes a_i with stable frequencies.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526716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encodes probabilities, not definite property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62402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WHY AMPLITUDES?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910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demands combining paths BEFORE squaring: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53537"/>
            <a:ext cx="2630424" cy="2682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662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cross-term is interference — real and measurable.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6391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complex amplitudes can produce this cross-term.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" y="387484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OPERATIONAL BORN RULE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4103446"/>
            <a:ext cx="1143000" cy="4450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603318"/>
            <a:ext cx="2149072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" y="518853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IS UNOBSERVABLE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5417134"/>
            <a:ext cx="2493264" cy="4511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" y="59231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not vectors.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26680" y="841248"/>
            <a:ext cx="41605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2668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891272" y="91440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DIRAC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891272" y="1188720"/>
            <a:ext cx="39227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  ↔  ket |ψ⟩ (ray in 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 aᵢ  ↔  basis ket |aᵢ⟩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amplitude  ↔  inner product ⟨aᵢ|ψ⟩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rule  ↔  |⟨aᵢ|ψ⟩|²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prob. = 1  ↔  ⟨ψ|ψ⟩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 ↔  complex phase structure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Sakurai Track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Dirac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representation-independent axioms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 OF QUANTUM MECHANICS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1 — STATE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state is a ray in a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99895"/>
            <a:ext cx="2118360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46072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2 — OBSERVABLES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932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observable A corresponds to a Hermitian operator A = A^†.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51861"/>
            <a:ext cx="1432560" cy="3688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34868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3 — COMPLETENESS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7285"/>
            <a:ext cx="1590869" cy="4572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089349"/>
            <a:ext cx="1457908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67456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4 — BORN RULE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903165"/>
            <a:ext cx="9540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522625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Post-measurement state (ideal projective): |ψ⟩ → |a⟩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38912" y="546194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5 — DYNAMICS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690540"/>
            <a:ext cx="2179320" cy="2956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Dirac Track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Key Formulas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2743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 completeness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3584448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2743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ortho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07592"/>
            <a:ext cx="3584448" cy="2331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2743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wavefunction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07592"/>
            <a:ext cx="3584448" cy="23317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794760"/>
            <a:ext cx="64008" cy="2743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kernel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4142232"/>
            <a:ext cx="3584448" cy="23317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6052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60520" y="3794760"/>
            <a:ext cx="64008" cy="2743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2511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via bk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0248" y="4142232"/>
            <a:ext cx="3584448" cy="233172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00100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001000" y="3794760"/>
            <a:ext cx="64008" cy="274320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16559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as integral</a:t>
            </a:r>
            <a:endParaRPr lang="en-US" sz="9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10728" y="4142232"/>
            <a:ext cx="3584448" cy="23317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HS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pre-university mathematics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basic algebra and complex arithmetic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Beginning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integrals; qualitative delta function properties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continuum of outcomes means physically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HS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HS · Intro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HS: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HS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lives in a 2D plane.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707804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1542288" cy="4450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900629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 PROBABILITY (BORN RULE)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8912" y="312922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for a process.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91764"/>
            <a:ext cx="1350264" cy="445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37916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squaring? Gives a real, non-negative number. Phase alone does not.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40273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 = INTERFERENCE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2559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amplitudes A_1 and A_2. Total: A = A_1 + A_2.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418457"/>
            <a:ext cx="2630424" cy="2682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" y="474154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term can be positive (constructive) or negative (destructive).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97723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FORMULA: PHASE DEPENDENCE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38912" y="520583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 = 1, A_2 = e^{iφ} (unit magnitude, phase φ).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5368366"/>
            <a:ext cx="1990344" cy="4511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8912" y="58743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P=4 at φ=0 (constructive). Minimum P=0 at φ=pi (destructive).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HS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HS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HS: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HS-A1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L06 (HS). What a continuum of outcomes means physically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HS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HS: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HS-A2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L06 (HS).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HS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HS: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HS question for L06.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HS question for L06.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HS question for L06.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HS question for L06.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HS question for L06.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have no calculation — think about what probability MEANS.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squaring is the minimal operation that gives a non-negative re…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HS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HS: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 Core problem for L06 (HS). What a continuum of outcomes means physically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 Verification for L06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 Proof exercise for L06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HS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HS: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HS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BegUG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High School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continuum of outcomes means physically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Advanced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delta manipulations; normalization conventions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integrals; qualitative delta function properties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BegUG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BegUG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BegUG: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BegUG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FORMALISM — DISCRETE BASIS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|ψ⟩ in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063496" cy="34747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217877"/>
            <a:ext cx="1537218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0309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COMPONENTS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031693"/>
            <a:ext cx="1289957" cy="4572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543757"/>
            <a:ext cx="3797808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" y="394609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⟨ m|ψ⟩ = sum_n c_n ⟨ m|n⟩ = sum_n c_ndelta_{mn} = c_m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38912" y="418178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PROBABILITIES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410380"/>
            <a:ext cx="2178698" cy="45720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922444"/>
            <a:ext cx="2142744" cy="2682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245532"/>
            <a:ext cx="2535594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38912" y="583074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INVARIANCE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BegUG</a:t>
            </a:r>
            <a:endParaRPr lang="en-US" sz="750" dirty="0"/>
          </a:p>
        </p:txBody>
      </p:sp>
      <p:sp>
        <p:nvSpPr>
          <p:cNvPr id="25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BegUG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BegUG: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BegUG-A1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L06 (BegUG). Basic integrals; qualitative delta function properties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BegUG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BegUG: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BegUG-A2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L06 (BegUG).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BegUG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BegUG: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BegUG question for L06.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BegUG question for L06.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BegUG question for L06.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BegUG question for L06.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BegUG question for L06.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definition: write out the expansion, act with ⟨m| on the left, use δₘₙ.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normalization: total probability must equal 1 — that is the…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BegUG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BegUG: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 Core problem for L06 (BegUG). Basic integrals; qualitative delta function properties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 Verification for L06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 Proof exercise for L06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BegUG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BegUG: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BegUG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BegUG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AdvUG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Beginning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integrals; qualitative delta function properties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Master's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theory viewpoint; generalized eigenvectors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delta manipulations; normalization conventions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AdvUG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AdvUG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AdvUG: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AdvUG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 GEOMETRY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653007"/>
            <a:ext cx="1106905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165071"/>
            <a:ext cx="2471928" cy="432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72590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INEQUALITY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954503"/>
            <a:ext cx="1301496" cy="2682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" y="327759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set f(lambda) = | |φ⟩ - lambda|ψ⟩ |^2 ≥ 0.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38912" y="344012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lambda = ⟨ψ|φ⟩ / |ψ|^2 to minimise.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602660"/>
            <a:ext cx="3041904" cy="2682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399890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227500"/>
            <a:ext cx="1487424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8912" y="46298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square both sides; apply C-S to the cross term.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38912" y="48655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PHASE-INVARIANT DISTANCE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094122"/>
            <a:ext cx="2706624" cy="326136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475122"/>
            <a:ext cx="2734056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AdvUG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AdvUG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AdvUG: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AdvUG-A1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L06 (AdvUG). Careful delta manipulations; normalization conventions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AdvUG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AdvUG: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AdvUG-A2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L06 (AdvUG).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AdvUG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AdvUG: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AdvUG question for L06.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AdvUG question for L06.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AdvUG question for L06.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AdvUG question for L06.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AdvUG question for L06.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C–S: the proof idea is to consider ‖|φ⟩ - λ|ψ⟩‖² ≥ 0 and choose the minimising 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geometry questions: draw a unit circle in ℂ²; overlap |…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AdvUG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AdvUG: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 Core problem for L06 (AdvUG). Careful delta manipulations; normalization conventions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 Verification for L06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 Proof exercise for L06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AdvUG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AdvUG: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AdvUG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AdvUG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MSc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Advanced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delta manipulations; normalization conventions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PhD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 Hilbert spaces motivation; Gel'fand triple preview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theory viewpoint; generalized eigenvectors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MSc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MSc · Intro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MSc: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MSc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 space is P(H), not H itself.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1453896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2118360" cy="4328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1528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a one-dimensional complex subspace of H.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9778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P(C^2) cong S^2 — the Bloch sphere.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2135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INVARIANT QUANTITIES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442106"/>
            <a:ext cx="2426208" cy="35966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856634"/>
            <a:ext cx="1926336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3321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38912" y="45607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bijection T:P(H)→P(H) preserving |⟨φ|ψ⟩|^2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72325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implemented by a UNITARY or ANTIUNITARY operator U on H.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88579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all quantum symmetries are (anti)unitary.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38912" y="512147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38912" y="535007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 G acting on states gives projective representation of G.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38912" y="551261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spin SO(3)→ SU(2), superselection rules, CPT symmetry.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MSc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MSc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MSc: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MSc-A1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L06 (MSc). Distribution theory viewpoint; generalized eigenvectors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MSc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MSc: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MSc-A2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L06 (MSc).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MSc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MSc: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MSc question for L06.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MSc question for L06.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MSc question for L06.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MSc question for L06.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MSc question for L06.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projective space: think of it as points on a sphere (for 2D), or more generally a complex manifold.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Wigner: the key word is 'preserves transi…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MSc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MSc: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 Core problem for L06 (MSc). Distribution theory viewpoint; generalized eigenvectors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 Verification for L06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 Proof exercise for L06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MSc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MSc: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MSc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MSc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PhD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Master's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theory viewpoint; generalized eigenvectors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level: connects to active research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literature and open problems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Rigged Hilbert spaces motivation; Gel'fand triple preview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PhD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PhD · Intro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PhD: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Continuous Bases: |x⟩, |p⟩ &amp; Delta Functions at the PhD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— PRECISE AXIOMS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complex vector space H with ⟨cdot|cdot⟩ that is COMPLETE.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1554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{ψ_n} converges in 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807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for: spectral theory, Fourier expansions, Stone's theorem.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21376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44236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separable ⟺ countable dense subset ⟺ countable ONB {e_n}.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489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NRQM spaces: L^2(R^n), C^n, ell^2(N).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840584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AS ONE-DIMENSIONAL SUBSPACES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069184"/>
            <a:ext cx="144475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15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is a Kahler manifold with Fubini-Study metric.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7072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— DOMAIN SUBTLETY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935806"/>
            <a:ext cx="2700528" cy="45720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447870"/>
            <a:ext cx="2535936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8912" y="49599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≠ Hermitian for unbounded operators (x̂, p̂).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38912" y="512246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and Stone's theorem REQUIRE self-adjointness.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PhD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PhD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PhD: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PhD-A1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L06 (PhD). Rigged Hilbert spaces motivation; Gel'fand triple preview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PhD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PhD: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PhD-A2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L06 (PhD).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PhD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PhD: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PhD question for L06.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PhD question for L06.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PhD question for L06.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PhD question for L06.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PhD question for L06.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completeness: construct Cauchy sequences that don't converge to a square-integrable function in a non-complete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separability: construct…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PhD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PhD: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 Core problem for L06 (PhD). Rigged Hilbert spaces motivation; Gel'fand triple preview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 Verification for L06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 Proof exercise for L06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PhD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PhD: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· PhD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PhD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Common Pitfalls &amp; Misconceptions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Treating δ(x−x') as a regular function — it is a distribution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Wrong normalization: ⟨x|x'⟩ uses δ not Kronecker 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momentum eigenstate normalization conventions (ℏ vs 1)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56692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2423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8679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142232"/>
            <a:ext cx="5431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Schrödinger (1926) — wave mechanics and ψ(x)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Dirac (1927) — δ-function introduced (informally)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Schwartz (1950s) — distribution theory: rigorous foundation for δ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71500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94760"/>
            <a:ext cx="64008" cy="24231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8679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4142232"/>
            <a:ext cx="5477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in this lecture: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cont_completeness  ·  position_ortho  ·  wavefunction  ·  momentum_kernel  ·  fourier_via_bk  ·  ip_as_integral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formula slides for full LaTeX-rendered versions.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Pitfalls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Homework &amp; 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overview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3657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HS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HS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(HS).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(HS).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22960"/>
            <a:ext cx="64008" cy="3657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1488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BegUG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BegUG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(BegUG).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(BegUG).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822960"/>
            <a:ext cx="64008" cy="36576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AdvUG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AdvUG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(AdvUG).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(AdvUG).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822960"/>
            <a:ext cx="64008" cy="3657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MSc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MSc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(MSc).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(MSc).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4624" y="822960"/>
            <a:ext cx="64008" cy="3657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PhD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PhD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(PhD).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(PhD).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11612880" cy="2039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617720"/>
            <a:ext cx="64008" cy="2039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69087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965192"/>
            <a:ext cx="11375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Homework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L06 (full): Continuous Bases: |x⟩, |p⟩ &amp; Delta Functions</dc:title>
  <dc:subject>PptxGenJS Presentation</dc:subject>
  <dc:creator>Diego Bragato</dc:creator>
  <cp:lastModifiedBy>Diego Bragato</cp:lastModifiedBy>
  <cp:revision>1</cp:revision>
  <dcterms:created xsi:type="dcterms:W3CDTF">2026-04-22T19:43:23Z</dcterms:created>
  <dcterms:modified xsi:type="dcterms:W3CDTF">2026-04-22T19:43:23Z</dcterms:modified>
</cp:coreProperties>
</file>