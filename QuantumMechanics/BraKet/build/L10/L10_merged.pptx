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9"/>
    <p:sldId id="257" r:id="rId50"/>
    <p:sldId id="258" r:id="rId51"/>
    <p:sldId id="259" r:id="rId52"/>
    <p:sldId id="260" r:id="rId53"/>
    <p:sldId id="261" r:id="rId54"/>
    <p:sldId id="262" r:id="rId55"/>
    <p:sldId id="263" r:id="rId56"/>
    <p:sldId id="264" r:id="rId57"/>
    <p:sldId id="265" r:id="rId58"/>
    <p:sldId id="266" r:id="rId59"/>
    <p:sldId id="267" r:id="rId60"/>
    <p:sldId id="268" r:id="rId61"/>
    <p:sldId id="269" r:id="rId62"/>
    <p:sldId id="270" r:id="rId63"/>
    <p:sldId id="271" r:id="rId64"/>
    <p:sldId id="272" r:id="rId65"/>
    <p:sldId id="273" r:id="rId66"/>
    <p:sldId id="274" r:id="rId67"/>
    <p:sldId id="275" r:id="rId68"/>
    <p:sldId id="276" r:id="rId69"/>
    <p:sldId id="277" r:id="rId70"/>
    <p:sldId id="278" r:id="rId71"/>
    <p:sldId id="279" r:id="rId72"/>
    <p:sldId id="280" r:id="rId73"/>
    <p:sldId id="281" r:id="rId74"/>
    <p:sldId id="282" r:id="rId75"/>
    <p:sldId id="283" r:id="rId76"/>
    <p:sldId id="284" r:id="rId77"/>
    <p:sldId id="285" r:id="rId78"/>
    <p:sldId id="286" r:id="rId79"/>
    <p:sldId id="287" r:id="rId80"/>
    <p:sldId id="288" r:id="rId81"/>
    <p:sldId id="289" r:id="rId82"/>
    <p:sldId id="290" r:id="rId83"/>
    <p:sldId id="291" r:id="rId84"/>
    <p:sldId id="292" r:id="rId85"/>
    <p:sldId id="293" r:id="rId86"/>
    <p:sldId id="294" r:id="rId87"/>
    <p:sldId id="295" r:id="rId88"/>
    <p:sldId id="296" r:id="rId89"/>
    <p:sldId id="297" r:id="rId90"/>
    <p:sldId id="298" r:id="rId91"/>
    <p:sldId id="299" r:id="rId92"/>
    <p:sldId id="300" r:id="rId93"/>
    <p:sldId id="301" r:id="rId94"/>
  </p:sldIdLst>
  <p:notesMasterIdLst>
    <p:notesMasterId r:id="rId4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openxmlformats.org/officeDocument/2006/relationships/slide" Target="slides/slide1.xml"/><Relationship Id="rId50" Type="http://schemas.openxmlformats.org/officeDocument/2006/relationships/slide" Target="slides/slide2.xml"/><Relationship Id="rId51" Type="http://schemas.openxmlformats.org/officeDocument/2006/relationships/slide" Target="slides/slide3.xml"/><Relationship Id="rId52" Type="http://schemas.openxmlformats.org/officeDocument/2006/relationships/slide" Target="slides/slide4.xml"/><Relationship Id="rId53" Type="http://schemas.openxmlformats.org/officeDocument/2006/relationships/slide" Target="slides/slide5.xml"/><Relationship Id="rId54" Type="http://schemas.openxmlformats.org/officeDocument/2006/relationships/slide" Target="slides/slide6.xml"/><Relationship Id="rId55" Type="http://schemas.openxmlformats.org/officeDocument/2006/relationships/slide" Target="slides/slide7.xml"/><Relationship Id="rId56" Type="http://schemas.openxmlformats.org/officeDocument/2006/relationships/slide" Target="slides/slide8.xml"/><Relationship Id="rId57" Type="http://schemas.openxmlformats.org/officeDocument/2006/relationships/slide" Target="slides/slide9.xml"/><Relationship Id="rId58" Type="http://schemas.openxmlformats.org/officeDocument/2006/relationships/slide" Target="slides/slide10.xml"/><Relationship Id="rId59" Type="http://schemas.openxmlformats.org/officeDocument/2006/relationships/slide" Target="slides/slide11.xml"/><Relationship Id="rId60" Type="http://schemas.openxmlformats.org/officeDocument/2006/relationships/slide" Target="slides/slide12.xml"/><Relationship Id="rId61" Type="http://schemas.openxmlformats.org/officeDocument/2006/relationships/slide" Target="slides/slide13.xml"/><Relationship Id="rId62" Type="http://schemas.openxmlformats.org/officeDocument/2006/relationships/slide" Target="slides/slide14.xml"/><Relationship Id="rId63" Type="http://schemas.openxmlformats.org/officeDocument/2006/relationships/slide" Target="slides/slide15.xml"/><Relationship Id="rId64" Type="http://schemas.openxmlformats.org/officeDocument/2006/relationships/slide" Target="slides/slide16.xml"/><Relationship Id="rId65" Type="http://schemas.openxmlformats.org/officeDocument/2006/relationships/slide" Target="slides/slide17.xml"/><Relationship Id="rId66" Type="http://schemas.openxmlformats.org/officeDocument/2006/relationships/slide" Target="slides/slide18.xml"/><Relationship Id="rId67" Type="http://schemas.openxmlformats.org/officeDocument/2006/relationships/slide" Target="slides/slide19.xml"/><Relationship Id="rId68" Type="http://schemas.openxmlformats.org/officeDocument/2006/relationships/slide" Target="slides/slide20.xml"/><Relationship Id="rId69" Type="http://schemas.openxmlformats.org/officeDocument/2006/relationships/slide" Target="slides/slide21.xml"/><Relationship Id="rId70" Type="http://schemas.openxmlformats.org/officeDocument/2006/relationships/slide" Target="slides/slide22.xml"/><Relationship Id="rId71" Type="http://schemas.openxmlformats.org/officeDocument/2006/relationships/slide" Target="slides/slide23.xml"/><Relationship Id="rId72" Type="http://schemas.openxmlformats.org/officeDocument/2006/relationships/slide" Target="slides/slide24.xml"/><Relationship Id="rId73" Type="http://schemas.openxmlformats.org/officeDocument/2006/relationships/slide" Target="slides/slide25.xml"/><Relationship Id="rId74" Type="http://schemas.openxmlformats.org/officeDocument/2006/relationships/slide" Target="slides/slide26.xml"/><Relationship Id="rId75" Type="http://schemas.openxmlformats.org/officeDocument/2006/relationships/slide" Target="slides/slide27.xml"/><Relationship Id="rId76" Type="http://schemas.openxmlformats.org/officeDocument/2006/relationships/slide" Target="slides/slide28.xml"/><Relationship Id="rId77" Type="http://schemas.openxmlformats.org/officeDocument/2006/relationships/slide" Target="slides/slide29.xml"/><Relationship Id="rId78" Type="http://schemas.openxmlformats.org/officeDocument/2006/relationships/slide" Target="slides/slide30.xml"/><Relationship Id="rId79" Type="http://schemas.openxmlformats.org/officeDocument/2006/relationships/slide" Target="slides/slide31.xml"/><Relationship Id="rId80" Type="http://schemas.openxmlformats.org/officeDocument/2006/relationships/slide" Target="slides/slide32.xml"/><Relationship Id="rId81" Type="http://schemas.openxmlformats.org/officeDocument/2006/relationships/slide" Target="slides/slide33.xml"/><Relationship Id="rId82" Type="http://schemas.openxmlformats.org/officeDocument/2006/relationships/slide" Target="slides/slide34.xml"/><Relationship Id="rId83" Type="http://schemas.openxmlformats.org/officeDocument/2006/relationships/slide" Target="slides/slide35.xml"/><Relationship Id="rId84" Type="http://schemas.openxmlformats.org/officeDocument/2006/relationships/slide" Target="slides/slide36.xml"/><Relationship Id="rId85" Type="http://schemas.openxmlformats.org/officeDocument/2006/relationships/slide" Target="slides/slide37.xml"/><Relationship Id="rId86" Type="http://schemas.openxmlformats.org/officeDocument/2006/relationships/slide" Target="slides/slide38.xml"/><Relationship Id="rId87" Type="http://schemas.openxmlformats.org/officeDocument/2006/relationships/slide" Target="slides/slide39.xml"/><Relationship Id="rId88" Type="http://schemas.openxmlformats.org/officeDocument/2006/relationships/slide" Target="slides/slide40.xml"/><Relationship Id="rId89" Type="http://schemas.openxmlformats.org/officeDocument/2006/relationships/slide" Target="slides/slide41.xml"/><Relationship Id="rId90" Type="http://schemas.openxmlformats.org/officeDocument/2006/relationships/slide" Target="slides/slide42.xml"/><Relationship Id="rId91" Type="http://schemas.openxmlformats.org/officeDocument/2006/relationships/slide" Target="slides/slide43.xml"/><Relationship Id="rId92" Type="http://schemas.openxmlformats.org/officeDocument/2006/relationships/slide" Target="slides/slide44.xml"/><Relationship Id="rId93" Type="http://schemas.openxmlformats.org/officeDocument/2006/relationships/slide" Target="slides/slide45.xml"/><Relationship Id="rId94" Type="http://schemas.openxmlformats.org/officeDocument/2006/relationships/slide" Target="slides/slide46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645920"/>
            <a:ext cx="5029200" cy="5029200"/>
          </a:xfrm>
          <a:prstGeom prst="ellipse">
            <a:avLst/>
          </a:prstGeom>
          <a:solidFill>
            <a:srgbClr val="F59E0B">
              <a:alpha val="9000"/>
            </a:srgbClr>
          </a:solidFill>
          <a:ln w="12700">
            <a:solidFill>
              <a:srgbClr val="F59E0B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0"/>
            <a:ext cx="36576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0" dirty="0">
                <a:solidFill>
                  <a:srgbClr val="F59E0B">
                    <a:alpha val="26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Ψ</a:t>
            </a:r>
            <a:endParaRPr lang="en-US" sz="17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MECHANICS — BRA–KET NOTATION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993392"/>
            <a:ext cx="8046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&amp; Finite-Dimensional Hilbert Spaces (SU(2))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Spin-1/2, Pauli matrices, rotation operators, Bloch sphere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CD34D">
              <a:alpha val="72000"/>
            </a:srgbClr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353312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6EE7B7">
              <a:alpha val="72000"/>
            </a:srgbClr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53312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157984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93C5FD">
              <a:alpha val="72000"/>
            </a:srgbClr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57984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962656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C4B5FD">
              <a:alpha val="72000"/>
            </a:srgbClr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62656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67328" y="4315968"/>
            <a:ext cx="685800" cy="237744"/>
          </a:xfrm>
          <a:prstGeom prst="roundRect">
            <a:avLst>
              <a:gd name="adj" fmla="val 23077"/>
            </a:avLst>
          </a:prstGeom>
          <a:solidFill>
            <a:srgbClr val="F87171">
              <a:alpha val="72000"/>
            </a:srgbClr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4315968"/>
            <a:ext cx="685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expanded deck  ·  5 tiers  ·  Worked examples  ·  Complete problem sets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Bra–Ket Notation — L10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Lecture Overview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&amp; Finite-Dimensional Hilbert Spaces (SU(2))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42062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2743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3968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90-MIN PACING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39684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0–20 min: Spin-1/2 as 2D Hilbert space; |+⟩, |−⟩ basis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20–50 min: Pauli matrices; spin operators Sₓ, Sᵧ, Sᵤ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50–75 min: Rotation operators U(θ,n̂) = e^{−iθσ·n̂/2}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75–90 min: Angular momentum algebra; SU(2)/SO(3) link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841248"/>
            <a:ext cx="7178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841248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3752" y="914400"/>
            <a:ext cx="6940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LEARNING OUTCOMES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73752" y="1188720"/>
            <a:ext cx="6940296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 with spin-1/2 as prototype finite-dimensional QM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Compute eigenkets and probabilities for all spin components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Apply rotation operators U(θ,n̂) = e^{−iθσ·n̂/2}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SU(2) group to physical rotations SO(3)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21608"/>
            <a:ext cx="64008" cy="153619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Two-state systems as qubits — conceptual motivation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96896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596896" y="3721608"/>
            <a:ext cx="64008" cy="153619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61488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61488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spin measurement probabilities; Stern–Gerlach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919472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3721608"/>
            <a:ext cx="64008" cy="153619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84064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operators; verify [σᵢ,σⱼ] = 2iεᵢⱼₖσₖ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42048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242048" y="3721608"/>
            <a:ext cx="64008" cy="153619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406640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theory; angular momentum J+, J−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64624" y="3721608"/>
            <a:ext cx="2249424" cy="153619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564624" y="3721608"/>
            <a:ext cx="64008" cy="153619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729216" y="37947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729216" y="4069080"/>
            <a:ext cx="201168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vs SO(3), projective representations, Wigner theorem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5394960"/>
            <a:ext cx="11612880" cy="1170432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5394960"/>
            <a:ext cx="64008" cy="1170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8912" y="546811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BUNDLE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38912" y="5742432"/>
            <a:ext cx="113751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A: Find eigenkets of σₓ in terms of |+z⟩ and |−z⟩ · Compute P(+x) for state |+z⟩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B: Prove [σᵢ,σⱼ] = 2iεᵢⱼₖσₖ for all pairs · Derive U(θ,ẑ) = e^{−iθσᵤ/2} explicitly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Overview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Sakurai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Measurement-first, operational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72237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6986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→ STATISTICS → AMPLITUDES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SAKURAI: PREPARATION TO STATISTICS TO AMPLITUDES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PREPARATION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preparation is a reproducible laboratory protocol.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9989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procedure always yields the same statistical predictions.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135581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MEASUREMENT OUTCOMES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364181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measurement device returns outcomes a_i with stable frequencies.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8912" y="2526716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state encodes probabilities, not definite property values.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762402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WHY AMPLITUDES?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38912" y="29910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demands combining paths BEFORE squaring:</a:t>
            </a:r>
            <a:endParaRPr lang="en-US" sz="9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153537"/>
            <a:ext cx="2630424" cy="26822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6625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cross-term is interference — real and measurable.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639160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complex amplitudes can produce this cross-term.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438912" y="3874846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OPERATIONAL BORN RULE</a:t>
            </a:r>
            <a:endParaRPr lang="en-US" sz="10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4103446"/>
            <a:ext cx="1143000" cy="445008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603318"/>
            <a:ext cx="2149072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38912" y="5188534"/>
            <a:ext cx="6986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IS UNOBSERVABLE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5417134"/>
            <a:ext cx="2493264" cy="45110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38912" y="5923102"/>
            <a:ext cx="69860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states are RAYS not vectors.</a:t>
            </a:r>
            <a:endParaRPr lang="en-US" sz="950" dirty="0"/>
          </a:p>
        </p:txBody>
      </p:sp>
      <p:sp>
        <p:nvSpPr>
          <p:cNvPr id="28" name="Shape 22"/>
          <p:cNvSpPr/>
          <p:nvPr/>
        </p:nvSpPr>
        <p:spPr>
          <a:xfrm>
            <a:off x="7726680" y="841248"/>
            <a:ext cx="41605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726680" y="841248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891272" y="914400"/>
            <a:ext cx="3922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DIRAC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7891272" y="1188720"/>
            <a:ext cx="39227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Preparation procedure  ↔  ket |ψ⟩ (ray in ℋ)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Measurement outcome aᵢ  ↔  basis ket |aᵢ⟩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Transition amplitude  ↔  inner product ⟨aᵢ|ψ⟩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Probability rule  ↔  |⟨aᵢ|ψ⟩|²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Total prob. = 1  ↔  ⟨ψ|ψ⟩ =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Interference  ↔  complex phase structure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50" dirty="0"/>
          </a:p>
        </p:txBody>
      </p:sp>
      <p:sp>
        <p:nvSpPr>
          <p:cNvPr id="33" name="Text 2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Sakurai Track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Dirac Track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Abstract, representation-independent axioms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DIRAC: FIVE POSTULATES OF QUANTUM MECHANICS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50876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1 — STATE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3736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physical state is a ray in a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99895"/>
            <a:ext cx="2118360" cy="43281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38912" y="246072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2 — OBSERVABLES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8912" y="268932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observable A corresponds to a Hermitian operator A = A^†.</a:t>
            </a:r>
            <a:endParaRPr lang="en-US" sz="95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851861"/>
            <a:ext cx="1432560" cy="36880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38912" y="334868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3 — COMPLETENESS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577285"/>
            <a:ext cx="1590869" cy="4572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089349"/>
            <a:ext cx="1457908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674565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4 — BORN RULE</a:t>
            </a:r>
            <a:endParaRPr lang="en-US" sz="10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903165"/>
            <a:ext cx="9540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38912" y="522625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Post-measurement state (ideal projective): |ψ⟩ → |a⟩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438912" y="546194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POSTULATE 5 — DYNAMICS</a:t>
            </a:r>
            <a:endParaRPr lang="en-US" sz="100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690540"/>
            <a:ext cx="2179320" cy="295656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50" dirty="0"/>
          </a:p>
        </p:txBody>
      </p:sp>
      <p:sp>
        <p:nvSpPr>
          <p:cNvPr id="26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Dirac Track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Key Formulas 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LaTeX-rendered formula reference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 x</a:t>
            </a:r>
            <a:endParaRPr lang="en-US" sz="9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" y="1307592"/>
            <a:ext cx="3584448" cy="23317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16052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96012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2511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 commutator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70248" y="1307592"/>
            <a:ext cx="3584448" cy="23317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0" y="96012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001000" y="96012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165592" y="103327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op</a:t>
            </a:r>
            <a:endParaRPr lang="en-US" sz="9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10728" y="1307592"/>
            <a:ext cx="3584448" cy="23317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32004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20040" y="379476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8463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op</a:t>
            </a:r>
            <a:endParaRPr lang="en-US" sz="9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29768" y="4142232"/>
            <a:ext cx="3584448" cy="233172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160520" y="3794760"/>
            <a:ext cx="3749040" cy="274320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160520" y="3794760"/>
            <a:ext cx="64008" cy="2743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4325112" y="3867912"/>
            <a:ext cx="35112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state</a:t>
            </a:r>
            <a:endParaRPr lang="en-US" sz="9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270248" y="4142232"/>
            <a:ext cx="3584448" cy="23317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Formulas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High School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HS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point: pre-university mathematics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basic algebra and complex arithmetic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Beginning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spin measurement probabilities; Stern–Gerlach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Two-state systems as qubits — conceptual motivation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Intro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HS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NUMBERS AS ARROWS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number z = a + ib lives in a 2D plane.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707804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1542288" cy="4450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900629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AMPLITUDE TO PROBABILITY (BORN RULE)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38912" y="312922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 amplitude A is a complex number for a process.</a:t>
            </a:r>
            <a:endParaRPr lang="en-US" sz="9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291764"/>
            <a:ext cx="1350264" cy="4450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38912" y="37916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squaring? Gives a real, non-negative number. Phase alone does not.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438912" y="40273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SUPERPOSITION = ARROW ADDITION = INTERFERENCE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438912" y="42559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paths: amplitudes A_1 and A_2. Total: A = A_1 + A_2.</a:t>
            </a:r>
            <a:endParaRPr lang="en-US" sz="95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4418457"/>
            <a:ext cx="2630424" cy="2682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38912" y="474154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Interference term can be positive (constructive) or negative (destructive).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97723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FORMULA: PHASE DEPENDENCE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38912" y="520583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A_1 = 1, A_2 = e^{iφ} (unit magnitude, phase φ).</a:t>
            </a:r>
            <a:endParaRPr lang="en-US" sz="95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5368366"/>
            <a:ext cx="1990344" cy="45110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38912" y="58743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P=4 at φ=0 (constructive). Minimum P=0 at φ=pi (destructive).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28" name="Text 21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HS-A1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L10 (HS). Two-state systems as qubits — conceptual motivation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Bloch Sphere Spin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School — Spin &amp; Finite-Dimensional Hilbert Spaces (SU(2))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SPHERE SPIN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 — BLOCH SPHERE SPIN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HS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HS question for L10.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HS question for L10.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— HS · Bloch Sphere Spin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HS-A2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L10 (HS).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HS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HS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HS question for L10.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HS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HS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questions have no calculation — think about what probability MEANS.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squaring is the minimal operation that gives a non-negative re…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[HS-A1]  Core problem for L10 (HS). Two-state systems as qubits — conceptual motivation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[HS-A2]  Verification for L10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[HS-B1]  Proof exercise for L10 (HS).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CD34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HS: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HS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HS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Beginning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BegUG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High School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Two-state systems as qubits — conceptual motivation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Advanced Undergraduate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operators; verify [σᵢ,σⱼ] = 2iεᵢⱼₖσₖ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spin measurement probabilities; Stern–Gerlach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BegUG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FORMALISM — DISCRETE BASIS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 |ψ⟩ in complex Hilbert space H.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2063496" cy="34747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217877"/>
            <a:ext cx="1537218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0309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AND COMPONENTS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031693"/>
            <a:ext cx="1289957" cy="457200"/>
          </a:xfrm>
          <a:prstGeom prst="rect">
            <a:avLst/>
          </a:prstGeom>
        </p:spPr>
      </p:pic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543757"/>
            <a:ext cx="3797808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38912" y="394609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⟨ m|ψ⟩ = sum_n c_n ⟨ m|n⟩ = sum_n c_ndelta_{mn} = c_m</a:t>
            </a:r>
            <a:endParaRPr lang="en-US" sz="950" dirty="0"/>
          </a:p>
        </p:txBody>
      </p:sp>
      <p:sp>
        <p:nvSpPr>
          <p:cNvPr id="19" name="Text 13"/>
          <p:cNvSpPr/>
          <p:nvPr/>
        </p:nvSpPr>
        <p:spPr>
          <a:xfrm>
            <a:off x="438912" y="418178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 AND PROBABILITIES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410380"/>
            <a:ext cx="2178698" cy="457200"/>
          </a:xfrm>
          <a:prstGeom prst="rect">
            <a:avLst/>
          </a:prstGeom>
        </p:spPr>
      </p:pic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4922444"/>
            <a:ext cx="2142744" cy="268224"/>
          </a:xfrm>
          <a:prstGeom prst="rect">
            <a:avLst/>
          </a:prstGeom>
        </p:spPr>
      </p:pic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245532"/>
            <a:ext cx="2535594" cy="4572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438912" y="583074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INVARIANCE</a:t>
            </a:r>
            <a:endParaRPr lang="en-US" sz="1000" dirty="0"/>
          </a:p>
        </p:txBody>
      </p:sp>
      <p:sp>
        <p:nvSpPr>
          <p:cNvPr id="24" name="Text 15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25" name="Text 16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BegUG-A1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L10 (BegUG). Compute spin measurement probabilities; Stern–Gerlach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Pauli Matrices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Beginning Undergraduate — Spin &amp; Finite-Dimensional Hilbert Spaces (SU(2))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 MATRICES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 — PAULI MATRICES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BegUG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BegUG question for L10.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BegUG question for L10.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— BegUG · Pauli Matrices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BegUG-A2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L10 (BegUG).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BegUG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BegUG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BegUG question for L10.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BegUG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BegUG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from the definition: write out the expansion, act with ⟨m| on the left, use δₘₙ.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normalization: total probability must equal 1 — that is the…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[BegUG-A1]  Core problem for L10 (BegUG). Compute spin measurement probabilities; Stern–Gerlach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[BegUG-A2]  Verification for L10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[BegUG-B1]  Proof exercise for L10 (BegUG).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6EE7B7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BegUG: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BegUG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BegUG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Advanced Undergraduate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AdvUG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Beginning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spin measurement probabilities; Stern–Gerlach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Master's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theory; angular momentum J+, J−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operators; verify [σᵢ,σⱼ] = 2iεᵢⱼₖσₖ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Intro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AdvUG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PRODUCT SPACE GEOMETRY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653007"/>
            <a:ext cx="1106905" cy="45720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165071"/>
            <a:ext cx="2471928" cy="4328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" y="2725903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CAUCHY-SCHWARZ INEQUALITY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2954503"/>
            <a:ext cx="1301496" cy="26822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38912" y="327759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set f(lambda) = | |φ⟩ - lambda|ψ⟩ |^2 ≥ 0.</a:t>
            </a:r>
            <a:endParaRPr lang="en-US" sz="950" dirty="0"/>
          </a:p>
        </p:txBody>
      </p:sp>
      <p:sp>
        <p:nvSpPr>
          <p:cNvPr id="17" name="Text 12"/>
          <p:cNvSpPr/>
          <p:nvPr/>
        </p:nvSpPr>
        <p:spPr>
          <a:xfrm>
            <a:off x="438912" y="344012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lambda = ⟨ψ|φ⟩ / |ψ|^2 to minimise.</a:t>
            </a:r>
            <a:endParaRPr lang="en-US" sz="9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602660"/>
            <a:ext cx="3041904" cy="2682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38912" y="3998900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TRIANGLE INEQUALITY</a:t>
            </a:r>
            <a:endParaRPr lang="en-US" sz="10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38912" y="4227500"/>
            <a:ext cx="1487424" cy="34747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38912" y="462983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square both sides; apply C-S to the cross term.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438912" y="48655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PHASE-INVARIANT DISTANCE</a:t>
            </a:r>
            <a:endParaRPr lang="en-US" sz="10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38912" y="5094122"/>
            <a:ext cx="2706624" cy="326136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38912" y="5475122"/>
            <a:ext cx="2734056" cy="34747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26" name="Text 17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AdvUG-A1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L10 (AdvUG). Rotation operators; verify [σᵢ,σⱼ] = 2iεᵢⱼₖσₖ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Su2 Rotation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Undergraduate — Spin &amp; Finite-Dimensional Hilbert Spaces (SU(2))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SU2 ROTATION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 — SU2 ROTATION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AdvUG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AdvUG question for L10.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AdvUG question for L10.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— AdvUG · Su2 Rotation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AdvUG-A2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L10 (AdvUG).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AdvUG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AdvUG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AdvUG question for L10.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AdvUG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AdvUG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C–S: the proof idea is to consider ‖|φ⟩ - λ|ψ⟩‖² ≥ 0 and choose the minimising λ.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geometry questions: draw a unit circle in ℂ²; overlap |…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[AdvUG-A1]  Core problem for L10 (AdvUG). Rotation operators; verify [σᵢ,σⱼ] = 2iεᵢⱼₖσₖ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[AdvUG-A2]  Verification for L10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[AdvUG-B1]  Proof exercise for L10 (AdvUG).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93C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AdvUG: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AdvUG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AdvUG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Master's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MSc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Advanced Undergraduate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operators; verify [σᵢ,σⱼ] = 2iεᵢⱼₖσₖ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Unlocks access to: PhD Level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vs SO(3), projective representations, Wigner theorem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theory; angular momentum J+, J−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Intro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MSc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PROJECTIVE HILBERT SPACE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state space is P(H), not H itself.</a:t>
            </a:r>
            <a:endParaRPr lang="en-US" sz="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1815541"/>
            <a:ext cx="1453896" cy="45720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2327605"/>
            <a:ext cx="2118360" cy="4328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8912" y="2815285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ray [ψ] is a one-dimensional complex subspace of H.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438912" y="29778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P(C^2) cong S^2 — the Bloch sphere.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38912" y="32135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PHYSICALLY INVARIANT QUANTITIES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3442106"/>
            <a:ext cx="2426208" cy="359664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38912" y="3856634"/>
            <a:ext cx="1926336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38912" y="433212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WIGNER'S THEOREM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438912" y="456072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bijection T:P(H)→P(H) preserving |⟨φ|ψ⟩|^2</a:t>
            </a:r>
            <a:endParaRPr lang="en-US" sz="950" dirty="0"/>
          </a:p>
        </p:txBody>
      </p:sp>
      <p:sp>
        <p:nvSpPr>
          <p:cNvPr id="22" name="Text 16"/>
          <p:cNvSpPr/>
          <p:nvPr/>
        </p:nvSpPr>
        <p:spPr>
          <a:xfrm>
            <a:off x="438912" y="472325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implemented by a UNITARY or ANTIUNITARY operator U on H.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38912" y="488579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Consequence: all quantum symmetries are (anti)unitary.</a:t>
            </a:r>
            <a:endParaRPr lang="en-US" sz="950" dirty="0"/>
          </a:p>
        </p:txBody>
      </p:sp>
      <p:sp>
        <p:nvSpPr>
          <p:cNvPr id="24" name="Text 18"/>
          <p:cNvSpPr/>
          <p:nvPr/>
        </p:nvSpPr>
        <p:spPr>
          <a:xfrm>
            <a:off x="438912" y="5121478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CONSEQUENCES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38912" y="5350078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group G acting on states gives projective representation of G.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438912" y="5512613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spin SO(3)→ SU(2), superselection rules, CPT symmetry.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MSc-A1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L10 (MSc). Representation theory; angular momentum J+, J−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Angular Momentum Ladder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Master's Level — Spin &amp; Finite-Dimensional Hilbert Spaces (SU(2))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029200" cy="5513832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41248"/>
            <a:ext cx="64008" cy="55138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32688"/>
            <a:ext cx="4791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MOMENTUM LADDER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207008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— ANGULAR MOMENTUM LADDER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38912" y="1435608"/>
            <a:ext cx="479145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MSc level.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8912" y="1797253"/>
            <a:ext cx="4791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INTERPRETATION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2025853"/>
            <a:ext cx="4791456" cy="405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diagram on the right shows the 2D/3D geometric analogy for this concept. Use it to build physical intuition before working through the formalism.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2440305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Q1: MSc question for L10.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602840"/>
            <a:ext cx="479145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Q2: MSc question for L10.</a:t>
            </a:r>
            <a:endParaRPr lang="en-US" sz="95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532120" y="841248"/>
            <a:ext cx="6355080" cy="551383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— MSc · Angular Momentum Ladder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MSc-A2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L10 (MSc).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MSc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MSc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MSc question for L10.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MSc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MSc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projective space: think of it as points on a sphere (for 2D), or more generally a complex manifold.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Wigner: the key word is 'preserves transi…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[MSc-A1]  Core problem for L10 (MSc). Representation theory; angular momentum J+, J−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[MSc-A2]  Verification for L10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[MSc-B1]  Proof exercise for L10 (MSc).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C4B5FD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MSc: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MSc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MSc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PhD Level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introduction and learning context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73152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24028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7077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COVERS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70774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PhD level.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822960"/>
            <a:ext cx="4114800" cy="224028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0" y="822960"/>
            <a:ext cx="64008" cy="2240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36992" y="89611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36992" y="1170432"/>
            <a:ext cx="3877056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on: Master's Level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background: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 theory; angular momentum J+, J−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200400"/>
            <a:ext cx="548640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200400"/>
            <a:ext cx="64008" cy="299923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273552"/>
            <a:ext cx="5248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TIER UNLOCKS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3547872"/>
            <a:ext cx="524865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level: connects to active research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equips you for: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literature and open problems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35040" y="3200400"/>
            <a:ext cx="5852160" cy="2999232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3200400"/>
            <a:ext cx="64008" cy="2999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9632" y="3273552"/>
            <a:ext cx="5614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 FOR THIS TIER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199632" y="3547872"/>
            <a:ext cx="5614416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SU(2) vs SO(3), projective representations, Wigner theorem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Intro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Core Concepts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ideas, key equations, and their meaning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16128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 &amp; KEY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lecture covers Spin &amp; Finite-Dimensional Hilbert Spaces (SU(2)) at the PhD level.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HILBERT SPACE — PRECISE AXIOMS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a complex vector space H with ⟨cdot|cdot⟩ that is COMPLETE.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15541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Completeness: every Cauchy sequence {ψ_n} converges in H.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38912" y="1978076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for: spectral theory, Fourier expansions, Stone's theorem.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38912" y="2213762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SEPARABILITY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442362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separable ⟺ countable dense subset ⟺ countable ONB {e_n}.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38912" y="2604897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NRQM spaces: L^2(R^n), C^n, ell^2(N).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" y="2840584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RAYS AS ONE-DIMENSIONAL SUBSPACES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38912" y="3069184"/>
            <a:ext cx="1444752" cy="34747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38912" y="3471520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P(H) is a Kahler manifold with Fubini-Study metric.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38912" y="3707206"/>
            <a:ext cx="11375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UNBOUNDED OPERATORS — DOMAIN SUBTLETY</a:t>
            </a:r>
            <a:endParaRPr lang="en-US" sz="10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8912" y="3935806"/>
            <a:ext cx="2700528" cy="457200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8912" y="4447870"/>
            <a:ext cx="2535936" cy="4572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38912" y="4959934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Self-adjoint ≠ Hermitian for unbounded operators (x̂, p̂).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38912" y="5122469"/>
            <a:ext cx="1137513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theorem and Stone's theorem REQUIRE self-adjointness.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27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Concepts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Worked Example 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solved example with commentary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1: PhD-A1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279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 for L10 (PhD). SU(2) vs SO(3), projective representations, Wigner theorem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550365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778965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Apply the definition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2014652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243252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Verify result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formula.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Example 1</a:t>
            </a:r>
            <a:endParaRPr lang="en-US" sz="7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Worked Example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example — deeper or alternative approach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39496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914400"/>
            <a:ext cx="51572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2: PhD-A2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88720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for L10 (PhD).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38912" y="1424407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8912" y="1653007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Use orthonormality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38912" y="1888693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HINTS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2117293"/>
            <a:ext cx="515721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Check normalisation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897880" y="822960"/>
            <a:ext cx="5989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89788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62472" y="914400"/>
            <a:ext cx="5751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SOLUTION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62472" y="1188720"/>
            <a:ext cx="5751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SOLUTION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62472" y="1490472"/>
            <a:ext cx="5751576" cy="15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derivation.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Example 2</a:t>
            </a:r>
            <a:endParaRPr lang="en-US" sz="7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Concept Questions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computing — conceptual understanding checks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QUESTIONS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Q1: PhD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Q2: PhD question for L10.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Q3: PhD question for L10.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+ GUIDANCE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Q4: PhD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Q5: PhD question for L10.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completeness: construct Cauchy sequences that don't converge to a square-integrable function in a non-complete space.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separability: construct…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Concept Qs</a:t>
            </a:r>
            <a:endParaRPr lang="en-US" sz="7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Problem Sets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problems (Set A) and advanced problems (Set B)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A — SIMPLE  (2 problems)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[PhD-A1]  Core problem for L10 (PhD). SU(2) vs SO(3), projective representations, Wigner theorem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Apply the definition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[PhD-A2]  Verification for L10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Use orthonormality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SET B — ADVANCED  (1 problems)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[PhD-B1]  Proof exercise for L10 (PhD).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Hint: Start from definition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Key idea: Check edge cases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Problems</a:t>
            </a:r>
            <a:endParaRPr lang="en-US" sz="7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PhD: References &amp; Bibliography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Historical, educational, and research-level reading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5394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 (1)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[1930] Dirac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"Principles of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Oxford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Primary source.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0332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822960"/>
            <a:ext cx="64008" cy="539496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16552" y="896112"/>
            <a:ext cx="3465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 (2)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16552" y="1170432"/>
            <a:ext cx="346557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Sakurai (2021)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"Modern QM"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Cambridge UP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Main text.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Cohen-Tannoudji (1977)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"QM Vol. 1"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Wiley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Complements.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8458200" y="822960"/>
            <a:ext cx="3429000" cy="5394960"/>
          </a:xfrm>
          <a:prstGeom prst="rect">
            <a:avLst/>
          </a:prstGeom>
          <a:solidFill>
            <a:srgbClr val="111827"/>
          </a:solidFill>
          <a:ln w="1905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822960"/>
            <a:ext cx="64008" cy="53949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22792" y="896112"/>
            <a:ext cx="3191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 (1)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22792" y="1170432"/>
            <a:ext cx="3191256" cy="4974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(1932)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"Math. Grundlagen"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Rigorous foundations.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 · PhD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PhD · References</a:t>
            </a:r>
            <a:endParaRPr lang="en-US" sz="7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F59E0B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Common Pitfalls &amp; Misconceptions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Consolidated pitfalls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66928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(A)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543153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Off-by-2 in rotation: SU(2) element for 2π rotation is −Î, not +Î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Confusing σᵢ (dimensionless) with Sᵢ = ℏσᵢ/2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200" y="822960"/>
            <a:ext cx="5715000" cy="2834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822960"/>
            <a:ext cx="64008" cy="2834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6792" y="8961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PITFALLS (B)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36792" y="1170432"/>
            <a:ext cx="5477256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Bloch sphere θ is polar angle (0 to π), not azimuthal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94760"/>
            <a:ext cx="566928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472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94760"/>
            <a:ext cx="64008" cy="24231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3867912"/>
            <a:ext cx="5431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ANCHORS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8912" y="4142232"/>
            <a:ext cx="543153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Goudsmit &amp; Uhlenbeck (1925) — spin hypothesis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Pauli (1927) — Pauli matrices; spin-1/2 formalism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Cartan (1913) / Weyl (1925) — SU(2) representation theory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72200" y="3794760"/>
            <a:ext cx="5715000" cy="242316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3794760"/>
            <a:ext cx="64008" cy="24231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36792" y="3867912"/>
            <a:ext cx="54772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QUICK REFERENCE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36792" y="4142232"/>
            <a:ext cx="5477256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formulas in this lecture: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pauli_x  ·  pauli_commutator  ·  spin_op  ·  rotation_op  ·  bloch_state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formula slides for full LaTeX-rendered versions.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Pitfalls</a:t>
            </a:r>
            <a:endParaRPr lang="en-US" sz="7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713232"/>
          </a:xfrm>
          <a:prstGeom prst="rect">
            <a:avLst/>
          </a:prstGeom>
          <a:solidFill>
            <a:srgbClr val="34D399">
              <a:alpha val="1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1323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56032" y="54864"/>
            <a:ext cx="9784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— Homework &amp; Project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56032" y="438912"/>
            <a:ext cx="9784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overview across all tiers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0058400" y="1097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64008" cy="36576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HS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HS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(HS).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(HS).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96896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96896" y="822960"/>
            <a:ext cx="64008" cy="3657600"/>
          </a:xfrm>
          <a:prstGeom prst="rect">
            <a:avLst/>
          </a:prstGeom>
          <a:solidFill>
            <a:srgbClr val="6EE7B7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61488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BegUG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BegUG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(BegUG).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(BegUG).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19472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93C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19472" y="822960"/>
            <a:ext cx="64008" cy="3657600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84064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AdvUG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84064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AdvUG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AdvUG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(AdvUG).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(AdvUG).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2048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42048" y="822960"/>
            <a:ext cx="64008" cy="3657600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0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06640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MSc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MSc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(MSc).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(MSc).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564624" y="822960"/>
            <a:ext cx="2249424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F8717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564624" y="822960"/>
            <a:ext cx="64008" cy="365760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29216" y="896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729216" y="1170432"/>
            <a:ext cx="20116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Problems: 2 simple + 1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(simple, ~2-3h): PhD Project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(advanced, ~8-10h): PhD Advanced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(defined): Explain key result (PhD).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(open): Open question (PhD).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4617720"/>
            <a:ext cx="11612880" cy="2039112"/>
          </a:xfrm>
          <a:prstGeom prst="rect">
            <a:avLst/>
          </a:prstGeom>
          <a:solidFill>
            <a:srgbClr val="111827"/>
          </a:solidFill>
          <a:ln w="1905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4320" y="4617720"/>
            <a:ext cx="64008" cy="203911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" y="4690872"/>
            <a:ext cx="11375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ASSIGNMENT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8912" y="4965192"/>
            <a:ext cx="11375136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(all students): Problems from your track's Set 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HONOURS (optional): Set B problems from your track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Choose simple OR advanced track from your tier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At least one well-defined question; open questions for MSc/PhD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28600" y="6565392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QM: L10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9784080" y="65653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 · Homework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42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QM L10 (full): Spin &amp; Finite-Dimensional Hilbert Spaces (SU(2))</dc:title>
  <dc:subject>PptxGenJS Presentation</dc:subject>
  <dc:creator>Diego Bragato</dc:creator>
  <cp:lastModifiedBy>Diego Bragato</cp:lastModifiedBy>
  <cp:revision>1</cp:revision>
  <dcterms:created xsi:type="dcterms:W3CDTF">2026-04-22T19:43:28Z</dcterms:created>
  <dcterms:modified xsi:type="dcterms:W3CDTF">2026-04-22T19:43:28Z</dcterms:modified>
</cp:coreProperties>
</file>