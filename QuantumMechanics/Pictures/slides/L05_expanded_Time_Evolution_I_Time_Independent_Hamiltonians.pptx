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Evolution I — Time-Independent Hamiltonians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 Equation · Û(t) · Stationary States · Probability Current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Wave-Mechanics ↔ Operator Dual-Track — Lecture 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Time Evolution I — Time-Independent Hamiltonians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 — Time-Independent Hamiltonians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Time-evolution postulate iℏ∂_t|ψ(t)⟩ = Ĥ|ψ(t)⟩; linearity and unitarity requirements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Time evolution operator Û(t,t₀): group property, unitarity; time-independent case Û(t)=e^{−iĤt/ℏ}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Stationary states Ĥ|Eₙ⟩=Eₙ|Eₙ⟩; general solution; expectation values of time-independent operators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Time-reversal anti-unitary T̂; Kramers degeneracy; probability current j; continuity equation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= e^{−iĤt/ℏ} from the time-evolution postulate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Evolve an arbitrary initial state by expanding in the energy eigenbasis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and exploit stationary state structure for computing expectation values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probability current and continuity equation in position representation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oscillate simply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Hermitian 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theorem connection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its resolution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Evolve superposition states; compute ⟨Ê⟩(t), ⟨x̂⟩(t); derive probability current for plane waves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group property of Û; unitarity; derive continuity equation; analyse Kramers degeneracy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Û(t) = e^{-iĤt/ℏ}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the time-evolution operator follows from the TDSE and must be unitary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time-evolution operator follows from the TDSE and must be unitary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TDSE: iℏ∂_t|ψ(t)⟩ = Ĥ|ψ(t)⟩; linearity implies |ψ(t)⟩=Û(t)|ψ(0)⟩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Û satisfies: iℏ∂_tÛ = ĤÛ with Û(0)=Î; solution: Û(t)=e^{-iĤt/ℏ} for time-indep Ĥ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Unitarity: Û†Û=e^{+iĤ†t/ℏ}e^{-iĤt/ℏ}=Î since Ĥ†=Ĥ (Hermitian)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Group property: Û(t₂)Û(t₁)=Û(t₁+t₂) — composing evolutions is additive in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8778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TDSE: iℏ∂_t|ψ⟩ = Ĥ|ψ⟩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53312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3533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satisfies iℏ∂_tÛ = ĤÛ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682496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828800"/>
            <a:ext cx="3474720" cy="329184"/>
          </a:xfrm>
          <a:prstGeom prst="rect">
            <a:avLst/>
          </a:prstGeom>
          <a:solidFill>
            <a:srgbClr val="0D2A1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828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Solution: Û(t) = e^{-iĤt/ℏ}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2157984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304288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Ĥ†=Ĥ ⟹ Û†Û=Î (unitary)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633472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779776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Prob. conserved: ⟨ψ(t)|ψ(t)⟩=1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Group: Û(t₂)Û(t₁) = Û(t₁+t₂)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chain: TDSE → Û equation → solution → unitarity → conservation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 States in the Energy Eigenbasis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Expand any initial state in energy eigenstates and apply phase factors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any initial state in energy eigenstates and apply phase factors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Expand: |ψ(0)⟩ = Σₙ cₙ|Eₙ⟩ where cₙ=⟨Eₙ|ψ(0)⟩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Each energy eigenstate evolves simply: e^{-iĤt/ℏ}|Eₙ⟩ = e^{-iEₙt/ℏ}|Eₙ⟩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General solution: |ψ(t)⟩ = Σₙ cₙ e^{-iEₙt/ℏ}|Eₙ⟩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Stationary state: if |ψ(0)⟩=|Eₙ⟩, all probabilities are constant — no evolution of ⟨Â⟩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877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Two-state superposition evolution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57800" y="1280160"/>
            <a:ext cx="329184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170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e^{-iE1t/ℏ}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57800" y="1783080"/>
            <a:ext cx="3291840" cy="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6733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7804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e^{-iE2t/ℏ}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57800" y="2286000"/>
            <a:ext cx="3291840" cy="0"/>
          </a:xfrm>
          <a:prstGeom prst="line">
            <a:avLst/>
          </a:prstGeom>
          <a:noFill/>
          <a:ln w="1524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1762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E₃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7804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e^{-iE3t/ℏ}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66360" y="2752344"/>
            <a:ext cx="3474720" cy="329184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752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|ψ(t)⟩ = Σₙ cₙ e^{-iEₙt/ℏ}|Eₙ⟩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66360" y="3118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|cₙ|² constant — only phases change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factors e^{-iEₙt/ℏ} accumulate independently on each energy eigenstate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Exploit Stationary State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when expectation values are constant and compute time-dependent 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expectation values are constant and compute time-dependent ones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Stationary state |Eₙ⟩: all probabilities constant; ⟨Â⟩(t)=⟨Eₙ|Â|Eₙ⟩ independent of 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Time dependence appears only when [Â,Ĥ]≠0 and state is a superposition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Ehrenfest: d⟨x̂⟩/dt=⟨p̂⟩/m;  d⟨p̂⟩/dt=−⟨∇V⟩  (both derived from Heisenberg EOM)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Energy conservation: d⟨Ĥ⟩/dt=0 always (since [Ĥ,Ĥ]=0)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914400" cy="274320"/>
          </a:xfrm>
          <a:prstGeom prst="rect">
            <a:avLst/>
          </a:prstGeom>
          <a:solidFill>
            <a:srgbClr val="0D1B2E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877824"/>
            <a:ext cx="1261872" cy="274320"/>
          </a:xfrm>
          <a:prstGeom prst="rect">
            <a:avLst/>
          </a:prstGeom>
          <a:solidFill>
            <a:srgbClr val="0D1B2E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8778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Stationary |Eₙ⟩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42632" y="877824"/>
            <a:ext cx="1261872" cy="274320"/>
          </a:xfrm>
          <a:prstGeom prst="rect">
            <a:avLst/>
          </a:prstGeom>
          <a:solidFill>
            <a:srgbClr val="0D1B2E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8778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Superposition Σcₙ|Eₙ⟩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66360" y="1152144"/>
            <a:ext cx="914400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2936" y="11521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⟨Ĥ⟩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1152144"/>
            <a:ext cx="1261872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1152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Eₙ = const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42632" y="1152144"/>
            <a:ext cx="1261872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1152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Σₙ|cₙ|²Eₙ = const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66360" y="1426464"/>
            <a:ext cx="914400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02936" y="142646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⟨Â⟩ for [Â,Ĥ]=0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1426464"/>
            <a:ext cx="1261872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1426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⟨Eₙ|Â|Eₙ⟩ const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42632" y="1426464"/>
            <a:ext cx="1261872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9208" y="1426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Σₙ|cₙ|²⟨n|Â|n⟩ const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66360" y="1700784"/>
            <a:ext cx="914400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02936" y="1700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⟨Â⟩ for [Â,Ĥ]≠0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0760" y="1700784"/>
            <a:ext cx="1261872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17336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⟨Eₙ|Â|Eₙ⟩ const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42632" y="1700784"/>
            <a:ext cx="1261872" cy="274320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9208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Oscillates at ωₘₙ=(Eₘ-Eₙ)/ℏ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66360" y="1975104"/>
            <a:ext cx="914400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02936" y="19751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P(outcome a)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0760" y="1975104"/>
            <a:ext cx="1261872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42632" y="1975104"/>
            <a:ext cx="1261872" cy="274320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oscillates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⟨Â⟩ vary in time? Only in superpositions with [Â,Ĥ]≠0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the Probability Current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∂_t|ψ|² + ∇·j = 0 and identify j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∂_t|ψ|² + ∇·j = 0 and identify j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from TDSE and its conjugate; multiply and subtract: ∂_t|ψ|² = (iℏ/2m)(ψ*∇²ψ−ψ∇²ψ*)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Identify: j = (ℏ/2mi)(ψ*∇ψ−ψ∇ψ*)  — the probability current density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Continuity: ∂_t ρ + ∇·j = 0 where ρ=|ψ|² — probability is locally conserved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Integrated: d/dt ∫|ψ|²d³r = −∮j·dS = 0  (probability doesn't leak out to ∞)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47472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877824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iℏ∂_tψ = −(ℏ²/2m)∇²ψ + Vψ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25296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71600"/>
            <a:ext cx="3474720" cy="347472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137160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c.c.: ∂_t|ψ|² = (iℏ/2m)∇·(ψ*∇ψ−ψ∇ψ*)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1719072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865376"/>
            <a:ext cx="3474720" cy="347472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86537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≡ (ℏ/2mi)(ψ*∇ψ−ψ∇ψ*)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2212848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359152"/>
            <a:ext cx="3474720" cy="347472"/>
          </a:xfrm>
          <a:prstGeom prst="rect">
            <a:avLst/>
          </a:prstGeom>
          <a:solidFill>
            <a:srgbClr val="2017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359152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∂_t ρ + ∇·j = 0  (continuity equation)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66360" y="2907792"/>
            <a:ext cx="3474720" cy="27432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∫d³r ∂_t|ψ|² = 0  ⟹  norm conserved globally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Derivation: TDSE − c.c. → identify j → continuity equation → global conservation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iℏ ∂_t|ψ(t)⟩ = Ĥ|ψ(t)⟩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 ∂_t|ψ(t)⟩ = Ĥ|ψ(t)⟩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time-dependent Schrödinger equation iℏ∂_t|ψ(t)⟩=Ĥ|ψ(t)⟩ is the quantum analogue of Hamilton's equations; it is first-order in time, linear, and deterministic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Linearity: superpositions evolve linearly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Hermitian Ĥ ensures unitarity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Reduces to TISE Ĥ|E⟩=E|E⟩ for stationary states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 ∂_t|ψ(t)⟩ = Ĥ|ψ(t)⟩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time-dependent Schrödinger equation iℏ∂_t|ψ(t)⟩=Ĥ|ψ(t)⟩ is the quantum analogue of Hamilton's equations; it is first-order in time, linear, and deterministic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Û(t) = e^{−iĤt/ℏ}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time-independent 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Û(t) = e^{−iĤt/ℏ}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time-independent Ĥ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Û(t)=e^{-iĤt/ℏ} is unitary (Ĥ Hermitian) and satisfies Û(0)=Î and Û(t₂)Û(t₁)=Û(t₁+t₂); it generates a one-parameter unitary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Û†(t)Û(t)=Î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∂_tÛ = −(iĤ/ℏ)Û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 property: Û(t₁+t₂)=Û(t₁)Û(t₂)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Û(t) = e^{−iĤt/ℏ}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time-independent 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Û(t)=e^{-iĤt/ℏ} is unitary (Ĥ Hermitian) and satisfies Û(0)=Î and Û(t₂)Û(t₁)=Û(t₁+t₂); it generates a one-parameter unitary group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|ψ(t)⟩ = Σₙ cₙ e^{−iEₙt/ℏ} |Eₙ⟩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|ψ(t)⟩ = Σₙ cₙ e^{−iEₙt/ℏ} |Eₙ⟩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solution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|ψ(t)⟩=Σₙcₙe^{-iEₙt/ℏ}|Eₙ⟩ is the most general solution for time-independent Ĥ; coefficients cₙ=⟨Eₙ|ψ(0)⟩ are set by initial conditions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Σₙ|cₙ|²=1 (normalization conserved)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term oscillates at frequency Eₙ/ℏ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Beats at frequencies (Eₘ−Eₙ)/ℏ in ⟨Â⟩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|ψ(t)⟩ = Σₙ cₙ e^{−iEₙt/ℏ} |Eₙ⟩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solution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|ψ(t)⟩=Σₙcₙe^{-iEₙt/ℏ}|Eₙ⟩ is the most general solution for time-independent Ĥ; coefficients cₙ=⟨Eₙ|ψ(0)⟩ are set by initial conditions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(ℏ/2mi)(ψ*∇ψ − ψ∇ψ*)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current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(ℏ/2mi)(ψ*∇ψ − ψ∇ψ*)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current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j=(ℏ/2mi)(ψ*∇ψ−ψ∇ψ*) is the current associated with the probability density ρ=|ψ|²; derived from the Schrödinger equation minus its complex conjugate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 is real-valued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a plane wave e^{ikx}: j = ℏk/m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a stationary state: j=0 (standing wave)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(ℏ/2mi)(ψ*∇ψ − ψ∇ψ*)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current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j=(ℏ/2mi)(ψ*∇ψ−ψ∇ψ*) is the current associated with the probability density ρ=|ψ|²; derived from the Schrödinger equation minus its complex conjugate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∂_t|ψ|² + ∇·j =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∂_t|ψ|² + ∇·j =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∂_t|ψ|²+∇·j=0 expresses local conservation of probability; it is exact (no approximation); the integrated form gives d/dt∫|ψ|²d³r=0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Exact, no approximation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Integrated: total probability constant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Analogue of charge conservation in electrodynamics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∂_t|ψ|² + ∇·j =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∂_t|ψ|²+∇·j=0 expresses local conservation of probability; it is exact (no approximation); the integrated form gives d/dt∫|ψ|²d³r=0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Kramers: T̂²=−1 ⟹ at least 2-fold degeneracy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degeneracy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Kramers: T̂²=−1 ⟹ at least 2-fold degeneracy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degeneracy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T̂²=−1 for half-integer spin implies every energy level is at least 2-fold degenerate in a time-reversal-invariant system; no perturbation can split 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T̂²=+1 for integer spin (no Kramers)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Kramers pair: |ψ⟩ and T̂|ψ⟩ are orthogonal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Important for topological insulators and spin-orbit coupled systems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Kramers: T̂²=−1 ⟹ at least 2-fold degeneracy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 degeneracy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T̂²=−1 for half-integer spin implies every energy level is at least 2-fold degenerate in a time-reversal-invariant system; no perturbation can split 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must the time-evolution operator be unitary?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time-evolution operator be unitary?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 of Û follows from Hermiticity of Ĥ; ensures ⟨ψ(t)|ψ(t)⟩=1 for all 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time-evolution operator be unitary?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 of Û follows from Hermiticity of Ĥ; ensures ⟨ψ(t)|ψ(t)⟩=1 for all 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energy expectation value changes with time for a stationary state.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energy expectation value changes with time for a stationary state.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stationary state means all probabilities constant, not ⟨Ĥ⟩ changing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energy expectation value changes with time for a stationary state.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stationary state means all probabilities constant, not ⟨Ĥ⟩ changing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group property of Û(t,t₀) and what does it imply physically?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group property of Û(t,t₀) and what does it imply physically?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property Û(t₂)Û(t₁)=Û(t₁+t₂) means evolution composes correctly; time is additive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group property of Û(t,t₀) and what does it imply physically?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property Û(t₂)Û(t₁)=Û(t₁+t₂) means evolution composes correctly; time is additive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the time derivative of ⟨Â⟩ for a time-independent operator Â.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time derivative of ⟨Â⟩ for a time-independent operator Â.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d⟨Â⟩/dt = (i/ℏ)⟨[Ĥ,Â]⟩; if [Ĥ,Â]=0 then ⟨Â⟩ constant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time derivative of ⟨Â⟩ for a time-independent operator Â.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d⟨Â⟩/dt = (i/ℏ)⟨[Ĥ,Â]⟩; if [Ĥ,Â]=0 then ⟨Â⟩ constant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T̂ is a unitary operator. Justify (hint: T̂ involves complex conjugation).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T̂ is a unitary operator. Justify (hint: T̂ involves complex conjugation).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T̂=ÛK (antiunitary); complex conjugation K makes T̂ anti-unitary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T̂ is a unitary operator. Justify (hint: T̂ involves complex conjugation).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T̂=ÛK (antiunitary); complex conjugation K makes T̂ anti-unitary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Kramers degeneracy and when does it occur?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Kramers degeneracy and when does it occur?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Kramers: T̂²=−1 for half-integer spin; every energy level doubly degenerate in T-invariant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Kramers degeneracy and when does it occur?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Kramers: T̂²=−1 for half-integer spin; every energy level doubly degenerate in T-invariant system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continuity equation for probability density and identify each term.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continuity equation for probability density and identify each term.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∂_tρ = source of probability; ∇·j = how it flows; together they state local conservation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continuity equation for probability density and identify each term.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∂_tρ = source of probability; ∇·j = how it flows; together they state local conservation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position-space Schrödinger equation emerge from the abstract TDSE?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position-space Schrödinger equation emerge from the abstract TDSE?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x̂=∫dx|x⟩⟨x|: ⟨x|Ĥ|ψ⟩ = [−(ℏ²/2m)∂²_x + V(x)]ψ(x); position-rep TDSE emerges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position-space Schrödinger equation emerge from the abstract TDSE?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x̂=∫dx|x⟩⟨x|: ⟨x|Ĥ|ψ⟩ = [−(ℏ²/2m)∂²_x + V(x)]ψ(x); position-rep TDSE emerges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oscillate simply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'The Hamiltonian is the quantum clock.' Explain what this means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does a stationary state not mean the particle is stationary?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Draw an energy level diagram and show how a superposition oscillates between levels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Evolve |ψ(0)⟩=cos(θ)|E₁⟩+sin(θ)|E₂⟩; compute ⟨σ_z⟩(t)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Rabi oscillation frequency for a two-level system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 the continuity equation for a plane wave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Hermitian 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Û is unitary from Hermiticity of Ĥ using the series expansion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probability current from the Schrödinger equation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that purity is conserved under unitary evolution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theorem connection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Kramers degeneracy from T̂²=−1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Connect Û(t)=e^{-iĤt/ℏ} to Stone's theorem for unbounded generators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Discuss self-adjoint extensions for Ĥ=−d²/dx² on [0,L] with different BCs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its resolution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Discuss the domain of −d²/dx² and conditions for self-adjointness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the quantum Zeno effect rigorously using projection-valued measures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Relate Û(t) to the resolvent operator (Ĥ−z)⁻¹ via the Laplace transform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L05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 ∂_t|ψ(t)⟩ = Ĥ|ψ(t)⟩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Û(t) = e^{−iĤt/ℏ}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time-independent 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|ψ(t)⟩ = Σₙ cₙ e^{−iEₙt/ℏ} |Eₙ⟩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(ℏ/2mi)(ψ*∇ψ − ψ∇ψ*)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current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∂_t|ψ|² + ∇·j = 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Kramers: T̂²=−1 ⟹ at least 2-fold degeneracy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 — Time-Independent Hamiltonians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must the time-evolution operator be unitary?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energy expectation value changes with time for a stationary state.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group property of Û(t,t₀) and what does it imply physically?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Derive the time derivative of ⟨Â⟩ for a time-independent operator Â.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T̂ is a unitary operator. Justify (hint: T̂ involves complex conjugation).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is Kramers degeneracy and when does it occur?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continuity equation for probability density and identify each term.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position-space Schrödinger equation emerge from the abstract TDSE?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 — Time-Independent Hamiltonians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oscillate simply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Hermitian 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theorem connection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its resolution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superposition states; compute ⟨Ê⟩(t), ⟨x̂⟩(t); derive probability current for plane waves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group property of Û; unitarity; derive continuity equation; analyse Kramers degeneracy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 — Time-Independent Hamiltonians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L05 (Expanded) — Time Evolution I — Time-Independent Hamiltonians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