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Dirac (Interaction) Picture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· Dyson Series in IP · Three-Picture Comparison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The Dirac (Interaction) Picture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Dirac (Interaction) Picture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Motivation: perturbative treatment of V̂(t) using exact Ĥ₀ dynamics; splitting Ĥ = Ĥ₀ + V̂(t)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IP states |ψ_I(t)⟩=e^{iĤ₀t/ℏ}|ψ_S(t)⟩; operators V̂_I(t)=e^{iĤ₀t/ℏ}V̂e^{−iĤ₀t/ℏ}; IP Schrödinger eq.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IP propagator Û_I(t,t₀); Dyson series in IP; perturbative transition amplitudes; Ŝ = Û_I(∞,−∞)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Comparison table of all three pictures: states, operators, EOM, preferred use-cases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states and operators into and out of the interaction picture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interaction picture Schrödinger equation from the full equation of motion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Dyson series in the interaction picture to any desired order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the S-matrix to the interaction picture propagator and physical scattering amplitudes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practical bookkeeping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perturbation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of all three pictures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Feynman diagram structure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formula (conceptual)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Transform operators/states to IP; compute first-order transition amplitude for harmonic perturbation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IP EOM; prove unitarity of S-matrix; second-order Dyson series for constant perturbation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to the Interaction Picture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Split Ĥ=Ĥ₀+V̂ and rotate states and operators into the IP consistently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Ĥ=Ĥ₀+V̂ and rotate states and operators into the IP consistently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Split: Ĥ=Ĥ₀+V̂(t); Ĥ₀ exactly solvable with Û₀(t)=e^{-iĤ₀t/ℏ}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IP state: |ψ_I(t)⟩=Û₀†(t)|ψ_S(t)⟩  — undoes Ĥ₀ evolution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IP operator: V̂_I(t)=Û₀†(t)V̂Û₀(t)  — rotates into Heisenberg picture under Ĥ₀ only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IP Schrödinger equation: iℏ∂_t|ψ_I⟩=V̂_I(t)|ψ_I⟩  — driven only by V̂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115568" cy="256032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Schrödinger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66360" y="1170432"/>
            <a:ext cx="1115568" cy="237744"/>
          </a:xfrm>
          <a:prstGeom prst="rect">
            <a:avLst/>
          </a:prstGeom>
          <a:solidFill>
            <a:srgbClr val="0D1A2A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170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move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66360" y="1444752"/>
            <a:ext cx="1115568" cy="237744"/>
          </a:xfrm>
          <a:prstGeom prst="rect">
            <a:avLst/>
          </a:prstGeom>
          <a:solidFill>
            <a:srgbClr val="0D1A2A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4447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static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66360" y="1719072"/>
            <a:ext cx="1115568" cy="23774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7190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H=H₀+V drives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355080" y="877824"/>
            <a:ext cx="1115568" cy="256032"/>
          </a:xfrm>
          <a:prstGeom prst="rect">
            <a:avLst/>
          </a:prstGeom>
          <a:solidFill>
            <a:srgbClr val="0000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8778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55080" y="1170432"/>
            <a:ext cx="1115568" cy="237744"/>
          </a:xfrm>
          <a:prstGeom prst="rect">
            <a:avLst/>
          </a:prstGeom>
          <a:solidFill>
            <a:srgbClr val="0D1A2A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170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V drives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55080" y="1444752"/>
            <a:ext cx="1115568" cy="237744"/>
          </a:xfrm>
          <a:prstGeom prst="rect">
            <a:avLst/>
          </a:prstGeom>
          <a:solidFill>
            <a:srgbClr val="0D1A2A"/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4447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H₀ drives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55080" y="1719072"/>
            <a:ext cx="1115568" cy="237744"/>
          </a:xfrm>
          <a:prstGeom prst="rect">
            <a:avLst/>
          </a:prstGeom>
          <a:solidFill>
            <a:srgbClr val="1A1A0D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7190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nicely!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543800" y="877824"/>
            <a:ext cx="1115568" cy="256032"/>
          </a:xfrm>
          <a:prstGeom prst="rect">
            <a:avLst/>
          </a:prstGeom>
          <a:solidFill>
            <a:srgbClr val="000000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8778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Heisenberg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43800" y="1170432"/>
            <a:ext cx="1115568" cy="237744"/>
          </a:xfrm>
          <a:prstGeom prst="rect">
            <a:avLst/>
          </a:prstGeom>
          <a:solidFill>
            <a:srgbClr val="0D1A2A"/>
          </a:solidFill>
          <a:ln w="10160">
            <a:solidFill>
              <a:srgbClr val="28A8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117043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static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43800" y="1444752"/>
            <a:ext cx="1115568" cy="237744"/>
          </a:xfrm>
          <a:prstGeom prst="rect">
            <a:avLst/>
          </a:prstGeom>
          <a:solidFill>
            <a:srgbClr val="0D1A2A"/>
          </a:solidFill>
          <a:ln w="10160">
            <a:solidFill>
              <a:srgbClr val="28A8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14447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H drives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543800" y="1719072"/>
            <a:ext cx="1115568" cy="23774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17190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 drives 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66360" y="2048256"/>
            <a:ext cx="3547872" cy="256032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0482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|ψ_I⟩ = Û₀†|ψ_S⟩;  V̂_I = Û₀†V̂Û₀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66360" y="2340864"/>
            <a:ext cx="3547872" cy="256032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23408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iℏ∂_t|ψ_I⟩ = V̂_I(t)|ψ_I⟩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picture: states driven by V̂ only; operators rotate under Ĥ₀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the IP Schrödinger Equation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the IP equation of motion follows from the full TDSE by unitary rotation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IP equation of motion follows from the full TDSE by unitary rotation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Differentiate |ψ_I⟩=Û₀†|ψ_S⟩; use TDSE for |ψ_S⟩ and dÛ₀†/dt=+(iĤ₀/ℏ)Û₀†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Result: iℏ∂_t|ψ_I⟩ = Û₀†(Ĥ−Ĥ₀)|ψ_S⟩ = Û₀†V̂Û₀|ψ_I⟩ = V̂_I(t)|ψ_I⟩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free Ĥ₀ part cancels exactly — the IP removes the 'trivial' dynamics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Physical: in the IP, the state is already in the 'rotating frame' of Ĥ₀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8778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iℏ∂_t|ψ_S⟩ = (Ĥ₀+V̂)|ψ_S⟩  (full TDSE)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03720" y="12070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350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13350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|ψ_I⟩ = Û₀†|ψ_S⟩  (define IP state)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03720" y="16642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7922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7922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iℏ∂_t|ψ_I⟩ = iℏ(dÛ₀†/dt)|ψ_S⟩ + iℏÛ₀†∂_t|ψ_S⟩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03720" y="21214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249424"/>
            <a:ext cx="3474720" cy="329184"/>
          </a:xfrm>
          <a:prstGeom prst="rect">
            <a:avLst/>
          </a:prstGeom>
          <a:solidFill>
            <a:srgbClr val="0D1A2A"/>
          </a:solidFill>
          <a:ln w="15240">
            <a:solidFill>
              <a:srgbClr val="C9D1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2494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(iℏ)(iĤ₀/ℏ)Û₀†|ψ_S⟩ + Û₀†(Ĥ₀+V̂)|ψ_S⟩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903720" y="25786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706624"/>
            <a:ext cx="3474720" cy="329184"/>
          </a:xfrm>
          <a:prstGeom prst="rect">
            <a:avLst/>
          </a:prstGeom>
          <a:solidFill>
            <a:srgbClr val="2017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27066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(−Ĥ₀+Ĥ₀+V̂_I)|ψ_I⟩ = V̂_I|ψ_I⟩  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Ĥ₀ terms cancel exactly — IP Schrödinger equation driven by V̂_I only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 the Dyson Series in the 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Expand the IP propagator as a perturbative series in V̂_I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IP propagator as a perturbative series in V̂_I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IP propagator Û_I(t,0): iℏ∂_tÛ_I=V̂_I(t)Û_I; Û_I(0,0)=Î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Dyson series: Û_I = Î + (−i/ℏ)∫V̂_I dt' + (−i/ℏ)²∫∫T[V̂_IV̂_I]dt'dt'' + ...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Transition amplitude: c_f^{(n)}(t) = ⟨f|Û_I^{(n)}(t,0)|i⟩  — nth order in V̂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S-matrix: Ŝ = Û_I(∞,−∞) — full probability amplitude from t=−∞ to +∞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256032"/>
          </a:xfrm>
          <a:prstGeom prst="rect">
            <a:avLst/>
          </a:prstGeom>
          <a:solidFill>
            <a:srgbClr val="0D1B2E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80760" y="8778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Dyson Term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26680" y="877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meaning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66360" y="1133856"/>
            <a:ext cx="3474720" cy="347472"/>
          </a:xfrm>
          <a:prstGeom prst="rect">
            <a:avLst/>
          </a:prstGeom>
          <a:solidFill>
            <a:srgbClr val="0D142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1338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80760" y="1133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726680" y="11338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166360" y="1499616"/>
            <a:ext cx="3474720" cy="347472"/>
          </a:xfrm>
          <a:prstGeom prst="rect">
            <a:avLst/>
          </a:prstGeom>
          <a:solidFill>
            <a:srgbClr val="0D18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4996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0760" y="1499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−(i/ℏ)∫V̂_I dt'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726680" y="14996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scattering event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66360" y="1865376"/>
            <a:ext cx="3474720" cy="347472"/>
          </a:xfrm>
          <a:prstGeom prst="rect">
            <a:avLst/>
          </a:prstGeom>
          <a:solidFill>
            <a:srgbClr val="0D1420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8653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80760" y="1865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(−i/ℏ)²∫∫T[V̂_IV̂_I]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26680" y="18653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scattering events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166360" y="2231136"/>
            <a:ext cx="3474720" cy="347472"/>
          </a:xfrm>
          <a:prstGeom prst="rect">
            <a:avLst/>
          </a:prstGeom>
          <a:solidFill>
            <a:srgbClr val="0D1820"/>
          </a:solidFill>
          <a:ln w="635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80760" y="2231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(−i/ℏ)ⁿ ∫...∫ T[V̂_Iⁿ]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72668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n-fold interaction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series: each order = one more power of V̂_I and one more time integration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the S-Matrix to Scattering Amplitudes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Identify Ŝ=Û_I(∞,−∞) and relate its matrix elements to measurable cross-sections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Ŝ=Û_I(∞,−∞) and relate its matrix elements to measurable cross-sections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S-matrix: Ŝ = Û_I(∞,−∞) = T exp(−i/ℏ ∫_{-∞}^{∞}V̂_I dt)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Transition amplitude: ⟨f|Ŝ|i⟩ = probability amplitude for scattering i→f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Unitarity: Ŝ†Ŝ = Î (probability conservation); optical theorem follows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Cross section: dσ/dΩ ∝ |⟨f|Ŝ|i⟩|² — the Born approximation is first order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1152144"/>
            <a:ext cx="822960" cy="10972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969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|i⟩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11521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t→-∞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89320" y="1700784"/>
            <a:ext cx="548640" cy="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1316736"/>
            <a:ext cx="768096" cy="768096"/>
          </a:xfrm>
          <a:prstGeom prst="ellipse">
            <a:avLst/>
          </a:prstGeom>
          <a:solidFill>
            <a:srgbClr val="1A1A0D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1536192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V̂_I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87768" y="1700784"/>
            <a:ext cx="530352" cy="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1152144"/>
            <a:ext cx="822960" cy="10972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969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|f⟩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18120" y="11521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t→+∞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166360" y="2395728"/>
            <a:ext cx="3474720" cy="27432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Û_I(+∞,−∞);  ⟨f|Ŝ|i⟩ = amplitude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66360" y="2724912"/>
            <a:ext cx="3474720" cy="256032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dσ/dΩ ∝ |⟨f|Ŝ|i⟩|²  (measurable cross-section)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encodes all scattering information: in→interaction→out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|ψ_I(t)⟩ = e^{iĤ₀t/ℏ}|ψ_S(t)⟩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|ψ_I(t)⟩ = e^{iĤ₀t/ℏ}|ψ_S(t)⟩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|ψ_I(t)⟩=Û₀†(t)|ψ_S(t)⟩ removes the trivial Ĥ₀ evolution; in the IP the state evolves only under the perturbation V̂_I; convenient for perturbative calculations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 t=0: |ψ_I(0)⟩=|ψ_S(0)⟩=|i⟩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 preserved: ⟨ψ_I|ψ_I⟩=1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Reduces to Schrödinger picture when V̂=0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|ψ_I(t)⟩ = e^{iĤ₀t/ℏ}|ψ_S(t)⟩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|ψ_I(t)⟩=Û₀†(t)|ψ_S(t)⟩ removes the trivial Ĥ₀ evolution; in the IP the state evolves only under the perturbation V̂_I; convenient for perturbative calculations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V̂_I(t) = e^{iĤ₀t/ℏ} V̂ e^{−iĤ₀t/ℏ}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operator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V̂_I(t) = e^{iĤ₀t/ℏ} V̂ e^{−iĤ₀t/ℏ}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operator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V̂_I(t)=Û₀†(t)V̂Û₀(t) is the perturbation in the Heisenberg picture of Ĥ₀; it oscillates at transition frequencies; key for identifying resonances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V̂=const: V̂_I(t)=Û₀†V̂Û₀ oscillates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[Ĥ₀,V̂_I]=(i/ℏ)Û₀†[Ĥ₀,V̂]Û₀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Matrix element: ⟨m|V̂_I|n⟩=⟨m|V̂|n⟩e^{iω_{mn}t}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V̂_I(t) = e^{iĤ₀t/ℏ} V̂ e^{−iĤ₀t/ℏ}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operator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V̂_I(t)=Û₀†(t)V̂Û₀(t) is the perturbation in the Heisenberg picture of Ĥ₀; it oscillates at transition frequencies; key for identifying resonances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iℏ∂_t|ψ_I⟩ = V̂_I(t)|ψ_I⟩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iℏ∂_t|ψ_I⟩ = V̂_I(t)|ψ_I⟩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iℏ∂_t|ψ_I⟩=V̂_I(t)|ψ_I⟩ has Ĥ₀ completely removed; only V̂_I drives the evolution; the exact solution is the Dyson series in V̂_I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Exactly equivalent to full TDSE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Without V̂: |ψ_I⟩ static (no evolution)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Small V̂: perturbative expansion makes sense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iℏ∂_t|ψ_I⟩ = V̂_I(t)|ψ_I⟩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iℏ∂_t|ψ_I⟩=V̂_I(t)|ψ_I⟩ has Ĥ₀ completely removed; only V̂_I drives the evolution; the exact solution is the Dyson series in V̂_I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Û_I = T exp(−i/ℏ ∫V̂_I dt')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propagator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Û_I = T exp(−i/ℏ ∫V̂_I dt')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propagator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Û_I(t,0)=T exp(−i/ℏ∫V̂_I dt') solves the IP equation; it contains all orders of perturbation theory; truncating at nth order gives the nth Dyson approximation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Û_I(0,0)=Î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Û_I†Û_I=Î (unitary)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⟨f|Û_I^{(1)}|i⟩=first-order amplitude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Û_I = T exp(−i/ℏ ∫V̂_I dt')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propagator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Û_I(t,0)=T exp(−i/ℏ∫V̂_I dt') solves the IP equation; it contains all orders of perturbation theory; truncating at nth order gives the nth Dyson approximation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Ŝ = Û_I(∞,−∞)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definition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Û_I(∞,−∞)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definition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Ŝ=Û_I(+∞,−∞) is the full propagator from the remote past to the remote future; its matrix elements are transition amplitudes between asymptotic states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Ŝ†Ŝ=Î (unitarity = probability conservation)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⟨f|Ŝ|i⟩=1 for f=i (no scattering) at zeroth order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First Born approx: ⟨f|Ŝ|i⟩≈⟨f|Î+Û^{(1)}|i⟩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Û_I(∞,−∞)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definition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Ŝ=Û_I(+∞,−∞) is the full propagator from the remote past to the remote future; its matrix elements are transition amplitudes between asymptotic states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⟨f|Ŝ|i⟩ = transition amplitude from i to 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amplitude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⟨f|Ŝ|i⟩ = transition amplitude from i to 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amplitude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⟨f|Ŝ|i⟩ is the probability amplitude for starting in |i⟩ and ending in |f⟩; |⟨f|Ŝ|i⟩|² gives the transition probability; cross-sections follow from Fermi's golden rule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P_{i→f}=|⟨f|Ŝ|i⟩|²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Optical theorem: Im⟨i|Ŝ|i⟩=(1/2)Σ_f|⟨f|Ŝ|i⟩|²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Born approx: ⟨f|Û^{(1)}|i⟩=−(i/ℏ)∫⟨f|V̂|i⟩e^{iω_{fi}t}dt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⟨f|Ŝ|i⟩ = transition amplitude from i to 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amplitude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⟨f|Ŝ|i⟩ is the probability amplitude for starting in |i⟩ and ending in |f⟩; |⟨f|Ŝ|i⟩|² gives the transition probability; cross-sections follow from Fermi's golden rule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motivates splitting Ĥ = Ĥ₀ + V̂ in the interaction picture?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motivates splitting Ĥ = Ĥ₀ + V̂ in the interaction picture?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splits Ĥ₀ (exactly solved) from V̂ (treated perturbatively); makes V̂ the only driver of state evolution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makes V̂ the only driver of state evolution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motivates splitting Ĥ = Ĥ₀ + V̂ in the interaction picture?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splits Ĥ₀ (exactly solved) from V̂ (treated perturbatively); makes V̂ the only driver of state evolution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In the interaction picture, both states and operators are time-dependent.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In the interaction picture, both states and operators are time-dependent.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states |ψ_I⟩ and operators V̂_I(t)=Û₀†V̂Û₀ both carry time-dependence in the IP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In the interaction picture, both states and operators are time-dependent.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states |ψ_I⟩ and operators V̂_I(t)=Û₀†V̂Û₀ both carry time-dependence in the IP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IP Schrödinger equation differ from the full Schrödinger equation?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IP Schrödinger equation differ from the full Schrödinger equation?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equation: iℏ∂_t|ψ_I⟩=V̂_I|ψ_I⟩; full TDSE has (Ĥ₀+V̂) driving states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IP Schrödinger equation differ from the full Schrödinger equation?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equation: iℏ∂_t|ψ_I⟩=V̂_I|ψ_I⟩; full TDSE has (Ĥ₀+V̂) driving states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S-matrix physically — what does it encode?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S-matrix physically — what does it encode?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encodes all scattering: input state → interaction → output state; cross-sections come from |⟨f|Ŝ|i⟩|²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cross-sections come from |⟨f|Ŝ|i⟩|²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S-matrix physically — what does it encode?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encodes all scattering: input state → interaction → output state; cross-sections come from |⟨f|Ŝ|i⟩|²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S-matrix is unitary if probability is conserved.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S-matrix is unitary if probability is conserved.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Ŝ†Ŝ=Î iff probability is conserved; optical theorem is a consequence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S-matrix is unitary if probability is conserved.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Ŝ†Ŝ=Î iff probability is conserved; optical theorem is a consequence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the three pictures: which quantity is time-dependent in each?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three pictures: which quantity is time-dependent in each?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Schrödinger: states move, ops static; Heisenberg: ops move, states static; IP: both move under their respective parts of 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IP: both move under their respective parts of 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three pictures: which quantity is time-dependent in each?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Schrödinger: states move, ops static; Heisenberg: ops move, states static; IP: both move under their respective parts of 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first-order term of the Dyson series in the interaction picture.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first-order term of the Dyson series in the interaction picture.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Dyson: ⟨f|Û_I^{(1)}|i⟩=−(i/ℏ)∫⟨f|V̂_I(t')|i⟩dt'=−(i/ℏ)∫⟨f|V̂|i⟩e^{iω_{fi}t'}dt'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first-order term of the Dyson series in the interaction picture.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Dyson: ⟨f|Û_I^{(1)}|i⟩=−(i/ℏ)∫⟨f|V̂_I(t')|i⟩dt'=−(i/ℏ)∫⟨f|V̂|i⟩e^{iω_{fi}t'}dt'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connection between the S-matrix and measurable cross-sections?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connection between the S-matrix and measurable cross-sections?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section: dσ/dΩ∝|T-matrix|²; T-matrix extracted from Ŝ=Î+iT; optical theorem relates Im(T_{ii}) to total cross-section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optical theorem relates Im(T_{ii}) to total cross-section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connection between the S-matrix and measurable cross-sections?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section: dσ/dΩ∝|T-matrix|²; T-matrix extracted from Ŝ=Î+iT; optical theorem relates Im(T_{ii}) to total cross-section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practical bookkeeping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'Park the easy part in the operators; let the hard part drive the states.' Draw a diagram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a scattering cross-section physically? Give an everyday analogy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would a physicist want to split Ĥ=Ĥ₀+V̂?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perturbation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Transform V̂=λx̂ into the IP for Ĥ₀=p̂²/2m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Compute the first-order Dyson term for V̂(t)=V₀e^{-iωt}|f⟩⟨i|+h.c.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that Û_I reduces to Î when V̂=0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of all three pictures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the IP equation of motion by differentiating |ψ_I⟩=Û₀†|ψ_S⟩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the Dyson series to second order and identify the integration regions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Prove all three pictures give identical expectation values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Feynman diagram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the optical theorem from unitarity of the S-matrix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Connect the Born approximation to the Lippmann–Schwinger equation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Sketch how Feynman diagrams emerge from the Dyson series in QFT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formula (conceptual)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Discuss adiabatic switching and its role in the Gell-Mann–Low theorem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Define the S-matrix in QFT; relate to the IP propagator via the LSZ reduction formula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Analyse conditions under which the Dyson series converges in a quantum optical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L08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|ψ_I(t)⟩ = e^{iĤ₀t/ℏ}|ψ_S(t)⟩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V̂_I(t) = e^{iĤ₀t/ℏ} V̂ e^{−iĤ₀t/ℏ}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operator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iℏ∂_t|ψ_I⟩ = V̂_I(t)|ψ_I⟩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Schrödinger equation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Û_I = T exp(−i/ℏ ∫V̂_I dt')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propagator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Ŝ = Û_I(∞,−∞)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definition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⟨f|Ŝ|i⟩ = transition amplitude from i to f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Perturbation Theory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The Dirac (Interaction) Picture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motivates splitting Ĥ = Ĥ₀ + V̂ in the interaction picture?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In the interaction picture, both states and operators are time-dependent.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does the IP Schrödinger equation differ from the full Schrödinger equation?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the S-matrix physically — what does it encode?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The S-matrix is unitary if probability is conserved.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 the three pictures: which quantity is time-dependent in each?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Write the first-order term of the Dyson series in the interaction picture.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connection between the S-matrix and measurable cross-sections?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The Dirac (Interaction) Picture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'Park the easy part in the operators; let the hard part drive the states' — practical bookkeeping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V̂=λx̂ into IP for HO Ĥ₀; compute first-order Dyson term for simple perturbation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transformation procedure; Dyson series to second order; prove equivalence of all three pictures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and cross-sections; optical theorem; Lippmann–Schwinger preview; Feynman diagram structure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S-matrix in QFT; adiabatic switching; Gell-Mann–Low theorem; LSZ reduction formula (conceptual)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operators/states to IP; compute first-order transition amplitude for harmonic perturbation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IP EOM; prove unitarity of S-matrix; second-order Dyson series for constant perturbation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The Dirac (Interaction) Picture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L08 (Expanded) — The Dirac (Interaction) Picture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