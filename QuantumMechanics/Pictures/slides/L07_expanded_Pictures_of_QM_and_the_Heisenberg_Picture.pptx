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Pictures of QM and the Heisenberg Picture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 · Ehrenfest Theorem · Canonical Quantisation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Algebraic Dual-Track — Lecture 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Pictures of QM and the Heisenberg Picture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of QM and the Heisenberg Picture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Picture equivalence — physical predictions are picture-independent; Schrödinger picture reviewed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Heisenberg picture: Â_H(t)=Û†ÂÛ; static states; Heisenberg EOM d/dtÂ_H=(i/ℏ)[Ĥ,Â_H]+(∂_tÂ)_H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Ehrenfest d⟨x̂⟩/dt=⟨p̂⟩/m; virial theorem; constants of motion [Ĥ,Â]=0⟹dÂ_H/dt=0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Canonical quantisation: Poisson brackets → commutators; Dirac's rule; operator ordering ambiguities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operators and states between the Schrödinger and Heisenberg pictures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and apply the Heisenberg equation of motion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and use Ehrenfest's theorem and the virial theorem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Dirac's canonical quantisation rule and identify operator ordering issues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passive 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numerically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p̂_H(t) for quadratic 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and action-angle variables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Wigner function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Solve Heisenberg EOM for HO; compute ⟨x̂⟩(t) and ⟨p̂⟩(t); verify Ehrenfest for cubic potential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virial theorem; apply canonical quantisation to a classical system; ordering ambiguities for x̂²p̂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 Between Schrödinger and Heisenberg Pictures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Convert operators and states between the two pictures consistently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operators and states between the two pictures consistently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Schrödinger picture: |ψ_S(t)⟩ time-dependent; Â_S time-independent (usually)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Heisenberg picture: Â_H(t)=Û†(t)Â_S Û(t) time-dependent; |ψ_H⟩=|ψ(0)⟩ static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Physical predictions identical: ⟨Â⟩=⟨ψ_S(t)|Â_S|ψ_S(t)⟩=⟨ψ_H|Â_H(t)|ψ_H⟩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Conversion: multiply/divide by Û(t)=e^{-iĤt/ℏ} on left or right as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1645920" cy="27432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Schrödinger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152144"/>
            <a:ext cx="1645920" cy="329184"/>
          </a:xfrm>
          <a:prstGeom prst="rect">
            <a:avLst/>
          </a:prstGeom>
          <a:solidFill>
            <a:srgbClr val="0D14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115214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|ψ_S(t)⟩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66360" y="1499616"/>
            <a:ext cx="1645920" cy="329184"/>
          </a:xfrm>
          <a:prstGeom prst="rect">
            <a:avLst/>
          </a:prstGeom>
          <a:solidFill>
            <a:srgbClr val="0D18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149961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Â_S (static)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66360" y="1847088"/>
            <a:ext cx="1645920" cy="329184"/>
          </a:xfrm>
          <a:prstGeom prst="rect">
            <a:avLst/>
          </a:prstGeom>
          <a:solidFill>
            <a:srgbClr val="0D14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8470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TDSE evolves states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66360" y="2194560"/>
            <a:ext cx="1645920" cy="329184"/>
          </a:xfrm>
          <a:prstGeom prst="rect">
            <a:avLst/>
          </a:prstGeom>
          <a:solidFill>
            <a:srgbClr val="0D18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219456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for wavefunctions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13448" y="877824"/>
            <a:ext cx="1645920" cy="27432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877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Heisenberg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13448" y="1152144"/>
            <a:ext cx="1645920" cy="329184"/>
          </a:xfrm>
          <a:prstGeom prst="rect">
            <a:avLst/>
          </a:prstGeom>
          <a:solidFill>
            <a:srgbClr val="0D1E1D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1152144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|ψ_H⟩ static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13448" y="1499616"/>
            <a:ext cx="1645920" cy="329184"/>
          </a:xfrm>
          <a:prstGeom prst="rect">
            <a:avLst/>
          </a:prstGeom>
          <a:solidFill>
            <a:srgbClr val="0D1E15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1499616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Â_H(t) evolve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013448" y="1847088"/>
            <a:ext cx="1645920" cy="329184"/>
          </a:xfrm>
          <a:prstGeom prst="rect">
            <a:avLst/>
          </a:prstGeom>
          <a:solidFill>
            <a:srgbClr val="0D1E1D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184708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EOM drives operators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13448" y="2194560"/>
            <a:ext cx="1645920" cy="329184"/>
          </a:xfrm>
          <a:prstGeom prst="rect">
            <a:avLst/>
          </a:prstGeom>
          <a:solidFill>
            <a:srgbClr val="0D1E15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19456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for algebra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48856" y="1828800"/>
            <a:ext cx="128016" cy="0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170078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39712" y="186537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bookkeeping — connected by Û(t)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and Apply Heisenberg EOM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Use dÂ_H/dt=(i/ℏ)[Ĥ,Â_H] to solve for operators in the Heisenberg picture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dÂ_H/dt=(i/ℏ)[Ĥ,Â_H] to solve for operators in the Heisenberg picture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Derivation: d/dt(Û†ÂÛ)=(dÛ†/dt)ÂÛ+Û†Â(dÛ/dt)=Û†(i/ℏ)[Ĥ,Â]Û=(i/ℏ)[Ĥ,Â_H]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 harmonic oscillator: dx̂_H/dt=(i/ℏ)[Ĥ,x̂]=p̂_H/m;  dp̂_H/dt=−mω²x̂_H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Solution: x̂_H(t)=x̂cos(ωt)+(p̂/mω)sin(ωt);  p̂_H(t)=−mωx̂sin(ωt)+p̂cos(ωt)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Constants of motion: [Ĥ,Â]=0 ⟹ dÂ_H/dt=0 ⟹ ⟨Â⟩ is conserved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8778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Â_H(t) = Û†(t) Â Û(t)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2070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335024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13350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d/dt Â_H = (i/ℏ)[Ĥ,Â_H]+(∂Â/∂t)_H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16642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792224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C9D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7922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HO: dx/dt=(i/ℏ)[Ĥ,x]=p/m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03720" y="21214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249424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C9D1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22494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dp/dt=(i/ℏ)[Ĥ,p]=−mω²x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03720" y="257860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706624"/>
            <a:ext cx="3474720" cy="329184"/>
          </a:xfrm>
          <a:prstGeom prst="rect">
            <a:avLst/>
          </a:prstGeom>
          <a:solidFill>
            <a:srgbClr val="201700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270662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x_H(t) = x cos(ωt) + (p/mω)sin(ωt)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EOM to HO solution: d/dt Â_H = (i/ℏ)[Ĥ,Â_H]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Ehrenfest's Theorem and Virial Theorem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Show that quantum expectation values obey classical-like equations of motion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quantum expectation values obey classical-like equations of motion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Ehrenfest I: d⟨x̂⟩/dt = ⟨p̂⟩/m  — from Heisenberg EOM for x̂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Ehrenfest II: d⟨p̂⟩/dt = −⟨∇V(x̂)⟩  — from Heisenberg EOM for p̂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Classical limit: if ∇V(x̂)≈∇V(⟨x̂⟩), Ehrenfest → Newton's 2nd law exactly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Virial theorem: ⟨T̂⟩=½⟨x̂ dV/dx⟩ in energy eigenstates (from stationarity of ⟨xp⟩)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694944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9326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Ehrenfest 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11521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d⟨x̂⟩/dt = ⟨p̂⟩/m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140817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[Ĥ,x̂]=(iℏ/m)p̂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66360" y="1645920"/>
            <a:ext cx="3474720" cy="694944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Ehrenfest 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19202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d⟨p̂⟩/dt = −⟨∇V⟩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21762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[Ĥ,p̂]=iℏ∇V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66360" y="2414016"/>
            <a:ext cx="3474720" cy="694944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468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Virial Theorem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57800" y="26883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2⟨T̂⟩ = ⟨x·∇V⟩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9443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energy eigenstates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I &amp; II + Virial theorem: classical equations from quantum EOM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Dirac's Canonical Quantisation Rule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Replace Poisson brackets with commutators; identify ordering ambiguities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Poisson brackets with commutators; identify ordering ambiguities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Dirac's rule: {f,g}_PB → [f̂,ĝ]/(iℏ)  — the quantisation postulate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CCR from classical: {x,p}_PB=1 → [x̂,p̂]=iℏ  ✓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Ordering ambiguity: x²p has three orderings; Weyl ordering: ½(x̂²p̂+p̂x̂²)=x̂p̂x̂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Groenewold–Van Hove: no quantisation map from all classical observables consistent with Dirac's rule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29184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Classical: {x,p}_PB =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207008"/>
            <a:ext cx="0" cy="18288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8584" y="1261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{·,·}_PB → [·,·]/(iℏ)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66360" y="1389888"/>
            <a:ext cx="3474720" cy="329184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3898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Quantum: [x̂,p̂] = iℏ 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1847088"/>
            <a:ext cx="3474720" cy="274320"/>
          </a:xfrm>
          <a:prstGeom prst="rect">
            <a:avLst/>
          </a:prstGeom>
          <a:solidFill>
            <a:srgbClr val="1A0D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Ordering ambiguity for x²p: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66360" y="2176272"/>
            <a:ext cx="1115568" cy="310896"/>
          </a:xfrm>
          <a:prstGeom prst="rect">
            <a:avLst/>
          </a:prstGeom>
          <a:solidFill>
            <a:srgbClr val="0D14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1762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x̂²p̂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36792" y="2176272"/>
            <a:ext cx="1115568" cy="310896"/>
          </a:xfrm>
          <a:prstGeom prst="rect">
            <a:avLst/>
          </a:prstGeom>
          <a:solidFill>
            <a:srgbClr val="0D2A1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21762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x̂p̂x̂  (Weyl)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07224" y="2176272"/>
            <a:ext cx="1115568" cy="310896"/>
          </a:xfrm>
          <a:prstGeom prst="rect">
            <a:avLst/>
          </a:prstGeom>
          <a:solidFill>
            <a:srgbClr val="0D14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217627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p̂x̂²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66360" y="2542032"/>
            <a:ext cx="3474720" cy="2743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G–vH: no consistent global quantisation map exists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Dirac's rule works for low-degree polynomials; ordering must be specified for higher-degree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Â_H(t) = Û†(t) Â_S Û(t)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picture operator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Â_H(t) = Û†(t) Â_S Û(t)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picture operator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Â_H(t)=Û†(t)Â_S Û(t) transforms any operator; it evolves under conjugation by the time-evolution operator; preserves all algebraic relations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⟨Â⟩ = ⟨ψ_H|Â_H(t)|ψ_H⟩ = ⟨ψ_S(t)|Â_S|ψ_S(t)⟩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[Â_H,B̂_H] = [Â,B̂]_H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Â_H(0) = Â_S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Â_H(t) = Û†(t) Â_S Û(t)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picture operator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Â_H(t)=Û†(t)Â_S Û(t) transforms any operator; it evolves under conjugation by the time-evolution operator; preserves all algebraic relations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dÂ_H/dt = (i/ℏ)[Ĥ,Â_H] + (∂_tÂ)_H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dÂ_H/dt = (i/ℏ)[Ĥ,Â_H] + (∂_tÂ)_H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dÂ_H/dt=(i/ℏ)[Ĥ,Â_H]+(∂Â/∂t)_H is the operator equation of motion; the classical analogue is df/dt={f,H}_PB+∂f/∂t via canonical Poisson brackets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x̂: dx̂_H/dt = p̂_H/m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p̂: dp̂_H/dt = −∂V/∂x̂_H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 Ĥ: dĤ/dt = ∂Ĥ/∂t (if no explicit time dep, dĤ/dt=0)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dÂ_H/dt = (i/ℏ)[Ĥ,Â_H] + (∂_tÂ)_H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dÂ_H/dt=(i/ℏ)[Ĥ,Â_H]+(∂Â/∂t)_H is the operator equation of motion; the classical analogue is df/dt={f,H}_PB+∂f/∂t via canonical Poisson brackets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d⟨x̂⟩/dt = ⟨p̂⟩/m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d⟨x̂⟩/dt = ⟨p̂⟩/m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d⟨x̂⟩/dt=⟨p̂⟩/m follows from the Heisenberg EOM for x̂; it is exact (not an approximation); it says the average position moves like a classical particle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Derived from [Ĥ,x̂]=(iℏ/m)p̂ for Ĥ=p̂²/2m+V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d⟨x̂⟩/dt = ⟨p̂_H⟩/m = ⟨p̂⟩/m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Classical limit: centroid of wavepacket follows Newton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d⟨x̂⟩/dt = ⟨p̂⟩/m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d⟨x̂⟩/dt=⟨p̂⟩/m follows from the Heisenberg EOM for x̂; it is exact (not an approximation); it says the average position moves like a classical particle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d⟨p̂⟩/dt = −⟨∇V⟩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d⟨p̂⟩/dt = −⟨∇V⟩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d⟨p̂⟩/dt=−⟨∇V(x̂)⟩ is exact; it becomes Newton's 2nd law when ⟨∇V(x̂)⟩≈∇V(⟨x̂⟩), i.e. for linear or quadratic V, or for narrow wavepackets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harmonic oscillator (quadratic V): exact Newton's law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anharmonic V: ⟨V'(x̂)⟩≠V'(⟨x̂⟩) — quantum corrections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Ehrenfest does NOT say 'quantum = classical'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d⟨p̂⟩/dt = −⟨∇V⟩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d⟨p̂⟩/dt=−⟨∇V(x̂)⟩ is exact; it becomes Newton's 2nd law when ⟨∇V(x̂)⟩≈∇V(⟨x̂⟩), i.e. for linear or quadratic V, or for narrow wavepackets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{f,g}_PB → [f̂,ĝ]/(iℏ)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Dirac's quantisation rule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{f,g}_PB → [f̂,ĝ]/(iℏ)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Dirac's quantisation rule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{f,g}_PB→[f̂,ĝ]/(iℏ) is Dirac's postulate; it works for canonical variables and low-degree polynomials; fails globally (Groenewold–Van Hove theorem)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{x,p}_PB=1 → [x̂,p̂]=iℏ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{L_x,L_y}_PB=L_z → [L̂_x,L̂_y]=iℏL̂_z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Higher-degree polynomials require additional ordering prescription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{f,g}_PB → [f̂,ĝ]/(iℏ)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Dirac's quantisation rule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{f,g}_PB→[f̂,ĝ]/(iℏ) is Dirac's postulate; it works for canonical variables and low-degree polynomials; fails globally (Groenewold–Van Hove theorem)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2⟨T̂⟩ = ⟨x̂·∇V⟩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virial theorem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2⟨T̂⟩ = ⟨x̂·∇V⟩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virial theorem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2⟨T̂⟩=⟨x̂·∇V⟩ in energy eigenstates; derived from stationarity of d⟨x̂p̂⟩/dt=0 in a stationary state; gives ratio ⟨T⟩/⟨V⟩ without solving TISE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Coulomb V=-e²/r: ⟨T⟩=-½⟨V⟩=-E_n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Harmonic V=½mω²x²: ⟨T⟩=⟨V⟩=E/2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Virial ratio n: V∝rⁿ → 2⟨T⟩=n⟨V⟩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2⟨T̂⟩ = ⟨x̂·∇V⟩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virial theorem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2⟨T̂⟩=⟨x̂·∇V⟩ in energy eigenstates; derived from stationarity of d⟨x̂p̂⟩/dt=0 in a stationary state; gives ratio ⟨T⟩/⟨V⟩ without solving TISE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invariant across all pictures of quantum mechanics?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invariant across all pictures of quantum mechanics?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predictions (expectation values) are invariant; states and operators merely redistribute time-dependence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states and operators merely redistribute time-dependence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invariant across all pictures of quantum mechanics?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predictions (expectation values) are invariant; states and operators merely redistribute time-dependence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Heisenberg EOM for x̂_H(t) in a harmonic potential V = ½mω²x².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Heisenberg EOM for x̂_H(t) in a harmonic potential V = ½mω²x².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Heisenberg EOM: dx/dt=(i/ℏ)[Ĥ,x]=p/m; dp/dt=(i/ℏ)[Ĥ,p]=−mω²x → SHO equations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Heisenberg EOM for x̂_H(t) in a harmonic potential V = ½mω²x².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Heisenberg EOM: dx/dt=(i/ℏ)[Ĥ,x]=p/m; dp/dt=(i/ℏ)[Ĥ,p]=−mω²x → SHO equations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Heisenberg-picture state ket is time-dependent.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Heisenberg-picture state ket is time-dependent.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|ψ_H⟩=|ψ(0)⟩ is time-independent by definition in the Heisenberg picture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Heisenberg-picture state ket is time-dependent.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|ψ_H⟩=|ψ(0)⟩ is time-independent by definition in the Heisenberg picture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Ehrenfest's theorem and identify when it reduces to Newton's second law.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Ehrenfest's theorem and identify when it reduces to Newton's second law.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reduces to Newton's 2nd when ⟨V'(x)⟩=V'(⟨x⟩); exact for harmonic/linear 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Ehrenfest's theorem and identify when it reduces to Newton's second law.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reduces to Newton's 2nd when ⟨V'(x)⟩=V'(⟨x⟩); exact for harmonic/linear 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quantum analogue of a classical constant of motion?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quantum analogue of a classical constant of motion?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constant of motion: [Ĥ,Â]=0 → dÂ_H/dt=0 → ⟨Â⟩ conserved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quantum analogue of a classical constant of motion?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constant of motion: [Ĥ,Â]=0 → dÂ_H/dt=0 → ⟨Â⟩ conserved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Canonical quantisation is unique — there is no ordering ambiguity.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Canonical quantisation is unique — there is no ordering ambiguity.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Weyl ordering is one prescription; others (normal, antinormal) also exist; Groenewold–vH shows no global consistent choice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Groenewold–vH shows no global consistent choice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Canonical quantisation is unique — there is no ordering ambiguity.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Weyl ordering is one prescription; others (normal, antinormal) also exist; Groenewold–vH shows no global consistent choice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x̂_H(t) for a free particle (V=0) using the Heisenberg EOM.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x̂_H(t) for a free particle (V=0) using the Heisenberg EOM.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particle: d²x̂_H/dt²=0 → x̂_H(t)=x̂+p̂t/m (linear in t, like classical free particle)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x̂_H(t) for a free particle (V=0) using the Heisenberg EOM.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particle: d²x̂_H/dt²=0 → x̂_H(t)=x̂+p̂t/m (linear in t, like classical free particle)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virial theorem and in what systems is it most useful?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virial theorem and in what systems is it most useful?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Virial: ⟨T⟩/⟨V⟩ determined by potential power law; for Coulomb: -1/2; for HO: 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virial theorem and in what systems is it most useful?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Virial: ⟨T⟩/⟨V⟩ determined by potential power law; for Coulomb: -1/2; for HO: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passive 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'In one picture the states move; in the other the clocks move.' Draw a diagram showing this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Give an analogy from classical mechanics where you can choose the 'frame' (active vs. passive)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stays the same in every picture of QM?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numerically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Transform x̂(t) and p̂(t) to Heisenberg picture for HO; verify they satisfy SHO equations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Verify Ehrenfest's theorem for ⟨x̂⟩ and ⟨p̂⟩ numerically for a Gaussian wavepacket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Show [Ĥ,p̂]=0 for V=constant and interpret physically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p̂_H(t) for quadratic 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the Heisenberg EOM by differentiating Â_H=Û†ÂÛ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Prove the virial theorem from d⟨x̂p̂⟩/dt=0 in stationary states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Solve HO Heisenberg equations and express x̂_H(t) in terms of â and â†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and action-angle variables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Connect Heisenberg EOM to classical Poisson brackets {f,H}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Discuss Weyl ordering and its symmetry properties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Derive the Moyal bracket as the quantum deformation of the Poisson bracket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Wigner function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Formulate QM in C*-algebra language: states as functionals, observables as algebra elements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Discuss the Wigner function as the phase-space representation in the Heisenberg picture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Prove the Groenewold–Van Hove theorem on the impossibility of consistent global quantisation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L07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Â_H(t) = Û†(t) Â_S Û(t)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picture operator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dÂ_H/dt = (i/ℏ)[Ĥ,Â_H] + (∂_tÂ)_H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d⟨x̂⟩/dt = ⟨p̂⟩/m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d⟨p̂⟩/dt = −⟨∇V⟩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 theorem II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{f,g}_PB → [f̂,ĝ]/(iℏ)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Dirac's quantisation rule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2⟨T̂⟩ = ⟨x̂·∇V⟩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virial theorem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— Time Evolution II: Time-Dependent Hamiltonians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Pictures of QM and the Heisenberg Picture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invariant across all pictures of quantum mechanics?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the Heisenberg EOM for x̂_H(t) in a harmonic potential V = ½mω²x².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True/False: The Heisenberg-picture state ket is time-dependent.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Ehrenfest's theorem and identify when it reduces to Newton's second law.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quantum analogue of a classical constant of motion?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True/False: Canonical quantisation is unique — there is no ordering ambiguity.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Compute x̂_H(t) for a free particle (V=0) using the Heisenberg EOM.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virial theorem and in what systems is it most useful?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Pictures of QM and the Heisenberg Picture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one picture the states move, in the other the clocks move' — active vs. passive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x̂(t) and p̂(t) for harmonic oscillator; verify Ehrenfest's theorem numerically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of Heisenberg EOM; virial theorem proof; solve x̂_H(t) and p̂_H(t) for quadratic 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quantisation rule; Weyl ordering; connection to classical integrability and action-angle variables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QM; Heisenberg picture in C*-algebra language; Moyal bracket and Wigner function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Heisenberg EOM for HO; compute ⟨x̂⟩(t) and ⟨p̂⟩(t); verify Ehrenfest for cubic potential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virial theorem; apply canonical quantisation to a classical system; ordering ambiguities for x̂²p̂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Pictures of QM and the Heisenberg Picture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L07 (Expanded) — Pictures of QM and the Heisenberg Picture</dc:title>
  <dc:subject>Quantum Dynamics</dc:subject>
  <dc:creator>QM Programme</dc:creator>
  <cp:lastModifiedBy>QM Programme</cp:lastModifiedBy>
  <cp:revision>1</cp:revision>
  <dcterms:created xsi:type="dcterms:W3CDTF">2026-05-03T13:04:49Z</dcterms:created>
  <dcterms:modified xsi:type="dcterms:W3CDTF">2026-05-03T13:04:49Z</dcterms:modified>
</cp:coreProperties>
</file>