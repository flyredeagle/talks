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"/>
            <a:ext cx="2926080" cy="2926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45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Ψ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MODULE I.3 — QUANTUM DYNAMICS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TDPT, Open Systems, and Many-Body Preview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Fermi's Golden Rule · Lindblad Equation · Decoherence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↔ Structural Dual-Track — Lecture 10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3D3110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103320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2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2D1850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400E0E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  ·  Diagram slides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— TDPT, Open Systems, and Many-Body Preview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 — Lecture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TDPT, Open Systems, and Many-Body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160520" cy="1828800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3941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TDPT: first-order amplitude c_f^{(1)}(t); transition probability |c_f^{(1)}|²; sudden and adiabatic limits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 min: Fermi's golden rule: density of states ρ(Eᶠ); Γ_{i→f}=(2π/ℏ)|⟨f|V̂|i⟩|²ρ(Eᶠ); selection rules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40–65 min: Open systems: Lindblad master equation; jump operators L̂_k; decay channels; dephasing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65–90 min: Decoherence and pointer states; many-body preview: two-electron system, exchange, singlet/triplet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25696" y="594360"/>
            <a:ext cx="4572000" cy="1828800"/>
          </a:xfrm>
          <a:prstGeom prst="rect">
            <a:avLst/>
          </a:prstGeom>
          <a:solidFill>
            <a:srgbClr val="0D183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685800"/>
            <a:ext cx="4352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Fermi's golden rule from first-order time-dependent perturbation theory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the Lindblad master equation and identify the physical role of each term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 decoherence as environment-induced suppression of off-diagonal density matrix elements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Construct two-electron spin states (singlet and triplet) and explain their exchange interaction origin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2523744"/>
            <a:ext cx="1737360" cy="1097280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'Open systems as a leaky box' — energy and information escaping to environment; radioactive decay as Fermi's rule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523744"/>
            <a:ext cx="1737360" cy="1097280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Γ_{i→f} for constant perturbation; simple Lindblad evolution (amplitude damping) for a qubit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2523744"/>
            <a:ext cx="1737360" cy="1097280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Fermi's golden rule; verify Lindblad preserves Tr(ρ̂)=1 and positivity; singlet/triplet construction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2523744"/>
            <a:ext cx="1737360" cy="1097280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GKSL theorem and complete positivity; Kraus representation; spin-boson model; Born–Markov approximation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87184" y="2523744"/>
            <a:ext cx="1737360" cy="1097280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Nakajima–Zwanzig projection; non-Markovian dynamics; Floquet–Lindblad; entanglement in many-body systems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694176"/>
            <a:ext cx="8833104" cy="71323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85616"/>
            <a:ext cx="8613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Compute Γ for atom in oscillating field; simple Lindblad evolution; singlet/triplet state construction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Derive Fermi's golden rule; prove Lindblad trace-preserving; exchange from antisymmetry of 2e wavefunction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Overview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Derive Fermi's Golden Rule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Obtain Γ_{i→f}=(2π/ℏ)|V_{fi}|²ρ(E_f) from first-order TDPT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Γ_{i→f}=(2π/ℏ)|V_{fi}|²ρ(E_f) from first-order TDPT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First-order amplitude: c_f^{(1)}(t)=−(i/ℏ)∫₀ᵗe^{iω_{fi}t'}V_{fi}dt'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For constant V̂: |c_f^{(1)}|² = (4|V_{fi}|²/ℏ²)sin²(ω_{fi}t/2)/ω_{fi}²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Long-time limit: sin²(ωt/2)/ω² → πt/2 δ(ω); transition rate Γ=d|c|²/dt is constant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Fermi's golden rule: Γ_{i→f}=(2π/ℏ)|⟨f|V̂|i⟩|²ρ(E_f)  — rate to continuum of states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3474720" cy="329184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9512" y="877824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c_f^(1)(t) = −(i/ℏ)∫V_fi e^{iω_{fi}t'} dt'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903720" y="1207008"/>
            <a:ext cx="0" cy="12801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1335024"/>
            <a:ext cx="3474720" cy="329184"/>
          </a:xfrm>
          <a:prstGeom prst="rect">
            <a:avLst/>
          </a:prstGeom>
          <a:solidFill>
            <a:srgbClr val="0D1A2A"/>
          </a:solidFill>
          <a:ln w="1524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9512" y="1335024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|c_f|² = (4|V_fi|²/ℏ²) sin²(ω_fi t/2)/ω_fi²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903720" y="1664208"/>
            <a:ext cx="0" cy="12801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1792224"/>
            <a:ext cx="3474720" cy="329184"/>
          </a:xfrm>
          <a:prstGeom prst="rect">
            <a:avLst/>
          </a:prstGeom>
          <a:solidFill>
            <a:srgbClr val="0D1A2A"/>
          </a:solidFill>
          <a:ln w="15240">
            <a:solidFill>
              <a:srgbClr val="C9D1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9512" y="1792224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t→∞: sin²(xt)/x² → πt δ(x)  (distributional limit)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903720" y="2121408"/>
            <a:ext cx="0" cy="12801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66360" y="2249424"/>
            <a:ext cx="3474720" cy="329184"/>
          </a:xfrm>
          <a:prstGeom prst="rect">
            <a:avLst/>
          </a:prstGeom>
          <a:solidFill>
            <a:srgbClr val="0D1A2A"/>
          </a:solidFill>
          <a:ln w="15240">
            <a:solidFill>
              <a:srgbClr val="B57B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9512" y="2249424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 = d|c_f|²/dt = (2π/ℏ)|V_fi|² δ(E_f−E_i)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903720" y="2578608"/>
            <a:ext cx="0" cy="12801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2706624"/>
            <a:ext cx="3474720" cy="329184"/>
          </a:xfrm>
          <a:prstGeom prst="rect">
            <a:avLst/>
          </a:prstGeom>
          <a:solidFill>
            <a:srgbClr val="201700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9512" y="2706624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over final states: Γ = (2π/ℏ)|V_fi|² ρ(E_f)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first-order amplitude to rate: distributional limit of sinc² → delta function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Learning Objective 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the Lindblad Master Equation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Identify each term physically: unitary evolution + quantum jumps + anti-commutator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each term physically: unitary evolution + quantum jumps + anti-commutator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Lindblad form: dρ̂/dt = −(i/ℏ)[Ĥ,ρ̂] + Σ_k(L̂_k ρ̂ L̂_k† − ½{L̂_k†L̂_k, ρ̂})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First term: −(i/ℏ)[Ĥ,ρ̂]  — coherent unitary evolution (Liouville–von Neumann)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Jump term L̂_k ρ̂ L̂_k†: quantum jump from state k; reduces coherences if L̂_k non-Hermitian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Anti-commutator −½{L̂_k†L̂_k,ρ̂}: norm-preserving term (cancels jump gain elsewhere)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3474720" cy="274320"/>
          </a:xfrm>
          <a:prstGeom prst="rect">
            <a:avLst/>
          </a:prstGeom>
          <a:solidFill>
            <a:srgbClr val="0D1B2E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877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dρ̂/dt = (coherent) + (dissipative)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66360" y="1207008"/>
            <a:ext cx="3474720" cy="621792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261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−(i/ℏ)[Ĥ,ρ̂]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57800" y="15544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evolution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(reversible)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166360" y="1901952"/>
            <a:ext cx="3474720" cy="621792"/>
          </a:xfrm>
          <a:prstGeom prst="rect">
            <a:avLst/>
          </a:prstGeom>
          <a:solidFill>
            <a:srgbClr val="00000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1956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Σ_k L̂_k ρ̂ L̂_k†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22494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jumps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(incoherent gain)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66360" y="2596896"/>
            <a:ext cx="3474720" cy="621792"/>
          </a:xfrm>
          <a:prstGeom prst="rect">
            <a:avLst/>
          </a:prstGeom>
          <a:solidFill>
            <a:srgbClr val="000000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−½{L̂_k†L̂_k, ρ̂}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29443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Anti-commutator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 restoration)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166360" y="3328416"/>
            <a:ext cx="3474720" cy="256032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33284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Trace-preserving: Tr(dρ̂/dt)=0 ✓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Lindblad equation: three terms — coherent, jump gain, anti-commutator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Learning Objective 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106038"/>
          </a:solidFill>
          <a:ln w="12700">
            <a:solidFill>
              <a:srgbClr val="1060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Decoherence and Pointer States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Show how the environment selects pointer states by suppressing off-diagonal ρ̂ elements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the environment selects pointer states by suppressing off-diagonal ρ̂ elements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Decoherence: environment interaction rapidly suppresses off-diagonal ρ̂ elements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Off-diagonal element: ρ_{01}(t)→0 at rate Γ_φ (dephasing rate) — exponential decay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Pointer basis: eigenstates of the system–environment interaction Hamiltonian H_SE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Pointer states are 'classical': they are not destroyed by environmental monitoring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166360" y="8778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Decoherence: density matrix evolution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257800" y="11338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1335024"/>
            <a:ext cx="621792" cy="402336"/>
          </a:xfrm>
          <a:prstGeom prst="rect">
            <a:avLst/>
          </a:prstGeom>
          <a:solidFill>
            <a:srgbClr val="0D1A2A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335024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ρ₀₀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16168" y="1335024"/>
            <a:ext cx="621792" cy="402336"/>
          </a:xfrm>
          <a:prstGeom prst="rect">
            <a:avLst/>
          </a:prstGeom>
          <a:solidFill>
            <a:srgbClr val="000000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16168" y="1335024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ρ₀₁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57800" y="1773936"/>
            <a:ext cx="621792" cy="402336"/>
          </a:xfrm>
          <a:prstGeom prst="rect">
            <a:avLst/>
          </a:prstGeom>
          <a:solidFill>
            <a:srgbClr val="000000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773936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ρ₁₀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16168" y="1773936"/>
            <a:ext cx="621792" cy="402336"/>
          </a:xfrm>
          <a:prstGeom prst="rect">
            <a:avLst/>
          </a:prstGeom>
          <a:solidFill>
            <a:srgbClr val="0D1A2A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16168" y="1773936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ρ₁₁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39128" y="1572768"/>
            <a:ext cx="365760" cy="0"/>
          </a:xfrm>
          <a:prstGeom prst="line">
            <a:avLst/>
          </a:prstGeom>
          <a:noFill/>
          <a:ln w="1524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39128" y="142646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t≫τ_dec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178040" y="11338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decoherence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178040" y="1335024"/>
            <a:ext cx="621792" cy="402336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78040" y="1335024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ρ₀₀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836408" y="1335024"/>
            <a:ext cx="621792" cy="402336"/>
          </a:xfrm>
          <a:prstGeom prst="rect">
            <a:avLst/>
          </a:prstGeom>
          <a:solidFill>
            <a:srgbClr val="08080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36408" y="1335024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78040" y="1773936"/>
            <a:ext cx="621792" cy="402336"/>
          </a:xfrm>
          <a:prstGeom prst="rect">
            <a:avLst/>
          </a:prstGeom>
          <a:solidFill>
            <a:srgbClr val="08080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1773936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836408" y="1773936"/>
            <a:ext cx="621792" cy="402336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36408" y="1773936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ρ₁₁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66360" y="2304288"/>
            <a:ext cx="3474720" cy="256032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2304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Off-diagonals → 0: classical mixture emerges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Decoherence suppresses off-diagonal coherences → effective classical mixture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Learning Objective 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D1850"/>
          </a:solidFill>
          <a:ln w="12700">
            <a:solidFill>
              <a:srgbClr val="2D18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 Singlet and Triplet States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Build two-electron spin states from antisymmetry and explain exchange interaction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two-electron spin states from antisymmetry and explain exchange interaction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Antisymmetry: for fermions, total wavefunction must be antisymmetric under exchange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Singlet (S=0): |S⟩=(|↑↓⟩−|↓↑⟩)/√2  — antisymmetric spin; symmetric spatial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Triplet (S=1): three states |T⁺⟩=|↑↑⟩; |T⁰⟩=(|↑↓⟩+|↓↑⟩)/√2; |T⁻⟩=|↓↓⟩  — symmetric spin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Exchange energy: J=E_triplet−E_singlet arises from Pauli antisymmetry (not a new force)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3474720" cy="256032"/>
          </a:xfrm>
          <a:prstGeom prst="rect">
            <a:avLst/>
          </a:prstGeom>
          <a:solidFill>
            <a:srgbClr val="0D1B2E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877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Two-electron spin states (antisymmetry)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66360" y="1188720"/>
            <a:ext cx="3474720" cy="402336"/>
          </a:xfrm>
          <a:prstGeom prst="rect">
            <a:avLst/>
          </a:prstGeom>
          <a:solidFill>
            <a:srgbClr val="000000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2252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Singlet S=0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63640" y="12252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(|↑↓⟩ − |↓↑⟩)/√2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09560" y="122529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antisymm. spin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166360" y="1627632"/>
            <a:ext cx="3474720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664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Triplet M=+1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63640" y="16642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|↑↑⟩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09560" y="166420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symm. spin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166360" y="2066544"/>
            <a:ext cx="3474720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1031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Triplet M=0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63640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(|↑↓⟩ + |↓↑⟩)/√2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09560" y="210312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symm. spin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166360" y="2505456"/>
            <a:ext cx="3474720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25420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Triplet M=-1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63640" y="25420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|↓↓⟩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09560" y="254203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symm. spin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166360" y="2980944"/>
            <a:ext cx="3474720" cy="25603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29809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J=E_triplet−E_singlet from antisymmetry alone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singlet and three triplet states — total of 2⊗2=4 states in two-spin system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Learning Objective 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c_f^{(1)}(t) = −(i/ℏ)∫_{t₀}^t e^{iω_{fi}t'}⟨f|V̂(t')|i⟩dt'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c_f^{(1)}(t) = −(i/ℏ)∫_{t₀}^t e^{iω_{fi}t'}⟨f|V̂(t')|i⟩dt'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c_f^{(1)}(t)=−(i/ℏ)∫e^{iω_{fi}t'}⟨f|V̂(t')|i⟩dt' is the first-order amplitude; |c_f^{(1)}|² gives the transition probability to first order in V̂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 constant V̂: |c|²=4|V_{fi}|²sin²(ω_{fi}t/2)/(ℏω_{fi})²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P_{i→f}=|c_f^{(1)}|² valid when ≪1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Fails at resonance ω_{fi}=0: use degenerate PT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c_f^{(1)}(t) = −(i/ℏ)∫_{t₀}^t e^{iω_{fi}t'}⟨f|V̂(t')|i⟩dt'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c_f^{(1)}(t)=−(i/ℏ)∫e^{iω_{fi}t'}⟨f|V̂(t')|i⟩dt' is the first-order amplitude; |c_f^{(1)}|² gives the transition probability to first order in V̂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Perturbation Theory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Example Systems and Physical Effects (Module I.3 finale)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Formula 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Γ_{i→f} = (2π/ℏ)|⟨f|V̂|i⟩|²ρ(Eᶠ)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Fermi's golden rule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Γ_{i→f} = (2π/ℏ)|⟨f|V̂|i⟩|²ρ(Eᶠ)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Fermi's golden rule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Γ=(2π/ℏ)|⟨f|V̂|i⟩|²ρ(E_f) is the transition rate to a continuum; ρ(E_f) is the density of final states; derived from the distributional limit t→∞ of sinc²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Units: [Γ] = s⁻¹ (rate)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Valid for: t≫ℏ/V but t small enough for first-order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Applications: spontaneous emission, β-decay, phonon scattering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Γ_{i→f} = (2π/ℏ)|⟨f|V̂|i⟩|²ρ(Eᶠ)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Fermi's golden rule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Γ=(2π/ℏ)|⟨f|V̂|i⟩|²ρ(E_f) is the transition rate to a continuum; ρ(E_f) is the density of final states; derived from the distributional limit t→∞ of sinc²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Perturbation Theory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Example Systems and Physical Effects (Module I.3 finale)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Formula 2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ρ̂̇ = −(i/ℏ)[Ĥ,ρ̂] + Σ_k(L̂_k ρ̂ L̂_k† − ½{L̂_k†L̂_k, ρ̂})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Lindblad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ρ̂̇ = −(i/ℏ)[Ĥ,ρ̂] + Σ_k(L̂_k ρ̂ L̂_k† − ½{L̂_k†L̂_k, ρ̂})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Lindblad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dρ̂/dt=−(i/ℏ)[Ĥ,ρ̂]+Σ_k(L̂_kρ̂L̂_k†−½{L̂_k†L̂_k,ρ̂}) is the most general Markovian master equation preserving ρ̂ positive, Hermitian, unit trace; GKSL theorem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Trace-preserving: Tr(dρ̂/dt)=0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Complete positivity preserved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Reduces to von Neumann equation when L̂_k=0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4CC3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ρ̂̇ = −(i/ℏ)[Ĥ,ρ̂] + Σ_k(L̂_k ρ̂ L̂_k† − ½{L̂_k†L̂_k, ρ̂})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Lindblad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dρ̂/dt=−(i/ℏ)[Ĥ,ρ̂]+Σ_k(L̂_kρ̂L̂_k†−½{L̂_k†L̂_k,ρ̂}) is the most general Markovian master equation preserving ρ̂ positive, Hermitian, unit trace; GKSL theorem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Perturbation Theory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Example Systems and Physical Effects (Module I.3 finale)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Formula 3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Pointer states: [Ĥ_env, |ptr⟩⟨ptr|] = 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selection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Pointer states: [Ĥ_env, |ptr⟩⟨ptr|] = 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selection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states satisfy [H_SE,|ptr⟩⟨ptr|]=0; they are left unchanged by the environment interaction; they become the 'classical' outcomes after decoherence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Example: spin with H_SE=g σ_z ⊗ E_env → pointer states |↑⟩,|↓⟩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Superpositions of pointer states lose coherence rapidly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Pointer basis = eigenbasis of system-environment coupling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Pointer states: [Ĥ_env, |ptr⟩⟨ptr|] = 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selection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states satisfy [H_SE,|ptr⟩⟨ptr|]=0; they are left unchanged by the environment interaction; they become the 'classical' outcomes after decoherence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Perturbation Theory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Example Systems and Physical Effects (Module I.3 finale)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Formula 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|S=0⟩ = (|↑↓⟩ − |↓↑⟩)/√2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 — antisymmetric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|S=0⟩ = (|↑↓⟩ − |↓↑⟩)/√2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 — antisymmetric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|S=0⟩=(|↑↓⟩−|↓↑⟩)/√2 is antisymmetric under particle exchange; for two electrons it must be paired with a symmetric spatial wavefunction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⟨S=0|S⃗₁·S⃗₂|S=0⟩=−3ℏ²/4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Energy: E_singlet below E_triplet for H₂ (bonding)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Antisymmetric: P₁₂|S=0⟩=−|S=0⟩  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|S=0⟩ = (|↑↓⟩ − |↓↑⟩)/√2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 — antisymmetric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|S=0⟩=(|↑↓⟩−|↓↑⟩)/√2 is antisymmetric under particle exchange; for two electrons it must be paired with a symmetric spatial wavefunction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Perturbation Theory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Example Systems and Physical Effects (Module I.3 finale)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Formula 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|S=1,M=0⟩ = (|↑↓⟩ + |↓↑⟩)/√2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triplet — symmetric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|S=1,M=0⟩ = (|↑↓⟩ + |↓↑⟩)/√2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triplet — symmetric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triplet states (M=+1,0,−1) are symmetric under exchange; paired with antisymmetric spatial wavefunction; split by spin-orbit coupling in magnetic field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⟨S=1|S⃗₁·S⃗₂|S=1⟩=+ℏ²/4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Zeeman splitting: 3 levels separated by μ_B B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Exchange J=E_T−E_S quantifies singlet-triplet gap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EF57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|S=1,M=0⟩ = (|↑↓⟩ + |↓↑⟩)/√2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triplet — symmetric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triplet states (M=+1,0,−1) are symmetric under exchange; paired with antisymmetric spatial wavefunction; split by spin-orbit coupling in magnetic field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Perturbation Theory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Example Systems and Physical Effects (Module I.3 finale)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Formula 6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what approximation does Fermi's golden rule emerge and when is it valid?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what approximation does Fermi's golden rule emerge and when is it valid?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FGR: first-order TDPT + distributional limit of sinc²; valid when rate constant in time, i.e. continuous spectrum of final states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valid when rate constant in time, i.e. continuous spectrum of final states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what approximation does Fermi's golden rule emerge and when is it valid?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FGR: first-order TDPT + distributional limit of sinc²; valid when rate constant in time, i.e. continuous spectrum of final states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Concept Question 1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True/False: Fermi's golden rule applies only when the final state is discrete. Justify.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Fermi's golden rule applies only when the final state is discrete. Justify.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FGR requires continuum of final states (density of states ρ); for discrete spectrum use the oscillatory |c|² formula directly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for discrete spectrum use the oscillatory |c|² formula directly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Fermi's golden rule applies only when the final state is discrete. Justify.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FGR requires continuum of final states (density of states ρ); for discrete spectrum use the oscillatory |c|² formula directly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Concept Question 2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physical role of the jump operators L̂_k in the Lindblad equation?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physical role of the jump operators L̂_k in the Lindblad equation?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operators L̂_k represent different decay channels (e.g. L₁=√γ σ_- for spontaneous emission); each contributes one dissipation channel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each contributes one dissipation channel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physical role of the jump operators L̂_k in the Lindblad equation?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operators L̂_k represent different decay channels (e.g. L₁=√γ σ_- for spontaneous emission); each contributes one dissipation channel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Concept Question 3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True/False: The Lindblad equation preserves the trace of the density matrix. Justify.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The Lindblad equation preserves the trace of the density matrix. Justify.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Tr(L̂ρ̂L̂†−½{L̂†L̂,ρ̂})=Tr(L̂L̂†ρ̂)−½Tr(L̂†L̂ρ̂)−½Tr(ρ̂L̂†L̂)=0 by cyclic trace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The Lindblad equation preserves the trace of the density matrix. Justify.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Tr(L̂ρ̂L̂†−½{L̂†L̂,ρ̂})=Tr(L̂L̂†ρ̂)−½Tr(L̂†L̂ρ̂)−½Tr(ρ̂L̂†L̂)=0 by cyclic trace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Concept Question 4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decoherence in one sentence without using the word 'collapse'.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decoherence in one sentence without using the word 'collapse'.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Decoherence: environment entangles with system; tracing out environment suppresses off-diagonal ρ̂ elements — no word 'collapse' needed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tracing out environment suppresses off-diagonal ρ̂ elements — no word 'collapse' needed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decoherence in one sentence without using the word 'collapse'.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Decoherence: environment entangles with system; tracing out environment suppresses off-diagonal ρ̂ elements — no word 'collapse' needed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Concept Question 5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exchange interaction and why does it arise from antisymmetry alone?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exchange interaction and why does it arise from antisymmetry alone?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from antisymmetry: Pauli exclusion forces electrons apart or together depending on spin state; different spatial overlap → different energy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different spatial overlap → different energy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exchange interaction and why does it arise from antisymmetry alone?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from antisymmetry: Pauli exclusion forces electrons apart or together depending on spin state; different spatial overlap → different energy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Concept Question 6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True/False: A triplet spin state is symmetric under particle exchange. Justify.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A triplet spin state is symmetric under particle exchange. Justify.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triplet states |↑↑⟩, (|↑↓⟩+|↓↑⟩)/√2, |↓↓⟩ are all symmetric under particle exchange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A triplet spin state is symmetric under particle exchange. Justify.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triplet states |↑↑⟩, (|↑↓⟩+|↓↑⟩)/√2, |↓↓⟩ are all symmetric under particle exchange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Concept Question 7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pointer state and why is it selected by the environment?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pointer state and why is it selected by the environment?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states: environmental monitoring effectively measures in pointer basis continuously; only pointer states survive without decoherence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only pointer states survive without decoherence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pointer state and why is it selected by the environment?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states: environmental monitoring effectively measures in pointer basis continuously; only pointer states survive without decoherence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Concept Question 8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 — Tier 1 — HS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gateway — intuition, analogy, physical picture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3D3110"/>
          </a:solidFill>
          <a:ln w="22860">
            <a:solidFill>
              <a:srgbClr val="E8C5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'Open systems as a leaky box' — energy and information escaping to environment; radioactive decay as Fermi's rule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E8C54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'Open systems as a leaky box.' Draw a diagram showing energy and information flow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Explain radioactive decay qualitatively using Fermi's golden rule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difference between a pure state and a state that has undergone decoherence?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E8C5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E8C547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'Open systems as a leaky box' — energy and information escaping to environment; ...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Γ_{i→f} for constant perturbation; simple Lindblad evolution (amplitude 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Fermi's golden rule; verify Lindblad preserves Tr(ρ̂)=1 and positivity; s...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GKSL theorem and complete positivity; Kraus representation; spin-boson model; Bo...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Nakajima–Zwanzig projection; non-Markovian dynamics; Floquet–Lindblad; entanglem...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Tier 1 — HS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 — Tier 2 — BegUG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entry — apply formulas, verify properties numerically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103320"/>
          </a:solidFill>
          <a:ln w="2286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Γ_{i→f} for constant perturbation; simple Lindblad evolution (amplitude damping) for a qubit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Compute Γ_{0→1} for constant perturbation V̂=V₀σ_x using Fermi's golden rule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Evolve ρ̂ under the amplitude damping Lindblad equation for one qubit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Construct the singlet and triplet states and verify their normalisation and orthogonality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'Open systems as a leaky box' — energy and information escaping to environment; 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4CC3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4CC38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Γ_{i→f} for constant perturbation; simple Lindblad evolution (amplitude ...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Fermi's golden rule; verify Lindblad preserves Tr(ρ̂)=1 and positivity; s...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GKSL theorem and complete positivity; Kraus representation; spin-boson model; Bo...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Nakajima–Zwanzig projection; non-Markovian dynamics; Floquet–Lindblad; entanglem...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Tier 2 — BegUG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 — Tier 3 — AdvUG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understanding — proofs, derivations, basis-independence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2050"/>
          </a:solidFill>
          <a:ln w="2286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Fermi's golden rule; verify Lindblad preserves Tr(ρ̂)=1 and positivity; singlet/triplet construction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Derive Fermi's golden rule from the first-order TDPT amplitude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Verify the Lindblad equation preserves Tr(ρ̂)=1 and ρ̂≥0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Show the exchange energy J=E_T−E_S arises from Coulomb repulsion + antisymmetry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'Open systems as a leaky box' — energy and information escaping to environment; 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Γ_{i→f} for constant perturbation; simple Lindblad evolution (amplitude 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4F8EF7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Fermi's golden rule; verify Lindblad preserves Tr(ρ̂)=1 and positivity; s...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GKSL theorem and complete positivity; Kraus representation; spin-boson model; Bo...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Nakajima–Zwanzig projection; non-Markovian dynamics; Floquet–Lindblad; entanglem...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Tier 3 — AdvUG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 — Tier 4 — MSc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depth — advanced formalism, information theory, open systems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2D1850"/>
          </a:solidFill>
          <a:ln w="2286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GKSL theorem and complete positivity; Kraus representation; spin-boson model; Born–Markov approximation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State the GKSL theorem and explain the role of complete positivity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Derive the Born–Markov approximation leading to the Lindblad equation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Compute the decoherence rate for a spin-boson model in the Markovian limit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'Open systems as a leaky box' — energy and information escaping to environment; 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Γ_{i→f} for constant perturbation; simple Lindblad evolution (amplitude 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Fermi's golden rule; verify Lindblad preserves Tr(ρ̂)=1 and positivity; s...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B57BEE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GKSL theorem and complete positivity; Kraus representation; spin-boson model; Bo...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Nakajima–Zwanzig projection; non-Markovian dynamics; Floquet–Lindblad; entanglem...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Tier 4 — MSc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 — Tier 5 — PhD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frontier — functional analysis, rigorous formulation, connections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400E0E"/>
          </a:solidFill>
          <a:ln w="2286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Nakajima–Zwanzig projection; non-Markovian dynamics; Floquet–Lindblad; entanglement in many-body systems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Discuss the Nakajima–Zwanzig projection technique for non-Markovian dynamics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Derive the Floquet–Lindblad equation for periodically driven open systems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Analyse entanglement generation and decay in a two-qubit Lindblad system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'Open systems as a leaky box' — energy and information escaping to environment; 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Γ_{i→f} for constant perturbation; simple Lindblad evolution (amplitude 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Fermi's golden rule; verify Lindblad preserves Tr(ρ̂)=1 and positivity; s...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GKSL theorem and complete positivity; Kraus representation; spin-boson model; Bo...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EF57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EF5757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Nakajima–Zwanzig projection; non-Markovian dynamics; Floquet–Lindblad; entanglem...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L10 · Tier 5 — PhD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 — Key Formulas —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core results at a glance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c_f^{(1)}(t) = −(i/ℏ)∫_{t₀}^t e^{iω_{fi}t'}⟨f|V̂(t')|i⟩dt'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Γ_{i→f} = (2π/ℏ)|⟨f|V̂|i⟩|²ρ(Eᶠ)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Fermi's golden rule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ρ̂̇ = −(i/ℏ)[Ĥ,ρ̂] + Σ_k(L̂_k ρ̂ L̂_k† − ½{L̂_k†L̂_k, ρ̂})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Lindblad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Pointer states: [Ĥ_env, |ptr⟩⟨ptr|] = 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selection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|S=0⟩ = (|↑↓⟩ − |↓↑⟩)/√2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 — antisymmetric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|S=1,M=0⟩ = (|↑↓⟩ + |↓↑⟩)/√2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triplet — symmetric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4592" y="3483864"/>
            <a:ext cx="8833104" cy="475488"/>
          </a:xfrm>
          <a:prstGeom prst="rect">
            <a:avLst/>
          </a:prstGeom>
          <a:solidFill>
            <a:srgbClr val="1A0F2A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575304"/>
            <a:ext cx="8613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Perturbation Theory   </a:t>
            </a:r>
            <a:pPr indent="0" marL="0">
              <a:buNone/>
            </a:pPr>
            <a:r>
              <a:rPr lang="en-US" sz="9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Example Systems and Physical Effects (Module I.3 finale)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TDPT, Open Systems, and Many-Body Preview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Formulas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 — Concept Questions —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297680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(1–4)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From what approximation does Fermi's golden rule emerge and when is it valid?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True/False: Fermi's golden rule applies only when the final state is discrete.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is the physical role of the jump operators L̂_k in the Lindblad equation?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True/False: The Lindblad equation preserves the trace of the density matrix. Justify.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594360"/>
            <a:ext cx="4361688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(5–8)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Explain decoherence in one sentence without using the word 'collapse'.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What is the exchange interaction and why does it arise from antisymmetry alone?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True/False: A triplet spin state is symmetric under particle exchange.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What is a pointer state and why is it selected by the environment?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TDPT, Open Systems, and Many-Body Preview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Concept Qs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 — Five-Tier Pedagogy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content for all levels — HS through PhD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03504"/>
            <a:ext cx="8833104" cy="749808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6766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'Open systems as a leaky box' — energy and information escaping to environment; radioactive decay as Fermi's rule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389888"/>
            <a:ext cx="8833104" cy="749808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14630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Γ_{i→f} for constant perturbation; simple Lindblad evolution (amplitude damping) for a qubit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6272"/>
            <a:ext cx="8833104" cy="749808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7632" y="22494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Fermi's golden rule; verify Lindblad preserves Tr(ρ̂)=1 and positivity; singlet/triplet construction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962656"/>
            <a:ext cx="8833104" cy="749808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3035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GKSL theorem and complete positivity; Kraus representation; spin-boson model; Born–Markov approximation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3749040"/>
            <a:ext cx="8833104" cy="749808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27632" y="38221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Nakajima–Zwanzig projection; non-Markovian dynamics; Floquet–Lindblad; entanglement in many-body systems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4553712"/>
            <a:ext cx="8833104" cy="5029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45152"/>
            <a:ext cx="8613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Set A: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Γ for atom in oscillating field; simple Lindblad evolution; singlet/triplet state construction  |  </a:t>
            </a:r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Fermi's golden rule; prove Lindblad trace-preserving; exchange from antisymmetry of 2e wavefunction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TDPT, Open Systems, and Many-Body Preview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Tier Pedagogy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I.3 · L10 (Expanded) — TDPT, Open Systems, and Many-Body Preview</dc:title>
  <dc:subject>Quantum Dynamics</dc:subject>
  <dc:creator>QM Programme</dc:creator>
  <cp:lastModifiedBy>QM Programme</cp:lastModifiedBy>
  <cp:revision>1</cp:revision>
  <dcterms:created xsi:type="dcterms:W3CDTF">2026-05-03T13:05:25Z</dcterms:created>
  <dcterms:modified xsi:type="dcterms:W3CDTF">2026-05-03T13:05:25Z</dcterms:modified>
</cp:coreProperties>
</file>