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274320"/>
            <a:ext cx="2926080" cy="292608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0" y="457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Ψ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MODULE I.3 — QUANTUM DYNAMICS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Uncertainty and Commutation Relations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22402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Robertson Inequality · CSCO · Quantum Zeno Effect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60604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↔ Mathematical Dual-Track — Lecture 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3D3110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14300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103320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7452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0D205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0604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2D1850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3756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400E0E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29184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  ·  Diagram slides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— Uncertainty and Commutation Relations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 — Lecture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and Commutation Relations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4160520" cy="1828800"/>
          </a:xfrm>
          <a:prstGeom prst="rect">
            <a:avLst/>
          </a:prstGeom>
          <a:solidFill>
            <a:srgbClr val="0D1E1D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85800"/>
            <a:ext cx="3941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Commutators as algebraic fingerprint of incompatibility; [x̂,p̂] = iℏ; Jacobi identity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20–45 min: Robertson inequality ΔA·ΔB ≥ ½|⟨[Â,B̂]⟩| derived via Cauchy–Schwarz; Schrödinger improvement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45–65 min: CCRs [x̂ᵢ,p̂ⱼ] = iℏδᵢⱼ; Stone–von Neumann theorem (statement); CSCO and quantum numbers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65–90 min: Compatible/incompatible measurements; projection postulate; sequential measurements; Zeno effect; ΔEΔt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25696" y="594360"/>
            <a:ext cx="4572000" cy="1828800"/>
          </a:xfrm>
          <a:prstGeom prst="rect">
            <a:avLst/>
          </a:prstGeom>
          <a:solidFill>
            <a:srgbClr val="0D183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5424" y="685800"/>
            <a:ext cx="43525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Robertson's uncertainty inequality from the Cauchy–Schwarz inequality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Evaluate commutators for polynomial functions of x̂ and p̂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Define a complete set of commuting observables (CSCO) and explain how it labels states uniquely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Distinguish compatible from incompatible observables and their measurement implications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4592" y="2523744"/>
            <a:ext cx="1737360" cy="1097280"/>
          </a:xfrm>
          <a:prstGeom prst="rect">
            <a:avLst/>
          </a:prstGeom>
          <a:solidFill>
            <a:srgbClr val="3D3110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7744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'You cannot know both position and momentum exactly' — why it is NOT about clumsy measurements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20240" y="2523744"/>
            <a:ext cx="1737360" cy="1097280"/>
          </a:xfrm>
          <a:prstGeom prst="rect">
            <a:avLst/>
          </a:prstGeom>
          <a:solidFill>
            <a:srgbClr val="10332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93392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[x̂,p̂²], [x̂²,p̂] from CCR; evaluate ΔxΔp for a Gaussian wavepacket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75888" y="2523744"/>
            <a:ext cx="1737360" cy="1097280"/>
          </a:xfrm>
          <a:prstGeom prst="rect">
            <a:avLst/>
          </a:prstGeom>
          <a:solidFill>
            <a:srgbClr val="0D205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75888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49040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derivation of Robertson inequality; saturation conditions; prove [Â,B̂]=0 ⟺ common eigenbasis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31536" y="2523744"/>
            <a:ext cx="1737360" cy="1097280"/>
          </a:xfrm>
          <a:prstGeom prst="rect">
            <a:avLst/>
          </a:prstGeom>
          <a:solidFill>
            <a:srgbClr val="2D185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31536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04688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Schrödinger's stronger uncertainty relation; CSCO for hydrogen; Stone–von Neumann theorem and its physics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87184" y="2523744"/>
            <a:ext cx="1737360" cy="1097280"/>
          </a:xfrm>
          <a:prstGeom prst="rect">
            <a:avLst/>
          </a:prstGeom>
          <a:solidFill>
            <a:srgbClr val="400E0E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87184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60336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Weyl form of CCR; non-equivalent representations; quantum Zeno rigorously; entropic uncertainty relations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64592" y="3694176"/>
            <a:ext cx="8833104" cy="713232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785616"/>
            <a:ext cx="86136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Evaluate commutators; compute variances for HO eigenstates; verify Robertson inequality numerically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Derive Robertson inequality from scratch; prove saturation condition; CSCO for 3D central potential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Overview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Derive Robertson's Uncertainty Inequality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— Prove ΔA·ΔB ≥ ½|⟨[Â,B̂]⟩| from Cauchy–Schwarz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ΔA·ΔB ≥ ½|⟨[Â,B̂]⟩| from Cauchy–Schwarz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152144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2529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444752"/>
            <a:ext cx="43525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Define δÂ = Â−⟨Â⟩ and δB̂ = B̂−⟨B̂⟩; variance (ΔA)²=⟨(δÂ)²⟩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Cauchy–Schwarz: |⟨δÂ|δB̂⟩|² ≤ ⟨(δÂ)²⟩⟨(δB̂)²⟩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Decompose ⟨δÂδB̂⟩ into symmetric (real) + antisymmetric (imaginary = ½⟨[Â,B̂]⟩) parts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Robertson inequality: ΔA·ΔB ≥ ½|⟨[Â,B̂]⟩|; saturated by coherent/squeezed states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66360" y="877824"/>
            <a:ext cx="3474720" cy="347472"/>
          </a:xfrm>
          <a:prstGeom prst="roundRect">
            <a:avLst>
              <a:gd name="adj" fmla="val 18421"/>
            </a:avLst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87782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Cauchy–Schwarz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66360" y="122529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|⟨u|v⟩|² ≤ ⟨u|u⟩⟨v|v⟩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903720" y="1389888"/>
            <a:ext cx="0" cy="146304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66360" y="1536192"/>
            <a:ext cx="3474720" cy="347472"/>
          </a:xfrm>
          <a:prstGeom prst="roundRect">
            <a:avLst>
              <a:gd name="adj" fmla="val 18421"/>
            </a:avLst>
          </a:prstGeom>
          <a:solidFill>
            <a:srgbClr val="0D1A2A"/>
          </a:solidFill>
          <a:ln w="15240">
            <a:solidFill>
              <a:srgbClr val="28A8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15361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|u⟩=δÂ|ψ⟩, |v⟩=δB̂|ψ⟩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66360" y="188366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(ΔA)²(ΔB)² ≥ |⟨δÂδB̂⟩|²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903720" y="2048256"/>
            <a:ext cx="0" cy="146304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66360" y="2194560"/>
            <a:ext cx="3474720" cy="347472"/>
          </a:xfrm>
          <a:prstGeom prst="roundRect">
            <a:avLst>
              <a:gd name="adj" fmla="val 18421"/>
            </a:avLst>
          </a:prstGeom>
          <a:solidFill>
            <a:srgbClr val="0D1A2A"/>
          </a:solidFill>
          <a:ln w="15240">
            <a:solidFill>
              <a:srgbClr val="B57B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21945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⟨δÂδB̂⟩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66360" y="254203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57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½⟨{δÂ,δB̂}⟩ + ½⟨[Â,B̂]⟩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903720" y="2706624"/>
            <a:ext cx="0" cy="146304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66360" y="2852928"/>
            <a:ext cx="3474720" cy="347472"/>
          </a:xfrm>
          <a:prstGeom prst="roundRect">
            <a:avLst>
              <a:gd name="adj" fmla="val 18421"/>
            </a:avLst>
          </a:prstGeom>
          <a:solidFill>
            <a:srgbClr val="0D1A2A"/>
          </a:solidFill>
          <a:ln w="15240">
            <a:solidFill>
              <a:srgbClr val="D4A84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28529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Robertson inequality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66360" y="320040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ΔA·ΔB ≥ ½|⟨[Â,B̂]⟩|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flow: Cauchy–Schwarz → decomposition → Robertson inequality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L03 · Learning Objective 1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Evaluate Commutators for x̂ and p̂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— Compute commutators of polynomial functions using [x̂,p̂]=iℏ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commutators of polynomial functions using [x̂,p̂]=iℏ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152144"/>
            <a:ext cx="4352544" cy="0"/>
          </a:xfrm>
          <a:prstGeom prst="line">
            <a:avLst/>
          </a:prstGeom>
          <a:noFill/>
          <a:ln w="10160">
            <a:solidFill>
              <a:srgbClr val="28A8A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2529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444752"/>
            <a:ext cx="43525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[x̂,p̂]=iℏ  — the canonical commutation relation (CCR); verified in position rep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Product rule: [Â,B̂Ĉ]=[Â,B̂]Ĉ+B̂[Â,Ĉ]  — like the Leibniz rule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[x̂,p̂²] = 2iℏp̂;  [x̂ⁿ,p̂] = iℏnx̂^{n-1}  — from repeated application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Jacobi identity: [Â,[B̂,Ĉ]]+[B̂,[Ĉ,Â]]+[Ĉ,[Â,B̂]]=0  — always holds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66360" y="877824"/>
            <a:ext cx="3291840" cy="292608"/>
          </a:xfrm>
          <a:prstGeom prst="rect">
            <a:avLst/>
          </a:prstGeom>
          <a:solidFill>
            <a:srgbClr val="0D1A2A"/>
          </a:solidFill>
          <a:ln w="25400">
            <a:solidFill>
              <a:srgbClr val="28A8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8778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[x̂, p̂²] = 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12280" y="1170432"/>
            <a:ext cx="0" cy="219456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119786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rule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166360" y="1389888"/>
            <a:ext cx="3291840" cy="292608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13898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[x̂,p̂]p̂ + p̂[x̂,p̂]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12280" y="1682496"/>
            <a:ext cx="0" cy="219456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17190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[x̂,p̂]=iℏ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66360" y="1901952"/>
            <a:ext cx="3291840" cy="292608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19019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3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iℏp̂ + p̂·iℏ = 2iℏp̂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66360" y="2340864"/>
            <a:ext cx="3291840" cy="292608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23408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Jacobi: [Â,[B̂,Ĉ]]+[B̂,[Ĉ,Â]]+[Ĉ,[Â,B̂]]=0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 of [x̂,p̂²]=2iℏp̂ using product rule and CCR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L03 · Learning Objective 2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106038"/>
          </a:solidFill>
          <a:ln w="12700">
            <a:solidFill>
              <a:srgbClr val="1060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CSCO and Quantum Number Labelling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— Identify a complete set of commuting observables and explain unique state labelling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 complete set of commuting observables and explain unique state labelling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152144"/>
            <a:ext cx="4352544" cy="0"/>
          </a:xfrm>
          <a:prstGeom prst="line">
            <a:avLst/>
          </a:prstGeom>
          <a:noFill/>
          <a:ln w="10160">
            <a:solidFill>
              <a:srgbClr val="4CC38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2529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444752"/>
            <a:ext cx="43525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If [Â,B̂]=0: they share a common eigenbasis (simultaneous diagonalisation)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CSCO: {Â₁,Â₂,...,Âₖ} all mutually commuting; eigenvalues {a₁,a₂,...,aₖ} label states uniquely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Hydrogen: {Ĥ,L̂²,L̂_z,Ŝ_z} — four operators needed for unique labelling (n,l,m,mₛ)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Non-commuting observables: measuring Â then B̂ changes state; order matters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66360" y="877824"/>
            <a:ext cx="3474720" cy="329184"/>
          </a:xfrm>
          <a:prstGeom prst="rect">
            <a:avLst/>
          </a:prstGeom>
          <a:solidFill>
            <a:srgbClr val="0D1A2A"/>
          </a:solidFill>
          <a:ln w="25400">
            <a:solidFill>
              <a:srgbClr val="4CC3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87782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Hydrogen CSCO: {Ĥ, L̂², L̂_z, Ŝ_z}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66360" y="1280160"/>
            <a:ext cx="868680" cy="822960"/>
          </a:xfrm>
          <a:prstGeom prst="rect">
            <a:avLst/>
          </a:prstGeom>
          <a:solidFill>
            <a:srgbClr val="00000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13350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Ĥ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66360" y="159105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66360" y="181051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q.n.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035040" y="1280160"/>
            <a:ext cx="868680" cy="822960"/>
          </a:xfrm>
          <a:prstGeom prst="rect">
            <a:avLst/>
          </a:prstGeom>
          <a:solidFill>
            <a:srgbClr val="000000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13350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L̂²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35040" y="159105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35040" y="181051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 q.n.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903720" y="1280160"/>
            <a:ext cx="868680" cy="822960"/>
          </a:xfrm>
          <a:prstGeom prst="rect">
            <a:avLst/>
          </a:prstGeom>
          <a:solidFill>
            <a:srgbClr val="00000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13350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57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L̂_z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03720" y="159105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03720" y="181051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q.n.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772400" y="1280160"/>
            <a:ext cx="868680" cy="822960"/>
          </a:xfrm>
          <a:prstGeom prst="rect">
            <a:avLst/>
          </a:prstGeom>
          <a:solidFill>
            <a:srgbClr val="0000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0" y="13350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Ŝ_z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72400" y="159105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mₛ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0" y="181051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q.n.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166360" y="2194560"/>
            <a:ext cx="3474720" cy="292608"/>
          </a:xfrm>
          <a:prstGeom prst="rect">
            <a:avLst/>
          </a:prstGeom>
          <a:solidFill>
            <a:srgbClr val="1A1A0D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66360" y="21945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|n,l,m,mₛ⟩  —  unique state label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Hydrogen CSCO: four commuting operators → four quantum numbers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L03 · Learning Objective 3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D1850"/>
          </a:solidFill>
          <a:ln w="12700">
            <a:solidFill>
              <a:srgbClr val="2D18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Distinguish Compatible and Incompatible Observables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— Predict measurement outcomes and ordering effects for commuting vs. non-commuting operators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measurement outcomes and ordering effects for commuting vs. non-commuting operators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152144"/>
            <a:ext cx="4352544" cy="0"/>
          </a:xfrm>
          <a:prstGeom prst="line">
            <a:avLst/>
          </a:prstGeom>
          <a:noFill/>
          <a:ln w="10160">
            <a:solidFill>
              <a:srgbClr val="B57BE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2529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444752"/>
            <a:ext cx="43525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Compatible [Â,B̂]=0: measuring Â then B̂ leaves state unchanged; order irrelevant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Incompatible [Â,B̂]≠0: measuring Â disturbs the state; B̂ outcome is random afterwards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Sequential measurements: Π_a Π_b Π_a projects via eigenspaces; generally irreversible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Quantum Zeno effect: repeated rapid measurements freeze evolution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66360" y="877824"/>
            <a:ext cx="1645920" cy="274320"/>
          </a:xfrm>
          <a:prstGeom prst="rect">
            <a:avLst/>
          </a:prstGeom>
          <a:solidFill>
            <a:srgbClr val="0D1E1D"/>
          </a:solidFill>
          <a:ln w="25400">
            <a:solidFill>
              <a:srgbClr val="28A8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8778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Compatible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66360" y="1225296"/>
            <a:ext cx="1645920" cy="310896"/>
          </a:xfrm>
          <a:prstGeom prst="roundRect">
            <a:avLst>
              <a:gd name="adj" fmla="val 20588"/>
            </a:avLst>
          </a:prstGeom>
          <a:solidFill>
            <a:srgbClr val="0D1E1D"/>
          </a:solidFill>
          <a:ln w="15240">
            <a:solidFill>
              <a:srgbClr val="C9D1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12252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|ψ⟩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989320" y="1536192"/>
            <a:ext cx="0" cy="91440"/>
          </a:xfrm>
          <a:prstGeom prst="line">
            <a:avLst/>
          </a:prstGeom>
          <a:noFill/>
          <a:ln w="15240">
            <a:solidFill>
              <a:srgbClr val="28A8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66360" y="1627632"/>
            <a:ext cx="1645920" cy="310896"/>
          </a:xfrm>
          <a:prstGeom prst="roundRect">
            <a:avLst>
              <a:gd name="adj" fmla="val 20588"/>
            </a:avLst>
          </a:prstGeom>
          <a:solidFill>
            <a:srgbClr val="0D1E1D"/>
          </a:solidFill>
          <a:ln w="15240">
            <a:solidFill>
              <a:srgbClr val="C9D1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162763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Â → a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989320" y="1938528"/>
            <a:ext cx="0" cy="91440"/>
          </a:xfrm>
          <a:prstGeom prst="line">
            <a:avLst/>
          </a:prstGeom>
          <a:noFill/>
          <a:ln w="15240">
            <a:solidFill>
              <a:srgbClr val="28A8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66360" y="2029968"/>
            <a:ext cx="1645920" cy="310896"/>
          </a:xfrm>
          <a:prstGeom prst="roundRect">
            <a:avLst>
              <a:gd name="adj" fmla="val 20588"/>
            </a:avLst>
          </a:prstGeom>
          <a:solidFill>
            <a:srgbClr val="0D1E1D"/>
          </a:solidFill>
          <a:ln w="15240">
            <a:solidFill>
              <a:srgbClr val="C9D1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20299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|a⟩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989320" y="2340864"/>
            <a:ext cx="0" cy="91440"/>
          </a:xfrm>
          <a:prstGeom prst="line">
            <a:avLst/>
          </a:prstGeom>
          <a:noFill/>
          <a:ln w="15240">
            <a:solidFill>
              <a:srgbClr val="28A8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66360" y="2432304"/>
            <a:ext cx="1645920" cy="310896"/>
          </a:xfrm>
          <a:prstGeom prst="roundRect">
            <a:avLst>
              <a:gd name="adj" fmla="val 20588"/>
            </a:avLst>
          </a:prstGeom>
          <a:solidFill>
            <a:srgbClr val="0D1E1D"/>
          </a:solidFill>
          <a:ln w="15240">
            <a:solidFill>
              <a:srgbClr val="C9D1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243230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B̂ → b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989320" y="2743200"/>
            <a:ext cx="0" cy="91440"/>
          </a:xfrm>
          <a:prstGeom prst="line">
            <a:avLst/>
          </a:prstGeom>
          <a:noFill/>
          <a:ln w="15240">
            <a:solidFill>
              <a:srgbClr val="28A8A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66360" y="2834640"/>
            <a:ext cx="1645920" cy="310896"/>
          </a:xfrm>
          <a:prstGeom prst="roundRect">
            <a:avLst>
              <a:gd name="adj" fmla="val 20588"/>
            </a:avLst>
          </a:prstGeom>
          <a:solidFill>
            <a:srgbClr val="0D1E1D"/>
          </a:solidFill>
          <a:ln w="15240">
            <a:solidFill>
              <a:srgbClr val="28A8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28346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|a,b⟩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013448" y="877824"/>
            <a:ext cx="1645920" cy="274320"/>
          </a:xfrm>
          <a:prstGeom prst="rect">
            <a:avLst/>
          </a:prstGeom>
          <a:solidFill>
            <a:srgbClr val="1A0D20"/>
          </a:solidFill>
          <a:ln w="25400">
            <a:solidFill>
              <a:srgbClr val="EF57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13448" y="8778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Incompatible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013448" y="1225296"/>
            <a:ext cx="1645920" cy="310896"/>
          </a:xfrm>
          <a:prstGeom prst="roundRect">
            <a:avLst>
              <a:gd name="adj" fmla="val 20588"/>
            </a:avLst>
          </a:prstGeom>
          <a:solidFill>
            <a:srgbClr val="1A0D20"/>
          </a:solidFill>
          <a:ln w="15240">
            <a:solidFill>
              <a:srgbClr val="C9D1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13448" y="12252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|ψ⟩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836408" y="1536192"/>
            <a:ext cx="0" cy="91440"/>
          </a:xfrm>
          <a:prstGeom prst="line">
            <a:avLst/>
          </a:prstGeom>
          <a:noFill/>
          <a:ln w="15240">
            <a:solidFill>
              <a:srgbClr val="EF575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13448" y="1627632"/>
            <a:ext cx="1645920" cy="310896"/>
          </a:xfrm>
          <a:prstGeom prst="roundRect">
            <a:avLst>
              <a:gd name="adj" fmla="val 20588"/>
            </a:avLst>
          </a:prstGeom>
          <a:solidFill>
            <a:srgbClr val="1A0D20"/>
          </a:solidFill>
          <a:ln w="15240">
            <a:solidFill>
              <a:srgbClr val="C9D1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13448" y="162763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Â → a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836408" y="1938528"/>
            <a:ext cx="0" cy="91440"/>
          </a:xfrm>
          <a:prstGeom prst="line">
            <a:avLst/>
          </a:prstGeom>
          <a:noFill/>
          <a:ln w="15240">
            <a:solidFill>
              <a:srgbClr val="EF575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13448" y="2029968"/>
            <a:ext cx="1645920" cy="310896"/>
          </a:xfrm>
          <a:prstGeom prst="roundRect">
            <a:avLst>
              <a:gd name="adj" fmla="val 20588"/>
            </a:avLst>
          </a:prstGeom>
          <a:solidFill>
            <a:srgbClr val="1A0D20"/>
          </a:solidFill>
          <a:ln w="15240">
            <a:solidFill>
              <a:srgbClr val="C9D1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13448" y="20299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|a⟩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836408" y="2340864"/>
            <a:ext cx="0" cy="91440"/>
          </a:xfrm>
          <a:prstGeom prst="line">
            <a:avLst/>
          </a:prstGeom>
          <a:noFill/>
          <a:ln w="15240">
            <a:solidFill>
              <a:srgbClr val="EF575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013448" y="2432304"/>
            <a:ext cx="1645920" cy="310896"/>
          </a:xfrm>
          <a:prstGeom prst="roundRect">
            <a:avLst>
              <a:gd name="adj" fmla="val 20588"/>
            </a:avLst>
          </a:prstGeom>
          <a:solidFill>
            <a:srgbClr val="1A0D20"/>
          </a:solidFill>
          <a:ln w="15240">
            <a:solidFill>
              <a:srgbClr val="C9D1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13448" y="243230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B̂ → b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836408" y="2743200"/>
            <a:ext cx="0" cy="91440"/>
          </a:xfrm>
          <a:prstGeom prst="line">
            <a:avLst/>
          </a:prstGeom>
          <a:noFill/>
          <a:ln w="15240">
            <a:solidFill>
              <a:srgbClr val="EF575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013448" y="2834640"/>
            <a:ext cx="1645920" cy="310896"/>
          </a:xfrm>
          <a:prstGeom prst="roundRect">
            <a:avLst>
              <a:gd name="adj" fmla="val 20588"/>
            </a:avLst>
          </a:prstGeom>
          <a:solidFill>
            <a:srgbClr val="1A0D20"/>
          </a:solidFill>
          <a:ln w="15240">
            <a:solidFill>
              <a:srgbClr val="EF575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13448" y="28346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|b⟩ ≠ |a,b⟩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(left): order irrelevant. Incompatible (right): measurement disturbs state.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L03 · Learning Objective 4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[x̂,p̂] = iℏ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commutation relation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[x̂,p̂] = iℏ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commutation relation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canonical commutation relation [x̂,p̂]=iℏ is the algebraic heart of QM; it encodes the Heisenberg uncertainty and follows from p̂=−iℏ∂_x in position representation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[x̂,p̂]f = x(−iℏ∂_x f)−(−iℏ∂_x)(xf) = iℏf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(ΔxΔp)_min = ℏ/2 for Gaussian wavepackets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Generalises to [xᵢ,pⱼ]=iℏδᵢⱼ  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4F8E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[x̂,p̂] = iℏ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commutation relation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canonical commutation relation [x̂,p̂]=iℏ is the algebraic heart of QM; it encodes the Heisenberg uncertainty and follows from p̂=−iℏ∂_x in position representation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Bases: Discrete and Continuous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Infinitesimal Generators, Symmetries, and Noether's Theorem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L03 · Formula 1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(ΔA)² = ⟨Â²⟩ − ⟨Â⟩²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(ΔA)² = ⟨Â²⟩ − ⟨Â⟩²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28A8A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(ΔA)²=⟨Â²⟩−⟨Â⟩² measures the spread of measurement outcomes around their mean; it is the quantum analogue of statistical variance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ΔA=0 iff |ψ⟩ is an eigenstate of Â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(ΔA)²=⟨(Â−⟨Â⟩)²⟩ ≥ 0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For the HO ground state: ΔxΔp=ℏ/2  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28A8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(ΔA)² = ⟨Â²⟩ − ⟨Â⟩²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(ΔA)²=⟨Â²⟩−⟨Â⟩² measures the spread of measurement outcomes around their mean; it is the quantum analogue of statistical variance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Bases: Discrete and Continuous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Infinitesimal Generators, Symmetries, and Noether's Theorem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L03 · Formula 2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ΔA·ΔB ≥ ½|⟨[Â,B̂]⟩|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Robertson inequality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C3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ΔA·ΔB ≥ ½|⟨[Â,B̂]⟩|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Robertson inequality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4CC38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ΔA·ΔB ≥ ½|⟨[Â,B̂]⟩| is tightest bound consistent with QM; derived from Cauchy–Schwarz; saturated when δÂ|ψ⟩=iλδB̂|ψ⟩ for real λ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For x̂,p̂: ΔxΔp ≥ ℏ/2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Saturated by Gaussian minimum-uncertainty states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For commuting observables: bound is 0 (trivial)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4CC3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ΔA·ΔB ≥ ½|⟨[Â,B̂]⟩|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Robertson inequality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ΔA·ΔB ≥ ½|⟨[Â,B̂]⟩| is tightest bound consistent with QM; derived from Cauchy–Schwarz; saturated when δÂ|ψ⟩=iλδB̂|ψ⟩ for real λ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Bases: Discrete and Continuous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Infinitesimal Generators, Symmetries, and Noether's Theorem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L03 · Formula 3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Saturation: |δÂ|ψ⟩ = iλ|δB̂|ψ⟩ for real λ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uncertainty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Saturation: |δÂ|ψ⟩ = iλ|δB̂|ψ⟩ for real λ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uncertainty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uncertainty states satisfy δÂ|ψ⟩=iλδB̂|ψ⟩; for x̂,p̂ this gives Gaussian wavefunctions (coherent states of HO)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Coherent states: ΔxΔp=ℏ/2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Squeezed states: ΔxΔp=ℏ/2 but Δx≠Δp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Non-Gaussian states generally have ΔxΔp&gt;ℏ/2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Saturation: |δÂ|ψ⟩ = iλ|δB̂|ψ⟩ for real λ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uncertainty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uncertainty states satisfy δÂ|ψ⟩=iλδB̂|ψ⟩; for x̂,p̂ this gives Gaussian wavefunctions (coherent states of HO)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Bases: Discrete and Continuous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Infinitesimal Generators, Symmetries, and Noether's Theorem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L03 · Formula 4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[Â,B̂] = 0 ⟺ simultaneous eigenbasis exists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7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[Â,B̂] = 0 ⟺ simultaneous eigenbasis exists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B57BE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[Â,B̂]=0 is equivalent to existence of a common eigenbasis; this means Â and B̂ can be measured simultaneously without disturbing each other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Proof: simultaneous eigenstates iff [Â,B̂]=0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CSCO uniquely labels all states in the spectrum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Degenerate case needs more operators in the CSCO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B57B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[Â,B̂] = 0 ⟺ simultaneous eigenbasis exists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[Â,B̂]=0 is equivalent to existence of a common eigenbasis; this means Â and B̂ can be measured simultaneously without disturbing each other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Bases: Discrete and Continuous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Infinitesimal Generators, Symmetries, and Noether's Theorem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L03 · Formula 5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CSCO: {Â₁,Â₂,...} mutually commuting, labels states uniquely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CSCO completeness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CSCO: {Â₁,Â₂,...} mutually commuting, labels states uniquely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CSCO completeness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CSCO {Â₁,...,Âₖ} satisfies: all mutually commuting; joint eigenvalues {a₁,...,aₖ} label each eigenstate uniquely (no degeneracy remains)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H-atom: 4 operators needed (n,l,m,mₛ)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1D harmonic oscillator: Ĥ alone is a CSCO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3D HO: {Ĥ,L̂²,L̂_z} or {Ĥ_x,Ĥ_y,Ĥ_z} both work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EF57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CSCO: {Â₁,Â₂,...} mutually commuting, labels states uniquely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CSCO completeness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CSCO {Â₁,...,Âₖ} satisfies: all mutually commuting; joint eigenvalues {a₁,...,aₖ} label each eigenstate uniquely (no degeneracy remains)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Bases: Discrete and Continuous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Infinitesimal Generators, Symmetries, and Noether's Theorem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L03 · Formula 6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[Â,B̂] ≠ 0 imply that Â and B̂ cannot be simultaneously sharp?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[Â,B̂] ≠ 0 imply that Â and B̂ cannot be simultaneously sharp?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[Â,B̂]≠0 means they have no common eigenbasis; measuring one randomises the other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[Â,B̂] ≠ 0 imply that Â and B̂ cannot be simultaneously sharp?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[Â,B̂]≠0 means they have no common eigenbasis; measuring one randomises the other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L03 · Concept Question 1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True/False: The uncertainty principle is a statement about measurement disturbance. Justify.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True/False: The uncertainty principle is a statement about measurement disturbance. Justify.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28A8A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False: uncertainty principle is about the state, not the act of measurement; it holds even without any measurement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it holds even without any measurement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True/False: The uncertainty principle is a statement about measurement disturbance. Justify.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False: uncertainty principle is about the state, not the act of measurement; it holds even without any measurement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L03 · Concept Question 2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the Robertson inequality and identify when it is saturated.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Robertson inequality and identify when it is saturated.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4CC38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Robertson: ΔA·ΔB≥½|⟨[Â,B̂]⟩|; saturated when δÂ|ψ⟩=iλδB̂|ψ⟩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Robertson inequality and identify when it is saturated.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Robertson: ΔA·ΔB≥½|⟨[Â,B̂]⟩|; saturated when δÂ|ψ⟩=iλδB̂|ψ⟩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L03 · Concept Question 3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CSCO and why does hydrogen need three quantum numbers (n,l,m)?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CSCO and why does hydrogen need three quantum numbers (n,l,m)?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CSCO: four operators for H-atom to distinguish all (n,l,m,mₛ); degeneracy removed by each operator added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degeneracy removed by each operator added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CSCO and why does hydrogen need three quantum numbers (n,l,m)?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CSCO: four operators for H-atom to distinguish all (n,l,m,mₛ); degeneracy removed by each operator added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L03 · Concept Question 4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True/False: If [Â,B̂] = 0, both operators share at least one common eigenvector. Justify.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True/False: If [Â,B̂] = 0, both operators share at least one common eigenvector. Justify.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B57BE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True: if [Â,B̂]=0 they share at least a complete common eigenbasis (more subtle with degeneracy)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True/False: If [Â,B̂] = 0, both operators share at least one common eigenvector. Justify.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True: if [Â,B̂]=0 they share at least a complete common eigenbasis (more subtle with degeneracy)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L03 · Concept Question 5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 the quantum Zeno effect in one sentence.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quantum Zeno effect in one sentence.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 effect: rapid projective measurements inhibit transition; survival probability P→1 as measurement frequency→∞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survival probability P→1 as measurement frequency→∞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quantum Zeno effect in one sentence.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 effect: rapid projective measurements inhibit transition; survival probability P→1 as measurement frequency→∞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L03 · Concept Question 6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7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 [x̂², p̂] using [x̂,p̂] = iℏ.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[x̂², p̂] using [x̂,p̂] = iℏ.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[x̂²,p̂] = [x̂,p̂]x̂ + x̂[x̂,p̂] = iℏx̂ + x̂·iℏ = 2iℏx̂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[x̂², p̂] using [x̂,p̂] = iℏ.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[x̂²,p̂] = [x̂,p̂]x̂ + x̂[x̂,p̂] = iℏx̂ + x̂·iℏ = 2iℏx̂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L03 · Concept Question 7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8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energy–time uncertainty relation and why is Δt not an operator?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energy–time uncertainty relation and why is Δt not an operator?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28A8A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ΔEΔt is not a Heisenberg relation — Δt is not an operator; it refers to the lifetime of a state or the timescale of evolution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it refers to the lifetime of a state or the timescale of evolution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energy–time uncertainty relation and why is Δt not an operator?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ΔEΔt is not a Heisenberg relation — Δt is not an operator; it refers to the lifetime of a state or the timescale of evolution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L03 · Concept Question 8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— HS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 — Tier 1 — HS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gateway — intuition, analogy, physical picture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3D3110"/>
          </a:solidFill>
          <a:ln w="22860">
            <a:solidFill>
              <a:srgbClr val="E8C5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'You cannot know both position and momentum exactly' — why it is NOT about clumsy measurements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E8C54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Explain in plain words why you cannot know both position AND momentum exactly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Describe one experiment that demonstrates quantum uncertainty (not measurement disturbance)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does ΔxΔp≥ℏ/2 say about a particle at rest?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E8C5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E8C547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'You cannot know both position and momentum exactly' — why it is NOT about clums...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[x̂,p̂²], [x̂²,p̂] from CCR; evaluate ΔxΔp for a Gaussian wavepacket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derivation of Robertson inequality; saturation conditions; prove [Â,B̂]=0 ⟺...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Schrödinger's stronger uncertainty relation; CSCO for hydrogen; Stone–von Neuman...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Weyl form of CCR; non-equivalent representations; quantum Zeno rigorously; entro...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L03 · Tier 1 — HS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 — BegUG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 — Tier 2 — BegUG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entry — apply formulas, verify properties numerically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103320"/>
          </a:solidFill>
          <a:ln w="22860">
            <a:solidFill>
              <a:srgbClr val="4CC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[x̂,p̂²], [x̂²,p̂] from CCR; evaluate ΔxΔp for a Gaussian wavepacket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4CC38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Compute [x̂,p̂²] and [x̂²,p̂] using the product rule and CCR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Evaluate ΔxΔp for the ground state of the harmonic oscillator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Verify Robertson inequality numerically for a spin-1/2 state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'You cannot know both position and momentum exactly' — why it is NOT about clums...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4CC3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4CC38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[x̂,p̂²], [x̂²,p̂] from CCR; evaluate ΔxΔp for a Gaussian wavepacket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derivation of Robertson inequality; saturation conditions; prove [Â,B̂]=0 ⟺...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Schrödinger's stronger uncertainty relation; CSCO for hydrogen; Stone–von Neuman...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Weyl form of CCR; non-equivalent representations; quantum Zeno rigorously; entro...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L03 · Tier 2 — BegUG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3 — AdvUG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 — Tier 3 — AdvUG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understanding — proofs, derivations, basis-independence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2050"/>
          </a:solidFill>
          <a:ln w="2286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derivation of Robertson inequality; saturation conditions; prove [Â,B̂]=0 ⟺ common eigenbasis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Derive Robertson's inequality from scratch using Cauchy–Schwarz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Prove [Â,B̂]=0 iff they have a common complete eigenbasis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State and prove the saturation condition for the Heisenberg inequality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'You cannot know both position and momentum exactly' — why it is NOT about clums...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[x̂,p̂²], [x̂²,p̂] from CCR; evaluate ΔxΔp for a Gaussian wavepacket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4F8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4F8EF7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derivation of Robertson inequality; saturation conditions; prove [Â,B̂]=0 ⟺...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Schrödinger's stronger uncertainty relation; CSCO for hydrogen; Stone–von Neuman...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Weyl form of CCR; non-equivalent representations; quantum Zeno rigorously; entro...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L03 · Tier 3 — AdvUG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4 — MSc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 — Tier 4 — MSc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depth — advanced formalism, information theory, open systems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2D1850"/>
          </a:solidFill>
          <a:ln w="22860">
            <a:solidFill>
              <a:srgbClr val="B57B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Schrödinger's stronger uncertainty relation; CSCO for hydrogen; Stone–von Neumann theorem and its physics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B57BE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Derive Schrödinger's stronger inequality (adds symmetric anticommutator term)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Show the CSCO for the hydrogen atom (n,l,m,mₛ) and explain each operator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State Stone–von Neumann theorem and explain its uniqueness implication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'You cannot know both position and momentum exactly' — why it is NOT about clums...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[x̂,p̂²], [x̂²,p̂] from CCR; evaluate ΔxΔp for a Gaussian wavepacket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derivation of Robertson inequality; saturation conditions; prove [Â,B̂]=0 ⟺...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B57B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B57BEE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Schrödinger's stronger uncertainty relation; CSCO for hydrogen; Stone–von Neuman...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Weyl form of CCR; non-equivalent representations; quantum Zeno rigorously; entro...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L03 · Tier 4 — MSc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5 — PhD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 — Tier 5 — PhD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frontier — functional analysis, rigorous formulation, connections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400E0E"/>
          </a:solidFill>
          <a:ln w="22860">
            <a:solidFill>
              <a:srgbClr val="EF5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Weyl form of CCR; non-equivalent representations; quantum Zeno rigorously; entropic uncertainty relations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State the Weyl form of the CCR and explain its domain advantages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Construct a non-equivalent representation of the CCR (violation of S–vN assumptions)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Derive entropic uncertainty relations and compare to Robertson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'You cannot know both position and momentum exactly' — why it is NOT about clums...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[x̂,p̂²], [x̂²,p̂] from CCR; evaluate ΔxΔp for a Gaussian wavepacket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derivation of Robertson inequality; saturation conditions; prove [Â,B̂]=0 ⟺...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Schrödinger's stronger uncertainty relation; CSCO for hydrogen; Stone–von Neuman...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EF575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EF5757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Weyl form of CCR; non-equivalent representations; quantum Zeno rigorously; entro...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L03 · Tier 5 — PhD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 — Key Formulas — 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core results at a glance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640080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749808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3504" y="731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[x̂,p̂] = iℏ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" y="1161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commutation relation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640080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749808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10912" y="731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(ΔA)² = ⟨Â²⟩ − ⟨Â⟩²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10912" y="1161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4592" y="1572768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1682496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03504" y="16642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ΔA·ΔB ≥ ½|⟨[Â,B̂]⟩|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" y="20939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Robertson inequality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572768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682496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10912" y="16642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Saturation: |δÂ|ψ⟩ = iλ|δB̂|ψ⟩ for real λ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10912" y="20939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uncertainty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4592" y="2505456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2615184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03504" y="2596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[Â,B̂] = 0 ⟺ simultaneous eigenbasis exists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3504" y="30266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2505456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615184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10912" y="2596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CSCO: {Â₁,Â₂,...} mutually commuting, labels states uniquely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64592" y="3483864"/>
            <a:ext cx="8833104" cy="475488"/>
          </a:xfrm>
          <a:prstGeom prst="rect">
            <a:avLst/>
          </a:prstGeom>
          <a:solidFill>
            <a:srgbClr val="1A0F2A"/>
          </a:solidFill>
          <a:ln w="19050">
            <a:solidFill>
              <a:srgbClr val="7C5C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575304"/>
            <a:ext cx="86136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Bases: Discrete and Continuous   </a:t>
            </a:r>
            <a:pPr indent="0" marL="0">
              <a:buNone/>
            </a:pPr>
            <a:r>
              <a:rPr lang="en-US" sz="95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Infinitesimal Generators, Symmetries, and Noether's Theorem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Uncertainty and Commutation Relations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Formulas</a:t>
            </a:r>
            <a:endParaRPr lang="en-US" sz="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 — Concept Questions — 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4297680" cy="4297680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21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QUESTIONS (1–4)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8686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does [Â,B̂] ≠ 0 imply that Â and B̂ cannot be simultaneously sharp?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True/False: The uncertainty principle is a statement about measurement disturbance. Justify.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State the Robertson inequality and identify when it is saturated.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What is a CSCO and why does hydrogen need three quantum numbers (n,l,m)?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36008" y="594360"/>
            <a:ext cx="4361688" cy="4297680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45736" y="621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QUESTIONS (5–8)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45736" y="8686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True/False: If [Â,B̂] = 0, both operators share at least one common eigenvector. Justify.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Explain the quantum Zeno effect in one sentence.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Compute [x̂², p̂] using [x̂,p̂] = iℏ.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What is the energy–time uncertainty relation and why is Δt not an operator?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Uncertainty and Commutation Relations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Concept Qs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 — Five-Tier Pedagogy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content for all levels — HS through PhD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603504"/>
            <a:ext cx="8833104" cy="749808"/>
          </a:xfrm>
          <a:prstGeom prst="rect">
            <a:avLst/>
          </a:prstGeom>
          <a:solidFill>
            <a:srgbClr val="3D3110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603504"/>
            <a:ext cx="1371600" cy="749808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603504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— HS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27632" y="676656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'You cannot know both position and momentum exactly' — why it is NOT about clumsy measurements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4592" y="1389888"/>
            <a:ext cx="8833104" cy="749808"/>
          </a:xfrm>
          <a:prstGeom prst="rect">
            <a:avLst/>
          </a:prstGeom>
          <a:solidFill>
            <a:srgbClr val="10332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" y="1389888"/>
            <a:ext cx="1371600" cy="749808"/>
          </a:xfrm>
          <a:prstGeom prst="rect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" y="138988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 — BegUG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27632" y="146304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[x̂,p̂²], [x̂²,p̂] from CCR; evaluate ΔxΔp for a Gaussian wavepacket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4592" y="2176272"/>
            <a:ext cx="8833104" cy="749808"/>
          </a:xfrm>
          <a:prstGeom prst="rect">
            <a:avLst/>
          </a:prstGeom>
          <a:solidFill>
            <a:srgbClr val="0D205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2176272"/>
            <a:ext cx="1371600" cy="7498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2176272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3 — AdvUG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27632" y="224942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derivation of Robertson inequality; saturation conditions; prove [Â,B̂]=0 ⟺ common eigenbasis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4592" y="2962656"/>
            <a:ext cx="8833104" cy="749808"/>
          </a:xfrm>
          <a:prstGeom prst="rect">
            <a:avLst/>
          </a:prstGeom>
          <a:solidFill>
            <a:srgbClr val="2D185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2962656"/>
            <a:ext cx="1371600" cy="749808"/>
          </a:xfrm>
          <a:prstGeom prst="rect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" y="2962656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4 — MSc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27632" y="303580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Schrödinger's stronger uncertainty relation; CSCO for hydrogen; Stone–von Neumann theorem and its physics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4592" y="3749040"/>
            <a:ext cx="8833104" cy="749808"/>
          </a:xfrm>
          <a:prstGeom prst="rect">
            <a:avLst/>
          </a:prstGeom>
          <a:solidFill>
            <a:srgbClr val="400E0E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" y="3749040"/>
            <a:ext cx="1371600" cy="749808"/>
          </a:xfrm>
          <a:prstGeom prst="rect">
            <a:avLst/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374904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5 — PhD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627632" y="382219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Weyl form of CCR; non-equivalent representations; quantum Zeno rigorously; entropic uncertainty relations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4592" y="4553712"/>
            <a:ext cx="8833104" cy="502920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645152"/>
            <a:ext cx="8613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Set A: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commutators; compute variances for HO eigenstates; verify Robertson inequality numerically  |  </a:t>
            </a:r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Robertson inequality from scratch; prove saturation condition; CSCO for 3D central potential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Uncertainty and Commutation Relations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Tier Pedagogy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I.3 · L03 (Expanded) — Uncertainty and Commutation Relations</dc:title>
  <dc:subject>Quantum Dynamics</dc:subject>
  <dc:creator>QM Programme</dc:creator>
  <cp:lastModifiedBy>QM Programme</cp:lastModifiedBy>
  <cp:revision>1</cp:revision>
  <dcterms:created xsi:type="dcterms:W3CDTF">2026-05-03T13:04:49Z</dcterms:created>
  <dcterms:modified xsi:type="dcterms:W3CDTF">2026-05-03T13:04:49Z</dcterms:modified>
</cp:coreProperties>
</file>