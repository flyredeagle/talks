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Infinitesimal Generators, Symmetries, &amp; Noether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· Conservation Laws · Discrete Symmetries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Mathematical Dual-Track — Lecture 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 — Infinitesimal Generators, Symmetries, &amp; Noether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Infinitesimal Generators, Symmetries, &amp; Noether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One-parameter unitary groups Û(θ) = e^{iθĜ}; Stone's theorem; momentum, L̂, Ĥ as generators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Symmetry of Ĥ: [Ĥ,Û]=0 ⟺ [Ĥ,Ĝ]=0; conservation of Ĝ in Heisenberg picture = Noether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 min: Discrete symmetries: parity Π̂, charge conjugation Ĉ, time reversal T̂ (anti-unitary); CPT theorem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Symmetry breaking: explicit vs. spontaneous; degenerate ground states; Goldstone modes (qualitative)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the generator of a given one-parameter unitary group using Stone's theorem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 Noether's theorem in quantum mechanics via the Heisenberg equation of motion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Classify discrete symmetries and their representations (unitary vs. anti-unitary)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Distinguish explicit from spontaneous symmetry breaking and describe physical consequences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deepest symmetry principle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Π̂x̂Π̂⁻¹=−x̂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classification of discrete symmetries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Goldstone; Wigner–Eckart preview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Identify generators for rotations/translations/phase shifts; verify conservation laws; parity of wavefunctions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Noether's theorem in Heisenberg picture; classify H-atom symmetries; analyse CPT invariance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L04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Generators via Stone's Theorem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Given U(θ), extract the generator Ĝ; know the physical operator for each symmetry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U(θ), extract the generator Ĝ; know the physical operator for each symmetry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Stone's theorem: every strongly continuous one-parameter unitary group U(θ)=e^{iθĜ} has a self-adjoint generator Ĝ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Generator extracted: Ĝ = −i dU/dθ|_{θ=0}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Translation U_a = e^{iap̂/ℏ}: generator is p̂/ℏ  (momentum / ℏ)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Rotation U_α = e^{iαL̂_z/ℏ}: generator is L̂_z/ℏ;  Phase U_φ = e^{iφN̂}: generator is N̂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178308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9144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Translation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166360" y="11338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e^{iap̂/ℏ}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13533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p̂/ℏ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66360" y="1572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013448" y="877824"/>
            <a:ext cx="178308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13448" y="9144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013448" y="11338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e^{iαL̂_z/ℏ}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13448" y="13533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L̂_z/ℏ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13448" y="15727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ang. momentum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166360" y="1883664"/>
            <a:ext cx="178308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evolution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66360" y="21396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e^{-iĤt/ℏ}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66360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-Ĥ/ℏ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166360" y="2578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013448" y="1883664"/>
            <a:ext cx="178308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13448" y="19202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(U(1))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13448" y="213969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e^{iφN̂}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13448" y="23591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N̂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013448" y="25786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number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canonical unitary groups and their self-adjoint generators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 Noether's Theorem in QM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Show [Ĥ,Ĝ]=0 implies d⟨Ĝ⟩/dt=0 via Heisenberg EOM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[Ĥ,Ĝ]=0 implies d⟨Ĝ⟩/dt=0 via Heisenberg EOM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Heisenberg EOM: dĜ_H/dt = (i/ℏ)[Ĥ,Ĝ_H] + (∂_tĜ)_H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[Ĥ,Ĝ]=0 and Ĝ has no explicit time dependence: dĜ_H/dt=0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Therefore d⟨Ĝ⟩/dt=0 — the expectation value is constant in time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Physical meaning: the symmetry transformation U(θ)=e^{iθĜ} leaves Ĥ invariant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291840" cy="310896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8778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Symmetry: [Ĥ,U(θ)]=0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12280" y="1188720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335024"/>
            <a:ext cx="3291840" cy="310896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3350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⟺  [Ĥ,Ĝ]=0  (expand to first order in θ)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12280" y="1645920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792224"/>
            <a:ext cx="3291840" cy="310896"/>
          </a:xfrm>
          <a:prstGeom prst="rect">
            <a:avLst/>
          </a:prstGeom>
          <a:solidFill>
            <a:srgbClr val="0D1A2A"/>
          </a:solidFill>
          <a:ln w="19050">
            <a:solidFill>
              <a:srgbClr val="C9D1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17922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Heisenberg EOM: dĜ_H/dt = (i/ℏ)[Ĥ,Ĝ]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12280" y="2103120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249424"/>
            <a:ext cx="3291840" cy="310896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7800" y="22494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⟹  dĜ_H/dt = 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12280" y="2560320"/>
            <a:ext cx="0" cy="14630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706624"/>
            <a:ext cx="3291840" cy="310896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70662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⟹  d⟨Ĝ⟩/dt = 0  (conservation law)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Noether's theorem in 5 steps: symmetry → generator → EOM → conservation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 Discrete Symmetries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Identify parity, time reversal, and charge conjugation; unitary vs. anti-unitary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parity, time reversal, and charge conjugation; unitary vs. anti-unitary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Parity Π̂: unitary, Π̂|x⟩=|−x⟩; Π̂x̂Π̂⁻¹=−x̂, Π̂p̂Π̂⁻¹=−p̂, Π̂L̂Π̂⁻¹=+L̂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Time reversal T̂: anti-unitary (T̂(α|ψ⟩)=α*T̂|ψ⟩); T̂iT̂⁻¹=−i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Charge conjugation Ĉ: maps particle ↔ antiparticle; unitary in QM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CPT theorem: the combined CPT is an exact symmetry of any local Lorentz-invariant QFT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1755648" cy="896112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93268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Parity Π̂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66360" y="11887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140817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x→−x, p→−p, L→+L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995160" y="877824"/>
            <a:ext cx="1755648" cy="896112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93268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rev. T̂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118872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Anti-unitary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995160" y="1408176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t→−t, p→−p, L→−L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66360" y="1865376"/>
            <a:ext cx="1755648" cy="896112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192024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conj. 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66360" y="217627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23957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q→−q, ψ→ψ^c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95160" y="1865376"/>
            <a:ext cx="1755648" cy="896112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192024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CPT combined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95160" y="2176272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symmetry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95160" y="239572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of C, P, 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discrete symmetries: type (unitary/anti-unitary) and action on observables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Distinguish Explicit vs. Spontaneous Symmetry Breaking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Identify when a symmetry is broken and describe the physical consequences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when a symmetry is broken and describe the physical consequences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Explicit breaking: Ĥ does not commute with Ĝ; the symmetry is not present in the Lagrangian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Spontaneous breaking: Ĥ commutes with Ĝ but the ground state does not: Ĝ|0⟩≠0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Goldstone theorem: continuous spontaneously broken symmetry → massless Goldstone bosons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Examples: ferromagnetism (SO(3)→SO(2)); superconductivity (U(1) breaking → Meissner)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708392" y="2048256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5886" y="2221992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51192" y="2349176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3992" y="2395728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2349176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02098" y="2221992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79592" y="2048256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02098" y="1874520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1747336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93992" y="1700784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51192" y="1747336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5886" y="1874520"/>
            <a:ext cx="219456" cy="219456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39128" y="2089404"/>
            <a:ext cx="329184" cy="137160"/>
          </a:xfrm>
          <a:prstGeom prst="ellipse">
            <a:avLst/>
          </a:prstGeom>
          <a:solidFill>
            <a:srgbClr val="1A0D2A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20299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V(φ)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66360" y="877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Spontaneous Symmetry Breaking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66360" y="115214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Ĥ symmetric, but ground state is not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15000" y="31455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ground states (ring)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72200" y="1828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166360" y="3035808"/>
            <a:ext cx="3474720" cy="237744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57800" y="30358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Goldstone: broken continuous sym. → massless modes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Mexican-hat potential: symmetric Hamiltonian, asymmetric ground state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Û(θ) = e^{iθĜ}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one-parameter unitary group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Û(θ) = e^{iθĜ}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one-parameter unitary group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U(θ)=e^{iθĜ} is generated by the self-adjoint Ĝ; unitarity follows from Hermiticity of Ĝ; the group property U(θ₁+θ₂)=U(θ₁)U(θ₂) holds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U(0)=Î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U(θ)†=U(−θ)=U(θ)⁻¹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dU/dθ|₀ = iĜ; extract Ĝ = −i dU/dθ|₀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Û(θ) = e^{iθĜ}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one-parameter unitary group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U(θ)=e^{iθĜ} is generated by the self-adjoint Ĝ; unitarity follows from Hermiticity of Ĝ; the group property U(θ₁+θ₂)=U(θ₁)U(θ₂) holds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[Ĥ,Ĝ] = 0 ⟺ d⟨Ĝ⟩/dt = 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Noether's theorem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[Ĥ,Ĝ] = 0 ⟺ d⟨Ĝ⟩/dt = 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Noether's theorem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[Ĥ,Ĝ]=0 implies d⟨Ĝ⟩/dt=0; derived directly from the Heisenberg equation of motion; the classical analogue is Noether's theorem via Poisson brackets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dĜ_H/dt=(i/ℏ)[Ĥ,Ĝ]=0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⟨Ĝ⟩(t) = const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Converse: d⟨Ĝ⟩/dt=0 ∀ states iff [Ĥ,Ĝ]=0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[Ĥ,Ĝ] = 0 ⟺ d⟨Ĝ⟩/dt = 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Noether's theorem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[Ĥ,Ĝ]=0 implies d⟨Ĝ⟩/dt=0; derived directly from the Heisenberg equation of motion; the classical analogue is Noether's theorem via Poisson brackets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Π̂x̂Π̂⁻¹ = −x̂,  Π̂p̂Π̂⁻¹ = −p̂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action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Π̂x̂Π̂⁻¹ = −x̂,  Π̂p̂Π̂⁻¹ = −p̂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action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Π̂x̂Π̂⁻¹=−x̂, Π̂p̂Π̂⁻¹=−p̂, Π̂L̂Π̂⁻¹=+L̂  — derived from Π̂|x⟩=|−x⟩; orbital angular momentum L̂=r̂×p̂ is a pseudovector (even under parity)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Π̂²=Î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Eigenvalues: ±1 (even/odd parity states)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Selection rule: parity-changing transition allowed only if [Ĥ,Π̂]≠0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Π̂x̂Π̂⁻¹ = −x̂,  Π̂p̂Π̂⁻¹ = −p̂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action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Π̂x̂Π̂⁻¹=−x̂, Π̂p̂Π̂⁻¹=−p̂, Π̂L̂Π̂⁻¹=+L̂  — derived from Π̂|x⟩=|−x⟩; orbital angular momentum L̂=r̂×p̂ is a pseudovector (even under parity)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T̂ is anti-unitary: T̂(α|ψ⟩) = α*T̂|ψ⟩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reversal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T̂ is anti-unitary: T̂(α|ψ⟩) = α*T̂|ψ⟩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reversal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 is anti-unitary: T̂(α|ψ⟩)=α*T̂|ψ⟩; this is required so T̂ maps the Schrödinger equation to itself under t→−t; T̂iT̂⁻¹=−i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T̂ = ÛK where Û unitary and K = complex conjugation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T̂p̂T̂⁻¹=−p̂, T̂x̂T̂⁻¹=+x̂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T̂²=−1 for half-integer spin → Kramers degeneracy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T̂ is anti-unitary: T̂(α|ψ⟩) = α*T̂|ψ⟩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reversal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T̂ is anti-unitary: T̂(α|ψ⟩)=α*T̂|ψ⟩; this is required so T̂ maps the Schrödinger equation to itself under t→−t; T̂iT̂⁻¹=−i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Ĝ = −i dÛ/dθ|_{θ=0}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— generator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Ĝ = −i dÛ/dθ|_{θ=0}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— generator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Ĝ = −i dU/dθ|_{θ=0} extracts the self-adjoint generator from any strongly continuous one-parameter unitary group; domain of Ĝ is the set of states where this derivative exists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U_a=e^{iap̂/ℏ}: Ĝ=p̂/ℏ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U_φ=e^{-iĤt/ℏ}: Ĝ=−Ĥ/ℏ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Self-adjointness of Ĝ guarantees unitarity of U(θ)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Ĝ = −i dÛ/dθ|_{θ=0}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— generator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Ĝ = −i dU/dθ|_{θ=0} extracts the self-adjoint generator from any strongly continuous one-parameter unitary group; domain of Ĝ is the set of states where this derivative exists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CPT is an exact symmetry of all local QFTs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theorem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CPT is an exact symmetry of all local QFTs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theorem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is an exact symmetry of all local Lorentz-invariant quantum field theories; C, P, T individually can each be violated (weak interaction violates P and CP), but their product is preserved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Weak interaction: violates P (parity)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 mesons: violate CP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CPT: all known particle physics preserves it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CPT is an exact symmetry of all local QFTs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theorem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is an exact symmetry of all local Lorentz-invariant quantum field theories; C, P, T individually can each be violated (weak interaction violates P and CP), but their product is...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Stone's theorem guarantee about the generator of a unitary group?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Stone's theorem guarantee about the generator of a unitary group?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theorem: Ĝ is self-adjoint; U(θ)=e^{iθĜ} strongly continuous; Ĝ unique on its domain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Stone's theorem guarantee about the generator of a unitary group?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theorem: Ĝ is self-adjoint; U(θ)=e^{iθĜ} strongly continuous; Ĝ unique on its domain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Noether's theorem in quantum mechanics using the Heisenberg equation.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Noether's theorem in quantum mechanics using the Heisenberg equation.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 via Heisenberg: [Ĥ,Ĝ]=0 → dĜ_H/dt=0 → d⟨Ĝ⟩/dt=0 for any state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Noether's theorem in quantum mechanics using the Heisenberg equation.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 via Heisenberg: [Ĥ,Ĝ]=0 → dĜ_H/dt=0 → d⟨Ĝ⟩/dt=0 for any state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Time reversal T̂ is a unitary symmetry.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Time reversal T̂ is a unitary symmetry.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T̂ is anti-unitary (involves complex conjugation); unitary would not reverse 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Time reversal T̂ is a unitary symmetry.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T̂ is anti-unitary (involves complex conjugation); unitary would not reverse time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is momentum conservation linked to translation invariance?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momentum conservation linked to translation invariance?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invariance ⟺ [Ĥ,p̂]=0 ⟺ momentum conserved (Noether's theorem)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momentum conservation linked to translation invariance?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invariance ⟺ [Ĥ,p̂]=0 ⟺ momentum conserved (Noether's theorem)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distinguishes explicit symmetry breaking from spontaneous symmetry breaking?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explicit symmetry breaking from spontaneous symmetry breaking?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Explicit: Ĥ breaks symmetry; Spontaneous: Ĥ symmetric, ground state asymmetric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distinguishes explicit symmetry breaking from spontaneous symmetry breaking?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Explicit: Ĥ breaks symmetry; Spontaneous: Ĥ symmetric, ground state asymmetric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CPT is violated by the weak interaction.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CPT is violated by the weak interaction.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CPT is exact; C and P are individually violated by the weak interaction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CPT is violated by the weak interaction.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CPT is exact; C and P are individually violated by the weak interaction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an example of a system with parity symmetry and one without.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example of a system with parity symmetry and one without.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Atoms: parity symmetric (Coulomb V(r)); ammonia: parity broken by geometry if N is off-center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 example of a system with parity symmetry and one without.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Atoms: parity symmetric (Coulomb V(r)); ammonia: parity broken by geometry if N is off-center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are Goldstone modes and when do they appear?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Goldstone modes and when do they appear?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Goldstone modes appear when a continuous symmetry is spontaneously broken; one massless mode per broken generator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one massless mode per broken generator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Goldstone modes and when do they appear?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Goldstone modes appear when a continuous symmetry is spontaneously broken; one massless mode per broken generator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Tier 1 — HS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gateway — intuition, analogy, physical picture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deepest symmetry principle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'If physics looks the same after turning everything upside down, something is conserved.' What is conserved?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Give one example of a physical symmetry and state the corresponding conservation law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the weak force violate parity? Describe the Wu experiment qualitatively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8C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E8C547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Tier 2 — BegUG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entry — apply formulas, verify properties numerically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Verify [Ĥ,p̂]=0 for a translationally invariant Hamiltonian Ĥ=p̂²/2m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Check the parity of the wavefunctions ψ₀(x), ψ₁(x) of the harmonic oscillator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Show U(θ₁)U(θ₂)=U(θ₁+θ₂) for U(θ)=e^{iθĜ}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4CC38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Tier 3 — AdvUG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understanding — proofs, derivations, basis-independence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Π̂x̂Π̂⁻¹=−x̂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Prove Noether's theorem in QM using the Heisenberg equation of motion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Derive parity selection rule: ⟨m|x̂|n⟩=0 unless m and n have opposite parity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Show Π̂x̂Π̂⁻¹=−x̂ from the definition Π̂|x⟩=|−x⟩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Tier 4 — MSc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depth — advanced formalism, information theory, open systems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classification of discrete symmetries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State the su(2) Lie algebra [Jᵢ,Jⱼ]=iℏεᵢⱼₖJₖ and derive the structure constants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Prove Kramers degeneracy from T̂²=−1 for half-integer spin systems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Classify all unitary irreducible representations of U(1) and SO(2)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B57BEE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Tier 5 — PhD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 — functional analysis, rigorous formulation, connections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Goldstone; Wigner–Eckart preview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projective representations and explain why they arise in QM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State and prove Goldstone's theorem (boson counting for broken generators)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Discuss Wigner–Eckart theorem as a consequence of rotational symmetry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EF5757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L04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Û(θ) = e^{iθĜ}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one-parameter unitary group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[Ĥ,Ĝ] = 0 ⟺ d⟨Ĝ⟩/dt = 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Noether's theorem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Π̂x̂Π̂⁻¹ = −x̂,  Π̂p̂Π̂⁻¹ = −p̂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action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T̂ is anti-unitary: T̂(α|ψ⟩) = α*T̂|ψ⟩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reversal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Ĝ = −i dÛ/dθ|_{θ=0}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Stone's theorem — generator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CPT is an exact symmetry of all local QFTs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theorem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L03 — Uncertainty and Commutation Relations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Infinitesimal Generators, Symmetries, &amp; Noether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does Stone's theorem guarantee about the generator of a unitary group?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State Noether's theorem in quantum mechanics using the Heisenberg equation.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True/False: Time reversal T̂ is a unitary symmetry.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is momentum conservation linked to translation invariance?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distinguishes explicit symmetry breaking from spontaneous symmetry breaking?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True/False: CPT is violated by the weak interaction.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Give an example of a system with parity symmetry and one without.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are Goldstone modes and when do they appear?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Infinitesimal Generators, Symmetries, &amp; Noether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'If physics looks the same after a transformation, something is conserved' — deepest symmetry principle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[Ĥ,p̂]=0 for translationally invariant Ĥ; check parity of simple wavefunctions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from Heisenberg EOM; parity selection rules; show Π̂x̂Π̂⁻¹=−x̂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 algebra generators; structure constants; su(2) algebra; full Wigner classification of discrete symmetries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representations; central extensions; spontaneous breaking and Goldstone; Wigner–Eckart preview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generators for rotations/translations/phase shifts; verify conservation laws; parity of wavefunctions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Noether's theorem in Heisenberg picture; classify H-atom symmetries; analyse CPT invariance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Infinitesimal Generators, Symmetries, &amp; Noether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L04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L04 (Expanded) — Infinitesimal Generators, Symmetries, &amp; Noether</dc:title>
  <dc:subject>Quantum Dynamics</dc:subject>
  <dc:creator>QM Programme</dc:creator>
  <cp:lastModifiedBy>QM Programme</cp:lastModifiedBy>
  <cp:revision>1</cp:revision>
  <dcterms:created xsi:type="dcterms:W3CDTF">2026-05-03T13:04:49Z</dcterms:created>
  <dcterms:modified xsi:type="dcterms:W3CDTF">2026-05-03T13:04:49Z</dcterms:modified>
</cp:coreProperties>
</file>