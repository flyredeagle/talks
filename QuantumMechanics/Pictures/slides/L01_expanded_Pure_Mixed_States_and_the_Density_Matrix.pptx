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274320"/>
            <a:ext cx="2926080" cy="2926080"/>
          </a:xfrm>
          <a:prstGeom prst="ellipse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4572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Ψ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MECHANICS — MODULE I.3 — QUANTUM DYNAMICS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11480" y="8046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11480" y="1170432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Pure/Mixed States and the Density Matrix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11480" y="22402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§2.3–2.5 — Density Operator Formalism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260604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Sakurai ↔ Dirac Dual-Track — Lecture 1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944368"/>
            <a:ext cx="658368" cy="219456"/>
          </a:xfrm>
          <a:prstGeom prst="roundRect">
            <a:avLst>
              <a:gd name="adj" fmla="val 20833"/>
            </a:avLst>
          </a:prstGeom>
          <a:solidFill>
            <a:srgbClr val="3D3110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294436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C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143000" y="2944368"/>
            <a:ext cx="658368" cy="219456"/>
          </a:xfrm>
          <a:prstGeom prst="roundRect">
            <a:avLst>
              <a:gd name="adj" fmla="val 20833"/>
            </a:avLst>
          </a:prstGeom>
          <a:solidFill>
            <a:srgbClr val="103320"/>
          </a:solidFill>
          <a:ln w="12700">
            <a:solidFill>
              <a:srgbClr val="4CC3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94436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BegUG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74520" y="2944368"/>
            <a:ext cx="658368" cy="219456"/>
          </a:xfrm>
          <a:prstGeom prst="roundRect">
            <a:avLst>
              <a:gd name="adj" fmla="val 20833"/>
            </a:avLst>
          </a:prstGeom>
          <a:solidFill>
            <a:srgbClr val="0D2050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294436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AdvUG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06040" y="2944368"/>
            <a:ext cx="658368" cy="219456"/>
          </a:xfrm>
          <a:prstGeom prst="roundRect">
            <a:avLst>
              <a:gd name="adj" fmla="val 20833"/>
            </a:avLst>
          </a:prstGeom>
          <a:solidFill>
            <a:srgbClr val="2D1850"/>
          </a:solidFill>
          <a:ln w="12700">
            <a:solidFill>
              <a:srgbClr val="B57B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06040" y="294436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57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337560" y="2944368"/>
            <a:ext cx="658368" cy="219456"/>
          </a:xfrm>
          <a:prstGeom prst="roundRect">
            <a:avLst>
              <a:gd name="adj" fmla="val 20833"/>
            </a:avLst>
          </a:prstGeom>
          <a:solidFill>
            <a:srgbClr val="400E0E"/>
          </a:solidFill>
          <a:ln w="12700">
            <a:solidFill>
              <a:srgbClr val="EF57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37560" y="294436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585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expanded deck  ·  5 tiers  ·  Worked examples  ·  Complete problem sets  ·  Diagram slides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2880" y="4892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Bra–Ket Notation — L01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0" y="48920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45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 — Lecture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28600" y="29260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Pure/Mixed States and the Density Matrix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595360" y="45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4592" y="594360"/>
            <a:ext cx="4160520" cy="1828800"/>
          </a:xfrm>
          <a:prstGeom prst="rect">
            <a:avLst/>
          </a:prstGeom>
          <a:solidFill>
            <a:srgbClr val="0D1E1D"/>
          </a:solidFill>
          <a:ln w="19050">
            <a:solidFill>
              <a:srgbClr val="28A8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685800"/>
            <a:ext cx="3941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90-MIN PACING</a:t>
            </a:r>
            <a:endParaRPr lang="en-US" sz="950" dirty="0"/>
          </a:p>
          <a:p>
            <a:pPr indent="0" marL="0">
              <a:buNone/>
            </a:pPr>
            <a:r>
              <a:rPr lang="en-US" sz="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0–20 min: Motivation — why a single ket is insufficient for sub-systems or ensembles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 min: Mixed states: ρ̂ = Σᵢ pᵢ|ψᵢ⟩⟨ψᵢ|; classical vs. quantum uncertainty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45–70 min: Properties of ρ̂: Hermiticity, unit trace, positivity; purity γ = Tr(ρ̂²)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70–90 min: Bipartite systems; partial trace ρ̂_A = Tr_B(ρ̂_AB); entanglement entropy preview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425696" y="594360"/>
            <a:ext cx="4572000" cy="1828800"/>
          </a:xfrm>
          <a:prstGeom prst="rect">
            <a:avLst/>
          </a:prstGeom>
          <a:solidFill>
            <a:srgbClr val="0D1830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5424" y="685800"/>
            <a:ext cx="43525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LEARNING OUTCOMES</a:t>
            </a:r>
            <a:endParaRPr lang="en-US" sz="950" dirty="0"/>
          </a:p>
          <a:p>
            <a:pPr indent="0" marL="0">
              <a:buNone/>
            </a:pPr>
            <a:r>
              <a:rPr lang="en-US" sz="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Construct ρ̂ for pure states, statistical mixtures, and subsystems of composite systems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Verify the three defining properties (ρ̂† = ρ̂, Tr(ρ̂) = 1, ρ̂ ≥ 0) for given matrices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Compute expectation values ⟨Â⟩ = Tr(ρ̂Â) and purity; distinguish pure from mixed states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Apply the partial trace to obtain reduced density matrices and compute entanglement entropy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4592" y="2523744"/>
            <a:ext cx="1737360" cy="1097280"/>
          </a:xfrm>
          <a:prstGeom prst="rect">
            <a:avLst/>
          </a:prstGeom>
          <a:solidFill>
            <a:srgbClr val="3D3110"/>
          </a:solidFill>
          <a:ln w="19050">
            <a:solidFill>
              <a:srgbClr val="E8C5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" y="254203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C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7744" y="2752344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probability analogy: coin-flip vs. genuine quantum superposition; Bloch sphere intuition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920240" y="2523744"/>
            <a:ext cx="1737360" cy="1097280"/>
          </a:xfrm>
          <a:prstGeom prst="rect">
            <a:avLst/>
          </a:prstGeom>
          <a:solidFill>
            <a:srgbClr val="103320"/>
          </a:solidFill>
          <a:ln w="19050">
            <a:solidFill>
              <a:srgbClr val="4CC3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20240" y="254203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3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BegUG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993392" y="2752344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ρ̂, Tr(ρ̂²), and ⟨Â⟩ for 2×2 examples; verify properties numerically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75888" y="2523744"/>
            <a:ext cx="1737360" cy="1097280"/>
          </a:xfrm>
          <a:prstGeom prst="rect">
            <a:avLst/>
          </a:prstGeom>
          <a:solidFill>
            <a:srgbClr val="0D2050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5888" y="254203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AdvUG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749040" y="2752344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Tr(ρ̂²) ≤ 1 via spectral decomposition; Bloch vector parameterisation; partial trace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31536" y="2523744"/>
            <a:ext cx="1737360" cy="1097280"/>
          </a:xfrm>
          <a:prstGeom prst="rect">
            <a:avLst/>
          </a:prstGeom>
          <a:solidFill>
            <a:srgbClr val="2D1850"/>
          </a:solidFill>
          <a:ln w="19050">
            <a:solidFill>
              <a:srgbClr val="B57B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31536" y="254203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57B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MSc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504688" y="2752344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Purification of mixed states; Schmidt decomposition; entanglement entropy and sub-additivity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87184" y="2523744"/>
            <a:ext cx="1737360" cy="1097280"/>
          </a:xfrm>
          <a:prstGeom prst="rect">
            <a:avLst/>
          </a:prstGeom>
          <a:solidFill>
            <a:srgbClr val="400E0E"/>
          </a:solidFill>
          <a:ln w="19050">
            <a:solidFill>
              <a:srgbClr val="EF575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87184" y="254203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260336" y="2752344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Trace-class operators in ∞ dimensions; von Neumann entropy; quantum relative entropy; CP maps preview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64592" y="3694176"/>
            <a:ext cx="8833104" cy="713232"/>
          </a:xfrm>
          <a:prstGeom prst="rect">
            <a:avLst/>
          </a:prstGeom>
          <a:solidFill>
            <a:srgbClr val="201700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3785616"/>
            <a:ext cx="86136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BUNDLE</a:t>
            </a:r>
            <a:endParaRPr lang="en-US" sz="950" dirty="0"/>
          </a:p>
          <a:p>
            <a:pPr indent="0" marL="0">
              <a:buNone/>
            </a:pPr>
            <a:r>
              <a:rPr lang="en-US" sz="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950" dirty="0"/>
          </a:p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A: Construct ρ̂ for explicit mixtures; compute purity and ⟨σ̂_z⟩; partial trace for 2-qubit Bell states</a:t>
            </a:r>
            <a:endParaRPr lang="en-US" sz="950" dirty="0"/>
          </a:p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B: Prove Tr(ρ̂²) ≤ (Tr ρ̂)² with equality iff rank-1; show entanglement entropy vanishes for product states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82880" y="4892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L01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572000" y="48920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Overview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 the Density Operator ρ̂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 — Build ρ̂ for any preparation — pure, mixture, or subsystem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22960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ρ̂ for any preparation — pure, mixture, or subsystem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152144"/>
            <a:ext cx="4352544" cy="0"/>
          </a:xfrm>
          <a:prstGeom prst="line">
            <a:avLst/>
          </a:prstGeom>
          <a:noFill/>
          <a:ln w="10160">
            <a:solidFill>
              <a:srgbClr val="4F8EF7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22529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POINTS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444752"/>
            <a:ext cx="43525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Pure state: ρ̂ = |ψ⟩⟨ψ|  — rank-1 projector onto |ψ⟩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Statistical mixture: ρ̂ = Σᵢ pᵢ |ψᵢ⟩⟨ψᵢ|  where Σpᵢ = 1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Subsystem of AB: ρ̂_A = Tr_B(ρ̂_AB)  — partial trace over B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Same formalism unifies all three cases via the density matrix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166360" y="877824"/>
            <a:ext cx="1417320" cy="310896"/>
          </a:xfrm>
          <a:prstGeom prst="roundRect">
            <a:avLst>
              <a:gd name="adj" fmla="val 20588"/>
            </a:avLst>
          </a:prstGeom>
          <a:solidFill>
            <a:srgbClr val="4F8EF7"/>
          </a:solidFill>
          <a:ln w="15240">
            <a:solidFill>
              <a:srgbClr val="0D111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66360" y="87782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System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875020" y="1188720"/>
            <a:ext cx="0" cy="18288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60620" y="1371600"/>
            <a:ext cx="1828800" cy="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60620" y="1371600"/>
            <a:ext cx="0" cy="164592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89420" y="1371600"/>
            <a:ext cx="0" cy="164592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1960" y="1536192"/>
            <a:ext cx="1417320" cy="310896"/>
          </a:xfrm>
          <a:prstGeom prst="roundRect">
            <a:avLst>
              <a:gd name="adj" fmla="val 20588"/>
            </a:avLst>
          </a:prstGeom>
          <a:solidFill>
            <a:srgbClr val="0D3820"/>
          </a:solidFill>
          <a:ln w="15240">
            <a:solidFill>
              <a:srgbClr val="4CC3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153619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State  |ψ⟩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080760" y="1536192"/>
            <a:ext cx="1417320" cy="310896"/>
          </a:xfrm>
          <a:prstGeom prst="roundRect">
            <a:avLst>
              <a:gd name="adj" fmla="val 20588"/>
            </a:avLst>
          </a:prstGeom>
          <a:solidFill>
            <a:srgbClr val="280D0D"/>
          </a:solidFill>
          <a:ln w="15240">
            <a:solidFill>
              <a:srgbClr val="EF575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80760" y="153619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State  ρ̂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960620" y="1847088"/>
            <a:ext cx="0" cy="457200"/>
          </a:xfrm>
          <a:prstGeom prst="line">
            <a:avLst/>
          </a:prstGeom>
          <a:noFill/>
          <a:ln w="15240">
            <a:solidFill>
              <a:srgbClr val="4CC3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51960" y="2304288"/>
            <a:ext cx="1417320" cy="310896"/>
          </a:xfrm>
          <a:prstGeom prst="roundRect">
            <a:avLst>
              <a:gd name="adj" fmla="val 20588"/>
            </a:avLst>
          </a:prstGeom>
          <a:solidFill>
            <a:srgbClr val="091A0F"/>
          </a:solidFill>
          <a:ln w="15240">
            <a:solidFill>
              <a:srgbClr val="4CC3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51960" y="230428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ρ̂ = |ψ⟩⟨ψ|   γ=1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789420" y="1847088"/>
            <a:ext cx="0" cy="457200"/>
          </a:xfrm>
          <a:prstGeom prst="line">
            <a:avLst/>
          </a:prstGeom>
          <a:noFill/>
          <a:ln w="15240">
            <a:solidFill>
              <a:srgbClr val="EF575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80760" y="2304288"/>
            <a:ext cx="1417320" cy="310896"/>
          </a:xfrm>
          <a:prstGeom prst="roundRect">
            <a:avLst>
              <a:gd name="adj" fmla="val 20588"/>
            </a:avLst>
          </a:prstGeom>
          <a:solidFill>
            <a:srgbClr val="1A0909"/>
          </a:solidFill>
          <a:ln w="15240">
            <a:solidFill>
              <a:srgbClr val="EF57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80760" y="230428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ρ̂ = Σpᵢ|ψᵢ⟩⟨ψᵢ|   γ&lt;1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789420" y="2615184"/>
            <a:ext cx="0" cy="457200"/>
          </a:xfrm>
          <a:prstGeom prst="line">
            <a:avLst/>
          </a:prstGeom>
          <a:noFill/>
          <a:ln w="15240">
            <a:solidFill>
              <a:srgbClr val="B57BEE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080760" y="3072384"/>
            <a:ext cx="1417320" cy="310896"/>
          </a:xfrm>
          <a:prstGeom prst="roundRect">
            <a:avLst>
              <a:gd name="adj" fmla="val 20588"/>
            </a:avLst>
          </a:prstGeom>
          <a:solidFill>
            <a:srgbClr val="1A0F2A"/>
          </a:solidFill>
          <a:ln w="15240">
            <a:solidFill>
              <a:srgbClr val="B57BE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80760" y="307238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57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Trace ρ̂_A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074920" y="444398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taxonomy: how ρ̂ encodes any preparation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Learning Objective 1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28A8A0"/>
          </a:solidFill>
          <a:ln w="12700">
            <a:solidFill>
              <a:srgbClr val="28A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2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Verify the Three Defining Properties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 — Check Hermiticity, unit trace, and positive semi-definiteness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28A8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22960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Hermiticity, unit trace, and positive semi-definiteness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152144"/>
            <a:ext cx="4352544" cy="0"/>
          </a:xfrm>
          <a:prstGeom prst="line">
            <a:avLst/>
          </a:prstGeom>
          <a:noFill/>
          <a:ln w="10160">
            <a:solidFill>
              <a:srgbClr val="28A8A0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22529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POINTS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444752"/>
            <a:ext cx="43525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Hermitian:  ρ̂† = ρ̂  ⟹  real eigenvalues (observable quantities)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Unit trace:  Tr(ρ̂) = 1  ⟹  total probability normalised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Positive semi-definite:  ρ̂ ≥ 0  ⟹  ⟨ψ|ρ̂|ψ⟩ ≥ 0  for all |ψ⟩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Any Hermitian matrix with unit trace and non-negative eigenvalues is a valid ρ̂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28A8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3913632" y="877824"/>
            <a:ext cx="2377440" cy="914400"/>
          </a:xfrm>
          <a:prstGeom prst="rect">
            <a:avLst/>
          </a:prstGeom>
          <a:solidFill>
            <a:srgbClr val="0D1A2A"/>
          </a:solidFill>
          <a:ln w="25400">
            <a:solidFill>
              <a:srgbClr val="4F8E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13632" y="877824"/>
            <a:ext cx="237744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13632" y="9692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Hermitian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913632" y="11978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ρ̂† = ρ̂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13632" y="14813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eigenvalues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92240" y="877824"/>
            <a:ext cx="2377440" cy="914400"/>
          </a:xfrm>
          <a:prstGeom prst="rect">
            <a:avLst/>
          </a:prstGeom>
          <a:solidFill>
            <a:srgbClr val="0D1E1D"/>
          </a:solidFill>
          <a:ln w="25400">
            <a:solidFill>
              <a:srgbClr val="28A8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92240" y="877824"/>
            <a:ext cx="2377440" cy="64008"/>
          </a:xfrm>
          <a:prstGeom prst="rect">
            <a:avLst/>
          </a:prstGeom>
          <a:solidFill>
            <a:srgbClr val="28A8A0"/>
          </a:solidFill>
          <a:ln w="12700">
            <a:solidFill>
              <a:srgbClr val="28A8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9692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 Trace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92240" y="11978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Tr(ρ̂) = 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92240" y="14813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Probabilities sum to 1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070848" y="877824"/>
            <a:ext cx="2377440" cy="914400"/>
          </a:xfrm>
          <a:prstGeom prst="rect">
            <a:avLst/>
          </a:prstGeom>
          <a:solidFill>
            <a:srgbClr val="0D1E10"/>
          </a:solidFill>
          <a:ln w="25400">
            <a:solidFill>
              <a:srgbClr val="4CC3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70848" y="877824"/>
            <a:ext cx="2377440" cy="64008"/>
          </a:xfrm>
          <a:prstGeom prst="rect">
            <a:avLst/>
          </a:prstGeom>
          <a:solidFill>
            <a:srgbClr val="4CC38A"/>
          </a:solidFill>
          <a:ln w="12700">
            <a:solidFill>
              <a:srgbClr val="4CC3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70848" y="9692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CC3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Positive Semi-def.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070848" y="11978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 ≥ 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070848" y="14813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eigenvalues λᵢ ≥ 0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498080" y="1792224"/>
            <a:ext cx="0" cy="329184"/>
          </a:xfrm>
          <a:prstGeom prst="line">
            <a:avLst/>
          </a:prstGeom>
          <a:noFill/>
          <a:ln w="15240">
            <a:solidFill>
              <a:srgbClr val="D4A84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0" y="2121408"/>
            <a:ext cx="2560320" cy="310896"/>
          </a:xfrm>
          <a:prstGeom prst="roundRect">
            <a:avLst>
              <a:gd name="adj" fmla="val 20588"/>
            </a:avLst>
          </a:prstGeom>
          <a:solidFill>
            <a:srgbClr val="201700"/>
          </a:solidFill>
          <a:ln w="15240">
            <a:solidFill>
              <a:srgbClr val="D4A84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21214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Density Operator ρ̂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74920" y="444398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properties → valid density operator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Learning Objective 2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106038"/>
          </a:solidFill>
          <a:ln w="12700">
            <a:solidFill>
              <a:srgbClr val="1060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3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 ⟨Â⟩ and Purity γ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 — Extract physical predictions and quantify how mixed a state is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4CC3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CC3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22960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physical predictions and quantify how mixed a state is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152144"/>
            <a:ext cx="4352544" cy="0"/>
          </a:xfrm>
          <a:prstGeom prst="line">
            <a:avLst/>
          </a:prstGeom>
          <a:noFill/>
          <a:ln w="10160">
            <a:solidFill>
              <a:srgbClr val="4CC38A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22529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CC3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POINTS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444752"/>
            <a:ext cx="43525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Expectation value:  ⟨Â⟩ = Tr(ρ̂ Â)  — works for all states, pure or mixed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Purity:  γ = Tr(ρ̂²) ∈ [1/d, 1]  where d = Hilbert space dimension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Pure state: γ = 1  (Bloch sphere surface)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Maximally mixed: γ = 1/d  (centre of Bloch sphere for d=2)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4CC3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CC3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440680" y="1170432"/>
            <a:ext cx="2743200" cy="310896"/>
          </a:xfrm>
          <a:prstGeom prst="rect">
            <a:avLst/>
          </a:prstGeom>
          <a:solidFill>
            <a:srgbClr val="1A2850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56632" y="121615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 = 0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0456" y="121615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 = 1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440680" y="9144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Purity  γ = Tr(ρ̂²)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40680" y="1481328"/>
            <a:ext cx="0" cy="146304"/>
          </a:xfrm>
          <a:prstGeom prst="line">
            <a:avLst/>
          </a:prstGeom>
          <a:noFill/>
          <a:ln w="22860">
            <a:solidFill>
              <a:srgbClr val="EF575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1261872"/>
            <a:ext cx="128016" cy="128016"/>
          </a:xfrm>
          <a:prstGeom prst="ellipse">
            <a:avLst/>
          </a:prstGeom>
          <a:solidFill>
            <a:srgbClr val="EF5757"/>
          </a:solidFill>
          <a:ln w="12700">
            <a:solidFill>
              <a:srgbClr val="EF57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0056" y="164592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mixed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(1/d)·I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812280" y="1481328"/>
            <a:ext cx="0" cy="146304"/>
          </a:xfrm>
          <a:prstGeom prst="line">
            <a:avLst/>
          </a:prstGeom>
          <a:noFill/>
          <a:ln w="22860">
            <a:solidFill>
              <a:srgbClr val="B57B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48272" y="1261872"/>
            <a:ext cx="128016" cy="128016"/>
          </a:xfrm>
          <a:prstGeom prst="ellipse">
            <a:avLst/>
          </a:prstGeom>
          <a:solidFill>
            <a:srgbClr val="B57BEE"/>
          </a:solidFill>
          <a:ln w="12700">
            <a:solidFill>
              <a:srgbClr val="B57B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1656" y="164592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57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57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8183880" y="1481328"/>
            <a:ext cx="0" cy="146304"/>
          </a:xfrm>
          <a:prstGeom prst="line">
            <a:avLst/>
          </a:prstGeom>
          <a:noFill/>
          <a:ln w="22860">
            <a:solidFill>
              <a:srgbClr val="4CC3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19872" y="1261872"/>
            <a:ext cx="128016" cy="128016"/>
          </a:xfrm>
          <a:prstGeom prst="ellipse">
            <a:avLst/>
          </a:prstGeom>
          <a:solidFill>
            <a:srgbClr val="4CC38A"/>
          </a:solidFill>
          <a:ln w="12700">
            <a:solidFill>
              <a:srgbClr val="4CC3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63256" y="164592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153912" y="1773936"/>
            <a:ext cx="1316736" cy="1316736"/>
          </a:xfrm>
          <a:prstGeom prst="ellipse">
            <a:avLst/>
          </a:prstGeom>
          <a:solidFill>
            <a:srgbClr val="0D1A2A"/>
          </a:solidFill>
          <a:ln w="15240">
            <a:solidFill>
              <a:srgbClr val="8B9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53912" y="2313798"/>
            <a:ext cx="1316736" cy="237012"/>
          </a:xfrm>
          <a:prstGeom prst="ellipse">
            <a:avLst/>
          </a:prstGeom>
          <a:solidFill>
            <a:srgbClr val="0D1A2A"/>
          </a:solidFill>
          <a:ln w="10160">
            <a:solidFill>
              <a:srgbClr val="8B949E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812280" y="1682496"/>
            <a:ext cx="0" cy="1499616"/>
          </a:xfrm>
          <a:prstGeom prst="line">
            <a:avLst/>
          </a:prstGeom>
          <a:noFill/>
          <a:ln w="10160">
            <a:solidFill>
              <a:srgbClr val="8B949E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7090623" y="1907438"/>
            <a:ext cx="128016" cy="128016"/>
          </a:xfrm>
          <a:prstGeom prst="ellipse">
            <a:avLst/>
          </a:prstGeom>
          <a:solidFill>
            <a:srgbClr val="4CC38A"/>
          </a:solidFill>
          <a:ln w="12700">
            <a:solidFill>
              <a:srgbClr val="4CC38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12280" y="2432304"/>
            <a:ext cx="342351" cy="-460858"/>
          </a:xfrm>
          <a:prstGeom prst="line">
            <a:avLst/>
          </a:prstGeom>
          <a:noFill/>
          <a:ln w="22860">
            <a:solidFill>
              <a:srgbClr val="4CC3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91207" y="184343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|r|=1 pure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748272" y="2569464"/>
            <a:ext cx="128016" cy="128016"/>
          </a:xfrm>
          <a:prstGeom prst="ellipse">
            <a:avLst/>
          </a:prstGeom>
          <a:solidFill>
            <a:srgbClr val="EF5757"/>
          </a:solidFill>
          <a:ln w="12700">
            <a:solidFill>
              <a:srgbClr val="EF57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12280" y="2432304"/>
            <a:ext cx="0" cy="201168"/>
          </a:xfrm>
          <a:prstGeom prst="line">
            <a:avLst/>
          </a:prstGeom>
          <a:noFill/>
          <a:ln w="19050">
            <a:solidFill>
              <a:srgbClr val="EF5757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6903720" y="2596896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|r|&lt;1 mixed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153912" y="316382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Bloch sphere  (d=2)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074920" y="444398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Purity spectrum from mixed (γ=1/d) to pure (γ=1)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Learning Objective 3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2D1850"/>
          </a:solidFill>
          <a:ln w="12700">
            <a:solidFill>
              <a:srgbClr val="2D18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the Partial Trace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 — Obtain ρ̂_A by tracing over subsystem B in a bipartite state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B57B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57B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22960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ρ̂_A by tracing over subsystem B in a bipartite state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152144"/>
            <a:ext cx="4352544" cy="0"/>
          </a:xfrm>
          <a:prstGeom prst="line">
            <a:avLst/>
          </a:prstGeom>
          <a:noFill/>
          <a:ln w="10160">
            <a:solidFill>
              <a:srgbClr val="B57BEE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22529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57B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POINTS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444752"/>
            <a:ext cx="43525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Bipartite system: H_AB = H_A ⊗ H_B  — tensor product structure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Partial trace: ρ̂_A = Tr_B(ρ̂_AB) = Σⱼ (I_A ⊗ ⟨j|_B) ρ̂_AB (I_A ⊗ |j⟩_B)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Discards all information about subsystem B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If ρ̂_AB is entangled: ρ̂_A is mixed even if ρ̂_AB was pure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B57B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B57B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166360" y="877824"/>
            <a:ext cx="4443984" cy="1371600"/>
          </a:xfrm>
          <a:prstGeom prst="rect">
            <a:avLst/>
          </a:prstGeom>
          <a:solidFill>
            <a:srgbClr val="0D1A2A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66360" y="621792"/>
            <a:ext cx="4443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ρ̂_AB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166360" y="877824"/>
            <a:ext cx="2194560" cy="1371600"/>
          </a:xfrm>
          <a:prstGeom prst="rect">
            <a:avLst/>
          </a:prstGeom>
          <a:solidFill>
            <a:srgbClr val="0D1E1D"/>
          </a:solidFill>
          <a:ln w="25400">
            <a:solidFill>
              <a:srgbClr val="28A8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877824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7415784" y="877824"/>
            <a:ext cx="2194560" cy="1371600"/>
          </a:xfrm>
          <a:prstGeom prst="rect">
            <a:avLst/>
          </a:prstGeom>
          <a:solidFill>
            <a:srgbClr val="1A0D10"/>
          </a:solidFill>
          <a:ln w="25400">
            <a:solidFill>
              <a:srgbClr val="EF575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15784" y="877824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2800" dirty="0"/>
          </a:p>
        </p:txBody>
      </p:sp>
      <p:sp>
        <p:nvSpPr>
          <p:cNvPr id="22" name="Shape 20"/>
          <p:cNvSpPr/>
          <p:nvPr/>
        </p:nvSpPr>
        <p:spPr>
          <a:xfrm>
            <a:off x="9701784" y="1563624"/>
            <a:ext cx="685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01784" y="16002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8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Tr_B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0415016" y="1152144"/>
            <a:ext cx="1645920" cy="822960"/>
          </a:xfrm>
          <a:prstGeom prst="rect">
            <a:avLst/>
          </a:prstGeom>
          <a:solidFill>
            <a:srgbClr val="0D1E1D"/>
          </a:solidFill>
          <a:ln w="25400">
            <a:solidFill>
              <a:srgbClr val="28A8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15016" y="1152144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A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ρ̂_A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166360" y="2322576"/>
            <a:ext cx="4443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B → reduced state of A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74920" y="444398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out B: ρ̂_AB → ρ̂_A (reduced density matrix)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Learning Objective 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ρ̂ = |ψ⟩⟨ψ|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Pure-state density operator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 = |ψ⟩⟨ψ|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103327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Pure-state density operator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" y="1243584"/>
            <a:ext cx="4352544" cy="0"/>
          </a:xfrm>
          <a:prstGeom prst="line">
            <a:avLst/>
          </a:prstGeom>
          <a:noFill/>
          <a:ln w="10160">
            <a:solidFill>
              <a:srgbClr val="4F8EF7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31673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517904"/>
            <a:ext cx="43525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pure state |ψ⟩ the density operator is the rank-1 projector onto |ψ⟩. It carries all quantum information and satisfies ρ̂² = ρ̂ (idempotent).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68833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CHECKS / CONSEQUENCES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889504"/>
            <a:ext cx="43525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Tr(ρ̂) = ⟨ψ|ψ⟩ = 1  ✓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ρ̂† = (|ψ⟩⟨ψ|)† = |ψ⟩⟨ψ| = ρ̂  ✓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γ = Tr(ρ̂²) = Tr(ρ̂) = 1  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239512" y="1051560"/>
            <a:ext cx="1645920" cy="1645920"/>
          </a:xfrm>
          <a:prstGeom prst="ellipse">
            <a:avLst/>
          </a:prstGeom>
          <a:solidFill>
            <a:srgbClr val="0D1A2A"/>
          </a:solidFill>
          <a:ln w="15240">
            <a:solidFill>
              <a:srgbClr val="8B9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39512" y="1693469"/>
            <a:ext cx="1645920" cy="362102"/>
          </a:xfrm>
          <a:prstGeom prst="ellipse">
            <a:avLst/>
          </a:prstGeom>
          <a:solidFill>
            <a:srgbClr val="000000">
              <a:alpha val="0"/>
            </a:srgbClr>
          </a:solidFill>
          <a:ln w="10160">
            <a:solidFill>
              <a:srgbClr val="8B949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62472" y="941832"/>
            <a:ext cx="0" cy="1847088"/>
          </a:xfrm>
          <a:prstGeom prst="line">
            <a:avLst/>
          </a:prstGeom>
          <a:noFill/>
          <a:ln w="15240">
            <a:solidFill>
              <a:srgbClr val="8B949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62472" y="1874520"/>
            <a:ext cx="345643" cy="-641909"/>
          </a:xfrm>
          <a:prstGeom prst="line">
            <a:avLst/>
          </a:prstGeom>
          <a:noFill/>
          <a:ln w="31750">
            <a:solidFill>
              <a:srgbClr val="4F8E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44107" y="1168603"/>
            <a:ext cx="128016" cy="128016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62979" y="1104595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|ψ⟩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922008" y="1691640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(pure)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879592" y="8321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|0⟩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879592" y="273405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|1⟩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74920" y="444398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Bloch sphere: pure state sits on the surface (|r|=1)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Formula 1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28A8A0"/>
          </a:solidFill>
          <a:ln w="12700">
            <a:solidFill>
              <a:srgbClr val="28A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F2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ρ̂ = Σᵢ pᵢ |ψᵢ⟩⟨ψᵢ|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mixture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28A8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A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 = Σᵢ pᵢ |ψᵢ⟩⟨ψᵢ|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103327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mixture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" y="1243584"/>
            <a:ext cx="4352544" cy="0"/>
          </a:xfrm>
          <a:prstGeom prst="line">
            <a:avLst/>
          </a:prstGeom>
          <a:noFill/>
          <a:ln w="10160">
            <a:solidFill>
              <a:srgbClr val="28A8A0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31673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517904"/>
            <a:ext cx="43525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classical mixture of quantum states |ψᵢ⟩ with probabilities pᵢ ≥ 0 summing to 1. The pᵢ are classical — the states |ψᵢ⟩ need NOT be orthogonal; the decomposition is non-unique.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68833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CHECKS / CONSEQUENCES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889504"/>
            <a:ext cx="43525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Σᵢ pᵢ = 1  ✓  (probabilities)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ρ̂ ≥ 0 since each |ψᵢ⟩⟨ψᵢ| ≥ 0  ✓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γ = Tr(ρ̂²) &lt; 1  (strictly mixed)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28A8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449824" y="914400"/>
            <a:ext cx="402336" cy="292608"/>
          </a:xfrm>
          <a:prstGeom prst="ellipse">
            <a:avLst/>
          </a:prstGeom>
          <a:solidFill>
            <a:srgbClr val="4F8EF7">
              <a:alpha val="70000"/>
            </a:srgbClr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49824" y="91440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p₁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50992" y="1207008"/>
            <a:ext cx="0" cy="237744"/>
          </a:xfrm>
          <a:prstGeom prst="line">
            <a:avLst/>
          </a:prstGeom>
          <a:noFill/>
          <a:ln w="15240">
            <a:solidFill>
              <a:srgbClr val="4F8E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70932" y="1444752"/>
            <a:ext cx="960120" cy="768096"/>
          </a:xfrm>
          <a:prstGeom prst="roundRect">
            <a:avLst>
              <a:gd name="adj" fmla="val 8333"/>
            </a:avLst>
          </a:prstGeom>
          <a:solidFill>
            <a:srgbClr val="0D1A2A"/>
          </a:solidFill>
          <a:ln w="15240">
            <a:solidFill>
              <a:srgbClr val="4F8E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0932" y="1444752"/>
            <a:ext cx="960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|ψ₁⟩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92824" y="914400"/>
            <a:ext cx="402336" cy="292608"/>
          </a:xfrm>
          <a:prstGeom prst="ellipse">
            <a:avLst/>
          </a:prstGeom>
          <a:solidFill>
            <a:srgbClr val="28A8A0">
              <a:alpha val="70000"/>
            </a:srgbClr>
          </a:solidFill>
          <a:ln w="19050">
            <a:solidFill>
              <a:srgbClr val="28A8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92824" y="91440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8A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p₂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793992" y="1207008"/>
            <a:ext cx="0" cy="237744"/>
          </a:xfrm>
          <a:prstGeom prst="line">
            <a:avLst/>
          </a:prstGeom>
          <a:noFill/>
          <a:ln w="15240">
            <a:solidFill>
              <a:srgbClr val="28A8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13932" y="1444752"/>
            <a:ext cx="960120" cy="768096"/>
          </a:xfrm>
          <a:prstGeom prst="roundRect">
            <a:avLst>
              <a:gd name="adj" fmla="val 8333"/>
            </a:avLst>
          </a:prstGeom>
          <a:solidFill>
            <a:srgbClr val="0D1A2A"/>
          </a:solidFill>
          <a:ln w="15240">
            <a:solidFill>
              <a:srgbClr val="28A8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13932" y="1444752"/>
            <a:ext cx="960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|ψ₂⟩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35824" y="914400"/>
            <a:ext cx="402336" cy="292608"/>
          </a:xfrm>
          <a:prstGeom prst="ellipse">
            <a:avLst/>
          </a:prstGeom>
          <a:solidFill>
            <a:srgbClr val="B57BEE">
              <a:alpha val="70000"/>
            </a:srgbClr>
          </a:solidFill>
          <a:ln w="19050">
            <a:solidFill>
              <a:srgbClr val="B57B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35824" y="91440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57B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p₃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936992" y="1207008"/>
            <a:ext cx="0" cy="237744"/>
          </a:xfrm>
          <a:prstGeom prst="line">
            <a:avLst/>
          </a:prstGeom>
          <a:noFill/>
          <a:ln w="15240">
            <a:solidFill>
              <a:srgbClr val="B57B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56932" y="1444752"/>
            <a:ext cx="960120" cy="768096"/>
          </a:xfrm>
          <a:prstGeom prst="roundRect">
            <a:avLst>
              <a:gd name="adj" fmla="val 8333"/>
            </a:avLst>
          </a:prstGeom>
          <a:solidFill>
            <a:srgbClr val="0D1A2A"/>
          </a:solidFill>
          <a:ln w="15240">
            <a:solidFill>
              <a:srgbClr val="B57B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56932" y="1444752"/>
            <a:ext cx="960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7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|ψ₃⟩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112764" y="17373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255764" y="17373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793992" y="2212848"/>
            <a:ext cx="0" cy="128016"/>
          </a:xfrm>
          <a:prstGeom prst="line">
            <a:avLst/>
          </a:prstGeom>
          <a:noFill/>
          <a:ln w="15240">
            <a:solidFill>
              <a:srgbClr val="D4A84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788152" y="2340864"/>
            <a:ext cx="2011680" cy="329184"/>
          </a:xfrm>
          <a:prstGeom prst="roundRect">
            <a:avLst>
              <a:gd name="adj" fmla="val 19444"/>
            </a:avLst>
          </a:prstGeom>
          <a:solidFill>
            <a:srgbClr val="201700"/>
          </a:solidFill>
          <a:ln w="15240">
            <a:solidFill>
              <a:srgbClr val="D4A84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88152" y="234086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ρ̂ = Σ pᵢ|ψᵢ⟩⟨ψᵢ|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074920" y="444398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ensemble: each |ψᵢ⟩ contributes pᵢ to ρ̂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Formula 2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4CC38A"/>
          </a:solidFill>
          <a:ln w="12700">
            <a:solidFill>
              <a:srgbClr val="4CC3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F3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⟨Â⟩ = Tr(ρ̂ Â)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Expectation value via trace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4CC3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C3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⟨Â⟩ = Tr(ρ̂ Â)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103327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Expectation value via trace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" y="1243584"/>
            <a:ext cx="4352544" cy="0"/>
          </a:xfrm>
          <a:prstGeom prst="line">
            <a:avLst/>
          </a:prstGeom>
          <a:noFill/>
          <a:ln w="10160">
            <a:solidFill>
              <a:srgbClr val="4CC38A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31673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CC3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517904"/>
            <a:ext cx="43525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any state, pure or mixed. For a pure state reduces to ⟨ψ|Â|ψ⟩. Basis-independent: the trace is invariant under unitary change of basis.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68833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CC3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CHECKS / CONSEQUENCES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889504"/>
            <a:ext cx="43525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Pure: Tr(|ψ⟩⟨ψ|Â) = ⟨ψ|Â|ψ⟩  ✓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Mixed: ⟨Â⟩ = Σᵢ pᵢ ⟨ψᵢ|Â|ψᵢ⟩  ✓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Trace cyclic: Tr(ρ̂Â) = Tr(Âρ̂)  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4CC3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CC3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148072" y="914400"/>
            <a:ext cx="457200" cy="457200"/>
          </a:xfrm>
          <a:prstGeom prst="rect">
            <a:avLst/>
          </a:prstGeom>
          <a:solidFill>
            <a:srgbClr val="1A2040"/>
          </a:solidFill>
          <a:ln w="25400">
            <a:solidFill>
              <a:srgbClr val="4F8E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48072" y="914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ρ11·A11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605272" y="914400"/>
            <a:ext cx="457200" cy="457200"/>
          </a:xfrm>
          <a:prstGeom prst="rect">
            <a:avLst/>
          </a:prstGeom>
          <a:solidFill>
            <a:srgbClr val="0D1117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05272" y="914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62472" y="914400"/>
            <a:ext cx="457200" cy="457200"/>
          </a:xfrm>
          <a:prstGeom prst="rect">
            <a:avLst/>
          </a:prstGeom>
          <a:solidFill>
            <a:srgbClr val="0D1117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62472" y="914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148072" y="1371600"/>
            <a:ext cx="457200" cy="457200"/>
          </a:xfrm>
          <a:prstGeom prst="rect">
            <a:avLst/>
          </a:prstGeom>
          <a:solidFill>
            <a:srgbClr val="0D1117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480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05272" y="1371600"/>
            <a:ext cx="457200" cy="457200"/>
          </a:xfrm>
          <a:prstGeom prst="rect">
            <a:avLst/>
          </a:prstGeom>
          <a:solidFill>
            <a:srgbClr val="1A2040"/>
          </a:solidFill>
          <a:ln w="25400">
            <a:solidFill>
              <a:srgbClr val="4F8E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052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ρ22·A22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062472" y="1371600"/>
            <a:ext cx="457200" cy="457200"/>
          </a:xfrm>
          <a:prstGeom prst="rect">
            <a:avLst/>
          </a:prstGeom>
          <a:solidFill>
            <a:srgbClr val="0D1117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624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48072" y="1828800"/>
            <a:ext cx="457200" cy="457200"/>
          </a:xfrm>
          <a:prstGeom prst="rect">
            <a:avLst/>
          </a:prstGeom>
          <a:solidFill>
            <a:srgbClr val="0D1117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480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05272" y="1828800"/>
            <a:ext cx="457200" cy="457200"/>
          </a:xfrm>
          <a:prstGeom prst="rect">
            <a:avLst/>
          </a:prstGeom>
          <a:solidFill>
            <a:srgbClr val="0D1117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052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62472" y="1828800"/>
            <a:ext cx="457200" cy="457200"/>
          </a:xfrm>
          <a:prstGeom prst="rect">
            <a:avLst/>
          </a:prstGeom>
          <a:solidFill>
            <a:srgbClr val="1A2040"/>
          </a:solidFill>
          <a:ln w="25400">
            <a:solidFill>
              <a:srgbClr val="4F8EF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624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ρ33·A33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6647688" y="12344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diagonal =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⟨Â⟩ = Tr(ρ̂Â)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577840" y="941832"/>
            <a:ext cx="164592" cy="0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35040" y="1399032"/>
            <a:ext cx="164592" cy="0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92240" y="1856232"/>
            <a:ext cx="164592" cy="0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74920" y="444398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= sum of diagonal elements of ρ̂Â in any ONB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Formula 3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γ = Tr(ρ̂²) ≤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Purity of a state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 = Tr(ρ̂²) ≤ 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103327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Purity of a state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" y="1243584"/>
            <a:ext cx="4352544" cy="0"/>
          </a:xfrm>
          <a:prstGeom prst="line">
            <a:avLst/>
          </a:prstGeom>
          <a:noFill/>
          <a:ln w="10160">
            <a:solidFill>
              <a:srgbClr val="D4A843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31673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517904"/>
            <a:ext cx="43525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Purity γ measures how pure a state is: γ=1 for a pure state, γ=1/d for the maximally mixed state in a d-dimensional space. Note γ ≥ 1/d always.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68833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CHECKS / CONSEQUENCES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889504"/>
            <a:ext cx="43525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γ = 1  ⟺  ρ̂² = ρ̂  ⟺  pure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γ = 1/d  ⟺  ρ̂ = I/d  (max mixed)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Linear entropy: S_L = 1 − γ ∈ [0, 1−1/d]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148072" y="1143000"/>
            <a:ext cx="4572000" cy="0"/>
          </a:xfrm>
          <a:prstGeom prst="line">
            <a:avLst/>
          </a:prstGeom>
          <a:noFill/>
          <a:ln w="25400">
            <a:solidFill>
              <a:srgbClr val="8B9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48072" y="1005840"/>
            <a:ext cx="0" cy="274320"/>
          </a:xfrm>
          <a:prstGeom prst="line">
            <a:avLst/>
          </a:prstGeom>
          <a:noFill/>
          <a:ln w="25400">
            <a:solidFill>
              <a:srgbClr val="EF575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56632" y="1060704"/>
            <a:ext cx="182880" cy="182880"/>
          </a:xfrm>
          <a:prstGeom prst="ellipse">
            <a:avLst/>
          </a:prstGeom>
          <a:solidFill>
            <a:srgbClr val="EF5757"/>
          </a:solidFill>
          <a:ln w="12700">
            <a:solidFill>
              <a:srgbClr val="EF575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74980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5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γ=1/d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69087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Maximally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434072" y="1005840"/>
            <a:ext cx="0" cy="274320"/>
          </a:xfrm>
          <a:prstGeom prst="line">
            <a:avLst/>
          </a:prstGeom>
          <a:noFill/>
          <a:ln w="25400">
            <a:solidFill>
              <a:srgbClr val="B57B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42632" y="1060704"/>
            <a:ext cx="182880" cy="182880"/>
          </a:xfrm>
          <a:prstGeom prst="ellipse">
            <a:avLst/>
          </a:prstGeom>
          <a:solidFill>
            <a:srgbClr val="B57BEE"/>
          </a:solidFill>
          <a:ln w="12700">
            <a:solidFill>
              <a:srgbClr val="B57B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68312" y="74980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57B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γ=0.5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97687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57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57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9720072" y="1005840"/>
            <a:ext cx="0" cy="274320"/>
          </a:xfrm>
          <a:prstGeom prst="line">
            <a:avLst/>
          </a:prstGeom>
          <a:noFill/>
          <a:ln w="25400">
            <a:solidFill>
              <a:srgbClr val="4CC38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628632" y="1060704"/>
            <a:ext cx="182880" cy="182880"/>
          </a:xfrm>
          <a:prstGeom prst="ellipse">
            <a:avLst/>
          </a:prstGeom>
          <a:solidFill>
            <a:srgbClr val="4CC38A"/>
          </a:solidFill>
          <a:ln w="12700">
            <a:solidFill>
              <a:srgbClr val="4CC3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54312" y="74980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CC3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γ=1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926287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885432" y="4937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 = Tr(ρ̂²)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74920" y="444398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Purity axis: γ=1/d (max mixed) to γ=1 (pure)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Formula 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B57BEE"/>
          </a:solidFill>
          <a:ln w="12700">
            <a:solidFill>
              <a:srgbClr val="B57B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ρ̂_A = Tr_B(ρ̂_AB)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trace — reduced density matrix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B57B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7B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ρ̂_A = Tr_B(ρ̂_AB)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103327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trace — reduced density matrix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" y="1243584"/>
            <a:ext cx="4352544" cy="0"/>
          </a:xfrm>
          <a:prstGeom prst="line">
            <a:avLst/>
          </a:prstGeom>
          <a:noFill/>
          <a:ln w="10160">
            <a:solidFill>
              <a:srgbClr val="B57BEE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31673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57B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517904"/>
            <a:ext cx="43525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Obtained by summing over a basis {|j⟩} of B: ρ̂_A = Σⱼ (I_A⊗⟨j|_B) ρ̂_AB (I_A⊗|j⟩_B). Gives the reduced state of A irrespective of B.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68833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57B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CHECKS / CONSEQUENCES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889504"/>
            <a:ext cx="43525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If ρ̂_AB = ρ̂_A ⊗ ρ̂_B: Tr_B gives ρ̂_A  ✓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If ρ̂_AB entangled: ρ̂_A is mixed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Tr(ρ̂_A) = 1 always  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B57B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B57B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148072" y="914400"/>
            <a:ext cx="502920" cy="438912"/>
          </a:xfrm>
          <a:prstGeom prst="rect">
            <a:avLst/>
          </a:prstGeom>
          <a:solidFill>
            <a:srgbClr val="0D1117"/>
          </a:solidFill>
          <a:ln w="7620">
            <a:solidFill>
              <a:srgbClr val="8B9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48072" y="91440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650992" y="914400"/>
            <a:ext cx="502920" cy="438912"/>
          </a:xfrm>
          <a:prstGeom prst="rect">
            <a:avLst/>
          </a:prstGeom>
          <a:solidFill>
            <a:srgbClr val="1A1A35"/>
          </a:solidFill>
          <a:ln w="22860">
            <a:solidFill>
              <a:srgbClr val="B57B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50992" y="91440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57B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153912" y="914400"/>
            <a:ext cx="502920" cy="438912"/>
          </a:xfrm>
          <a:prstGeom prst="rect">
            <a:avLst/>
          </a:prstGeom>
          <a:solidFill>
            <a:srgbClr val="0D1117"/>
          </a:solidFill>
          <a:ln w="7620">
            <a:solidFill>
              <a:srgbClr val="8B9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53912" y="91440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729984" y="102412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8A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a=1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148072" y="1353312"/>
            <a:ext cx="502920" cy="438912"/>
          </a:xfrm>
          <a:prstGeom prst="rect">
            <a:avLst/>
          </a:prstGeom>
          <a:solidFill>
            <a:srgbClr val="0D1117"/>
          </a:solidFill>
          <a:ln w="7620">
            <a:solidFill>
              <a:srgbClr val="8B9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48072" y="1353312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650992" y="1353312"/>
            <a:ext cx="502920" cy="438912"/>
          </a:xfrm>
          <a:prstGeom prst="rect">
            <a:avLst/>
          </a:prstGeom>
          <a:solidFill>
            <a:srgbClr val="1A1A35"/>
          </a:solidFill>
          <a:ln w="22860">
            <a:solidFill>
              <a:srgbClr val="B57B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50992" y="1353312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57B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153912" y="1353312"/>
            <a:ext cx="502920" cy="438912"/>
          </a:xfrm>
          <a:prstGeom prst="rect">
            <a:avLst/>
          </a:prstGeom>
          <a:solidFill>
            <a:srgbClr val="0D1117"/>
          </a:solidFill>
          <a:ln w="7620">
            <a:solidFill>
              <a:srgbClr val="8B9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53912" y="1353312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29984" y="146304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8A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a=2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148072" y="1792224"/>
            <a:ext cx="502920" cy="438912"/>
          </a:xfrm>
          <a:prstGeom prst="rect">
            <a:avLst/>
          </a:prstGeom>
          <a:solidFill>
            <a:srgbClr val="0D1117"/>
          </a:solidFill>
          <a:ln w="7620">
            <a:solidFill>
              <a:srgbClr val="8B9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48072" y="1792224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650992" y="1792224"/>
            <a:ext cx="502920" cy="438912"/>
          </a:xfrm>
          <a:prstGeom prst="rect">
            <a:avLst/>
          </a:prstGeom>
          <a:solidFill>
            <a:srgbClr val="1A1A35"/>
          </a:solidFill>
          <a:ln w="22860">
            <a:solidFill>
              <a:srgbClr val="B57B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50992" y="1792224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57B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153912" y="1792224"/>
            <a:ext cx="502920" cy="438912"/>
          </a:xfrm>
          <a:prstGeom prst="rect">
            <a:avLst/>
          </a:prstGeom>
          <a:solidFill>
            <a:srgbClr val="0D1117"/>
          </a:solidFill>
          <a:ln w="7620">
            <a:solidFill>
              <a:srgbClr val="8B949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53912" y="1792224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729984" y="190195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8A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a=3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148072" y="69494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F5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b=1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650992" y="69494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F5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b=2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153912" y="69494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F5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b=3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7159752" y="1572768"/>
            <a:ext cx="64008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59752" y="161848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4A8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Σ_b →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918704" y="914400"/>
            <a:ext cx="1056132" cy="1316736"/>
          </a:xfrm>
          <a:prstGeom prst="rect">
            <a:avLst/>
          </a:prstGeom>
          <a:solidFill>
            <a:srgbClr val="0D1E1D"/>
          </a:solidFill>
          <a:ln w="25400">
            <a:solidFill>
              <a:srgbClr val="28A8A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18704" y="914400"/>
            <a:ext cx="105613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A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ρ̂_A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074920" y="444398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Summing over B-index columns yields the A-block ρ̂_A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Formula 5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EF5757"/>
          </a:solidFill>
          <a:ln w="12700">
            <a:solidFill>
              <a:srgbClr val="EF5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 = −Tr(ρ̂_A ln ρ̂_A)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Neumann entanglement entropy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EF57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5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−Tr(ρ̂_A ln ρ̂_A)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103327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Neumann entanglement entropy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" y="1243584"/>
            <a:ext cx="4352544" cy="0"/>
          </a:xfrm>
          <a:prstGeom prst="line">
            <a:avLst/>
          </a:prstGeom>
          <a:noFill/>
          <a:ln w="10160">
            <a:solidFill>
              <a:srgbClr val="EF5757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31673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517904"/>
            <a:ext cx="43525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−Σᵢ λᵢ ln λᵢ where λᵢ are eigenvalues of ρ̂_A. Vanishes for product states; equals ln(d) for maximally entangled states in d dimensions.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688336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CHECKS / CONSEQUENCES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889504"/>
            <a:ext cx="43525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 = 0  ⟺  ρ̂_A pure  ⟺  no entanglement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 = ln d  ⟺  ρ̂_A = I/d  ⟺  max entanglement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Sub-additivity: S(AB) ≤ S(A) + S(B)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EF57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285232" y="2011680"/>
            <a:ext cx="393192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85232" y="914400"/>
            <a:ext cx="0" cy="114300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84064" y="8229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76672" y="1965960"/>
            <a:ext cx="914400" cy="45720"/>
          </a:xfrm>
          <a:prstGeom prst="rect">
            <a:avLst/>
          </a:prstGeom>
          <a:solidFill>
            <a:srgbClr val="4CC38A">
              <a:alpha val="80000"/>
            </a:srgbClr>
          </a:solidFill>
          <a:ln w="19050">
            <a:solidFill>
              <a:srgbClr val="4CC3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85232" y="17647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CC3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0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285232" y="20665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48272" y="1417320"/>
            <a:ext cx="914400" cy="594360"/>
          </a:xfrm>
          <a:prstGeom prst="rect">
            <a:avLst/>
          </a:prstGeom>
          <a:solidFill>
            <a:srgbClr val="B57BEE">
              <a:alpha val="80000"/>
            </a:srgbClr>
          </a:solidFill>
          <a:ln w="19050">
            <a:solidFill>
              <a:srgbClr val="B57B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56832" y="12161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57B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&lt; S &lt; log 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656832" y="20665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57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57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entanglement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8119872" y="1005840"/>
            <a:ext cx="914400" cy="1005840"/>
          </a:xfrm>
          <a:prstGeom prst="rect">
            <a:avLst/>
          </a:prstGeom>
          <a:solidFill>
            <a:srgbClr val="EF5757">
              <a:alpha val="80000"/>
            </a:srgbClr>
          </a:solidFill>
          <a:ln w="19050">
            <a:solidFill>
              <a:srgbClr val="EF575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28432" y="8046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F5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log d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8028432" y="20665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Maximally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entangled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148072" y="6400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4A8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−Tr(ρ̂_A ln ρ̂_A)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74920" y="444398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 S increases with degree of entanglement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Formula 6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CQ 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is ρ̂ needed when a ket |ψ⟩ is insufficient?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Question — think before computing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03504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04672"/>
            <a:ext cx="4352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ρ̂ needed when a ket |ψ⟩ is insufficient?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399032"/>
            <a:ext cx="4352544" cy="0"/>
          </a:xfrm>
          <a:prstGeom prst="line">
            <a:avLst/>
          </a:prstGeom>
          <a:noFill/>
          <a:ln w="10160">
            <a:solidFill>
              <a:srgbClr val="4F8EF7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63040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ANSWER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664208"/>
            <a:ext cx="435254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ket only represents a pure quantum state. For mixed states (ensembles, subsystems, statistical uncertainty) there is no single |ψ⟩ that reproduces all predictions. ρ̂ handles both: it reduces to |ψ⟩⟨ψ| for pure states and generalises smoothly to mixtures and subsystems.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657600"/>
            <a:ext cx="4352544" cy="0"/>
          </a:xfrm>
          <a:prstGeom prst="line">
            <a:avLst/>
          </a:prstGeom>
          <a:noFill/>
          <a:ln w="10160">
            <a:solidFill>
              <a:srgbClr val="EF5757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73075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COMMON PITFALL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3931920"/>
            <a:ext cx="4352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mistake: confusing 'don't know |ψ⟩' with 'state is mixed'. Ignorance of a pure state is still classical — the real state is still pure.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184648" y="914400"/>
            <a:ext cx="2011680" cy="347472"/>
          </a:xfrm>
          <a:prstGeom prst="roundRect">
            <a:avLst>
              <a:gd name="adj" fmla="val 18421"/>
            </a:avLst>
          </a:prstGeom>
          <a:solidFill>
            <a:srgbClr val="1A1A2A"/>
          </a:solidFill>
          <a:ln w="15240">
            <a:solidFill>
              <a:srgbClr val="8B94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84648" y="914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prep.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90488" y="1261872"/>
            <a:ext cx="0" cy="27432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67528" y="1536192"/>
            <a:ext cx="1645920" cy="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67528" y="1536192"/>
            <a:ext cx="0" cy="274320"/>
          </a:xfrm>
          <a:prstGeom prst="line">
            <a:avLst/>
          </a:prstGeom>
          <a:noFill/>
          <a:ln w="15240">
            <a:solidFill>
              <a:srgbClr val="4F8E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13448" y="1536192"/>
            <a:ext cx="0" cy="274320"/>
          </a:xfrm>
          <a:prstGeom prst="line">
            <a:avLst/>
          </a:prstGeom>
          <a:noFill/>
          <a:ln w="15240">
            <a:solidFill>
              <a:srgbClr val="EF575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38928" y="1810512"/>
            <a:ext cx="731520" cy="310896"/>
          </a:xfrm>
          <a:prstGeom prst="roundRect">
            <a:avLst>
              <a:gd name="adj" fmla="val 20588"/>
            </a:avLst>
          </a:prstGeom>
          <a:solidFill>
            <a:srgbClr val="0D1E1D"/>
          </a:solidFill>
          <a:ln w="15240">
            <a:solidFill>
              <a:srgbClr val="4CC3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38928" y="181051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|ψ⟩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(pure)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6556248" y="1810512"/>
            <a:ext cx="731520" cy="310896"/>
          </a:xfrm>
          <a:prstGeom prst="roundRect">
            <a:avLst>
              <a:gd name="adj" fmla="val 20588"/>
            </a:avLst>
          </a:prstGeom>
          <a:solidFill>
            <a:srgbClr val="1A0909"/>
          </a:solidFill>
          <a:ln w="15240">
            <a:solidFill>
              <a:srgbClr val="EF575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56248" y="181051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ρ̂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(mixed)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138928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556248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ignorance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Concept Question 1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28A8A0"/>
          </a:solidFill>
          <a:ln w="12700">
            <a:solidFill>
              <a:srgbClr val="28A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CQ 2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Physical difference: coherent superposition vs. classical mixture?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Question — think before computing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28A8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03504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04672"/>
            <a:ext cx="4352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difference: coherent superposition vs. classical mixture?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399032"/>
            <a:ext cx="4352544" cy="0"/>
          </a:xfrm>
          <a:prstGeom prst="line">
            <a:avLst/>
          </a:prstGeom>
          <a:noFill/>
          <a:ln w="10160">
            <a:solidFill>
              <a:srgbClr val="28A8A0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63040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ANSWER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664208"/>
            <a:ext cx="435254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superposition (|↑⟩+|↓⟩)/√2 has coherences ρ₁₂ ≠ 0 — it produces interference in measurements. A mixture p|↑⟩⟨↑|+p|↓⟩⟨↓| has no off-diagonal elements — no interference. The density matrices are physically distinct even if both have ⟨σ_z⟩=0.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657600"/>
            <a:ext cx="4352544" cy="0"/>
          </a:xfrm>
          <a:prstGeom prst="line">
            <a:avLst/>
          </a:prstGeom>
          <a:noFill/>
          <a:ln w="10160">
            <a:solidFill>
              <a:srgbClr val="EF5757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73075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COMMON PITFALL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3931920"/>
            <a:ext cx="4352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50:50 mixture of |↑⟩ and |↓⟩ has the same ⟨σ_z⟩ as the superposition but its ρ̂ is diagonal — interference patterns differ.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28A8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184648" y="914400"/>
            <a:ext cx="3108960" cy="749808"/>
          </a:xfrm>
          <a:prstGeom prst="rect">
            <a:avLst/>
          </a:prstGeom>
          <a:solidFill>
            <a:srgbClr val="0D1A2A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76088" y="95097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Superposition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276088" y="11704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|↑⟩+|↓⟩)/√2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276088" y="140817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term 2Re(A₁*A₂) ≠ 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184648" y="1865376"/>
            <a:ext cx="3108960" cy="749808"/>
          </a:xfrm>
          <a:prstGeom prst="rect">
            <a:avLst/>
          </a:prstGeom>
          <a:solidFill>
            <a:srgbClr val="0D1A2A"/>
          </a:solidFill>
          <a:ln w="19050">
            <a:solidFill>
              <a:srgbClr val="EF57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76088" y="19019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Mixture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276088" y="212140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p↑|↑⟩⟨↑|+p↓|↓⟩⟨↓|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276088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 term — no interference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Concept Question 2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4CC38A"/>
          </a:solidFill>
          <a:ln w="12700">
            <a:solidFill>
              <a:srgbClr val="4CC3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CQ 3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the three properties every density operator must satisfy.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Question — think before computing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4CC3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03504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CC3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04672"/>
            <a:ext cx="4352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three properties every density operator must satisfy.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399032"/>
            <a:ext cx="4352544" cy="0"/>
          </a:xfrm>
          <a:prstGeom prst="line">
            <a:avLst/>
          </a:prstGeom>
          <a:noFill/>
          <a:ln w="10160">
            <a:solidFill>
              <a:srgbClr val="4CC38A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63040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CC3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ANSWER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664208"/>
            <a:ext cx="435254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Hermitian: ρ̂† = ρ̂ → real, observable eigenvalues.  (2) Unit trace: Tr(ρ̂)=1 → probability normalised.  (3) Positive semi-definite: ρ̂ ≥ 0 → ⟨ψ|ρ̂|ψ⟩ ≥ 0 for all |ψ⟩, so probabilities are non-negative.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657600"/>
            <a:ext cx="4352544" cy="0"/>
          </a:xfrm>
          <a:prstGeom prst="line">
            <a:avLst/>
          </a:prstGeom>
          <a:noFill/>
          <a:ln w="10160">
            <a:solidFill>
              <a:srgbClr val="EF5757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73075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COMMON PITFALL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3931920"/>
            <a:ext cx="4352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Hermitian matrix with Tr=1 is NOT necessarily positive. All three conditions are independent and must all hold.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4CC3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CC3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391656" y="1115568"/>
            <a:ext cx="-1005840" cy="146304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85816" y="2578608"/>
            <a:ext cx="2011680" cy="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97496" y="2578608"/>
            <a:ext cx="-1005840" cy="-146304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81928" y="1005840"/>
            <a:ext cx="219456" cy="219456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243584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Hermitian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ρ̂†=ρ̂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276088" y="2468880"/>
            <a:ext cx="219456" cy="219456"/>
          </a:xfrm>
          <a:prstGeom prst="ellipse">
            <a:avLst/>
          </a:prstGeom>
          <a:solidFill>
            <a:srgbClr val="28A8A0"/>
          </a:solidFill>
          <a:ln w="12700">
            <a:solidFill>
              <a:srgbClr val="28A8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2706624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trace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Tr=1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287768" y="2468880"/>
            <a:ext cx="219456" cy="219456"/>
          </a:xfrm>
          <a:prstGeom prst="ellipse">
            <a:avLst/>
          </a:prstGeom>
          <a:solidFill>
            <a:srgbClr val="4CC38A"/>
          </a:solidFill>
          <a:ln w="12700">
            <a:solidFill>
              <a:srgbClr val="4CC3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67728" y="2706624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ρ̂≥0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916168" y="17373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 ρ̂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Concept Question 3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CQ 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True/False: A state with purity γ = 0.5 is a pure state. Justify.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Question — think before computing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03504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04672"/>
            <a:ext cx="4352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True/False: A state with purity γ = 0.5 is a pure state. Justify.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399032"/>
            <a:ext cx="4352544" cy="0"/>
          </a:xfrm>
          <a:prstGeom prst="line">
            <a:avLst/>
          </a:prstGeom>
          <a:noFill/>
          <a:ln w="10160">
            <a:solidFill>
              <a:srgbClr val="D4A843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63040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ANSWER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664208"/>
            <a:ext cx="435254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FALSE. A pure state has γ = Tr(ρ̂²) = 1. Any γ &lt; 1 indicates a mixed state. For a qubit (d=2), γ = 0.5 lies halfway between the maximally mixed state (γ=0.5) and the pure surface (γ=1). In fact for d=2, γ_min = 1/d = 0.5 is the maximally mixed state.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657600"/>
            <a:ext cx="4352544" cy="0"/>
          </a:xfrm>
          <a:prstGeom prst="line">
            <a:avLst/>
          </a:prstGeom>
          <a:noFill/>
          <a:ln w="10160">
            <a:solidFill>
              <a:srgbClr val="EF5757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73075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COMMON PITFALL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3931920"/>
            <a:ext cx="4352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d=2: the maximally mixed state (½I) has γ=½, NOT a pure state. Bloch vector: |r|=0 (centre), not |r|=1 (surface).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321808" y="1051560"/>
            <a:ext cx="1554480" cy="1554480"/>
          </a:xfrm>
          <a:prstGeom prst="ellipse">
            <a:avLst/>
          </a:prstGeom>
          <a:solidFill>
            <a:srgbClr val="0D1A2A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76088" y="83210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γ=1 (surface)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641848" y="26609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γ=1/d (centre)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007608" y="1348740"/>
            <a:ext cx="182880" cy="182880"/>
          </a:xfrm>
          <a:prstGeom prst="ellipse">
            <a:avLst/>
          </a:prstGeom>
          <a:solidFill>
            <a:srgbClr val="B57BEE"/>
          </a:solidFill>
          <a:ln w="12700">
            <a:solidFill>
              <a:srgbClr val="B57B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27064" y="129387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57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γ=0.5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B57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04688" y="71323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 — Mixed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Concept Question 4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B57BEE"/>
          </a:solidFill>
          <a:ln w="12700">
            <a:solidFill>
              <a:srgbClr val="B57B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CQ 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does the partial trace 'discard' information about subsystem B?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Question — think before computing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B57B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03504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57B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04672"/>
            <a:ext cx="4352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partial trace 'discard' information about subsystem B?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399032"/>
            <a:ext cx="4352544" cy="0"/>
          </a:xfrm>
          <a:prstGeom prst="line">
            <a:avLst/>
          </a:prstGeom>
          <a:noFill/>
          <a:ln w="10160">
            <a:solidFill>
              <a:srgbClr val="B57BEE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63040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57B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ANSWER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664208"/>
            <a:ext cx="435254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Tr_B sums over a complete basis {|j⟩_B} of B: ρ̂_A = Σⱼ ⟨j|_B ρ̂_AB |j⟩_B. This averages over all B outcomes — effectively integrating out B's degrees of freedom. The result depends on B's Hilbert space dimension but not on B's particular state.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657600"/>
            <a:ext cx="4352544" cy="0"/>
          </a:xfrm>
          <a:prstGeom prst="line">
            <a:avLst/>
          </a:prstGeom>
          <a:noFill/>
          <a:ln w="10160">
            <a:solidFill>
              <a:srgbClr val="EF5757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73075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COMMON PITFALL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3931920"/>
            <a:ext cx="4352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trace does not depend on any specific measurement of B. It is a mathematical operation, not a physical collapse.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B57B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B57B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184648" y="914400"/>
            <a:ext cx="4443984" cy="1371600"/>
          </a:xfrm>
          <a:prstGeom prst="rect">
            <a:avLst/>
          </a:prstGeom>
          <a:solidFill>
            <a:srgbClr val="0D1A2A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84648" y="658368"/>
            <a:ext cx="4443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ρ̂_AB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84648" y="914400"/>
            <a:ext cx="2194560" cy="1371600"/>
          </a:xfrm>
          <a:prstGeom prst="rect">
            <a:avLst/>
          </a:prstGeom>
          <a:solidFill>
            <a:srgbClr val="0D1E1D"/>
          </a:solidFill>
          <a:ln w="25400">
            <a:solidFill>
              <a:srgbClr val="28A8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84648" y="9144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7434072" y="914400"/>
            <a:ext cx="2194560" cy="1371600"/>
          </a:xfrm>
          <a:prstGeom prst="rect">
            <a:avLst/>
          </a:prstGeom>
          <a:solidFill>
            <a:srgbClr val="1A0D10"/>
          </a:solidFill>
          <a:ln w="25400">
            <a:solidFill>
              <a:srgbClr val="EF57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34072" y="9144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2800" dirty="0"/>
          </a:p>
        </p:txBody>
      </p:sp>
      <p:sp>
        <p:nvSpPr>
          <p:cNvPr id="25" name="Shape 23"/>
          <p:cNvSpPr/>
          <p:nvPr/>
        </p:nvSpPr>
        <p:spPr>
          <a:xfrm>
            <a:off x="9720072" y="1600200"/>
            <a:ext cx="685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20072" y="16367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8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Tr_B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0433304" y="1188720"/>
            <a:ext cx="1645920" cy="822960"/>
          </a:xfrm>
          <a:prstGeom prst="rect">
            <a:avLst/>
          </a:prstGeom>
          <a:solidFill>
            <a:srgbClr val="0D1E1D"/>
          </a:solidFill>
          <a:ln w="25400">
            <a:solidFill>
              <a:srgbClr val="28A8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33304" y="1188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A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ρ̂_A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184648" y="2359152"/>
            <a:ext cx="4443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B → reduced state of A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Concept Question 5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EF5757"/>
          </a:solidFill>
          <a:ln w="12700">
            <a:solidFill>
              <a:srgbClr val="EF5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CQ 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True/False: Entanglement entropy is zero for a product state. Justify.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Question — think before computing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EF57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03504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04672"/>
            <a:ext cx="4352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True/False: Entanglement entropy is zero for a product state. Justify.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399032"/>
            <a:ext cx="4352544" cy="0"/>
          </a:xfrm>
          <a:prstGeom prst="line">
            <a:avLst/>
          </a:prstGeom>
          <a:noFill/>
          <a:ln w="10160">
            <a:solidFill>
              <a:srgbClr val="EF5757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63040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ANSWER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664208"/>
            <a:ext cx="435254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TRUE. If ρ̂_AB = ρ̂_A ⊗ ρ̂_B then ρ̂_A is pure (γ_A=1) if the full state is pure, so S_A = 0. More precisely, if ρ̂_AB is a pure product state then ρ̂_A = |ψ_A⟩⟨ψ_A| which has a single non-zero eigenvalue (λ=1), giving S = −1·ln1 = 0.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657600"/>
            <a:ext cx="4352544" cy="0"/>
          </a:xfrm>
          <a:prstGeom prst="line">
            <a:avLst/>
          </a:prstGeom>
          <a:noFill/>
          <a:ln w="10160">
            <a:solidFill>
              <a:srgbClr val="EF5757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73075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COMMON PITFALL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3931920"/>
            <a:ext cx="4352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S=0 iff ρ̂_A is pure iff the full pure state ρ̂_AB is a product state. Any entanglement → S &gt; 0.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EF57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184648" y="914400"/>
            <a:ext cx="1280160" cy="329184"/>
          </a:xfrm>
          <a:prstGeom prst="roundRect">
            <a:avLst>
              <a:gd name="adj" fmla="val 19444"/>
            </a:avLst>
          </a:prstGeom>
          <a:solidFill>
            <a:srgbClr val="0D1E1D"/>
          </a:solidFill>
          <a:ln w="15240">
            <a:solidFill>
              <a:srgbClr val="28A8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84648" y="9144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ρ̂_A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10528" y="95097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⊗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30568" y="914400"/>
            <a:ext cx="1280160" cy="329184"/>
          </a:xfrm>
          <a:prstGeom prst="roundRect">
            <a:avLst>
              <a:gd name="adj" fmla="val 19444"/>
            </a:avLst>
          </a:prstGeom>
          <a:solidFill>
            <a:srgbClr val="1A0D10"/>
          </a:solidFill>
          <a:ln w="15240">
            <a:solidFill>
              <a:srgbClr val="EF575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30568" y="9144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ρ̂_B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47688" y="1243584"/>
            <a:ext cx="0" cy="27432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0408" y="1517904"/>
            <a:ext cx="2194560" cy="329184"/>
          </a:xfrm>
          <a:prstGeom prst="roundRect">
            <a:avLst>
              <a:gd name="adj" fmla="val 19444"/>
            </a:avLst>
          </a:prstGeom>
          <a:solidFill>
            <a:srgbClr val="0D1A2A"/>
          </a:solidFill>
          <a:ln w="15240">
            <a:solidFill>
              <a:srgbClr val="4F8E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50408" y="151790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ρ̂_AB = ρ̂_A ⊗ ρ̂_B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647688" y="1847088"/>
            <a:ext cx="0" cy="274320"/>
          </a:xfrm>
          <a:prstGeom prst="line">
            <a:avLst/>
          </a:prstGeom>
          <a:noFill/>
          <a:ln w="15240">
            <a:solidFill>
              <a:srgbClr val="D4A84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33288" y="2121408"/>
            <a:ext cx="1828800" cy="329184"/>
          </a:xfrm>
          <a:prstGeom prst="roundRect">
            <a:avLst>
              <a:gd name="adj" fmla="val 19444"/>
            </a:avLst>
          </a:prstGeom>
          <a:solidFill>
            <a:srgbClr val="201700"/>
          </a:solidFill>
          <a:ln w="15240">
            <a:solidFill>
              <a:srgbClr val="D4A84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33288" y="21214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0  (no entanglement)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Concept Question 6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CQ 7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does ⟨Â⟩ = Tr(ρ̂Â) reduce to the usual ⟨ψ|Â|ψ⟩?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Question — think before computing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03504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04672"/>
            <a:ext cx="4352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does ⟨Â⟩ = Tr(ρ̂Â) reduce to the usual ⟨ψ|Â|ψ⟩?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399032"/>
            <a:ext cx="4352544" cy="0"/>
          </a:xfrm>
          <a:prstGeom prst="line">
            <a:avLst/>
          </a:prstGeom>
          <a:noFill/>
          <a:ln w="10160">
            <a:solidFill>
              <a:srgbClr val="4F8EF7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63040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ANSWER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664208"/>
            <a:ext cx="435254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ρ̂ = |ψ⟩⟨ψ| (pure state): Tr(|ψ⟩⟨ψ|Â) = ⟨ψ|Â|ψ⟩. For a mixed state ρ̂ = Σpᵢ|ψᵢ⟩⟨ψᵢ|: ⟨Â⟩ = Σpᵢ⟨ψᵢ|Â|ψᵢ⟩ — a weighted classical average of quantum expectations. There is no single |ψ⟩ that gives this.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657600"/>
            <a:ext cx="4352544" cy="0"/>
          </a:xfrm>
          <a:prstGeom prst="line">
            <a:avLst/>
          </a:prstGeom>
          <a:noFill/>
          <a:ln w="10160">
            <a:solidFill>
              <a:srgbClr val="EF5757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73075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COMMON PITFALL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3931920"/>
            <a:ext cx="4352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mixed state one cannot write ⟨Â⟩ = ⟨ψ|Â|ψ⟩ for any |ψ⟩ — this is precisely why ρ̂ is indispensable.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184648" y="914400"/>
            <a:ext cx="2560320" cy="347472"/>
          </a:xfrm>
          <a:prstGeom prst="roundRect">
            <a:avLst>
              <a:gd name="adj" fmla="val 18421"/>
            </a:avLst>
          </a:prstGeom>
          <a:solidFill>
            <a:srgbClr val="0D1E1D"/>
          </a:solidFill>
          <a:ln w="15240">
            <a:solidFill>
              <a:srgbClr val="4CC3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84648" y="9144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Pure: ρ̂² = ρ̂   (idempotent)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64808" y="1261872"/>
            <a:ext cx="0" cy="27432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84648" y="1536192"/>
            <a:ext cx="2560320" cy="347472"/>
          </a:xfrm>
          <a:prstGeom prst="roundRect">
            <a:avLst>
              <a:gd name="adj" fmla="val 18421"/>
            </a:avLst>
          </a:prstGeom>
          <a:solidFill>
            <a:srgbClr val="0D1A2A"/>
          </a:solidFill>
          <a:ln w="15240">
            <a:solidFill>
              <a:srgbClr val="4F8E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84648" y="153619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Tr(ρ̂Â) = ⟨ψ|Â|ψ⟩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64808" y="1883664"/>
            <a:ext cx="0" cy="27432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84648" y="2157984"/>
            <a:ext cx="2560320" cy="347472"/>
          </a:xfrm>
          <a:prstGeom prst="roundRect">
            <a:avLst>
              <a:gd name="adj" fmla="val 18421"/>
            </a:avLst>
          </a:prstGeom>
          <a:solidFill>
            <a:srgbClr val="1A0D1A"/>
          </a:solidFill>
          <a:ln w="15240">
            <a:solidFill>
              <a:srgbClr val="EF57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84648" y="2157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Mixed: ρ̂² ≠ ρ̂   (not idempotent)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464808" y="2505456"/>
            <a:ext cx="0" cy="27432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84648" y="2779776"/>
            <a:ext cx="2560320" cy="347472"/>
          </a:xfrm>
          <a:prstGeom prst="roundRect">
            <a:avLst>
              <a:gd name="adj" fmla="val 18421"/>
            </a:avLst>
          </a:prstGeom>
          <a:solidFill>
            <a:srgbClr val="0D1A2A"/>
          </a:solidFill>
          <a:ln w="15240">
            <a:solidFill>
              <a:srgbClr val="8B9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4648" y="277977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Tr(ρ̂Â) ≠ ⟨ψ|Â|ψ⟩ for any |ψ⟩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Concept Question 7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005840" cy="219456"/>
          </a:xfrm>
          <a:prstGeom prst="roundRect">
            <a:avLst>
              <a:gd name="adj" fmla="val 25000"/>
            </a:avLst>
          </a:prstGeom>
          <a:solidFill>
            <a:srgbClr val="28A8A0"/>
          </a:solidFill>
          <a:ln w="12700">
            <a:solidFill>
              <a:srgbClr val="28A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CQ 8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261872" y="457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Compare Bloch sphere representation: pure vs. mixed spin-½.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274320"/>
            <a:ext cx="6858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Question — think before computing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1A2A"/>
          </a:solidFill>
          <a:ln w="19050">
            <a:solidFill>
              <a:srgbClr val="28A8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03504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04672"/>
            <a:ext cx="4352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Bloch sphere representation: pure vs. mixed spin-½.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399032"/>
            <a:ext cx="4352544" cy="0"/>
          </a:xfrm>
          <a:prstGeom prst="line">
            <a:avLst/>
          </a:prstGeom>
          <a:noFill/>
          <a:ln w="10160">
            <a:solidFill>
              <a:srgbClr val="28A8A0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63040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ANSWER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664208"/>
            <a:ext cx="435254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states live on the surface of the Bloch sphere: r⃗ = (⟨σ_x⟩,⟨σ_y⟩,⟨σ_z⟩), |r⃗|=1. Mixed states live strictly inside: |r⃗| &lt; 1. The maximally mixed state ρ̂=½I is the centre (r⃗=0, γ=½). ρ̂ = ½(I + r⃗·σ⃗) parameterises all qubit states.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657600"/>
            <a:ext cx="4352544" cy="0"/>
          </a:xfrm>
          <a:prstGeom prst="line">
            <a:avLst/>
          </a:prstGeom>
          <a:noFill/>
          <a:ln w="10160">
            <a:solidFill>
              <a:srgbClr val="EF5757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73075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COMMON PITFALL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3931920"/>
            <a:ext cx="4352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Bloch sphere is specific to qubits (d=2). For d&gt;2 the state space is not a ball — it is a higher-dimensional convex body with a much more complex structure.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28A8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321808" y="1051560"/>
            <a:ext cx="1554480" cy="1554480"/>
          </a:xfrm>
          <a:prstGeom prst="ellipse">
            <a:avLst/>
          </a:prstGeom>
          <a:solidFill>
            <a:srgbClr val="0D1A2A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3096" y="1280160"/>
            <a:ext cx="164592" cy="164592"/>
          </a:xfrm>
          <a:prstGeom prst="ellipse">
            <a:avLst/>
          </a:prstGeom>
          <a:solidFill>
            <a:srgbClr val="4CC38A"/>
          </a:solidFill>
          <a:ln w="12700">
            <a:solidFill>
              <a:srgbClr val="4CC3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9048" y="1828800"/>
            <a:ext cx="466344" cy="-466344"/>
          </a:xfrm>
          <a:prstGeom prst="line">
            <a:avLst/>
          </a:prstGeom>
          <a:noFill/>
          <a:ln w="19050">
            <a:solidFill>
              <a:srgbClr val="4CC3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1179576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|r|=1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025896" y="2011680"/>
            <a:ext cx="146304" cy="146304"/>
          </a:xfrm>
          <a:prstGeom prst="ellipse">
            <a:avLst/>
          </a:prstGeom>
          <a:solidFill>
            <a:srgbClr val="EF5757"/>
          </a:solidFill>
          <a:ln w="12700">
            <a:solidFill>
              <a:srgbClr val="EF575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99048" y="1828800"/>
            <a:ext cx="0" cy="256032"/>
          </a:xfrm>
          <a:prstGeom prst="line">
            <a:avLst/>
          </a:prstGeom>
          <a:noFill/>
          <a:ln w="19050">
            <a:solidFill>
              <a:srgbClr val="EF5757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6190488" y="2103120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|r|&lt;1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82880" y="491947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Concept Question 8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E8C547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1 — HS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673352" y="45720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High-School Track — Intuitive Gateway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73352" y="274320"/>
            <a:ext cx="6492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Analogy: classical ignorance vs. quantum superposition. No matrix mechanics.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3D3110"/>
          </a:solidFill>
          <a:ln w="22860">
            <a:solidFill>
              <a:srgbClr val="E8C5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C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SUMMARY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32104"/>
            <a:ext cx="4352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probability analogy: coin-flip vs. genuine quantum superposition; Bloch sphere intuition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1517904"/>
            <a:ext cx="4352544" cy="0"/>
          </a:xfrm>
          <a:prstGeom prst="line">
            <a:avLst/>
          </a:prstGeom>
          <a:noFill/>
          <a:ln w="10160">
            <a:solidFill>
              <a:srgbClr val="E8C547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58191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C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ACTIVITIES &amp; TASKS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92224"/>
            <a:ext cx="43525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Visualise |↑⟩+|↓⟩ vs. 50:50 mixture on a coin-flip tree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Explain why |α|² gives probability: normalisation |α|²+|β|²=1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Describe the Bloch sphere: sphere surface = pure, inside = mixed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Discuss: 'Why does quantum mechanics need complex numbers?'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E8C54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E8C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184648" y="914400"/>
            <a:ext cx="1645920" cy="475488"/>
          </a:xfrm>
          <a:prstGeom prst="roundRect">
            <a:avLst>
              <a:gd name="adj" fmla="val 13462"/>
            </a:avLst>
          </a:prstGeom>
          <a:solidFill>
            <a:srgbClr val="0D1A2A"/>
          </a:solidFill>
          <a:ln w="15240">
            <a:solidFill>
              <a:srgbClr val="8B94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84648" y="91440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 flip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(classical)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07608" y="1389888"/>
            <a:ext cx="0" cy="27432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1664208"/>
            <a:ext cx="1097280" cy="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58968" y="1664208"/>
            <a:ext cx="0" cy="27432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56248" y="1664208"/>
            <a:ext cx="0" cy="27432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79208" y="914400"/>
            <a:ext cx="1645920" cy="475488"/>
          </a:xfrm>
          <a:prstGeom prst="roundRect">
            <a:avLst>
              <a:gd name="adj" fmla="val 13462"/>
            </a:avLst>
          </a:prstGeom>
          <a:solidFill>
            <a:srgbClr val="0D1A2A"/>
          </a:solidFill>
          <a:ln w="15240">
            <a:solidFill>
              <a:srgbClr val="4F8E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79208" y="91440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202168" y="1389888"/>
            <a:ext cx="0" cy="274320"/>
          </a:xfrm>
          <a:prstGeom prst="line">
            <a:avLst/>
          </a:prstGeom>
          <a:noFill/>
          <a:ln w="15240">
            <a:solidFill>
              <a:srgbClr val="4F8E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53528" y="1664208"/>
            <a:ext cx="1097280" cy="0"/>
          </a:xfrm>
          <a:prstGeom prst="line">
            <a:avLst/>
          </a:prstGeom>
          <a:noFill/>
          <a:ln w="15240">
            <a:solidFill>
              <a:srgbClr val="4F8E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53528" y="1664208"/>
            <a:ext cx="0" cy="274320"/>
          </a:xfrm>
          <a:prstGeom prst="line">
            <a:avLst/>
          </a:prstGeom>
          <a:noFill/>
          <a:ln w="15240">
            <a:solidFill>
              <a:srgbClr val="4F8EF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750808" y="1664208"/>
            <a:ext cx="0" cy="274320"/>
          </a:xfrm>
          <a:prstGeom prst="line">
            <a:avLst/>
          </a:prstGeom>
          <a:noFill/>
          <a:ln w="15240">
            <a:solidFill>
              <a:srgbClr val="4F8EF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84648" y="1938528"/>
            <a:ext cx="640080" cy="310896"/>
          </a:xfrm>
          <a:prstGeom prst="roundRect">
            <a:avLst>
              <a:gd name="adj" fmla="val 20588"/>
            </a:avLst>
          </a:prstGeom>
          <a:solidFill>
            <a:srgbClr val="201007"/>
          </a:solidFill>
          <a:ln w="15240">
            <a:solidFill>
              <a:srgbClr val="D4A84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4648" y="193852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p=½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90488" y="1938528"/>
            <a:ext cx="640080" cy="310896"/>
          </a:xfrm>
          <a:prstGeom prst="roundRect">
            <a:avLst>
              <a:gd name="adj" fmla="val 20588"/>
            </a:avLst>
          </a:prstGeom>
          <a:solidFill>
            <a:srgbClr val="201007"/>
          </a:solidFill>
          <a:ln w="15240">
            <a:solidFill>
              <a:srgbClr val="D4A84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90488" y="193852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p=½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379208" y="1938528"/>
            <a:ext cx="640080" cy="310896"/>
          </a:xfrm>
          <a:prstGeom prst="roundRect">
            <a:avLst>
              <a:gd name="adj" fmla="val 20588"/>
            </a:avLst>
          </a:prstGeom>
          <a:solidFill>
            <a:srgbClr val="0D1E35"/>
          </a:solidFill>
          <a:ln w="15240">
            <a:solidFill>
              <a:srgbClr val="4F8EF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79208" y="193852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|0⟩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385048" y="1938528"/>
            <a:ext cx="640080" cy="310896"/>
          </a:xfrm>
          <a:prstGeom prst="roundRect">
            <a:avLst>
              <a:gd name="adj" fmla="val 20588"/>
            </a:avLst>
          </a:prstGeom>
          <a:solidFill>
            <a:srgbClr val="0D1E35"/>
          </a:solidFill>
          <a:ln w="15240">
            <a:solidFill>
              <a:srgbClr val="4F8EF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85048" y="193852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|1⟩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184648" y="2377440"/>
            <a:ext cx="4114800" cy="347472"/>
          </a:xfrm>
          <a:prstGeom prst="rect">
            <a:avLst/>
          </a:prstGeom>
          <a:solidFill>
            <a:srgbClr val="201700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76088" y="241401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Quantum: |α|²+|β|²=1 AND cross-terms (interference) exist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82880" y="4919472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Tier 1 — HS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4CC38A"/>
          </a:solidFill>
          <a:ln w="12700">
            <a:solidFill>
              <a:srgbClr val="4CC3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2 — BegUG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673352" y="45720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Beginning Undergraduate — Computational Entry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73352" y="274320"/>
            <a:ext cx="6492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computations: build ρ̂, verify properties, compute ⟨Â⟩.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103320"/>
          </a:solidFill>
          <a:ln w="22860">
            <a:solidFill>
              <a:srgbClr val="4CC3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CC3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SUMMARY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32104"/>
            <a:ext cx="4352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ρ̂, Tr(ρ̂²), and ⟨Â⟩ for 2×2 examples; verify properties numerically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1517904"/>
            <a:ext cx="4352544" cy="0"/>
          </a:xfrm>
          <a:prstGeom prst="line">
            <a:avLst/>
          </a:prstGeom>
          <a:noFill/>
          <a:ln w="10160">
            <a:solidFill>
              <a:srgbClr val="4CC38A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58191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CC3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ACTIVITIES &amp; TASKS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92224"/>
            <a:ext cx="43525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Write ρ̂ for |+⟩=(|0⟩+|1⟩)/√2; compute Tr(ρ̂²), ⟨σ_z⟩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For ρ̂ = 0.7|0⟩⟨0|+0.3|1⟩⟨1|: find purity, ⟨σ_x⟩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Verify Hermiticity and positive semi-definiteness numerically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Compute partial trace for |Φ+⟩=(|00⟩+|11⟩)/√2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4CC3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CC3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184648" y="914400"/>
            <a:ext cx="1188720" cy="1188720"/>
          </a:xfrm>
          <a:prstGeom prst="rect">
            <a:avLst/>
          </a:prstGeom>
          <a:solidFill>
            <a:srgbClr val="0D1A2A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84648" y="914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ρ₁₁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779008" y="914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ρ₁₂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184648" y="1508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ρ₂₁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779008" y="1508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ρ₂₂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41848" y="658368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1508760"/>
            <a:ext cx="50292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95160" y="1344168"/>
            <a:ext cx="914400" cy="329184"/>
          </a:xfrm>
          <a:prstGeom prst="roundRect">
            <a:avLst>
              <a:gd name="adj" fmla="val 19444"/>
            </a:avLst>
          </a:prstGeom>
          <a:solidFill>
            <a:srgbClr val="201700"/>
          </a:solidFill>
          <a:ln w="15240">
            <a:solidFill>
              <a:srgbClr val="D4A8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134416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Tr(ρ̂)=1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46520" y="1764792"/>
            <a:ext cx="502920" cy="0"/>
          </a:xfrm>
          <a:prstGeom prst="line">
            <a:avLst/>
          </a:prstGeom>
          <a:noFill/>
          <a:ln w="25400">
            <a:solidFill>
              <a:srgbClr val="B57B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95160" y="1600200"/>
            <a:ext cx="914400" cy="329184"/>
          </a:xfrm>
          <a:prstGeom prst="roundRect">
            <a:avLst>
              <a:gd name="adj" fmla="val 19444"/>
            </a:avLst>
          </a:prstGeom>
          <a:solidFill>
            <a:srgbClr val="1A0F2A"/>
          </a:solidFill>
          <a:ln w="15240">
            <a:solidFill>
              <a:srgbClr val="B57B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16002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57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Tr(ρ̂²)≤1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46520" y="2057400"/>
            <a:ext cx="502920" cy="0"/>
          </a:xfrm>
          <a:prstGeom prst="line">
            <a:avLst/>
          </a:prstGeom>
          <a:noFill/>
          <a:ln w="25400">
            <a:solidFill>
              <a:srgbClr val="28A8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95160" y="1892808"/>
            <a:ext cx="914400" cy="329184"/>
          </a:xfrm>
          <a:prstGeom prst="roundRect">
            <a:avLst>
              <a:gd name="adj" fmla="val 19444"/>
            </a:avLst>
          </a:prstGeom>
          <a:solidFill>
            <a:srgbClr val="0D1E1D"/>
          </a:solidFill>
          <a:ln w="15240">
            <a:solidFill>
              <a:srgbClr val="28A8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95160" y="18928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⟨Â⟩=Tr(ρ̂Â)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82880" y="4919472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Tier 2 — BegUG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3 — AdvUG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673352" y="45720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 Undergraduate — Structural Understanding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73352" y="274320"/>
            <a:ext cx="6492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and spectral theory: derive Tr(ρ̂²)≤1, Bloch vector, partial trace.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0D2050"/>
          </a:solidFill>
          <a:ln w="22860">
            <a:solidFill>
              <a:srgbClr val="4F8E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SUMMARY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32104"/>
            <a:ext cx="4352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Tr(ρ̂²) ≤ 1 via spectral decomposition; Bloch vector parameterisation; partial trace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1517904"/>
            <a:ext cx="4352544" cy="0"/>
          </a:xfrm>
          <a:prstGeom prst="line">
            <a:avLst/>
          </a:prstGeom>
          <a:noFill/>
          <a:ln w="10160">
            <a:solidFill>
              <a:srgbClr val="4F8EF7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58191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ACTIVITIES &amp; TASKS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92224"/>
            <a:ext cx="43525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Prove Tr(ρ̂²) ≤ 1 using spectral decomposition and Cauchy–Schwarz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Parameterise a qubit ρ̂ via Bloch vector; show γ = ½(1+|r|²)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Derive partial trace formula from tensor product structure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Show global phase is unobservable: Tr(ρ̂Â) invariant under |ψ⟩→e^{iθ}|ψ⟩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184648" y="1298448"/>
            <a:ext cx="640080" cy="713232"/>
          </a:xfrm>
          <a:prstGeom prst="rect">
            <a:avLst/>
          </a:prstGeom>
          <a:solidFill>
            <a:srgbClr val="4F8EF7">
              <a:alpha val="80000"/>
            </a:srgbClr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84648" y="67665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λ1=0.65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184648" y="204825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|e1⟩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053328" y="1737360"/>
            <a:ext cx="640080" cy="274320"/>
          </a:xfrm>
          <a:prstGeom prst="rect">
            <a:avLst/>
          </a:prstGeom>
          <a:solidFill>
            <a:srgbClr val="28A8A0">
              <a:alpha val="80000"/>
            </a:srgbClr>
          </a:solidFill>
          <a:ln w="19050">
            <a:solidFill>
              <a:srgbClr val="28A8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67665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8A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λ2=0.25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053328" y="204825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8A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|e2⟩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922008" y="1901952"/>
            <a:ext cx="640080" cy="109728"/>
          </a:xfrm>
          <a:prstGeom prst="rect">
            <a:avLst/>
          </a:prstGeom>
          <a:solidFill>
            <a:srgbClr val="B57BEE">
              <a:alpha val="80000"/>
            </a:srgbClr>
          </a:solidFill>
          <a:ln w="19050">
            <a:solidFill>
              <a:srgbClr val="B57B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22008" y="67665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57B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λ3=0.1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922008" y="204825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57B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|e3⟩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111496" y="2011680"/>
            <a:ext cx="2679192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84648" y="232257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 = Σᵢ λᵢ |eᵢ⟩⟨eᵢ|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Tr(ρ̂²) = Σᵢ λᵢ² ≤ (Σᵢ λᵢ)² = 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82880" y="4919472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Tier 3 — AdvUG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B57BEE"/>
          </a:solidFill>
          <a:ln w="12700">
            <a:solidFill>
              <a:srgbClr val="B57B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4 — MSc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673352" y="45720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Masters Level — Entanglement and Information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73352" y="274320"/>
            <a:ext cx="6492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Schmidt decomposition, purification, entanglement entropy and its properties.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2D1850"/>
          </a:solidFill>
          <a:ln w="22860">
            <a:solidFill>
              <a:srgbClr val="B57B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57B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SUMMARY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32104"/>
            <a:ext cx="4352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Purification of mixed states; Schmidt decomposition; entanglement entropy and sub-additivity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1517904"/>
            <a:ext cx="4352544" cy="0"/>
          </a:xfrm>
          <a:prstGeom prst="line">
            <a:avLst/>
          </a:prstGeom>
          <a:noFill/>
          <a:ln w="10160">
            <a:solidFill>
              <a:srgbClr val="B57BEE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58191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57B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ACTIVITIES &amp; TASKS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92224"/>
            <a:ext cx="43525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Decompose any bipartite pure state via SVD (Schmidt decomposition)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Purify ρ̂_A: construct |Ψ⟩_AB such that Tr_B(|Ψ⟩⟨Ψ|) = ρ̂_A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Prove sub-additivity: S(AB) ≤ S(A) + S(B)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Show S(A) = S(B) for a pure bipartite state |Ψ⟩_AB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B57B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B57B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184648" y="914400"/>
            <a:ext cx="457200" cy="384048"/>
          </a:xfrm>
          <a:prstGeom prst="ellipse">
            <a:avLst/>
          </a:prstGeom>
          <a:solidFill>
            <a:srgbClr val="201700"/>
          </a:solidFill>
          <a:ln w="15240">
            <a:solidFill>
              <a:srgbClr val="D4A8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84648" y="9144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A8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√λ1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641848" y="1106424"/>
            <a:ext cx="274320" cy="0"/>
          </a:xfrm>
          <a:prstGeom prst="line">
            <a:avLst/>
          </a:prstGeom>
          <a:noFill/>
          <a:ln w="15240">
            <a:solidFill>
              <a:srgbClr val="28A8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16168" y="941832"/>
            <a:ext cx="640080" cy="329184"/>
          </a:xfrm>
          <a:prstGeom prst="roundRect">
            <a:avLst>
              <a:gd name="adj" fmla="val 19444"/>
            </a:avLst>
          </a:prstGeom>
          <a:solidFill>
            <a:srgbClr val="0D1E1D"/>
          </a:solidFill>
          <a:ln w="15240">
            <a:solidFill>
              <a:srgbClr val="28A8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6168" y="9418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|a1⟩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01968" y="950976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⊗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76288" y="941832"/>
            <a:ext cx="640080" cy="329184"/>
          </a:xfrm>
          <a:prstGeom prst="roundRect">
            <a:avLst>
              <a:gd name="adj" fmla="val 19444"/>
            </a:avLst>
          </a:prstGeom>
          <a:solidFill>
            <a:srgbClr val="1A0D10"/>
          </a:solidFill>
          <a:ln w="15240">
            <a:solidFill>
              <a:srgbClr val="EF575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76288" y="9418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|b1⟩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184648" y="1572768"/>
            <a:ext cx="457200" cy="384048"/>
          </a:xfrm>
          <a:prstGeom prst="ellipse">
            <a:avLst/>
          </a:prstGeom>
          <a:solidFill>
            <a:srgbClr val="201700"/>
          </a:solidFill>
          <a:ln w="15240">
            <a:solidFill>
              <a:srgbClr val="D4A8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84648" y="15727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A8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√λ2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5641848" y="1764792"/>
            <a:ext cx="274320" cy="0"/>
          </a:xfrm>
          <a:prstGeom prst="line">
            <a:avLst/>
          </a:prstGeom>
          <a:noFill/>
          <a:ln w="15240">
            <a:solidFill>
              <a:srgbClr val="28A8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16168" y="1600200"/>
            <a:ext cx="640080" cy="329184"/>
          </a:xfrm>
          <a:prstGeom prst="roundRect">
            <a:avLst>
              <a:gd name="adj" fmla="val 19444"/>
            </a:avLst>
          </a:prstGeom>
          <a:solidFill>
            <a:srgbClr val="0D1E1D"/>
          </a:solidFill>
          <a:ln w="15240">
            <a:solidFill>
              <a:srgbClr val="28A8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16168" y="160020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|a2⟩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01968" y="160934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⊗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76288" y="1600200"/>
            <a:ext cx="640080" cy="329184"/>
          </a:xfrm>
          <a:prstGeom prst="roundRect">
            <a:avLst>
              <a:gd name="adj" fmla="val 19444"/>
            </a:avLst>
          </a:prstGeom>
          <a:solidFill>
            <a:srgbClr val="1A0D10"/>
          </a:solidFill>
          <a:ln w="15240">
            <a:solidFill>
              <a:srgbClr val="EF57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76288" y="160020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|b2⟩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84648" y="2231136"/>
            <a:ext cx="457200" cy="384048"/>
          </a:xfrm>
          <a:prstGeom prst="ellipse">
            <a:avLst/>
          </a:prstGeom>
          <a:solidFill>
            <a:srgbClr val="201700"/>
          </a:solidFill>
          <a:ln w="15240">
            <a:solidFill>
              <a:srgbClr val="D4A84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84648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A8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√λ3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641848" y="2423160"/>
            <a:ext cx="274320" cy="0"/>
          </a:xfrm>
          <a:prstGeom prst="line">
            <a:avLst/>
          </a:prstGeom>
          <a:noFill/>
          <a:ln w="15240">
            <a:solidFill>
              <a:srgbClr val="28A8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16168" y="2258568"/>
            <a:ext cx="640080" cy="329184"/>
          </a:xfrm>
          <a:prstGeom prst="roundRect">
            <a:avLst>
              <a:gd name="adj" fmla="val 19444"/>
            </a:avLst>
          </a:prstGeom>
          <a:solidFill>
            <a:srgbClr val="0D1E1D"/>
          </a:solidFill>
          <a:ln w="15240">
            <a:solidFill>
              <a:srgbClr val="28A8A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16168" y="225856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|a3⟩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601968" y="2267712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⊗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876288" y="2258568"/>
            <a:ext cx="640080" cy="329184"/>
          </a:xfrm>
          <a:prstGeom prst="roundRect">
            <a:avLst>
              <a:gd name="adj" fmla="val 19444"/>
            </a:avLst>
          </a:prstGeom>
          <a:solidFill>
            <a:srgbClr val="1A0D10"/>
          </a:solidFill>
          <a:ln w="15240">
            <a:solidFill>
              <a:srgbClr val="EF575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76288" y="225856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F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|b3⟩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64608" y="14630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Σᵢ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184648" y="296265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8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−Σᵢ λᵢ ln λᵢ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82880" y="4919472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Tier 4 — MSc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64008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EF5757"/>
          </a:solidFill>
          <a:ln w="12700">
            <a:solidFill>
              <a:srgbClr val="EF5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64008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5 — PhD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673352" y="45720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Doctoral Level — Functional Analysis &amp; Open Systems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73352" y="274320"/>
            <a:ext cx="6492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Trace-class operators, von Neumann entropy, quantum channels, and CP maps.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595360" y="64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530352"/>
            <a:ext cx="4572000" cy="4224528"/>
          </a:xfrm>
          <a:prstGeom prst="rect">
            <a:avLst/>
          </a:prstGeom>
          <a:solidFill>
            <a:srgbClr val="400E0E"/>
          </a:solidFill>
          <a:ln w="22860">
            <a:solidFill>
              <a:srgbClr val="EF57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2179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SUMMARY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832104"/>
            <a:ext cx="4352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Trace-class operators in ∞ dimensions; von Neumann entropy; quantum relative entropy; CP maps preview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1517904"/>
            <a:ext cx="4352544" cy="0"/>
          </a:xfrm>
          <a:prstGeom prst="line">
            <a:avLst/>
          </a:prstGeom>
          <a:noFill/>
          <a:ln w="10160">
            <a:solidFill>
              <a:srgbClr val="EF5757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581912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ACTIVITIES &amp; TASKS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92224"/>
            <a:ext cx="43525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Define trace-class operators on infinite-dim. H; show ρ̂ ∈ T₁(H)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Prove concavity of von Neumann entropy: S(Σpᵢρ̂ᵢ) ≥ Σpᵢ S(ρ̂ᵢ)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Define completely positive trace-preserving (CPTP) maps (quantum channels)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Show Kraus decomposition ε(ρ̂) = Σ_k K_k ρ̂ K_k† characterises all CPTP maps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530352"/>
            <a:ext cx="3977640" cy="4224528"/>
          </a:xfrm>
          <a:prstGeom prst="rect">
            <a:avLst/>
          </a:prstGeom>
          <a:solidFill>
            <a:srgbClr val="080E16"/>
          </a:solidFill>
          <a:ln w="19050">
            <a:solidFill>
              <a:srgbClr val="EF57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93208" y="60350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EF5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184648" y="914400"/>
            <a:ext cx="2926080" cy="329184"/>
          </a:xfrm>
          <a:prstGeom prst="rect">
            <a:avLst/>
          </a:prstGeom>
          <a:solidFill>
            <a:srgbClr val="0D0D0D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84648" y="91440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operators B(H)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647688" y="1243584"/>
            <a:ext cx="0" cy="128016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1252728"/>
            <a:ext cx="21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⊃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458968" y="1371600"/>
            <a:ext cx="2377440" cy="329184"/>
          </a:xfrm>
          <a:prstGeom prst="rect">
            <a:avLst/>
          </a:prstGeom>
          <a:solidFill>
            <a:srgbClr val="0D1A2A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8968" y="13716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operators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647688" y="1700784"/>
            <a:ext cx="0" cy="128016"/>
          </a:xfrm>
          <a:prstGeom prst="line">
            <a:avLst/>
          </a:prstGeom>
          <a:noFill/>
          <a:ln w="15240">
            <a:solidFill>
              <a:srgbClr val="4F8E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709928"/>
            <a:ext cx="21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⊃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733288" y="1828800"/>
            <a:ext cx="1828800" cy="329184"/>
          </a:xfrm>
          <a:prstGeom prst="rect">
            <a:avLst/>
          </a:prstGeom>
          <a:solidFill>
            <a:srgbClr val="0D1E1D"/>
          </a:solidFill>
          <a:ln w="19050">
            <a:solidFill>
              <a:srgbClr val="28A8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33288" y="18288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Trace-class T₁(H)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647688" y="2157984"/>
            <a:ext cx="0" cy="128016"/>
          </a:xfrm>
          <a:prstGeom prst="line">
            <a:avLst/>
          </a:prstGeom>
          <a:noFill/>
          <a:ln w="15240">
            <a:solidFill>
              <a:srgbClr val="28A8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2167128"/>
            <a:ext cx="21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⊃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961888" y="2286000"/>
            <a:ext cx="1371600" cy="329184"/>
          </a:xfrm>
          <a:prstGeom prst="rect">
            <a:avLst/>
          </a:prstGeom>
          <a:solidFill>
            <a:srgbClr val="201700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6188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operators ρ̂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184648" y="2816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Tr(|ρ̂|) &lt; ∞,  ρ̂ ≥ 0,  Tr(ρ̂)=1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82880" y="4919472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· L01 · Tier 5 — PhD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45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 — Key Formulas — Summary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28600" y="29260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core results at a glance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595360" y="45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4592" y="640080"/>
            <a:ext cx="4297680" cy="822960"/>
          </a:xfrm>
          <a:prstGeom prst="rect">
            <a:avLst/>
          </a:prstGeom>
          <a:solidFill>
            <a:srgbClr val="0D1A2A"/>
          </a:solidFill>
          <a:ln w="15240">
            <a:solidFill>
              <a:srgbClr val="4F8E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749808"/>
            <a:ext cx="274320" cy="27432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749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" y="73152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 = |ψ⟩⟨ψ|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" y="116128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state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640080"/>
            <a:ext cx="4297680" cy="822960"/>
          </a:xfrm>
          <a:prstGeom prst="rect">
            <a:avLst/>
          </a:prstGeom>
          <a:solidFill>
            <a:srgbClr val="0D1A2A"/>
          </a:solidFill>
          <a:ln w="15240">
            <a:solidFill>
              <a:srgbClr val="4F8E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749808"/>
            <a:ext cx="274320" cy="27432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749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10912" y="73152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 = Σᵢ pᵢ |ψᵢ⟩⟨ψᵢ|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10912" y="116128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64592" y="1572768"/>
            <a:ext cx="4297680" cy="822960"/>
          </a:xfrm>
          <a:prstGeom prst="rect">
            <a:avLst/>
          </a:prstGeom>
          <a:solidFill>
            <a:srgbClr val="0D1A2A"/>
          </a:solidFill>
          <a:ln w="15240">
            <a:solidFill>
              <a:srgbClr val="4F8E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32" y="1682496"/>
            <a:ext cx="274320" cy="27432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03504" y="166420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⟨Â⟩ = Tr(ρ̂ Â)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3504" y="209397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expectation value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0" y="1572768"/>
            <a:ext cx="4297680" cy="822960"/>
          </a:xfrm>
          <a:prstGeom prst="rect">
            <a:avLst/>
          </a:prstGeom>
          <a:solidFill>
            <a:srgbClr val="0D1A2A"/>
          </a:solidFill>
          <a:ln w="15240">
            <a:solidFill>
              <a:srgbClr val="4F8E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1682496"/>
            <a:ext cx="274320" cy="27432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010912" y="166420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 = Tr(ρ̂²) ≤ 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10912" y="209397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purity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4592" y="2505456"/>
            <a:ext cx="4297680" cy="822960"/>
          </a:xfrm>
          <a:prstGeom prst="rect">
            <a:avLst/>
          </a:prstGeom>
          <a:solidFill>
            <a:srgbClr val="0D1A2A"/>
          </a:solidFill>
          <a:ln w="15240">
            <a:solidFill>
              <a:srgbClr val="4F8EF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6032" y="2615184"/>
            <a:ext cx="274320" cy="27432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6032" y="2615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3504" y="2596896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ρ̂_A = Tr_B(ρ̂_AB)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03504" y="302666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trace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0" y="2505456"/>
            <a:ext cx="4297680" cy="822960"/>
          </a:xfrm>
          <a:prstGeom prst="rect">
            <a:avLst/>
          </a:prstGeom>
          <a:solidFill>
            <a:srgbClr val="0D1A2A"/>
          </a:solidFill>
          <a:ln w="15240">
            <a:solidFill>
              <a:srgbClr val="4F8EF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2615184"/>
            <a:ext cx="274320" cy="27432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2615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010912" y="2596896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−Tr(ρ̂_A ln ρ̂_A)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10912" y="302666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entanglement entropy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64592" y="3483864"/>
            <a:ext cx="8833104" cy="475488"/>
          </a:xfrm>
          <a:prstGeom prst="rect">
            <a:avLst/>
          </a:prstGeom>
          <a:solidFill>
            <a:srgbClr val="1A0F2A"/>
          </a:solidFill>
          <a:ln w="19050">
            <a:solidFill>
              <a:srgbClr val="7C5CB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3575304"/>
            <a:ext cx="86136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C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Prev: </a:t>
            </a:r>
            <a:pPr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I.2 — L12: Tensor Products, Spin &amp; Density Operators (intro)   </a:t>
            </a:r>
            <a:pPr indent="0" marL="0">
              <a:buNone/>
            </a:pPr>
            <a:r>
              <a:rPr lang="en-US" sz="950" b="1" dirty="0">
                <a:solidFill>
                  <a:srgbClr val="28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Next: </a:t>
            </a:r>
            <a:pPr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L02 — Bases: Discrete and Continuous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82880" y="4892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— Pure/Mixed States and the Density Matrix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572000" y="48920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Formulas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45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 — Concept Questions — Summary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28600" y="29260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before computing — conceptual understanding checks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595360" y="45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4592" y="594360"/>
            <a:ext cx="4297680" cy="4297680"/>
          </a:xfrm>
          <a:prstGeom prst="rect">
            <a:avLst/>
          </a:prstGeom>
          <a:solidFill>
            <a:srgbClr val="0D1A2A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62179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 QUESTIONS (1–4)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868680"/>
            <a:ext cx="4114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Why is ρ̂ needed when a ket |ψ⟩ is insufficient?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 is the physical difference between a coherent superposition and a classical mixture?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State the three mathematical properties that every density operator must satisfy.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True/False: A state with purity γ = 0.5 is a pure state. Justify.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36008" y="594360"/>
            <a:ext cx="4361688" cy="4297680"/>
          </a:xfrm>
          <a:prstGeom prst="rect">
            <a:avLst/>
          </a:prstGeom>
          <a:solidFill>
            <a:srgbClr val="0D1A2A"/>
          </a:solidFill>
          <a:ln w="19050">
            <a:solidFill>
              <a:srgbClr val="28A8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45736" y="62179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8A8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 QUESTIONS (5–8)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745736" y="868680"/>
            <a:ext cx="4114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How does the partial trace 'discard' information about subsystem B?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True/False: Entanglement entropy is zero for a product state. Justify.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When does ⟨Â⟩ = Tr(ρ̂Â) reduce to the usual ⟨ψ|Â|ψ⟩?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Compare the Bloch sphere representation of a pure vs. mixed spin-½ state.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82880" y="4892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— Pure/Mixed States and the Density Matrix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572000" y="48920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Concept Qs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45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 — Five-Tier Pedagogy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28600" y="29260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Differentiated content for all levels — HS through PhD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595360" y="45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L01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4592" y="603504"/>
            <a:ext cx="8833104" cy="749808"/>
          </a:xfrm>
          <a:prstGeom prst="rect">
            <a:avLst/>
          </a:prstGeom>
          <a:solidFill>
            <a:srgbClr val="3D3110"/>
          </a:solidFill>
          <a:ln w="19050">
            <a:solidFill>
              <a:srgbClr val="E8C54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92" y="603504"/>
            <a:ext cx="1371600" cy="749808"/>
          </a:xfrm>
          <a:prstGeom prst="rect">
            <a:avLst/>
          </a:prstGeom>
          <a:solidFill>
            <a:srgbClr val="E8C547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" y="603504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1 — HS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627632" y="676656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probability analogy: coin-flip vs. genuine quantum superposition; Bloch sphere intuition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4592" y="1389888"/>
            <a:ext cx="8833104" cy="749808"/>
          </a:xfrm>
          <a:prstGeom prst="rect">
            <a:avLst/>
          </a:prstGeom>
          <a:solidFill>
            <a:srgbClr val="103320"/>
          </a:solidFill>
          <a:ln w="19050">
            <a:solidFill>
              <a:srgbClr val="4CC3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" y="1389888"/>
            <a:ext cx="1371600" cy="749808"/>
          </a:xfrm>
          <a:prstGeom prst="rect">
            <a:avLst/>
          </a:prstGeom>
          <a:solidFill>
            <a:srgbClr val="4CC38A"/>
          </a:solidFill>
          <a:ln w="12700">
            <a:solidFill>
              <a:srgbClr val="4CC3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" y="1389888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2 — BegUG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627632" y="146304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ρ̂, Tr(ρ̂²), and ⟨Â⟩ for 2×2 examples; verify properties numerically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64592" y="2176272"/>
            <a:ext cx="8833104" cy="749808"/>
          </a:xfrm>
          <a:prstGeom prst="rect">
            <a:avLst/>
          </a:prstGeom>
          <a:solidFill>
            <a:srgbClr val="0D2050"/>
          </a:solidFill>
          <a:ln w="19050">
            <a:solidFill>
              <a:srgbClr val="4F8E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4592" y="2176272"/>
            <a:ext cx="1371600" cy="7498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4592" y="2176272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3 — AdvUG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27632" y="2249424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Tr(ρ̂²) ≤ 1 via spectral decomposition; Bloch vector parameterisation; partial trace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64592" y="2962656"/>
            <a:ext cx="8833104" cy="749808"/>
          </a:xfrm>
          <a:prstGeom prst="rect">
            <a:avLst/>
          </a:prstGeom>
          <a:solidFill>
            <a:srgbClr val="2D1850"/>
          </a:solidFill>
          <a:ln w="19050">
            <a:solidFill>
              <a:srgbClr val="B57B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4592" y="2962656"/>
            <a:ext cx="1371600" cy="749808"/>
          </a:xfrm>
          <a:prstGeom prst="rect">
            <a:avLst/>
          </a:prstGeom>
          <a:solidFill>
            <a:srgbClr val="B57BEE"/>
          </a:solidFill>
          <a:ln w="12700">
            <a:solidFill>
              <a:srgbClr val="B57B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4592" y="2962656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4 — MSc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627632" y="3035808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Purification of mixed states; Schmidt decomposition; entanglement entropy and sub-additivity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64592" y="3749040"/>
            <a:ext cx="8833104" cy="749808"/>
          </a:xfrm>
          <a:prstGeom prst="rect">
            <a:avLst/>
          </a:prstGeom>
          <a:solidFill>
            <a:srgbClr val="400E0E"/>
          </a:solidFill>
          <a:ln w="19050">
            <a:solidFill>
              <a:srgbClr val="EF57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4592" y="3749040"/>
            <a:ext cx="1371600" cy="749808"/>
          </a:xfrm>
          <a:prstGeom prst="rect">
            <a:avLst/>
          </a:prstGeom>
          <a:solidFill>
            <a:srgbClr val="EF5757"/>
          </a:solidFill>
          <a:ln w="12700">
            <a:solidFill>
              <a:srgbClr val="EF57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4592" y="374904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5 — PhD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627632" y="3822192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Trace-class operators in ∞ dimensions; von Neumann entropy; quantum relative entropy; CP maps preview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64592" y="4553712"/>
            <a:ext cx="8833104" cy="502920"/>
          </a:xfrm>
          <a:prstGeom prst="rect">
            <a:avLst/>
          </a:prstGeom>
          <a:solidFill>
            <a:srgbClr val="201700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4645152"/>
            <a:ext cx="8613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Set A: </a:t>
            </a:r>
            <a:pPr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ρ̂ for explicit mixtures; compute purity and ⟨σ̂_z⟩; partial trace for 2-qubit Bell states  |  </a:t>
            </a:r>
            <a:pPr indent="0" marL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B: </a:t>
            </a:r>
            <a:pPr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Tr(ρ̂²) ≤ (Tr ρ̂)² with equality iff rank-1; show entanglement entropy vanishes for product states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82880" y="4892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I.3 — Pure/Mixed States and the Density Matrix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572000" y="48920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Tier Pedagogy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I.3 · L01 (Expanded) — Pure/Mixed States and the Density Matrix</dc:title>
  <dc:subject>Quantum Dynamics — Density Matrix</dc:subject>
  <dc:creator>QM Programme</dc:creator>
  <cp:lastModifiedBy>QM Programme</cp:lastModifiedBy>
  <cp:revision>1</cp:revision>
  <dcterms:created xsi:type="dcterms:W3CDTF">2026-05-03T13:04:49Z</dcterms:created>
  <dcterms:modified xsi:type="dcterms:W3CDTF">2026-05-03T13:04:49Z</dcterms:modified>
</cp:coreProperties>
</file>