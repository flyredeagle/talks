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Pure/Mixed States and the Density Matrix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§2.3–2.5 — Density Operator Formalism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Pure/Mixed States and the Density Matrix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Motivation — why a single ket is insufficient for sub-systems or ensembles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Mixed states: ρ̂ = Σᵢ pᵢ|ψᵢ⟩⟨ψᵢ|; classical vs. quantum uncertainty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Properties of ρ̂: Hermiticity, unit trace, positivity; purity γ = Tr(ρ̂²)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Bipartite systems; partial trace ρ̂_A = Tr_B(ρ̂_AB); entanglement entropy preview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ρ̂ for pure states, statistical mixtures, and subsystems of composite systems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the three defining properties (ρ̂† = ρ̂, Tr(ρ̂) = 1, ρ̂ ≥ 0) for given matrices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expectation values ⟨Â⟩ = Tr(ρ̂Â) and purity; distinguish pure from mixed states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partial trace to obtain reduced density matrices and compute entanglement entropy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probability analogy: coin-flip vs. genuine quantum superposition; Bloch sphere intuition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ρ̂, Tr(ρ̂²), and ⟨Â⟩ for 2×2 examples; verify properties numerically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1 via spectral decomposition; Bloch vector parameterisation; partial trace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of mixed states; Schmidt decomposition; entanglement entropy and sub-additivity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operators in ∞ dimensions; von Neumann entropy; quantum relative entropy; CP maps preview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Construct ρ̂ for explicit mixtures; compute purity and ⟨σ̂_z⟩; partial trace for 2-qubit Bell states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Tr(ρ̂²) ≤ (Tr ρ̂)² with equality iff rank-1; show entanglement entropy vanishes for product states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 the Density Operator ρ̂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Build ρ̂ for any preparation — pure, mixture, or subsystem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ρ̂ for any preparation — pure, mixture, or subsystem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Pure state: ρ̂ = |ψ⟩⟨ψ|  — rank-1 projector onto |ψ⟩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Statistical mixture: ρ̂ = Σᵢ pᵢ |ψᵢ⟩⟨ψᵢ|  where Σpᵢ = 1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Subsystem of AB: ρ̂_A = Tr_B(ρ̂_AB)  — partial trace over B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Same formalism unifies all three cases via the density matrix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4F8EF7"/>
          </a:solidFill>
          <a:ln w="1524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System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75020" y="1188720"/>
            <a:ext cx="0" cy="18288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60620" y="1371600"/>
            <a:ext cx="182880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60620" y="1371600"/>
            <a:ext cx="0" cy="164592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9420" y="1371600"/>
            <a:ext cx="0" cy="164592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1536192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0D3820"/>
          </a:solidFill>
          <a:ln w="15240">
            <a:solidFill>
              <a:srgbClr val="4CC3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536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State  |ψ⟩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1536192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280D0D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536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State  ρ̂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60620" y="1847088"/>
            <a:ext cx="0" cy="457200"/>
          </a:xfrm>
          <a:prstGeom prst="line">
            <a:avLst/>
          </a:prstGeom>
          <a:noFill/>
          <a:ln w="15240">
            <a:solidFill>
              <a:srgbClr val="4CC3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2304288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091A0F"/>
          </a:solidFill>
          <a:ln w="15240">
            <a:solidFill>
              <a:srgbClr val="4CC3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23042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 = |ψ⟩⟨ψ|   γ=1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89420" y="1847088"/>
            <a:ext cx="0" cy="45720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304288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1A0909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3042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 = Σpᵢ|ψᵢ⟩⟨ψᵢ|   γ&lt;1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89420" y="2615184"/>
            <a:ext cx="0" cy="457200"/>
          </a:xfrm>
          <a:prstGeom prst="line">
            <a:avLst/>
          </a:prstGeom>
          <a:noFill/>
          <a:ln w="15240">
            <a:solidFill>
              <a:srgbClr val="B57BE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080760" y="3072384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1A0F2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ρ̂_A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taxonomy: how ρ̂ encodes any preparation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the Three Defining Properties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Check Hermiticity, unit trace, and positive semi-definiteness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Hermiticity, unit trace, and positive semi-definiteness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Hermitian:  ρ̂† = ρ̂  ⟹  real eigenvalues (observable quantities)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Unit trace:  Tr(ρ̂) = 1  ⟹  total probability normalised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Positive semi-definite:  ρ̂ ≥ 0  ⟹  ⟨ψ|ρ̂|ψ⟩ ≥ 0  for all |ψ⟩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Any Hermitian matrix with unit trace and non-negative eigenvalues is a valid ρ̂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13632" y="877824"/>
            <a:ext cx="237744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13632" y="877824"/>
            <a:ext cx="237744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13632" y="9692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Hermitian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13632" y="1197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ρ̂† = ρ̂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13632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eigenvalues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92240" y="877824"/>
            <a:ext cx="2377440" cy="91440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877824"/>
            <a:ext cx="2377440" cy="64008"/>
          </a:xfrm>
          <a:prstGeom prst="rect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9692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Trace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197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Tr(ρ̂) =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sum to 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70848" y="877824"/>
            <a:ext cx="2377440" cy="914400"/>
          </a:xfrm>
          <a:prstGeom prst="rect">
            <a:avLst/>
          </a:prstGeom>
          <a:solidFill>
            <a:srgbClr val="0D1E1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70848" y="877824"/>
            <a:ext cx="2377440" cy="640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0848" y="9692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Positive Semi-def.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70848" y="1197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≥ 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70848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eigenvalues λᵢ ≥ 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98080" y="1792224"/>
            <a:ext cx="0" cy="329184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121408"/>
            <a:ext cx="2560320" cy="310896"/>
          </a:xfrm>
          <a:prstGeom prst="roundRect">
            <a:avLst>
              <a:gd name="adj" fmla="val 20588"/>
            </a:avLst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1214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Density Operator ρ̂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properties → valid density operator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⟨Â⟩ and Purity 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Extract physical predictions and quantify how mixed a state 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physical predictions and quantify how mixed a state 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Expectation value:  ⟨Â⟩ = Tr(ρ̂ Â)  — works for all states, pure or mixed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Purity:  γ = Tr(ρ̂²) ∈ [1/d, 1]  where d = Hilbert space dimension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Pure state: γ = 1  (Bloch sphere surface)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Maximally mixed: γ = 1/d  (centre of Bloch sphere for d=2)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40680" y="1170432"/>
            <a:ext cx="2743200" cy="310896"/>
          </a:xfrm>
          <a:prstGeom prst="rect">
            <a:avLst/>
          </a:prstGeom>
          <a:solidFill>
            <a:srgbClr val="1A2850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2161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0456" y="12161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40680" y="914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Purity  γ = Tr(ρ̂²)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1481328"/>
            <a:ext cx="0" cy="146304"/>
          </a:xfrm>
          <a:prstGeom prst="line">
            <a:avLst/>
          </a:prstGeom>
          <a:noFill/>
          <a:ln w="22860">
            <a:solidFill>
              <a:srgbClr val="EF57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1261872"/>
            <a:ext cx="128016" cy="128016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164592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mixed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(1/d)·I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12280" y="1481328"/>
            <a:ext cx="0" cy="146304"/>
          </a:xfrm>
          <a:prstGeom prst="line">
            <a:avLst/>
          </a:prstGeom>
          <a:noFill/>
          <a:ln w="22860">
            <a:solidFill>
              <a:srgbClr val="B57B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1261872"/>
            <a:ext cx="128016" cy="128016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164592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183880" y="1481328"/>
            <a:ext cx="0" cy="146304"/>
          </a:xfrm>
          <a:prstGeom prst="line">
            <a:avLst/>
          </a:prstGeom>
          <a:noFill/>
          <a:ln w="22860">
            <a:solidFill>
              <a:srgbClr val="4CC3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9872" y="1261872"/>
            <a:ext cx="128016" cy="128016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3256" y="164592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53912" y="1773936"/>
            <a:ext cx="1316736" cy="1316736"/>
          </a:xfrm>
          <a:prstGeom prst="ellipse">
            <a:avLst/>
          </a:prstGeom>
          <a:solidFill>
            <a:srgbClr val="0D1A2A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3912" y="2313798"/>
            <a:ext cx="1316736" cy="237012"/>
          </a:xfrm>
          <a:prstGeom prst="ellipse">
            <a:avLst/>
          </a:prstGeom>
          <a:solidFill>
            <a:srgbClr val="0D1A2A"/>
          </a:solidFill>
          <a:ln w="10160">
            <a:solidFill>
              <a:srgbClr val="8B949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812280" y="1682496"/>
            <a:ext cx="0" cy="1499616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090623" y="1907438"/>
            <a:ext cx="128016" cy="128016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2432304"/>
            <a:ext cx="342351" cy="-460858"/>
          </a:xfrm>
          <a:prstGeom prst="line">
            <a:avLst/>
          </a:prstGeom>
          <a:noFill/>
          <a:ln w="22860">
            <a:solidFill>
              <a:srgbClr val="4CC3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1207" y="184343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|r|=1 pure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48272" y="2569464"/>
            <a:ext cx="128016" cy="128016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2432304"/>
            <a:ext cx="0" cy="201168"/>
          </a:xfrm>
          <a:prstGeom prst="line">
            <a:avLst/>
          </a:prstGeom>
          <a:noFill/>
          <a:ln w="19050">
            <a:solidFill>
              <a:srgbClr val="EF575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903720" y="25968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|r|&lt;1 mixed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53912" y="31638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  (d=2)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spectrum from mixed (γ=1/d) to pure (γ=1)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the Partial Trace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Obtain ρ̂_A by tracing over subsystem B in a bipartite 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ρ̂_A by tracing over subsystem B in a bipartite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Bipartite system: H_AB = H_A ⊗ H_B  — tensor product structure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Partial trace: ρ̂_A = Tr_B(ρ̂_AB) = Σⱼ (I_A ⊗ ⟨j|_B) ρ̂_AB (I_A ⊗ |j⟩_B)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Discards all information about subsystem B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If ρ̂_AB is entangled: ρ̂_A is mixed even if ρ̂_AB was pure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4443984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62179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877824"/>
            <a:ext cx="2194560" cy="137160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877824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415784" y="877824"/>
            <a:ext cx="2194560" cy="1371600"/>
          </a:xfrm>
          <a:prstGeom prst="rect">
            <a:avLst/>
          </a:prstGeom>
          <a:solidFill>
            <a:srgbClr val="1A0D1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877824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701784" y="1563624"/>
            <a:ext cx="685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01784" y="16002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Tr_B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415016" y="1152144"/>
            <a:ext cx="1645920" cy="82296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15016" y="115214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66360" y="2322576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B → reduced state of 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out B: ρ̂_AB → ρ̂_A (reduced density matrix)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ρ̂ = |ψ⟩⟨ψ|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Pure-state density operator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|ψ⟩⟨ψ|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Pure-state density operator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pure state |ψ⟩ the density operator is the rank-1 projector onto |ψ⟩. It carries all quantum information and satisfies ρ̂² = ρ̂ (idempotent).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Tr(ρ̂) = ⟨ψ|ψ⟩ = 1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ρ̂† = (|ψ⟩⟨ψ|)† = |ψ⟩⟨ψ| = ρ̂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γ = Tr(ρ̂²) = Tr(ρ̂) = 1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39512" y="1051560"/>
            <a:ext cx="1645920" cy="1645920"/>
          </a:xfrm>
          <a:prstGeom prst="ellipse">
            <a:avLst/>
          </a:prstGeom>
          <a:solidFill>
            <a:srgbClr val="0D1A2A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9512" y="1693469"/>
            <a:ext cx="1645920" cy="362102"/>
          </a:xfrm>
          <a:prstGeom prst="ellipse">
            <a:avLst/>
          </a:prstGeom>
          <a:solidFill>
            <a:srgbClr val="000000">
              <a:alpha val="0"/>
            </a:srgbClr>
          </a:solidFill>
          <a:ln w="10160">
            <a:solidFill>
              <a:srgbClr val="8B949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62472" y="941832"/>
            <a:ext cx="0" cy="1847088"/>
          </a:xfrm>
          <a:prstGeom prst="line">
            <a:avLst/>
          </a:prstGeom>
          <a:noFill/>
          <a:ln w="15240">
            <a:solidFill>
              <a:srgbClr val="8B949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62472" y="1874520"/>
            <a:ext cx="345643" cy="-641909"/>
          </a:xfrm>
          <a:prstGeom prst="line">
            <a:avLst/>
          </a:prstGeom>
          <a:noFill/>
          <a:ln w="3175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4107" y="1168603"/>
            <a:ext cx="128016" cy="12801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2979" y="1104595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22008" y="16916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(pure)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79592" y="832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|0⟩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79592" y="2734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|1⟩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sphere: pure state sits on the surface (|r|=1)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ρ̂ = Σᵢ pᵢ |ψᵢ⟩⟨ψᵢ|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mixture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Σᵢ pᵢ |ψᵢ⟩⟨ψᵢ|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mixture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mixture of quantum states |ψᵢ⟩ with probabilities pᵢ ≥ 0 summing to 1. The pᵢ are classical — the states |ψᵢ⟩ need NOT be orthogonal; the decomposition is non-unique.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Σᵢ pᵢ = 1  ✓  (probabilities)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ρ̂ ≥ 0 since each |ψᵢ⟩⟨ψᵢ| ≥ 0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γ = Tr(ρ̂²) &lt; 1  (strictly mixed)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49824" y="914400"/>
            <a:ext cx="402336" cy="292608"/>
          </a:xfrm>
          <a:prstGeom prst="ellipse">
            <a:avLst/>
          </a:prstGeom>
          <a:solidFill>
            <a:srgbClr val="4F8EF7">
              <a:alpha val="70000"/>
            </a:srgbClr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9144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50992" y="1207008"/>
            <a:ext cx="0" cy="237744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0932" y="1444752"/>
            <a:ext cx="960120" cy="768096"/>
          </a:xfrm>
          <a:prstGeom prst="roundRect">
            <a:avLst>
              <a:gd name="adj" fmla="val 8333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0932" y="1444752"/>
            <a:ext cx="960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|ψ₁⟩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92824" y="914400"/>
            <a:ext cx="402336" cy="292608"/>
          </a:xfrm>
          <a:prstGeom prst="ellipse">
            <a:avLst/>
          </a:prstGeom>
          <a:solidFill>
            <a:srgbClr val="28A8A0">
              <a:alpha val="70000"/>
            </a:srgbClr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9144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93992" y="1207008"/>
            <a:ext cx="0" cy="237744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3932" y="1444752"/>
            <a:ext cx="960120" cy="768096"/>
          </a:xfrm>
          <a:prstGeom prst="roundRect">
            <a:avLst>
              <a:gd name="adj" fmla="val 8333"/>
            </a:avLst>
          </a:prstGeom>
          <a:solidFill>
            <a:srgbClr val="0D1A2A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3932" y="1444752"/>
            <a:ext cx="960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|ψ₂⟩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35824" y="914400"/>
            <a:ext cx="402336" cy="292608"/>
          </a:xfrm>
          <a:prstGeom prst="ellipse">
            <a:avLst/>
          </a:prstGeom>
          <a:solidFill>
            <a:srgbClr val="B57BEE">
              <a:alpha val="70000"/>
            </a:srgbClr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9144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36992" y="1207008"/>
            <a:ext cx="0" cy="237744"/>
          </a:xfrm>
          <a:prstGeom prst="line">
            <a:avLst/>
          </a:prstGeom>
          <a:noFill/>
          <a:ln w="15240">
            <a:solidFill>
              <a:srgbClr val="B57B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6932" y="1444752"/>
            <a:ext cx="960120" cy="768096"/>
          </a:xfrm>
          <a:prstGeom prst="roundRect">
            <a:avLst>
              <a:gd name="adj" fmla="val 8333"/>
            </a:avLst>
          </a:prstGeom>
          <a:solidFill>
            <a:srgbClr val="0D1A2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6932" y="1444752"/>
            <a:ext cx="960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|ψ₃⟩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2764" y="173736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55764" y="173736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93992" y="2212848"/>
            <a:ext cx="0" cy="128016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88152" y="2340864"/>
            <a:ext cx="2011680" cy="329184"/>
          </a:xfrm>
          <a:prstGeom prst="roundRect">
            <a:avLst>
              <a:gd name="adj" fmla="val 19444"/>
            </a:avLst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88152" y="23408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 = Σ pᵢ|ψᵢ⟩⟨ψᵢ|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ensemble: each |ψᵢ⟩ contributes pᵢ to ρ̂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⟨Â⟩ = Tr(ρ̂ Â)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 via trace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⟨Â⟩ = Tr(ρ̂ Â)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 via trace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state, pure or mixed. For a pure state reduces to ⟨ψ|Â|ψ⟩. Basis-independent: the trace is invariant under unitary change of basis.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Pure: Tr(|ψ⟩⟨ψ|Â) = ⟨ψ|Â|ψ⟩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Mixed: ⟨Â⟩ = Σᵢ pᵢ ⟨ψᵢ|Â|ψᵢ⟩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Trace cyclic: Tr(ρ̂Â) = Tr(Âρ̂)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48072" y="914400"/>
            <a:ext cx="457200" cy="457200"/>
          </a:xfrm>
          <a:prstGeom prst="rect">
            <a:avLst/>
          </a:prstGeom>
          <a:solidFill>
            <a:srgbClr val="1A204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ρ11·A11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605272" y="914400"/>
            <a:ext cx="457200" cy="457200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62472" y="914400"/>
            <a:ext cx="457200" cy="457200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48072" y="1371600"/>
            <a:ext cx="457200" cy="457200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05272" y="1371600"/>
            <a:ext cx="457200" cy="457200"/>
          </a:xfrm>
          <a:prstGeom prst="rect">
            <a:avLst/>
          </a:prstGeom>
          <a:solidFill>
            <a:srgbClr val="1A204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ρ22·A22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062472" y="1371600"/>
            <a:ext cx="457200" cy="457200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48072" y="1828800"/>
            <a:ext cx="457200" cy="457200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05272" y="1828800"/>
            <a:ext cx="457200" cy="457200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62472" y="1828800"/>
            <a:ext cx="457200" cy="457200"/>
          </a:xfrm>
          <a:prstGeom prst="rect">
            <a:avLst/>
          </a:prstGeom>
          <a:solidFill>
            <a:srgbClr val="1A204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ρ33·A33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647688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diagonal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⟨Â⟩ = Tr(ρ̂Â)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77840" y="941832"/>
            <a:ext cx="164592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399032"/>
            <a:ext cx="164592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1856232"/>
            <a:ext cx="164592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= sum of diagonal elements of ρ̂Â in any ONB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 = Tr(ρ̂²) ≤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of a 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Tr(ρ̂²) ≤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of a state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γ measures how pure a state is: γ=1 for a pure state, γ=1/d for the maximally mixed state in a d-dimensional space. Note γ ≥ 1/d always.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γ = 1  ⟺  ρ̂² = ρ̂  ⟺  pure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γ = 1/d  ⟺  ρ̂ = I/d  (max mixed)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Linear entropy: S_L = 1 − γ ∈ [0, 1−1/d]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48072" y="1143000"/>
            <a:ext cx="457200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1005840"/>
            <a:ext cx="0" cy="274320"/>
          </a:xfrm>
          <a:prstGeom prst="line">
            <a:avLst/>
          </a:prstGeom>
          <a:noFill/>
          <a:ln w="25400">
            <a:solidFill>
              <a:srgbClr val="EF57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6632" y="1060704"/>
            <a:ext cx="182880" cy="18288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749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γ=1/d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90872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34072" y="1005840"/>
            <a:ext cx="0" cy="274320"/>
          </a:xfrm>
          <a:prstGeom prst="line">
            <a:avLst/>
          </a:prstGeom>
          <a:noFill/>
          <a:ln w="25400">
            <a:solidFill>
              <a:srgbClr val="B57B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42632" y="1060704"/>
            <a:ext cx="182880" cy="18288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749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γ=0.5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76872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720072" y="1005840"/>
            <a:ext cx="0" cy="274320"/>
          </a:xfrm>
          <a:prstGeom prst="line">
            <a:avLst/>
          </a:prstGeom>
          <a:noFill/>
          <a:ln w="25400">
            <a:solidFill>
              <a:srgbClr val="4CC3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28632" y="1060704"/>
            <a:ext cx="182880" cy="18288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749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γ=1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262872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85432" y="493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Tr(ρ̂²)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axis: γ=1/d (max mixed) to γ=1 (pure)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ρ̂_A = Tr_B(ρ̂_AB)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— reduced density matrix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 = Tr_B(ρ̂_AB)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— reduced density matrix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Obtained by summing over a basis {|j⟩} of B: ρ̂_A = Σⱼ (I_A⊗⟨j|_B) ρ̂_AB (I_A⊗|j⟩_B). Gives the reduced state of A irrespective of B.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ρ̂_AB = ρ̂_A ⊗ ρ̂_B: Tr_B gives ρ̂_A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ρ̂_AB entangled: ρ̂_A is mixed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Tr(ρ̂_A) = 1 always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48072" y="914400"/>
            <a:ext cx="502920" cy="438912"/>
          </a:xfrm>
          <a:prstGeom prst="rect">
            <a:avLst/>
          </a:prstGeom>
          <a:solidFill>
            <a:srgbClr val="0D1117"/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9144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50992" y="914400"/>
            <a:ext cx="502920" cy="438912"/>
          </a:xfrm>
          <a:prstGeom prst="rect">
            <a:avLst/>
          </a:prstGeom>
          <a:solidFill>
            <a:srgbClr val="1A1A35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9144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53912" y="914400"/>
            <a:ext cx="502920" cy="438912"/>
          </a:xfrm>
          <a:prstGeom prst="rect">
            <a:avLst/>
          </a:prstGeom>
          <a:solidFill>
            <a:srgbClr val="0D1117"/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9144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29984" y="10241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148072" y="1353312"/>
            <a:ext cx="502920" cy="438912"/>
          </a:xfrm>
          <a:prstGeom prst="rect">
            <a:avLst/>
          </a:prstGeom>
          <a:solidFill>
            <a:srgbClr val="0D1117"/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50992" y="1353312"/>
            <a:ext cx="502920" cy="438912"/>
          </a:xfrm>
          <a:prstGeom prst="rect">
            <a:avLst/>
          </a:prstGeom>
          <a:solidFill>
            <a:srgbClr val="1A1A35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53912" y="1353312"/>
            <a:ext cx="502920" cy="438912"/>
          </a:xfrm>
          <a:prstGeom prst="rect">
            <a:avLst/>
          </a:prstGeom>
          <a:solidFill>
            <a:srgbClr val="0D1117"/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29984" y="14630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a=2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148072" y="1792224"/>
            <a:ext cx="502920" cy="438912"/>
          </a:xfrm>
          <a:prstGeom prst="rect">
            <a:avLst/>
          </a:prstGeom>
          <a:solidFill>
            <a:srgbClr val="0D1117"/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17922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650992" y="1792224"/>
            <a:ext cx="502920" cy="438912"/>
          </a:xfrm>
          <a:prstGeom prst="rect">
            <a:avLst/>
          </a:prstGeom>
          <a:solidFill>
            <a:srgbClr val="1A1A35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17922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53912" y="1792224"/>
            <a:ext cx="502920" cy="438912"/>
          </a:xfrm>
          <a:prstGeom prst="rect">
            <a:avLst/>
          </a:prstGeom>
          <a:solidFill>
            <a:srgbClr val="0D1117"/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3912" y="17922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29984" y="1901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48072" y="694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50992" y="694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53912" y="694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b=3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159752" y="1572768"/>
            <a:ext cx="6400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9752" y="1618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Σ_b →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918704" y="914400"/>
            <a:ext cx="1056132" cy="1316736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8704" y="914400"/>
            <a:ext cx="10561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over B-index columns yields the A-block ρ̂_A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= −Tr(ρ̂_A ln ρ̂_A)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entanglement entropy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−Tr(ρ̂_A ln ρ̂_A)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entanglement entropy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−Σᵢ λᵢ ln λᵢ where λᵢ are eigenvalues of ρ̂_A. Vanishes for product states; equals ln(d) for maximally entangled states in d dimensions.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 = 0  ⟺  ρ̂_A pure  ⟺  no entanglement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 = ln d  ⟺  ρ̂_A = I/d  ⟺  max entanglement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Sub-additivity: S(AB) ≤ S(A) + S(B)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85232" y="2011680"/>
            <a:ext cx="39319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914400"/>
            <a:ext cx="0" cy="114300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822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76672" y="1965960"/>
            <a:ext cx="914400" cy="45720"/>
          </a:xfrm>
          <a:prstGeom prst="rect">
            <a:avLst/>
          </a:prstGeom>
          <a:solidFill>
            <a:srgbClr val="4CC38A">
              <a:alpha val="80000"/>
            </a:srgbClr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764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85232" y="2066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748272" y="1417320"/>
            <a:ext cx="914400" cy="594360"/>
          </a:xfrm>
          <a:prstGeom prst="rect">
            <a:avLst/>
          </a:prstGeom>
          <a:solidFill>
            <a:srgbClr val="B57BEE">
              <a:alpha val="80000"/>
            </a:srgbClr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216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 S &lt; log 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56832" y="2066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119872" y="1005840"/>
            <a:ext cx="914400" cy="1005840"/>
          </a:xfrm>
          <a:prstGeom prst="rect">
            <a:avLst/>
          </a:prstGeom>
          <a:solidFill>
            <a:srgbClr val="EF5757">
              <a:alpha val="80000"/>
            </a:srgbClr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804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log 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28432" y="2066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48072" y="640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−Tr(ρ̂_A ln ρ̂_A)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 increases with degree of entanglement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ρ̂ needed when a ket |ψ⟩ is insufficient?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ρ̂ needed when a ket |ψ⟩ is insufficient?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ket only represents a pure quantum state. For mixed states (ensembles, subsystems, statistical uncertainty) there is no single |ψ⟩ that reproduces all predictions. ρ̂ handles both: it reduces to |ψ⟩⟨ψ| for pure states and generalises smoothly to mixtures and subsystems.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confusing 'don't know |ψ⟩' with 'state is mixed'. Ignorance of a pure state is still classical — the real state is still pure.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84648" y="914400"/>
            <a:ext cx="2011680" cy="347472"/>
          </a:xfrm>
          <a:prstGeom prst="roundRect">
            <a:avLst>
              <a:gd name="adj" fmla="val 18421"/>
            </a:avLst>
          </a:prstGeom>
          <a:solidFill>
            <a:srgbClr val="1A1A2A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prep.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0488" y="1261872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7528" y="1536192"/>
            <a:ext cx="164592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7528" y="1536192"/>
            <a:ext cx="0" cy="27432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13448" y="1536192"/>
            <a:ext cx="0" cy="27432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8928" y="1810512"/>
            <a:ext cx="731520" cy="310896"/>
          </a:xfrm>
          <a:prstGeom prst="roundRect">
            <a:avLst>
              <a:gd name="adj" fmla="val 20588"/>
            </a:avLst>
          </a:prstGeom>
          <a:solidFill>
            <a:srgbClr val="0D1E1D"/>
          </a:solidFill>
          <a:ln w="15240">
            <a:solidFill>
              <a:srgbClr val="4CC3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1810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(pure)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556248" y="1810512"/>
            <a:ext cx="731520" cy="310896"/>
          </a:xfrm>
          <a:prstGeom prst="roundRect">
            <a:avLst>
              <a:gd name="adj" fmla="val 20588"/>
            </a:avLst>
          </a:prstGeom>
          <a:solidFill>
            <a:srgbClr val="1A0909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1810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38928" y="21762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556248" y="21762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difference: coherent superposition vs. classical mixture?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difference: coherent superposition vs. classical mixture?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superposition (|↑⟩+|↓⟩)/√2 has coherences ρ₁₂ ≠ 0 — it produces interference in measurements. A mixture p|↑⟩⟨↑|+p|↓⟩⟨↓| has no off-diagonal elements — no interference. The density matrices are physically distinct even if both have ⟨σ_z⟩=0.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50:50 mixture of |↑⟩ and |↓⟩ has the same ⟨σ_z⟩ as the superposition but its ρ̂ is diagonal — interference patterns differ.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84648" y="914400"/>
            <a:ext cx="3108960" cy="74980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9509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Superposition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76088" y="1170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|↑⟩+|↓⟩)/√2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76088" y="1408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term 2Re(A₁*A₂) ≠ 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184648" y="1865376"/>
            <a:ext cx="3108960" cy="74980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76088" y="1901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76088" y="2121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p↑|↑⟩⟨↑|+p↓|↓⟩⟨↓|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76088" y="2359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 term — no interference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three properties every density operator must satisfy.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three properties every density operator must satisfy.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Hermitian: ρ̂† = ρ̂ → real, observable eigenvalues.  (2) Unit trace: Tr(ρ̂)=1 → probability normalised.  (3) Positive semi-definite: ρ̂ ≥ 0 → ⟨ψ|ρ̂|ψ⟩ ≥ 0 for all |ψ⟩, so probabilities are non-negative.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Hermitian matrix with Tr=1 is NOT necessarily positive. All three conditions are independent and must all hold.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391656" y="1115568"/>
            <a:ext cx="-1005840" cy="146304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5816" y="2578608"/>
            <a:ext cx="201168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97496" y="2578608"/>
            <a:ext cx="-1005840" cy="-146304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1005840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243584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ρ̂†=ρ̂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76088" y="2468880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06624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trace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Tr=1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287768" y="2468880"/>
            <a:ext cx="219456" cy="219456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2706624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ρ̂≥0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16168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 ρ̂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A state with purity γ = 0.5 is a pure state.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A state with purity γ = 0.5 is a pure state.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A pure state has γ = Tr(ρ̂²) = 1. Any γ &lt; 1 indicates a mixed state. For a qubit (d=2), γ = 0.5 lies halfway between the maximally mixed state (γ=0.5) and the pure surface (γ=1). In fact for d=2, γ_min = 1/d = 0.5 is the maximally mixed state.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d=2: the maximally mixed state (½I) has γ=½, NOT a pure state. Bloch vector: |r|=0 (centre), not |r|=1 (surface).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21808" y="1051560"/>
            <a:ext cx="1554480" cy="1554480"/>
          </a:xfrm>
          <a:prstGeom prst="ellipse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832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γ=1 (surface)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41848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γ=1/d (centre)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07608" y="1348740"/>
            <a:ext cx="182880" cy="18288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2938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γ=0.5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04688" y="713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— Mixed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partial trace 'discard' information about subsystem B?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partial trace 'discard' information about subsystem B?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Tr_B sums over a complete basis {|j⟩_B} of B: ρ̂_A = Σⱼ ⟨j|_B ρ̂_AB |j⟩_B. This averages over all B outcomes — effectively integrating out B's degrees of freedom. The result depends on B's Hilbert space dimension but not on B's particular state.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does not depend on any specific measurement of B. It is a mathematical operation, not a physical collapse.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84648" y="914400"/>
            <a:ext cx="4443984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658368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84648" y="914400"/>
            <a:ext cx="2194560" cy="137160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914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434072" y="914400"/>
            <a:ext cx="2194560" cy="1371600"/>
          </a:xfrm>
          <a:prstGeom prst="rect">
            <a:avLst/>
          </a:prstGeom>
          <a:solidFill>
            <a:srgbClr val="1A0D1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4072" y="914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720072" y="1600200"/>
            <a:ext cx="685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0072" y="16367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Tr_B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3304" y="1188720"/>
            <a:ext cx="1645920" cy="82296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33304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84648" y="2359152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B → reduced state of 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Entanglement entropy is zero for a product state.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Entanglement entropy is zero for a product state.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TRUE. If ρ̂_AB = ρ̂_A ⊗ ρ̂_B then ρ̂_A is pure (γ_A=1) if the full state is pure, so S_A = 0. More precisely, if ρ̂_AB is a pure product state then ρ̂_A = |ψ_A⟩⟨ψ_A| which has a single non-zero eigenvalue (λ=1), giving S = −1·ln1 = 0.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S=0 iff ρ̂_A is pure iff the full pure state ρ̂_AB is a product state. Any entanglement → S &gt; 0.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84648" y="914400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0D1E1D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914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ρ̂_A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950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30568" y="914400"/>
            <a:ext cx="1280160" cy="329184"/>
          </a:xfrm>
          <a:prstGeom prst="roundRect">
            <a:avLst>
              <a:gd name="adj" fmla="val 19444"/>
            </a:avLst>
          </a:prstGeom>
          <a:solidFill>
            <a:srgbClr val="1A0D10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914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ρ̂_B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47688" y="1243584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0408" y="1517904"/>
            <a:ext cx="2194560" cy="329184"/>
          </a:xfrm>
          <a:prstGeom prst="roundRect">
            <a:avLst>
              <a:gd name="adj" fmla="val 19444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15179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ρ̂_AB = ρ̂_A ⊗ ρ̂_B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47688" y="1847088"/>
            <a:ext cx="0" cy="27432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3288" y="2121408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2121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  (no entanglement)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does ⟨Â⟩ = Tr(ρ̂Â) reduce to the usual ⟨ψ|Â|ψ⟩?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⟨Â⟩ = Tr(ρ̂Â) reduce to the usual ⟨ψ|Â|ψ⟩?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ρ̂ = |ψ⟩⟨ψ| (pure state): Tr(|ψ⟩⟨ψ|Â) = ⟨ψ|Â|ψ⟩. For a mixed state ρ̂ = Σpᵢ|ψᵢ⟩⟨ψᵢ|: ⟨Â⟩ = Σpᵢ⟨ψᵢ|Â|ψᵢ⟩ — a weighted classical average of quantum expectations. There is no single |ψ⟩ that gives this.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mixed state one cannot write ⟨Â⟩ = ⟨ψ|Â|ψ⟩ for any |ψ⟩ — this is precisely why ρ̂ is indispensable.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84648" y="914400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D1E1D"/>
          </a:solidFill>
          <a:ln w="1524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Pure: ρ̂² = ρ̂   (idempotent)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64808" y="1261872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84648" y="1536192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1536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Tr(ρ̂Â) = ⟨ψ|Â|ψ⟩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64808" y="1883664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4648" y="2157984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1A0D1A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215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Mixed: ρ̂² ≠ ρ̂   (not idempotent)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64808" y="2505456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84648" y="2779776"/>
            <a:ext cx="25603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Tr(ρ̂Â) ≠ ⟨ψ|Â|ψ⟩ for any |ψ⟩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Bloch sphere representation: pure vs. mixed spin-½.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Bloch sphere representation: pure vs. mixed spin-½.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states live on the surface of the Bloch sphere: r⃗ = (⟨σ_x⟩,⟨σ_y⟩,⟨σ_z⟩), |r⃗|=1. Mixed states live strictly inside: |r⃗| &lt; 1. The maximally mixed state ρ̂=½I is the centre (r⃗=0, γ=½). ρ̂ = ½(I + r⃗·σ⃗) parameterises all qubit states.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Bloch sphere is specific to qubits (d=2). For d&gt;2 the state space is not a ball — it is a higher-dimensional convex body with a much more complex structure.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21808" y="1051560"/>
            <a:ext cx="1554480" cy="1554480"/>
          </a:xfrm>
          <a:prstGeom prst="ellipse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1280160"/>
            <a:ext cx="164592" cy="164592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1828800"/>
            <a:ext cx="466344" cy="-466344"/>
          </a:xfrm>
          <a:prstGeom prst="line">
            <a:avLst/>
          </a:prstGeom>
          <a:noFill/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117957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|r|=1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25896" y="2011680"/>
            <a:ext cx="146304" cy="14630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48" y="1828800"/>
            <a:ext cx="0" cy="256032"/>
          </a:xfrm>
          <a:prstGeom prst="line">
            <a:avLst/>
          </a:prstGeom>
          <a:noFill/>
          <a:ln w="19050">
            <a:solidFill>
              <a:srgbClr val="EF575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190488" y="21031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|r|&lt;1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High-School Track — Intuitive Gateway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classical ignorance vs. quantum superposition. No matrix mechanics.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probability analogy: coin-flip vs. genuine quantum superposition; Bloch sphere intuition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Visualise |↑⟩+|↓⟩ vs. 50:50 mixture on a coin-flip tree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 why |α|² gives probability: normalisation |α|²+|β|²=1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Describe the Bloch sphere: sphere surface = pure, inside = mixed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Discuss: 'Why does quantum mechanics need complex numbers?'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84648" y="914400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0D1A2A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914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flip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(classical)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07608" y="1389888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1664208"/>
            <a:ext cx="109728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1664208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1664208"/>
            <a:ext cx="0" cy="2743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914400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914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02168" y="1389888"/>
            <a:ext cx="0" cy="27432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53528" y="1664208"/>
            <a:ext cx="1097280" cy="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53528" y="1664208"/>
            <a:ext cx="0" cy="27432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0808" y="1664208"/>
            <a:ext cx="0" cy="27432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84648" y="1938528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201007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p=½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90488" y="1938528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201007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p=½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79208" y="1938528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0D1E35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9208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385048" y="1938528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0D1E35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84648" y="2377440"/>
            <a:ext cx="4114800" cy="34747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6088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Quantum: |α|²+|β|²=1 AND cross-terms (interference) exist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Beginning Undergraduate — Computational Entry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computations: build ρ̂, verify properties, compute ⟨Â⟩.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ρ̂, Tr(ρ̂²), and ⟨Â⟩ for 2×2 examples; verify properties numerically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ρ̂ for |+⟩=(|0⟩+|1⟩)/√2; compute Tr(ρ̂²), ⟨σ_z⟩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ρ̂ = 0.7|0⟩⟨0|+0.3|1⟩⟨1|: find purity, ⟨σ_x⟩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 Hermiticity and positive semi-definiteness numerically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Compute partial trace for |Φ+⟩=(|00⟩+|11⟩)/√2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84648" y="914400"/>
            <a:ext cx="1188720" cy="118872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ρ₁₁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7900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ρ₁₂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84648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ρ₂₁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79008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ρ₂₂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41848" y="6583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1508760"/>
            <a:ext cx="50292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344168"/>
            <a:ext cx="914400" cy="329184"/>
          </a:xfrm>
          <a:prstGeom prst="roundRect">
            <a:avLst>
              <a:gd name="adj" fmla="val 19444"/>
            </a:avLst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344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Tr(ρ̂)=1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1764792"/>
            <a:ext cx="502920" cy="0"/>
          </a:xfrm>
          <a:prstGeom prst="line">
            <a:avLst/>
          </a:prstGeom>
          <a:noFill/>
          <a:ln w="25400">
            <a:solidFill>
              <a:srgbClr val="B57B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600200"/>
            <a:ext cx="914400" cy="329184"/>
          </a:xfrm>
          <a:prstGeom prst="roundRect">
            <a:avLst>
              <a:gd name="adj" fmla="val 19444"/>
            </a:avLst>
          </a:prstGeom>
          <a:solidFill>
            <a:srgbClr val="1A0F2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600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Tr(ρ̂²)≤1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46520" y="2057400"/>
            <a:ext cx="502920" cy="0"/>
          </a:xfrm>
          <a:prstGeom prst="line">
            <a:avLst/>
          </a:prstGeom>
          <a:noFill/>
          <a:ln w="25400">
            <a:solidFill>
              <a:srgbClr val="28A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1892808"/>
            <a:ext cx="914400" cy="329184"/>
          </a:xfrm>
          <a:prstGeom prst="roundRect">
            <a:avLst>
              <a:gd name="adj" fmla="val 19444"/>
            </a:avLst>
          </a:prstGeom>
          <a:solidFill>
            <a:srgbClr val="0D1E1D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8928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⟨Â⟩=Tr(ρ̂Â)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Undergraduate — Structural Understanding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and spectral theory: derive Tr(ρ̂²)≤1, Bloch vector, partial trace.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1 via spectral decomposition; Bloch vector parameterisation; partial trace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Prove Tr(ρ̂²) ≤ 1 using spectral decomposition and Cauchy–Schwarz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Parameterise a qubit ρ̂ via Bloch vector; show γ = ½(1+|r|²)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Derive partial trace formula from tensor product structure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Show global phase is unobservable: Tr(ρ̂Â) invariant under |ψ⟩→e^{iθ}|ψ⟩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84648" y="1298448"/>
            <a:ext cx="640080" cy="713232"/>
          </a:xfrm>
          <a:prstGeom prst="rect">
            <a:avLst/>
          </a:prstGeom>
          <a:solidFill>
            <a:srgbClr val="4F8EF7">
              <a:alpha val="80000"/>
            </a:srgbClr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676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λ1=0.65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84648" y="2048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|e1⟩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53328" y="1737360"/>
            <a:ext cx="640080" cy="274320"/>
          </a:xfrm>
          <a:prstGeom prst="rect">
            <a:avLst/>
          </a:prstGeom>
          <a:solidFill>
            <a:srgbClr val="28A8A0">
              <a:alpha val="80000"/>
            </a:srgbClr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76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λ2=0.25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53328" y="2048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|e2⟩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22008" y="1901952"/>
            <a:ext cx="640080" cy="109728"/>
          </a:xfrm>
          <a:prstGeom prst="rect">
            <a:avLst/>
          </a:prstGeom>
          <a:solidFill>
            <a:srgbClr val="B57BEE">
              <a:alpha val="80000"/>
            </a:srgbClr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676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λ3=0.1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22008" y="2048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|e3⟩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11496" y="2011680"/>
            <a:ext cx="26791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232257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Σᵢ λᵢ |eᵢ⟩⟨eᵢ|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Tr(ρ̂²) = Σᵢ λᵢ² ≤ (Σᵢ λᵢ)² =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Masters Level — Entanglement and Information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decomposition, purification, entanglement entropy and its properties.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of mixed states; Schmidt decomposition; entanglement entropy and sub-additivity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Decompose any bipartite pure state via SVD (Schmidt decomposition)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Purify ρ̂_A: construct |Ψ⟩_AB such that Tr_B(|Ψ⟩⟨Ψ|) = ρ̂_A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Prove sub-additivity: S(AB) ≤ S(A) + S(B)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Show S(A) = S(B) for a pure bipartite state |Ψ⟩_AB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84648" y="914400"/>
            <a:ext cx="457200" cy="384048"/>
          </a:xfrm>
          <a:prstGeom prst="ellipse">
            <a:avLst/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√λ1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41848" y="1106424"/>
            <a:ext cx="274320" cy="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16168" y="941832"/>
            <a:ext cx="640080" cy="329184"/>
          </a:xfrm>
          <a:prstGeom prst="roundRect">
            <a:avLst>
              <a:gd name="adj" fmla="val 19444"/>
            </a:avLst>
          </a:prstGeom>
          <a:solidFill>
            <a:srgbClr val="0D1E1D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9418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|a1⟩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01968" y="950976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76288" y="941832"/>
            <a:ext cx="640080" cy="329184"/>
          </a:xfrm>
          <a:prstGeom prst="roundRect">
            <a:avLst>
              <a:gd name="adj" fmla="val 19444"/>
            </a:avLst>
          </a:prstGeom>
          <a:solidFill>
            <a:srgbClr val="1A0D10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9418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|b1⟩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84648" y="1572768"/>
            <a:ext cx="457200" cy="384048"/>
          </a:xfrm>
          <a:prstGeom prst="ellipse">
            <a:avLst/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1572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√λ2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41848" y="1764792"/>
            <a:ext cx="274320" cy="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6168" y="1600200"/>
            <a:ext cx="640080" cy="329184"/>
          </a:xfrm>
          <a:prstGeom prst="roundRect">
            <a:avLst>
              <a:gd name="adj" fmla="val 19444"/>
            </a:avLst>
          </a:prstGeom>
          <a:solidFill>
            <a:srgbClr val="0D1E1D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16168" y="1600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|a2⟩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01968" y="1609344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76288" y="1600200"/>
            <a:ext cx="640080" cy="329184"/>
          </a:xfrm>
          <a:prstGeom prst="roundRect">
            <a:avLst>
              <a:gd name="adj" fmla="val 19444"/>
            </a:avLst>
          </a:prstGeom>
          <a:solidFill>
            <a:srgbClr val="1A0D10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1600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|b2⟩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84648" y="2231136"/>
            <a:ext cx="457200" cy="384048"/>
          </a:xfrm>
          <a:prstGeom prst="ellipse">
            <a:avLst/>
          </a:prstGeom>
          <a:solidFill>
            <a:srgbClr val="201700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√λ3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641848" y="2423160"/>
            <a:ext cx="274320" cy="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16168" y="2258568"/>
            <a:ext cx="640080" cy="329184"/>
          </a:xfrm>
          <a:prstGeom prst="roundRect">
            <a:avLst>
              <a:gd name="adj" fmla="val 19444"/>
            </a:avLst>
          </a:prstGeom>
          <a:solidFill>
            <a:srgbClr val="0D1E1D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16168" y="22585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|a3⟩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01968" y="2267712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76288" y="2258568"/>
            <a:ext cx="640080" cy="329184"/>
          </a:xfrm>
          <a:prstGeom prst="roundRect">
            <a:avLst>
              <a:gd name="adj" fmla="val 19444"/>
            </a:avLst>
          </a:prstGeom>
          <a:solidFill>
            <a:srgbClr val="1A0D10"/>
          </a:solidFill>
          <a:ln w="15240">
            <a:solidFill>
              <a:srgbClr val="EF57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22585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|b3⟩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64608" y="14630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84648" y="2962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−Σᵢ λᵢ ln λᵢ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Doctoral Level — Functional Analysis &amp; Open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operators, von Neumann entropy, quantum channels, and CP maps.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operators in ∞ dimensions; von Neumann entropy; quantum relative entropy; CP maps preview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trace-class operators on infinite-dim. H; show ρ̂ ∈ T₁(H)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concavity of von Neumann entropy: S(Σpᵢρ̂ᵢ) ≥ Σpᵢ S(ρ̂ᵢ)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Define completely positive trace-preserving (CPTP) maps (quantum channels)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Show Kraus decomposition ε(ρ̂) = Σ_k K_k ρ̂ K_k† characterises all CPTP maps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84648" y="914400"/>
            <a:ext cx="2926080" cy="329184"/>
          </a:xfrm>
          <a:prstGeom prst="rect">
            <a:avLst/>
          </a:prstGeom>
          <a:solidFill>
            <a:srgbClr val="0D0D0D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914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operators B(H)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47688" y="1243584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2527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⊃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58968" y="1371600"/>
            <a:ext cx="237744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1371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operators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47688" y="1700784"/>
            <a:ext cx="0" cy="128016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7099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⊃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733288" y="1828800"/>
            <a:ext cx="1828800" cy="329184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3288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T₁(H)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47688" y="2157984"/>
            <a:ext cx="0" cy="128016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16712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⊃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961888" y="2286000"/>
            <a:ext cx="1371600" cy="329184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2286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 ρ̂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84648" y="2816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Tr(|ρ̂|) &lt; ∞,  ρ̂ ≥ 0,  Tr(ρ̂)=1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L01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|ψ⟩⟨ψ|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Σᵢ pᵢ |ψᵢ⟩⟨ψᵢ|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⟨Â⟩ = Tr(ρ̂ Â)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Tr(ρ̂²) ≤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 = Tr_B(ρ̂_AB)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−Tr(ρ̂_A ln ρ̂_A)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entropy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I.2 — L12: Tensor Products, Spin &amp; Density Operators (intro)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Pure/Mixed States and the Density Matrix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ρ̂ needed when a ket |ψ⟩ is insufficient?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physical difference between a coherent superposition and a classical mixture?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the three mathematical properties that every density operator must satisfy.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True/False: A state with purity γ = 0.5 is a pure state. Justify.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the partial trace 'discard' information about subsystem B?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Entanglement entropy is zero for a product state.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When does ⟨Â⟩ = Tr(ρ̂Â) reduce to the usual ⟨ψ|Â|ψ⟩?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Compare the Bloch sphere representation of a pure vs. mixed spin-½ state.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Pure/Mixed States and the Density Matrix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probability analogy: coin-flip vs. genuine quantum superposition; Bloch sphere intuition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ρ̂, Tr(ρ̂²), and ⟨Â⟩ for 2×2 examples; verify properties numerically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1 via spectral decomposition; Bloch vector parameterisation; partial trace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of mixed states; Schmidt decomposition; entanglement entropy and sub-additivity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operators in ∞ dimensions; von Neumann entropy; quantum relative entropy; CP maps preview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ρ̂ for explicit mixtures; compute purity and ⟨σ̂_z⟩; partial trace for 2-qubit Bell states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(Tr ρ̂)² with equality iff rank-1; show entanglement entropy vanishes for product states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Pure/Mixed States and the Density Matrix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L01 (Expanded) — Pure/Mixed States and the Density Matrix</dc:title>
  <dc:subject>Quantum Dynamics — Density Matrix</dc:subject>
  <dc:creator>QM Programme</dc:creator>
  <cp:lastModifiedBy>QM Programme</cp:lastModifiedBy>
  <cp:revision>1</cp:revision>
  <dcterms:created xsi:type="dcterms:W3CDTF">2026-04-28T20:54:45Z</dcterms:created>
  <dcterms:modified xsi:type="dcterms:W3CDTF">2026-04-28T20:54:45Z</dcterms:modified>
</cp:coreProperties>
</file>