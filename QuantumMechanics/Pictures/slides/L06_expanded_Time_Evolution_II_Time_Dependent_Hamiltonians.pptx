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274320"/>
            <a:ext cx="2926080" cy="292608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0" y="457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A30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Ψ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MODULE I.3 — QUANTUM DYNAMICS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170432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Evolution II — Time-Dependent Hamiltonians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Dyson Series · Magnus Expansion · Floquet Preview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60604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↔ Mathematical Dual-Track — Lecture 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3D3110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4300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103320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7452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0D205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0604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2D1850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37560" y="2944368"/>
            <a:ext cx="658368" cy="219456"/>
          </a:xfrm>
          <a:prstGeom prst="roundRect">
            <a:avLst>
              <a:gd name="adj" fmla="val 20833"/>
            </a:avLst>
          </a:prstGeom>
          <a:solidFill>
            <a:srgbClr val="400E0E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9443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291840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  ·  Diagram slides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 — Time Evolution II — Time-Dependent Hamiltonians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 — Lecture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Evolution II — Time-Dependent Hamiltonians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160520" cy="1828800"/>
          </a:xfrm>
          <a:prstGeom prst="rect">
            <a:avLst/>
          </a:prstGeom>
          <a:solidFill>
            <a:srgbClr val="0D1E1D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85800"/>
            <a:ext cx="39410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Failure of e^{−iĤt/ℏ} when [Ĥ(t₁),Ĥ(t₂)]≠0; integral equation; iterative solution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20–45 min: Time-ordered exponential T exp(−i/ℏ ∫Ĥdt'); Dyson's T operator; first- and second-order terms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45–65 min: Piecewise-constant approximation; product formula; Trotter–Suzuki and quantum simulation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65–90 min: Magnus expansion Ω₁,Ω₂,...; unitarity preservation; convergence radius; driven spin-½; Berry phase preview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25696" y="594360"/>
            <a:ext cx="4572000" cy="1828800"/>
          </a:xfrm>
          <a:prstGeom prst="rect">
            <a:avLst/>
          </a:prstGeom>
          <a:solidFill>
            <a:srgbClr val="0D183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685800"/>
            <a:ext cx="43525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the Dyson series for a time-dependent Hamiltonian from the integral equation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 the time-ordered exponential and evaluate its first two terms explicitly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Explain why the Magnus expansion preserves unitarity while the Dyson series does not term-by-term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the piecewise-constant approximation to a simple driven system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4592" y="2523744"/>
            <a:ext cx="1737360" cy="1097280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'When the Hamiltonian changes in time, the future depends on the full history' — spinning top analogy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20240" y="2523744"/>
            <a:ext cx="1737360" cy="1097280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93392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Dyson term; transition probability formula; numerical piecewise evolution for a qubit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75888" y="2523744"/>
            <a:ext cx="1737360" cy="1097280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Dyson series derivation; prove time-ordering is necessary; compute Ω₁ and Ω₂ of Magnus expansion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31536" y="2523744"/>
            <a:ext cx="1737360" cy="1097280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31536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04688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 convergence; Trotter–Suzuki product formula and its error; connection to quantum simulation circuits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87184" y="2523744"/>
            <a:ext cx="1737360" cy="1097280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87184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60336" y="2752344"/>
            <a:ext cx="1591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 expansion in Lie algebraic language; Floquet theory for periodic Ĥ(t); geometric phases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4592" y="3694176"/>
            <a:ext cx="8833104" cy="713232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85616"/>
            <a:ext cx="861364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950" dirty="0"/>
          </a:p>
          <a:p>
            <a:pPr indent="0" marL="0"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Compute first-order Dyson term for oscillating Ĥ; piecewise evolution of a qubit; transition probability</a:t>
            </a:r>
            <a:endParaRPr lang="en-US" sz="950" dirty="0"/>
          </a:p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Derive Dyson series from integral equation; prove Ω₁ of Magnus; convergence criterion application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L06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Overview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Derive the Dyson Series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Solve the integral equation for Û_I iteratively to get the time-ordered expansion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the integral equation for Û_I iteratively to get the time-ordered expansion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Start from iℏ∂_tÛ_I = V̂_I(t)Û_I; integrate: Û_I(t)=Î−(i/ℏ)∫V̂_I(t')Û_I(t')dt'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Iterate: substitute Û_I on the right, repeat → Dyson series Û_I=Î+Û^{(1)}+Û^{(2)}+...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First order: Û^{(1)}=−(i/ℏ)∫₀ᵗV̂_I(t')dt'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Second order: Û^{(2)}=(−i/ℏ)²∫₀ᵗdt'∫₀^{t'}dt''V̂_I(t')V̂_I(t'')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66360" y="877824"/>
            <a:ext cx="3474720" cy="310896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9512" y="877824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iℏ∂_tÛ = V̂_I(t)Û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03720" y="1188720"/>
            <a:ext cx="0" cy="128016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66360" y="1316736"/>
            <a:ext cx="3474720" cy="310896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9512" y="1316736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 = Î − (i/ℏ)∫V̂_I Û dt'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903720" y="1627632"/>
            <a:ext cx="0" cy="128016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66360" y="1755648"/>
            <a:ext cx="3474720" cy="310896"/>
          </a:xfrm>
          <a:prstGeom prst="rect">
            <a:avLst/>
          </a:prstGeom>
          <a:solidFill>
            <a:srgbClr val="0D1A2A"/>
          </a:solidFill>
          <a:ln w="19050">
            <a:solidFill>
              <a:srgbClr val="C9D1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9512" y="1755648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Iterate: substitute Û on RHS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903720" y="2066544"/>
            <a:ext cx="0" cy="128016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66360" y="2194560"/>
            <a:ext cx="3474720" cy="310896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39512" y="2194560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Û^(1) = −(i/ℏ)∫V̂_I dt'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903720" y="2505456"/>
            <a:ext cx="0" cy="128016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66360" y="2633472"/>
            <a:ext cx="3474720" cy="310896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39512" y="2633472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CC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Û^(2) = (−i/ℏ)² ∫∫ T[V̂V̂] dt'dt''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903720" y="2944368"/>
            <a:ext cx="0" cy="128016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66360" y="3072384"/>
            <a:ext cx="3474720" cy="310896"/>
          </a:xfrm>
          <a:prstGeom prst="rect">
            <a:avLst/>
          </a:prstGeom>
          <a:solidFill>
            <a:srgbClr val="201700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9512" y="3072384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 = T exp(−i/ℏ ∫V̂_I dt)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construction of the Dyson series from the integral equation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L06 · Learning Objective 1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and Evaluate the Time-Ordered Exponential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Express Û as a time-ordered exponential and compute first two terms explicitly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Û as a time-ordered exponential and compute first two terms explicitly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 ordering: T[Â(t₁)B̂(t₂)] places later times to the left — essential when [V̂(t₁),V̂(t₂)]≠0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Compact: Û = T exp(−i/ℏ ∫₀ᵗ V̂_I(t')dt') — only meaningful as a shorthand for Dyson series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First term evaluated: Û^{(1)}(t,0) = −(i/ℏ)∫₀ᵗ e^{iω_{fi}t'} V̂_I(0) dt' for const V̂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Transition amplitude: ⟨f|Û^{(1)}|i⟩ gives first-order probability amplitude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66360" y="877824"/>
            <a:ext cx="3474720" cy="237744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8778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Time-ordering: T[A(t₁)B(t₂)]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66360" y="1188720"/>
            <a:ext cx="1645920" cy="1645920"/>
          </a:xfrm>
          <a:prstGeom prst="rect">
            <a:avLst/>
          </a:prstGeom>
          <a:solidFill>
            <a:srgbClr val="080E16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287121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region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257800" y="1280160"/>
            <a:ext cx="1371600" cy="0"/>
          </a:xfrm>
          <a:prstGeom prst="line">
            <a:avLst/>
          </a:prstGeom>
          <a:noFill/>
          <a:ln w="1016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57800" y="1280160"/>
            <a:ext cx="0" cy="1371600"/>
          </a:xfrm>
          <a:prstGeom prst="line">
            <a:avLst/>
          </a:prstGeom>
          <a:noFill/>
          <a:ln w="10160">
            <a:solidFill>
              <a:srgbClr val="8B949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57800" y="2651760"/>
            <a:ext cx="1371600" cy="-1371600"/>
          </a:xfrm>
          <a:prstGeom prst="line">
            <a:avLst/>
          </a:prstGeom>
          <a:noFill/>
          <a:ln w="19050">
            <a:solidFill>
              <a:srgbClr val="28A8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0" y="1645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t₂ &lt; t₁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(ordered)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92240" y="12801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t₁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056632" y="26517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t₂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995160" y="1188720"/>
            <a:ext cx="1554480" cy="493776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68312" y="1225296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t₁&gt;t₂: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T[A(t₁)B(t₂)]=A(t₁)B(t₂)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995160" y="1755648"/>
            <a:ext cx="1554480" cy="493776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68312" y="1792224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t₁&lt;t₂: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T[A(t₁)B(t₂)]=B(t₂)A(t₁)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ordering: the triangular region t''&gt;t' in the double integral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L06 · Learning Objective 2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106038"/>
          </a:solidFill>
          <a:ln w="12700">
            <a:solidFill>
              <a:srgbClr val="1060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Magnus Preserves Unitarity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Contrast Dyson (not term-by-term unitary) with Magnus (exactly unitary at each order)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Dyson (not term-by-term unitary) with Magnus (exactly unitary at each order)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Dyson series: each term Û^{(n)} is not individually unitary; unitarity only restored at all orders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Magnus ansatz: Û(t)=e^{Ω(t)} where Ω = Ω₁+Ω₂+... is anti-Hermitian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Ω anti-Hermitian ⟹ e^Ω is unitary — exactly at every order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Ω₁=−(i/ℏ)∫V̂_I dt'; Ω₂=−(1/2ℏ²)∫∫[V̂_I(t'),V̂_I(t'')]dt'dt''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66360" y="877824"/>
            <a:ext cx="1691640" cy="256032"/>
          </a:xfrm>
          <a:prstGeom prst="rect">
            <a:avLst/>
          </a:prstGeom>
          <a:solidFill>
            <a:srgbClr val="0D1A2A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8778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Dyson series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66360" y="1133856"/>
            <a:ext cx="1691640" cy="310896"/>
          </a:xfrm>
          <a:prstGeom prst="rect">
            <a:avLst/>
          </a:prstGeom>
          <a:solidFill>
            <a:srgbClr val="0D1420"/>
          </a:solidFill>
          <a:ln w="6350">
            <a:solidFill>
              <a:srgbClr val="4F8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9512" y="1133856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Û=Î+Û^(1)+Û^(2)+...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166360" y="1463040"/>
            <a:ext cx="1691640" cy="310896"/>
          </a:xfrm>
          <a:prstGeom prst="rect">
            <a:avLst/>
          </a:prstGeom>
          <a:solidFill>
            <a:srgbClr val="0D1820"/>
          </a:solidFill>
          <a:ln w="6350">
            <a:solidFill>
              <a:srgbClr val="4F8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39512" y="1463040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term ≠ unitary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166360" y="1792224"/>
            <a:ext cx="1691640" cy="310896"/>
          </a:xfrm>
          <a:prstGeom prst="rect">
            <a:avLst/>
          </a:prstGeom>
          <a:solidFill>
            <a:srgbClr val="0D1420"/>
          </a:solidFill>
          <a:ln w="635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9512" y="1792224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Sum: unitary at all orders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166360" y="2121408"/>
            <a:ext cx="1691640" cy="310896"/>
          </a:xfrm>
          <a:prstGeom prst="rect">
            <a:avLst/>
          </a:prstGeom>
          <a:solidFill>
            <a:srgbClr val="0D1820"/>
          </a:solidFill>
          <a:ln w="6350">
            <a:solidFill>
              <a:srgbClr val="4F8E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9512" y="2121408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Diverges for large V or 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967728" y="877824"/>
            <a:ext cx="1691640" cy="256032"/>
          </a:xfrm>
          <a:prstGeom prst="rect">
            <a:avLst/>
          </a:prstGeom>
          <a:solidFill>
            <a:srgbClr val="0D1A2A"/>
          </a:solidFill>
          <a:ln w="25400">
            <a:solidFill>
              <a:srgbClr val="28A8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67728" y="8778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Magnus expansion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967728" y="1133856"/>
            <a:ext cx="1691640" cy="310896"/>
          </a:xfrm>
          <a:prstGeom prst="rect">
            <a:avLst/>
          </a:prstGeom>
          <a:solidFill>
            <a:srgbClr val="0D1E1D"/>
          </a:solidFill>
          <a:ln w="6350">
            <a:solidFill>
              <a:srgbClr val="28A8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1133856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Û=e^{Ω₁+Ω₂+...}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967728" y="1463040"/>
            <a:ext cx="1691640" cy="310896"/>
          </a:xfrm>
          <a:prstGeom prst="rect">
            <a:avLst/>
          </a:prstGeom>
          <a:solidFill>
            <a:srgbClr val="0D1E15"/>
          </a:solidFill>
          <a:ln w="6350">
            <a:solidFill>
              <a:srgbClr val="28A8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1463040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CC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e^Ωₙ is unitary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967728" y="1792224"/>
            <a:ext cx="1691640" cy="310896"/>
          </a:xfrm>
          <a:prstGeom prst="rect">
            <a:avLst/>
          </a:prstGeom>
          <a:solidFill>
            <a:srgbClr val="0D1E1D"/>
          </a:solidFill>
          <a:ln w="6350">
            <a:solidFill>
              <a:srgbClr val="28A8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1792224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Ω anti-Hermitian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967728" y="2121408"/>
            <a:ext cx="1691640" cy="310896"/>
          </a:xfrm>
          <a:prstGeom prst="rect">
            <a:avLst/>
          </a:prstGeom>
          <a:solidFill>
            <a:srgbClr val="0D1E15"/>
          </a:solidFill>
          <a:ln w="6350">
            <a:solidFill>
              <a:srgbClr val="28A8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2121408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Better for long-time sim.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Dyson vs. Magnus: only Magnus guarantees unitarity at each truncation order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L06 · Learning Objective 3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D1850"/>
          </a:solidFill>
          <a:ln w="12700">
            <a:solidFill>
              <a:srgbClr val="2D18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 Piecewise-Constant Approximation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 — Discretise time and apply the Trotter product formula for driven systems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229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Discretise time and apply the Trotter product formula for driven systems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152144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2529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POINTS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444752"/>
            <a:ext cx="43525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Divide [0,t] into N steps of width Δt=t/N; within each step, treat Ĥ as constant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Û ≈ ∏ₖ e^{-iĤ(tₖ)Δt/ℏ}  — Trotter product formula (first order in Δt)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Error: |Û_exact − Û_Trotter| = O(Δt²) from BCH formula [Ĥ(t₁),Ĥ(t₂)]≠0 contributions</a:t>
            </a:r>
            <a:endParaRPr lang="en-US" sz="10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Suzuki–Trotter 2nd order: symmetric splitting reduces error to O(Δt³)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166360" y="8778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Trotter product formula (Δt steps)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57800" y="1133856"/>
            <a:ext cx="621792" cy="640080"/>
          </a:xfrm>
          <a:prstGeom prst="rect">
            <a:avLst/>
          </a:prstGeom>
          <a:solidFill>
            <a:srgbClr val="00000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1133856"/>
            <a:ext cx="621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e^{-iĤₖΔt/ℏ}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257800" y="181051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t0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916168" y="1133856"/>
            <a:ext cx="621792" cy="640080"/>
          </a:xfrm>
          <a:prstGeom prst="rect">
            <a:avLst/>
          </a:prstGeom>
          <a:solidFill>
            <a:srgbClr val="00000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16168" y="1133856"/>
            <a:ext cx="621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e^{-iĤₖΔt/ℏ}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916168" y="181051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574536" y="1133856"/>
            <a:ext cx="621792" cy="640080"/>
          </a:xfrm>
          <a:prstGeom prst="rect">
            <a:avLst/>
          </a:prstGeom>
          <a:solidFill>
            <a:srgbClr val="00000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74536" y="1133856"/>
            <a:ext cx="621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e^{-iĤₖΔt/ℏ}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574536" y="181051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232904" y="1133856"/>
            <a:ext cx="621792" cy="640080"/>
          </a:xfrm>
          <a:prstGeom prst="rect">
            <a:avLst/>
          </a:prstGeom>
          <a:solidFill>
            <a:srgbClr val="00000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2904" y="1133856"/>
            <a:ext cx="621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e^{-iĤₖΔt/ℏ}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232904" y="181051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t3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7891272" y="1133856"/>
            <a:ext cx="621792" cy="640080"/>
          </a:xfrm>
          <a:prstGeom prst="rect">
            <a:avLst/>
          </a:prstGeom>
          <a:solidFill>
            <a:srgbClr val="00000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91272" y="1133856"/>
            <a:ext cx="621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e^{-iĤₖΔt/ℏ}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891272" y="181051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t4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166360" y="2029968"/>
            <a:ext cx="3346704" cy="0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66360" y="2157984"/>
            <a:ext cx="3474720" cy="274320"/>
          </a:xfrm>
          <a:prstGeom prst="rect">
            <a:avLst/>
          </a:prstGeom>
          <a:solidFill>
            <a:srgbClr val="1A0F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21579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 ≈ e^{-iĤ₄Δt} ··· e^{-iĤ₀Δt}  (right to left)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166360" y="2487168"/>
            <a:ext cx="3474720" cy="237744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66360" y="24871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O(Δt²); Suzuki–Trotter 2nd order → O(Δt³)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074920" y="4443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Trotter product: compose N short exact evolutions under constant Ĥ(tₖ)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L06 · Learning Objective 4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Û = T exp(−i/ℏ ∫_{t₀}^{t} Ĥ(t')dt')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Dyson / time-ordered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8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 = T exp(−i/ℏ ∫_{t₀}^{t} Ĥ(t')dt')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Dyson / time-ordered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exp(−i/ℏ ∫Ĥdt) is a compact notation for the Dyson series; the T-ordering is essential when [Ĥ(t₁),Ĥ(t₂)]≠0 since operators at different times don't commute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Without T: e^{A+B}≠e^Ae^B when [A,B]≠0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T-ordering gives correct time-ordered product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Reduces to e^{-iĤt/ℏ} when Ĥ is time-independent  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 = T exp(−i/ℏ ∫_{t₀}^{t} Ĥ(t')dt')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Dyson / time-ordered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exp(−i/ℏ ∫Ĥdt) is a compact notation for the Dyson series; the T-ordering is essential when [Ĥ(t₁),Ĥ(t₂)]≠0 since operators at different times don't commute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Time Evolution I: Time-Independent Hamiltonians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Pictures of QM and the Heisenberg Picture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L06 · Formula 1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Û^{(1)} = −(i/ℏ) ∫Ĥ(t')dt'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Dyson term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Û^{(1)} = −(i/ℏ) ∫Ĥ(t')dt'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Dyson term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Û^{(1)}=−(i/ℏ)∫V̂_I dt' is the leading perturbative correction; gives transition amplitudes to first order; used directly in Fermi's golden rule derivation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⟨f|Û^(1)|i⟩ = first-order transition amplitude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P_{i→f} = |⟨f|Û^(1)|i⟩|² to first order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Valid when V̂ is weak relative to Ĥ₀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28A8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Û^{(1)} = −(i/ℏ) ∫Ĥ(t')dt'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Dyson term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Û^{(1)}=−(i/ℏ)∫V̂_I dt' is the leading perturbative correction; gives transition amplitudes to first order; used directly in Fermi's golden rule derivation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Time Evolution I: Time-Independent Hamiltonians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Pictures of QM and the Heisenberg Picture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L06 · Formula 2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Ω₁(t) = −i/ℏ ∫_{t₀}^{t} Ĥ(t')dt'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Magnus cumulant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C3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Ω₁(t) = −i/ℏ ∫_{t₀}^{t} Ĥ(t')dt'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Magnus cumulant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Ω₁=−(i/ℏ)∫V̂_I dt' is the same as the first Dyson term; but as the exponent Ω₁ it generates exactly unitary evolution even at this order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e^{Ω₁} is unitary for any Hermitian V̂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Agrees with Dyson to first order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Fails to account for ordering effects (corrected by Ω₂)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4CC3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Ω₁(t) = −i/ℏ ∫_{t₀}^{t} Ĥ(t')dt'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Magnus cumulant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Ω₁=−(i/ℏ)∫V̂_I dt' is the same as the first Dyson term; but as the exponent Ω₁ it generates exactly unitary evolution even at this order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Time Evolution I: Time-Independent Hamiltonians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Pictures of QM and the Heisenberg Picture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L06 · Formula 3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Ω₂(t) = −1/2ℏ² ∫∫[Ĥ(t'),Ĥ(t'')]dt'dt''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cumulant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Ω₂(t) = −1/2ℏ² ∫∫[Ĥ(t'),Ĥ(t'')]dt'dt''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cumulant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Ω₂=−(1/2ℏ²)∫∫[V̂_I(t'),V̂_I(t'')]dt'dt'' captures the commutator correction; vanishes if V̂ commutes at all times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Ω₂=0 if [V̂(t₁),V̂(t₂)]=0 for all t₁,t₂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Anti-Hermitian: Ω₂†=−Ω₂ → e^{Ω₂} unitary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Second-order correction to time ordering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Ω₂(t) = −1/2ℏ² ∫∫[Ĥ(t'),Ĥ(t'')]dt'dt''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cumulant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Ω₂=−(1/2ℏ²)∫∫[V̂_I(t'),V̂_I(t'')]dt'dt'' captures the commutator correction; vanishes if V̂ commutes at all times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Time Evolution I: Time-Independent Hamiltonians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Pictures of QM and the Heisenberg Picture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L06 · Formula 4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Û ≈ e^{Ω₁+Ω₂+...}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 — exactly unitary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7B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 ≈ e^{Ω₁+Ω₂+...}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 — exactly unitary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e^{Ω₁+Ω₂+...} is exactly unitary because each Ωₙ is anti-Hermitian (Ωₙ†=−Ωₙ); the exponential of an anti-Hermitian operator is unitary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Anti-Hermitian Ω → unitary e^Ω always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Preserves norm at each truncation order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Dyson does not: each term breaks unitarity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B57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 ≈ e^{Ω₁+Ω₂+...}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 — exactly unitary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e^{Ω₁+Ω₂+...} is exactly unitary because each Ωₙ is anti-Hermitian (Ωₙ†=−Ωₙ); the exponential of an anti-Hermitian operator is unitary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Time Evolution I: Time-Independent Hamiltonians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Pictures of QM and the Heisenberg Picture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L06 · Formula 5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Û_Trotter ≈ ∏ₖ e^{−iĤ(tₖ)Δt/ℏ}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Trotter–Suzuki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57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Û_Trotter ≈ ∏ₖ e^{−iĤ(tₖ)Δt/ℏ}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Trotter–Suzuki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1243584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3167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517904"/>
            <a:ext cx="43525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Û≈∏ₖe^{-iĤ(tₖ)Δt/ℏ} approximates continuous evolution by N short steps; error comes from BCH: e^A e^B = e^{A+B+½[A,B]+...}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88336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/ CONSEQUENCES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2889504"/>
            <a:ext cx="43525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First-order Trotter error: O(Δt²)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Suzuki–Trotter 2nd order: O(Δt³)  ✓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Basis for quantum simulation algorithms (Trotterisation)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257800" y="914400"/>
            <a:ext cx="3429000" cy="914400"/>
          </a:xfrm>
          <a:prstGeom prst="rect">
            <a:avLst/>
          </a:prstGeom>
          <a:solidFill>
            <a:srgbClr val="0D1A2A"/>
          </a:solidFill>
          <a:ln w="25400">
            <a:solidFill>
              <a:srgbClr val="EF57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49240" y="1024128"/>
            <a:ext cx="329184" cy="329184"/>
          </a:xfrm>
          <a:prstGeom prst="ellipse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024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51576" y="100584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Û_Trotter ≈ ∏ₖ e^{−iĤ(tₖ)Δt/ℏ}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51576" y="14630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Trotter–Suzuki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57800" y="1920240"/>
            <a:ext cx="3429000" cy="1097280"/>
          </a:xfrm>
          <a:prstGeom prst="rect">
            <a:avLst/>
          </a:prstGeom>
          <a:solidFill>
            <a:srgbClr val="0D1220"/>
          </a:solidFill>
          <a:ln w="10160">
            <a:solidFill>
              <a:srgbClr val="8B949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49240" y="197510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interpretation: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49240" y="2176272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Û≈∏ₖe^{-iĤ(tₖ)Δt/ℏ} approximates continuous evolution by N short steps; error comes from BCH: e^A e^B = e^{A+B+½[A,B]+...}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4920" y="4187952"/>
            <a:ext cx="3794760" cy="475488"/>
          </a:xfrm>
          <a:prstGeom prst="rect">
            <a:avLst/>
          </a:prstGeom>
          <a:solidFill>
            <a:srgbClr val="1A0F2A"/>
          </a:solidFill>
          <a:ln w="15240">
            <a:solidFill>
              <a:srgbClr val="7C5CB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4261104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Time Evolution I: Time-Independent Hamiltonians  </a:t>
            </a:r>
            <a:pPr indent="0" marL="0">
              <a:buNone/>
            </a:pPr>
            <a:r>
              <a:rPr lang="en-US" sz="80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Pictures of QM and the Heisenberg Picture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L06 · Formula 6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e^{−iĤt/ℏ} fail when the Hamiltonian is time-dependent?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e^{−iĤt/ℏ} fail when the Hamiltonian is time-dependent?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[Ĥ(t₁),Ĥ(t₂)]≠0 means the operators at different times do not commute; simple exponential fails due to BCH formula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simple exponential fails due to BCH formula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e^{−iĤt/ℏ} fail when the Hamiltonian is time-dependent?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[Ĥ(t₁),Ĥ(t₂)]≠0 means the operators at different times do not commute; simple exponential fails due to BCH formula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L06 · Concept Question 1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2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the time-ordering operator T do to a product of operators?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time-ordering operator T do to a product of operators?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places later times to the left: T[Â(t₁)B̂(t₂)]=Â(t₁)B̂(t₂) if t₁&gt;t₂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time-ordering operator T do to a product of operators?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places later times to the left: T[Â(t₁)B̂(t₂)]=Â(t₁)B̂(t₂) if t₁&gt;t₂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L06 · Concept Question 2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3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True/False: Each term in the Dyson series is individually unitary. Justify.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Each term in the Dyson series is individually unitary. Justify.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False: each Dyson term is a nested integral, not a unitary operator; unitarity only restored in the full sum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Avoid: unitarity only restored in the full sum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Each term in the Dyson series is individually unitary. Justify.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False: each Dyson term is a nested integral, not a unitary operator; unitarity only restored in the full sum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L06 · Concept Question 3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4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the Magnus expansion preserve unitarity term-by-term?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Magnus expansion preserve unitarity term-by-term?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D4A843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Magnus: Ωₙ anti-Hermitian → e^Ω unitary at each truncation order; Dyson lacks this structure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Magnus expansion preserve unitarity term-by-term?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Magnus: Ωₙ anti-Hermitian → e^Ω unitary at each truncation order; Dyson lacks this structure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L06 · Concept Question 4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physical meaning of the first Magnus cumulant Ω₁?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physical meaning of the first Magnus cumulant Ω₁?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Ω₁ = first Dyson term in the exponent; same first-order content, but unitarity built 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physical meaning of the first Magnus cumulant Ω₁?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Ω₁ = first Dyson term in the exponent; same first-order content, but unitarity built in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L06 · Concept Question 5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True/False: The Trotter product formula is exact for all step sizes Δt. Justify.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The Trotter product formula is exact for all step sizes Δt. Justify.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False: Trotter error is O(Δt²) from the non-commuting terms; exact only in the limit Δt→0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True/False: The Trotter product formula is exact for all step sizes Δt. Justify.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False: Trotter error is O(Δt²) from the non-commuting terms; exact only in the limit Δt→0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L06 · Concept Question 6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7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one physical context where time-dependent Hamiltonians are essential.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one physical context where time-dependent Hamiltonians are essential.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Time-dependent Hamiltonians: NMR pulses, laser-atom interaction, driven qubits, Floquet systems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one physical context where time-dependent Hamiltonians are essential.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Time-dependent Hamiltonians: NMR pulses, laser-atom interaction, driven qubits, Floquet systems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L06 · Concept Question 7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005840" cy="219456"/>
          </a:xfrm>
          <a:prstGeom prst="roundRect">
            <a:avLst>
              <a:gd name="adj" fmla="val 25000"/>
            </a:avLst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 8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261872" y="45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does the Magnus expansion connect to Floquet theory for periodic Ĥ(t)?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61872" y="274320"/>
            <a:ext cx="6858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 — think before computing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0350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04672"/>
            <a:ext cx="4352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Magnus expansion connect to Floquet theory for periodic Ĥ(t)?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99032"/>
            <a:ext cx="4352544" cy="0"/>
          </a:xfrm>
          <a:prstGeom prst="line">
            <a:avLst/>
          </a:prstGeom>
          <a:noFill/>
          <a:ln w="10160">
            <a:solidFill>
              <a:srgbClr val="28A8A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 / MODEL ANSWER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664208"/>
            <a:ext cx="43525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Floquet: if Ĥ(t+T)=Ĥ(t), Magnus expansion over one period gives effective static Ĥ_eff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547872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COMMON PITFALL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3822192"/>
            <a:ext cx="4352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F5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conditions carefully before applying this result.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20640" y="877824"/>
            <a:ext cx="548640" cy="548640"/>
          </a:xfrm>
          <a:prstGeom prst="ellipse">
            <a:avLst/>
          </a:prstGeom>
          <a:solidFill>
            <a:srgbClr val="28A8A0"/>
          </a:solidFill>
          <a:ln w="12700">
            <a:solidFill>
              <a:srgbClr val="28A8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877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CQ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806440" y="877824"/>
            <a:ext cx="3017520" cy="658368"/>
          </a:xfrm>
          <a:prstGeom prst="rect">
            <a:avLst/>
          </a:prstGeom>
          <a:solidFill>
            <a:srgbClr val="000000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91440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Magnus expansion connect to Floquet theory for periodic Ĥ(t)?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1682496"/>
            <a:ext cx="3703320" cy="137160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75564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956816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Floquet: if Ĥ(t+T)=Ĥ(t), Magnus expansion over one period gives effective static Ĥ_eff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CC3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61304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01968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B57B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42632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solidFill>
            <a:srgbClr val="000000"/>
          </a:solidFill>
          <a:ln w="10160">
            <a:solidFill>
              <a:srgbClr val="EF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83296" y="4242816"/>
            <a:ext cx="740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L06 · Concept Question 8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HS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 — Tier 1 — HS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gateway — intuition, analogy, physical picture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3D3110"/>
          </a:solidFill>
          <a:ln w="22860">
            <a:solidFill>
              <a:srgbClr val="E8C5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'When the Hamiltonian changes in time, the future depends on the full history' — spinning top analogy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E8C54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'When the Hamiltonian changes in time, history matters.' Give a physical example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Describe what a rotating magnetic field does to a spin-1/2 particle qualitatively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Why can't we just use e^{-iĤt/ℏ} when Ĥ depends on time?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8C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E8C5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E8C547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'When the Hamiltonian changes in time, the future depends on the full history' —...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Dyson term; transition probability formula; numerical piecewise evol...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Dyson series derivation; prove time-ordering is necessary; compute Ω₁ and Ω...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 convergence; Trotter–Suzuki product formula and its error; connection to 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 expansion in Lie algebraic language; Floquet theory for periodic Ĥ(t); ge...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L06 · Tier 1 — HS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BegUG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 — Tier 2 — BegUG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entry — apply formulas, verify properties numerically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103320"/>
          </a:solidFill>
          <a:ln w="22860">
            <a:solidFill>
              <a:srgbClr val="4CC3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Dyson term; transition probability formula; numerical piecewise evolution for a qubit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4CC38A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Compute the first-order Dyson term for V̂(t)=V₀cos(ωt)σ_x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Apply piecewise-constant approximation for a 2-step evolution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Evaluate the transition probability P_{0→1} at first order for a driven qubit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CC3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'When the Hamiltonian changes in time, the future depends on the full history' —...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4CC3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4CC38A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Dyson term; transition probability formula; numerical piecewise evol...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Dyson series derivation; prove time-ordering is necessary; compute Ω₁ and Ω...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 convergence; Trotter–Suzuki product formula and its error; connection to 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 expansion in Lie algebraic language; Floquet theory for periodic Ĥ(t); ge...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L06 · Tier 2 — BegUG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AdvUG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 — Tier 3 — AdvUG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understanding — proofs, derivations, basis-independence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0D2050"/>
          </a:solidFill>
          <a:ln w="2286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Dyson series derivation; prove time-ordering is necessary; compute Ω₁ and Ω₂ of Magnus expansion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4F8EF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Derive the Dyson series from the integral equation by iteration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Compute Ω₁ and Ω₂ of the Magnus expansion for a rotating field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Prove that time-ordering is necessary by showing BCH failure for non-commuting operators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'When the Hamiltonian changes in time, the future depends on the full history' —...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Dyson term; transition probability formula; numerical piecewise evol...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4F8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4F8EF7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Dyson series derivation; prove time-ordering is necessary; compute Ω₁ and Ω...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 convergence; Trotter–Suzuki product formula and its error; connection to 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 expansion in Lie algebraic language; Floquet theory for periodic Ĥ(t); ge...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L06 · Tier 3 — AdvUG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— MSc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 — Tier 4 — MSc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depth — advanced formalism, information theory, open systems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2D1850"/>
          </a:solidFill>
          <a:ln w="22860">
            <a:solidFill>
              <a:srgbClr val="B57B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 convergence; Trotter–Suzuki product formula and its error; connection to quantum simulation circuits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B57BE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State the convergence condition for the Magnus expansion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Derive the Trotter–Suzuki second-order formula and compute its error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Show how Floquet theory emerges from the Magnus expansion for periodic Ĥ(t)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B57B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'When the Hamiltonian changes in time, the future depends on the full history' —...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Dyson term; transition probability formula; numerical piecewise evol...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Dyson series derivation; prove time-ordering is necessary; compute Ω₁ and Ω...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B57B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B57BEE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 convergence; Trotter–Suzuki product formula and its error; connection to ...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 expansion in Lie algebraic language; Floquet theory for periodic Ĥ(t); ge...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L06 · Tier 4 — MSc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1417320" cy="219456"/>
          </a:xfrm>
          <a:prstGeom prst="roundRect">
            <a:avLst>
              <a:gd name="adj" fmla="val 25000"/>
            </a:avLst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5 — PhD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73352" y="45720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 — Tier 5 — PhD Deep Dive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73352" y="274320"/>
            <a:ext cx="6492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frontier — functional analysis, rigorous formulation, connections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595360" y="640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530352"/>
            <a:ext cx="4572000" cy="4224528"/>
          </a:xfrm>
          <a:prstGeom prst="rect">
            <a:avLst/>
          </a:prstGeom>
          <a:solidFill>
            <a:srgbClr val="400E0E"/>
          </a:solidFill>
          <a:ln w="22860">
            <a:solidFill>
              <a:srgbClr val="EF57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2179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SUMMARY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832104"/>
            <a:ext cx="4352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 expansion in Lie algebraic language; Floquet theory for periodic Ĥ(t); geometric phases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17904"/>
            <a:ext cx="4352544" cy="0"/>
          </a:xfrm>
          <a:prstGeom prst="line">
            <a:avLst/>
          </a:prstGeom>
          <a:noFill/>
          <a:ln w="10160">
            <a:solidFill>
              <a:srgbClr val="EF5757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352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 &amp; TASKS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1792224"/>
            <a:ext cx="43525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Magnus expansion in Lie algebraic language: show each Ωₙ ∈ g where g is the Lie algebra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Derive the Berry phase from the Magnus expansion adiabatic limit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Discuss quantum simulation circuit depth vs. Trotter step count tradeoff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530352"/>
            <a:ext cx="3977640" cy="4224528"/>
          </a:xfrm>
          <a:prstGeom prst="rect">
            <a:avLst/>
          </a:prstGeom>
          <a:solidFill>
            <a:srgbClr val="080E16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603504"/>
            <a:ext cx="3758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EF57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120640" y="877824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87782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24728" y="932688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'When the Hamiltonian changes in time, the future depends on the full history' —...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120640" y="1536192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53619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BegUG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824728" y="1591056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Dyson term; transition probability formula; numerical piecewise evol...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120640" y="2194560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19456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AdvUG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24728" y="2249424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Dyson series derivation; prove time-ordering is necessary; compute Ω₁ and Ω...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120640" y="2852928"/>
            <a:ext cx="3703320" cy="603504"/>
          </a:xfrm>
          <a:prstGeom prst="rect">
            <a:avLst/>
          </a:prstGeom>
          <a:solidFill>
            <a:srgbClr val="0D1A2A"/>
          </a:solidFill>
          <a:ln w="6350">
            <a:solidFill>
              <a:srgbClr val="8B949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solidFill>
            <a:srgbClr val="0D1A2A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5292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MSc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24728" y="2907792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 convergence; Trotter–Suzuki product formula and its error; connection to ...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3511296"/>
            <a:ext cx="3703320" cy="603504"/>
          </a:xfrm>
          <a:prstGeom prst="rect">
            <a:avLst/>
          </a:prstGeom>
          <a:solidFill>
            <a:srgbClr val="000000"/>
          </a:solidFill>
          <a:ln w="25400">
            <a:solidFill>
              <a:srgbClr val="EF57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solidFill>
            <a:srgbClr val="EF5757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1129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824728" y="3566160"/>
            <a:ext cx="2953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 expansion in Lie algebraic language; Floquet theory for periodic Ĥ(t); ge...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" y="4919472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· L06 · Tier 5 — PhD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 — Key Formulas —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core results at a glance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03504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 = T exp(−i/ℏ ∫_{t₀}^{t} Ĥ(t')dt')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3504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Dyson / time-ordered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640080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749808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749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10912" y="73152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Û^{(1)} = −(i/ℏ) ∫Ĥ(t')dt'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10912" y="1161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Dyson term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03504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Ω₁(t) = −i/ℏ ∫_{t₀}^{t} Ĥ(t')dt'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Magnus cumulant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572768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682496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10912" y="166420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Ω₂(t) = −1/2ℏ² ∫∫[Ĥ(t'),Ĥ(t'')]dt'dt''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10912" y="20939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cumulant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4592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03504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 ≈ e^{Ω₁+Ω₂+...}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 — exactly unitary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2505456"/>
            <a:ext cx="4297680" cy="822960"/>
          </a:xfrm>
          <a:prstGeom prst="rect">
            <a:avLst/>
          </a:prstGeom>
          <a:solidFill>
            <a:srgbClr val="0D1A2A"/>
          </a:solidFill>
          <a:ln w="15240">
            <a:solidFill>
              <a:srgbClr val="4F8E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6151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10912" y="259689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Û_Trotter ≈ ∏ₖ e^{−iĤ(tₖ)Δt/ℏ}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10912" y="3026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Trotter–Suzuki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64592" y="3483864"/>
            <a:ext cx="8833104" cy="475488"/>
          </a:xfrm>
          <a:prstGeom prst="rect">
            <a:avLst/>
          </a:prstGeom>
          <a:solidFill>
            <a:srgbClr val="1A0F2A"/>
          </a:solidFill>
          <a:ln w="19050">
            <a:solidFill>
              <a:srgbClr val="7C5C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3575304"/>
            <a:ext cx="8613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Prev: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Time Evolution I: Time-Independent Hamiltonians   </a:t>
            </a:r>
            <a:pPr indent="0" marL="0">
              <a:buNone/>
            </a:pPr>
            <a:r>
              <a:rPr lang="en-US" sz="950" b="1" dirty="0">
                <a:solidFill>
                  <a:srgbClr val="28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Next: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L07 — Pictures of QM and the Heisenberg Picture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Time Evolution II — Time-Dependent Hamiltonians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Formulas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 — Concept Questions —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594360"/>
            <a:ext cx="4297680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(1–4)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Why does e^{−iĤt/ℏ} fail when the Hamiltonian is time-dependent?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does the time-ordering operator T do to a product of operators?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True/False: Each term in the Dyson series is individually unitary.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Why does the Magnus expansion preserve unitarity term-by-term?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6008" y="594360"/>
            <a:ext cx="4361688" cy="4297680"/>
          </a:xfrm>
          <a:prstGeom prst="rect">
            <a:avLst/>
          </a:prstGeom>
          <a:solidFill>
            <a:srgbClr val="0D1A2A"/>
          </a:solidFill>
          <a:ln w="19050">
            <a:solidFill>
              <a:srgbClr val="28A8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45736" y="621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A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 QUESTIONS (5–8)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45736" y="868680"/>
            <a:ext cx="4114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What is the physical meaning of the first Magnus cumulant Ω₁?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True/False: The Trotter product formula is exact for all step sizes Δt. Justify.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State one physical context where time-dependent Hamiltonians are essential.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How does the Magnus expansion connect to Floquet theory for periodic Ĥ(t)?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Time Evolution II — Time-Dependent Hamiltonians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Concept Qs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E"/>
          </a:solidFill>
          <a:ln w="12700">
            <a:solidFill>
              <a:srgbClr val="0D1B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 — Five-Tier Pedagogy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28600" y="29260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content for all levels — HS through PhD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95360" y="45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8E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603504"/>
            <a:ext cx="8833104" cy="749808"/>
          </a:xfrm>
          <a:prstGeom prst="rect">
            <a:avLst/>
          </a:prstGeom>
          <a:solidFill>
            <a:srgbClr val="3D3110"/>
          </a:solidFill>
          <a:ln w="19050">
            <a:solidFill>
              <a:srgbClr val="E8C5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603504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HS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27632" y="67665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'When the Hamiltonian changes in time, the future depends on the full history' — spinning top analogy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4592" y="1389888"/>
            <a:ext cx="8833104" cy="749808"/>
          </a:xfrm>
          <a:prstGeom prst="rect">
            <a:avLst/>
          </a:prstGeom>
          <a:solidFill>
            <a:srgbClr val="103320"/>
          </a:solidFill>
          <a:ln w="19050">
            <a:solidFill>
              <a:srgbClr val="4CC3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solidFill>
            <a:srgbClr val="4CC38A"/>
          </a:solidFill>
          <a:ln w="12700">
            <a:solidFill>
              <a:srgbClr val="4CC3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" y="1389888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BegUG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27632" y="146304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Dyson term; transition probability formula; numerical piecewise evolution for a qubit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" y="2176272"/>
            <a:ext cx="8833104" cy="749808"/>
          </a:xfrm>
          <a:prstGeom prst="rect">
            <a:avLst/>
          </a:prstGeom>
          <a:solidFill>
            <a:srgbClr val="0D2050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" y="2176272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AdvUG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27632" y="224942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Dyson series derivation; prove time-ordering is necessary; compute Ω₁ and Ω₂ of Magnus expansion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4592" y="2962656"/>
            <a:ext cx="8833104" cy="749808"/>
          </a:xfrm>
          <a:prstGeom prst="rect">
            <a:avLst/>
          </a:prstGeom>
          <a:solidFill>
            <a:srgbClr val="2D1850"/>
          </a:solidFill>
          <a:ln w="19050">
            <a:solidFill>
              <a:srgbClr val="B57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solidFill>
            <a:srgbClr val="B57BEE"/>
          </a:solidFill>
          <a:ln w="12700">
            <a:solidFill>
              <a:srgbClr val="B57B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" y="2962656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4 — MSc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27632" y="303580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 convergence; Trotter–Suzuki product formula and its error; connection to quantum simulation circuits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4592" y="3749040"/>
            <a:ext cx="8833104" cy="749808"/>
          </a:xfrm>
          <a:prstGeom prst="rect">
            <a:avLst/>
          </a:prstGeom>
          <a:solidFill>
            <a:srgbClr val="400E0E"/>
          </a:solidFill>
          <a:ln w="19050">
            <a:solidFill>
              <a:srgbClr val="EF57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solidFill>
            <a:srgbClr val="EF5757"/>
          </a:solidFill>
          <a:ln w="12700">
            <a:solidFill>
              <a:srgbClr val="EF57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374904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5 — PhD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27632" y="382219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Magnus expansion in Lie algebraic language; Floquet theory for periodic Ĥ(t); geometric phases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4592" y="4553712"/>
            <a:ext cx="8833104" cy="502920"/>
          </a:xfrm>
          <a:prstGeom prst="rect">
            <a:avLst/>
          </a:prstGeom>
          <a:solidFill>
            <a:srgbClr val="201700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645152"/>
            <a:ext cx="8613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Set A: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first-order Dyson term for oscillating Ĥ; piecewise evolution of a qubit; transition probability  |  </a:t>
            </a:r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</a:t>
            </a:r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Dyson series from integral equation; prove Ω₁ of Magnus; convergence criterion application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2880" y="48920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Module I.3 — Time Evolution II — Time-Dependent Hamiltonians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72000" y="48920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L06 · Tier Pedagogy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I.3 · L06 (Expanded) — Time Evolution II — Time-Dependent Hamiltonians</dc:title>
  <dc:subject>Quantum Dynamics</dc:subject>
  <dc:creator>QM Programme</dc:creator>
  <cp:lastModifiedBy>QM Programme</cp:lastModifiedBy>
  <cp:revision>1</cp:revision>
  <dcterms:created xsi:type="dcterms:W3CDTF">2026-05-03T13:04:49Z</dcterms:created>
  <dcterms:modified xsi:type="dcterms:W3CDTF">2026-05-03T13:04:49Z</dcterms:modified>
</cp:coreProperties>
</file>