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274320"/>
            <a:ext cx="2926080" cy="292608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0" y="457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Ψ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MODULE I.3 — QUANTUM DYNAMICS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Pure/Mixed States and the Density Matrix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§2.3–2.5 — Density Operator Formalism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60604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↔ Dirac Dual-Track — Lecture 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3D3110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4300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103320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7452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0D205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0604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2D1850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3756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400E0E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29184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L01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 — Lecture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Pure/Mixed States and the Density Matrix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160520" cy="1828800"/>
          </a:xfrm>
          <a:prstGeom prst="rect">
            <a:avLst/>
          </a:prstGeom>
          <a:solidFill>
            <a:srgbClr val="0D1E1D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85800"/>
            <a:ext cx="3941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Motivation — why a single ket is insufficient for sub-systems or ensembles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20–45 min: Mixed states: ρ̂ = Σᵢ pᵢ|ψᵢ⟩⟨ψᵢ|; classical vs. quantum uncertainty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45–70 min: Properties of ρ̂: Hermiticity, unit trace, positivity; purity γ = Tr(ρ̂²)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70–90 min: Bipartite systems; partial trace ρ̂_A = Tr_B(ρ̂_AB); entanglement entropy preview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25696" y="594360"/>
            <a:ext cx="4572000" cy="1828800"/>
          </a:xfrm>
          <a:prstGeom prst="rect">
            <a:avLst/>
          </a:prstGeom>
          <a:solidFill>
            <a:srgbClr val="0D183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685800"/>
            <a:ext cx="43525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Construct ρ̂ for pure states, statistical mixtures, and subsystems of composite systems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Verify the three defining properties (ρ̂† = ρ̂, Tr(ρ̂) = 1, ρ̂ ≥ 0) for given matrices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 expectation values ⟨Â⟩ = Tr(ρ̂Â) and purity; distinguish pure from mixed states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the partial trace to obtain reduced density matrices and compute entanglement entropy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4592" y="2523744"/>
            <a:ext cx="1737360" cy="1097280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probability analogy: coin-flip vs. genuine quantum superposition; Bloch sphere intuition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20240" y="2523744"/>
            <a:ext cx="1737360" cy="1097280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93392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ρ̂, Tr(ρ̂²), and ⟨Â⟩ for 2×2 examples; verify properties numerically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75888" y="2523744"/>
            <a:ext cx="1737360" cy="1097280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Tr(ρ̂²) ≤ 1 via spectral decomposition; Bloch vector parameterisation; partial trace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31536" y="2523744"/>
            <a:ext cx="1737360" cy="1097280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04688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Purification of mixed states; Schmidt decomposition; entanglement entropy and sub-additivity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87184" y="2523744"/>
            <a:ext cx="1737360" cy="1097280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87184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60336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Trace-class operators in ∞ dimensions; von Neumann entropy; quantum relative entropy; CP maps preview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4592" y="3694176"/>
            <a:ext cx="8833104" cy="713232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85616"/>
            <a:ext cx="86136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Construct ρ̂ for explicit mixtures; compute purity and ⟨σ̂_z⟩; partial trace for 2-qubit Bell states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Prove Tr(ρ̂²) ≤ (Tr ρ̂)² with equality iff rank-1; show entanglement entropy vanishes for product states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L01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Overview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 — Key Formulas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mathematical results for this lecture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ρ̂ = |ψ⟩⟨ψ|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state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10912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ρ̂ = Σᵢ pᵢ |ψᵢ⟩⟨ψᵢ|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10912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3504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⟨Â⟩ = Tr(ρ̂ Â)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 value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10912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 = Tr(ρ̂²) ≤ 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10912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4592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3504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ρ̂_A = Tr_B(ρ̂_AB)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3504" y="3026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trace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10912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−Tr(ρ̂_A ln ρ̂_A)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10912" y="3026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entanglement entropy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64592" y="3483864"/>
            <a:ext cx="8833104" cy="475488"/>
          </a:xfrm>
          <a:prstGeom prst="rect">
            <a:avLst/>
          </a:prstGeom>
          <a:solidFill>
            <a:srgbClr val="1A0F2A"/>
          </a:solidFill>
          <a:ln w="19050">
            <a:solidFill>
              <a:srgbClr val="7C5C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575304"/>
            <a:ext cx="8613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I.2 — L12: Tensor Products, Spin &amp; Density Operators (intro)   </a:t>
            </a:r>
            <a:pPr indent="0" marL="0">
              <a:buNone/>
            </a:pPr>
            <a:r>
              <a:rPr lang="en-US" sz="95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Bases: Discrete and Continuous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L01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Formulas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 — Concept Questions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297680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(1–4)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is ρ̂ needed when a ket |ψ⟩ is insufficient?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is the physical difference between a coherent superposition and a classical mixture?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State the three mathematical properties that every density operator must satisfy.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True/False: A state with purity γ = 0.5 is a pure state. Justify.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36008" y="594360"/>
            <a:ext cx="4361688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5736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(5–8)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45736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How does the partial trace 'discard' information about subsystem B?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True/False: Entanglement entropy is zero for a product state. Justify.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When does ⟨Â⟩ = Tr(ρ̂Â) reduce to the usual ⟨ψ|Â|ψ⟩?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Compare the Bloch sphere representation of a pure vs. mixed spin-½ state.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Pure/Mixed States and the Density Matrix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Concept Qs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 — Five-Tier Pedagogy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content for all levels — HS through PhD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03504"/>
            <a:ext cx="8833104" cy="749808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HS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27632" y="67665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probability analogy: coin-flip vs. genuine quantum superposition; Bloch sphere intuition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4592" y="1389888"/>
            <a:ext cx="8833104" cy="749808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BegUG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27632" y="146304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ρ̂, Tr(ρ̂²), and ⟨Â⟩ for 2×2 examples; verify properties numerically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" y="2176272"/>
            <a:ext cx="8833104" cy="749808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 — AdvUG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27632" y="224942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Tr(ρ̂²) ≤ 1 via spectral decomposition; Bloch vector parameterisation; partial trace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4592" y="2962656"/>
            <a:ext cx="8833104" cy="749808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4 — MSc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27632" y="303580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Purification of mixed states; Schmidt decomposition; entanglement entropy and sub-additivity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4592" y="3749040"/>
            <a:ext cx="8833104" cy="749808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5 — PhD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27632" y="382219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Trace-class operators in ∞ dimensions; von Neumann entropy; quantum relative entropy; CP maps preview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4592" y="4553712"/>
            <a:ext cx="8833104" cy="502920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645152"/>
            <a:ext cx="8613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Set A: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ρ̂ for explicit mixtures; compute purity and ⟨σ̂_z⟩; partial trace for 2-qubit Bell states  |  </a:t>
            </a:r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Tr(ρ̂²) ≤ (Tr ρ̂)² with equality iff rank-1; show entanglement entropy vanishes for product states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Pure/Mixed States and the Density Matrix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· Tier Pedagogy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I.3 · L01 — Pure/Mixed States and the Density Matrix</dc:title>
  <dc:subject>Quantum Dynamics, Perturbation Theory, and Physical Systems</dc:subject>
  <dc:creator>QM Programme</dc:creator>
  <cp:lastModifiedBy>QM Programme</cp:lastModifiedBy>
  <cp:revision>1</cp:revision>
  <dcterms:created xsi:type="dcterms:W3CDTF">2026-04-26T22:18:20Z</dcterms:created>
  <dcterms:modified xsi:type="dcterms:W3CDTF">2026-04-26T22:18:20Z</dcterms:modified>
</cp:coreProperties>
</file>