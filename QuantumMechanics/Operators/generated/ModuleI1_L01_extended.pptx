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-914400"/>
            <a:ext cx="4114800" cy="4114800"/>
          </a:xfrm>
          <a:prstGeom prst="ellipse">
            <a:avLst/>
          </a:prstGeom>
          <a:solidFill>
            <a:srgbClr val="1B3055">
              <a:alpha val="60000"/>
            </a:srgbClr>
          </a:solidFill>
          <a:ln w="12700">
            <a:solidFill>
              <a:srgbClr val="1B3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-182880"/>
            <a:ext cx="3200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1E3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Ψ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MECHANICS  —  MODULE I.1  —  HILBERT SPACE &amp; OPERATORS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62179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Hilbert Space of Quantum States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32004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&amp; Algebraic Foundations — Module I.1, Lecture 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657600"/>
            <a:ext cx="685800" cy="246888"/>
          </a:xfrm>
          <a:prstGeom prst="roundRect">
            <a:avLst>
              <a:gd name="adj" fmla="val 18519"/>
            </a:avLst>
          </a:prstGeom>
          <a:solidFill>
            <a:srgbClr val="F4C430"/>
          </a:solidFill>
          <a:ln w="12700">
            <a:solidFill>
              <a:srgbClr val="F4C4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657600"/>
            <a:ext cx="685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234440" y="3657600"/>
            <a:ext cx="685800" cy="246888"/>
          </a:xfrm>
          <a:prstGeom prst="roundRect">
            <a:avLst>
              <a:gd name="adj" fmla="val 18519"/>
            </a:avLst>
          </a:prstGeom>
          <a:solidFill>
            <a:srgbClr val="4CAF7D"/>
          </a:solidFill>
          <a:ln w="12700">
            <a:solidFill>
              <a:srgbClr val="4CAF7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4440" y="3657600"/>
            <a:ext cx="685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BegUG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011680" y="3657600"/>
            <a:ext cx="685800" cy="246888"/>
          </a:xfrm>
          <a:prstGeom prst="roundRect">
            <a:avLst>
              <a:gd name="adj" fmla="val 18519"/>
            </a:avLst>
          </a:prstGeom>
          <a:solidFill>
            <a:srgbClr val="5B9BD5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11680" y="3657600"/>
            <a:ext cx="685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AdvUG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88920" y="3657600"/>
            <a:ext cx="685800" cy="246888"/>
          </a:xfrm>
          <a:prstGeom prst="roundRect">
            <a:avLst>
              <a:gd name="adj" fmla="val 18519"/>
            </a:avLst>
          </a:prstGeom>
          <a:solidFill>
            <a:srgbClr val="9B72CF"/>
          </a:solidFill>
          <a:ln w="12700">
            <a:solidFill>
              <a:srgbClr val="9B72C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88920" y="3657600"/>
            <a:ext cx="685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566160" y="3657600"/>
            <a:ext cx="685800" cy="246888"/>
          </a:xfrm>
          <a:prstGeom prst="roundRect">
            <a:avLst>
              <a:gd name="adj" fmla="val 18519"/>
            </a:avLst>
          </a:prstGeom>
          <a:solidFill>
            <a:srgbClr val="E07B6A"/>
          </a:solidFill>
          <a:ln w="12700">
            <a:solidFill>
              <a:srgbClr val="E07B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66160" y="3657600"/>
            <a:ext cx="685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0690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expanded deck  ·  5 tiers  ·  Worked examples  ·  Complete problem sets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7432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858000" y="489204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Lecture Overview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A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868680"/>
            <a:ext cx="4206240" cy="169164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868680"/>
            <a:ext cx="45720" cy="16916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941832"/>
            <a:ext cx="3977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90-MIN PACING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1197864"/>
            <a:ext cx="39319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0–20 min: Motivation — why Euclidean space is insufficient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 min: Definition of a Hilbert space H: inner product, norm, completeness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45–70 min: Bounded vs. unbounded operators; operator norm; adjoint Â†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70–90 min: Anti-Hermitian operators; [Â†]† = Â; worked examples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26280" y="868680"/>
            <a:ext cx="4343400" cy="169164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868680"/>
            <a:ext cx="45720" cy="16916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90872" y="941832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LEARNING OUTCOMES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709160" y="1197864"/>
            <a:ext cx="40690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definition of a Hilbert space and verify L²(ℝ) is one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bounded from unbounded operators with physical examples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adjoint Â† and compute it for 2×2 matrices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Hermitian (Â = Â†) and anti-Hermitian (Â = −Â†) operators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2633472"/>
            <a:ext cx="1664208" cy="132588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" y="2633472"/>
            <a:ext cx="1664208" cy="256032"/>
          </a:xfrm>
          <a:prstGeom prst="rect">
            <a:avLst/>
          </a:prstGeom>
          <a:solidFill>
            <a:srgbClr val="F4C430"/>
          </a:solidFill>
          <a:ln w="12700">
            <a:solidFill>
              <a:srgbClr val="F4C43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" y="2633472"/>
            <a:ext cx="1664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20040" y="2926080"/>
            <a:ext cx="148132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product as overlap; norm as length; ℝ² and ℂ² as tangible examples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956816" y="2633472"/>
            <a:ext cx="1664208" cy="132588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56816" y="2633472"/>
            <a:ext cx="1664208" cy="256032"/>
          </a:xfrm>
          <a:prstGeom prst="rect">
            <a:avLst/>
          </a:prstGeom>
          <a:solidFill>
            <a:srgbClr val="4CAF7D"/>
          </a:solidFill>
          <a:ln w="12700">
            <a:solidFill>
              <a:srgbClr val="4CAF7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6816" y="2633472"/>
            <a:ext cx="1664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BegUG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048256" y="2926080"/>
            <a:ext cx="148132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axioms in ℂⁿ; compute Â† for explicit matrices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85032" y="2633472"/>
            <a:ext cx="1664208" cy="132588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85032" y="2633472"/>
            <a:ext cx="1664208" cy="256032"/>
          </a:xfrm>
          <a:prstGeom prst="rect">
            <a:avLst/>
          </a:prstGeom>
          <a:solidFill>
            <a:srgbClr val="5B9BD5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85032" y="2633472"/>
            <a:ext cx="1664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AdvUG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776472" y="2926080"/>
            <a:ext cx="148132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adjoint is unique; show (ÂB̂)† = B̂†Â†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413248" y="2633472"/>
            <a:ext cx="1664208" cy="132588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13248" y="2633472"/>
            <a:ext cx="1664208" cy="256032"/>
          </a:xfrm>
          <a:prstGeom prst="rect">
            <a:avLst/>
          </a:prstGeom>
          <a:solidFill>
            <a:srgbClr val="9B72CF"/>
          </a:solidFill>
          <a:ln w="12700">
            <a:solidFill>
              <a:srgbClr val="9B72C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13248" y="2633472"/>
            <a:ext cx="1664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04688" y="2926080"/>
            <a:ext cx="148132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L² space rigorously; operator norm; boundedness ↔ continuity equivalence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141464" y="2633472"/>
            <a:ext cx="1664208" cy="132588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41464" y="2633472"/>
            <a:ext cx="1664208" cy="256032"/>
          </a:xfrm>
          <a:prstGeom prst="rect">
            <a:avLst/>
          </a:prstGeom>
          <a:solidFill>
            <a:srgbClr val="E07B6A"/>
          </a:solidFill>
          <a:ln w="12700">
            <a:solidFill>
              <a:srgbClr val="E07B6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41464" y="2633472"/>
            <a:ext cx="1664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232904" y="2926080"/>
            <a:ext cx="148132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Spectrum of unbounded operators; domain issues; Hellinger–Toeplitz theorem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28600" y="4023360"/>
            <a:ext cx="8641080" cy="82296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8600" y="4023360"/>
            <a:ext cx="45720" cy="8229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93192" y="4096512"/>
            <a:ext cx="8412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BUNDLE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11480" y="4352544"/>
            <a:ext cx="83667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 — verify Hilbert space axioms for ℂⁿ; compute adjoints of given 3×3 matrices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 — prove (Â†)† = Â; show bounded ⇒ continuous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Projects: norm visualiser for L² functions (simple); unbounded operator counterexample (complex)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7432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858000" y="489204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Overview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Dual-Track Content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A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parallel perspectives: Geometric/Physical  ↔  Algebraic/Axiomatic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841248"/>
            <a:ext cx="4251960" cy="397764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841248"/>
            <a:ext cx="4251960" cy="2926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841248"/>
            <a:ext cx="4069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TRACK — Infinite-Dimensional Generalisation of ℝⁿ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188720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HILBERT SPACE AS GEOMETRY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65760" y="1399032"/>
            <a:ext cx="39776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is the right infinite-dimensional generalisation of ℝⁿ. The inner product ⟨·|·⟩ gives angles between states; completeness means no 'missing limits' in sequences of states.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2057400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PRODUCT AND ANGLES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5760" y="2267712"/>
            <a:ext cx="39776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⟨φ|ψ⟩ measures the overlap (angle) between two quantum states. Real part gives correlation; imaginary part encodes phase. Orthogonality ⟨φ|ψ⟩ = 0 means perfectly distinguishable states.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2926080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 — NO MISSING LIMITS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760" y="3136392"/>
            <a:ext cx="39776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Cauchy sequence {|ψₙ⟩} with ‖|ψₙ⟩ − |ψₘ⟩‖ → 0 must converge to a state already in H. This is essential for time-evolution, Fourier expansions, and perturbation theory.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3794760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 FROM INNER PRODUCT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65760" y="4005072"/>
            <a:ext cx="39776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‖|ψ⟩‖ = √⟨ψ|ψ⟩. This defines the 'length' of a state. Normalisation ⟨ψ|ψ⟩ = 1 ensures probabilities sum to unity.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63440" y="841248"/>
            <a:ext cx="4251960" cy="397764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841248"/>
            <a:ext cx="4251960" cy="29260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841248"/>
            <a:ext cx="4069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ALGEBRAIC/AXIOMATIC TRACK — Formal Axioms and Operator Theory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1188720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HILBERT SPACE AXIOMS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754880" y="1399032"/>
            <a:ext cx="40690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is a complex vector space with inner product ⟨·|·⟩ satisfying: (1) conjugate symmetry ⟨φ|ψ⟩ = ⟨ψ|φ⟩*; (2) linearity in second argument; (3) positive definiteness ⟨ψ|ψ⟩ ≥ 0, = 0 iff |ψ⟩ = 0; (4) completeness.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2057400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ADJOINT OPERATOR Â†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54880" y="2267712"/>
            <a:ext cx="40690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adjoint is defined by ⟨φ|Âψ⟩ = ⟨Â†φ|ψ⟩ for all |φ⟩, |ψ⟩ ∈ H. For matrices: (Â†)ᵢⱼ = (Â)ⱼᵢ* (conjugate transpose). Properties: (Â†)† = Â, (ÂB̂)† = B̂†Â†.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54880" y="2926080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vs. UNBOUNDED OPERATORS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54880" y="3136392"/>
            <a:ext cx="40690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 is bounded if ‖Â‖ := sup{‖Â|ψ⟩‖ : ‖|ψ⟩‖ = 1} &lt; ∞. Physical examples — bounded: spin operators Ŝᵢ; unbounded: position x̂ and momentum p̂ on L²(ℝ).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54880" y="3794760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HERMITIAN AND ANTI-HERMITIAN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754880" y="4005072"/>
            <a:ext cx="40690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Hermitian: Â = Â† — real eigenvalues, observable. Anti-Hermitian: Â = −Â† — purely imaginary eigenvalues. Every operator decomposes: Â = (Â + Â†)/2 + (Â − Â†)/2.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7432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858000" y="489204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Dual Track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L01.1: Motivation: Why Hilbert Space?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of Euclidean space and the need for infinite dimensions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5212080" cy="402336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822960"/>
            <a:ext cx="45720" cy="4023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896112"/>
            <a:ext cx="4892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INADEQUACY OF ℝⁿ FOR QUANTUM MECHANICS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1133856"/>
            <a:ext cx="4892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states require superposition over continuous variables (position, momentum). A particle's wavefunction ψ(x) ∈ L²(ℝ) cannot be represented in any finite-dimensional space. The correct arena is an infinite-dimensional Hilbert space.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1480" y="1883664"/>
            <a:ext cx="4892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NECESSITY OF COMPLEX NUMBERS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11480" y="2121408"/>
            <a:ext cx="48920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Interference phenomena (double-slit experiment) require complex amplitudes. Real vector spaces cannot produce the interference cross-terms |A₁ + A₂|² = |A₁|² + |A₂|² + 2 Re(A₁*A₂) with the correct sign.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4892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 AS PHYSICAL REQUIREMENT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3063240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evolution U(t)|ψ⟩ and Fourier-mode expansions require limits to exist within H. A non-complete space would have quantum states 'escaping' to outside the mathematical framework.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3721608"/>
            <a:ext cx="4892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CONTEXT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3959352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Neumann (1932) placed QM on rigorous mathematical footing using Hilbert spaces. Dirac's bra-ket notation (1930) provided the physical language that maps naturally onto this framework.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577840" y="822960"/>
            <a:ext cx="3291840" cy="146304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577840" y="822960"/>
            <a:ext cx="45720" cy="146304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42432" y="896112"/>
            <a:ext cx="3063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FORMULA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760720" y="1152144"/>
            <a:ext cx="30175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product: ⟨φ|ψ⟩ ∈ ℂ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Norm: ‖|ψ⟩‖ = √⟨ψ|ψ⟩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Cauchy: ‖|ψₙ⟩ − |ψₘ⟩‖ → 0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Completeness: limit ∈ H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577840" y="2377440"/>
            <a:ext cx="3291840" cy="246888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77840" y="2377440"/>
            <a:ext cx="45720" cy="246888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42432" y="2450592"/>
            <a:ext cx="3063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760720" y="2706624"/>
            <a:ext cx="30175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L²(ℝ) as a Hilbert space: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States: ψ(x) with ∫|ψ|²dx &lt; ∞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product: ⟨φ|ψ⟩ = ∫φ*(x)ψ(x)dx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Norm: ‖ψ‖² = ∫|ψ(x)|²dx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Completeness: Riesz–Fischer theorem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Gaussian ψ = N·exp(−x²/2σ²) ∈ L²(ℝ) ✓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7432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858000" y="489204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L01.1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L01.2: Hilbert Space Definition and Axioms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structure: inner product, norm, and completeness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5212080" cy="402336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822960"/>
            <a:ext cx="45720" cy="4023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896112"/>
            <a:ext cx="4892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HILBERT SPACE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1133856"/>
            <a:ext cx="48920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Hilbert space H is a complete inner product space over ℂ. The inner product ⟨·|·⟩: H × H → ℂ satisfies four axioms: (1) conjugate symmetry, (2) linearity in second slot, (3) positive definiteness, (4) non-degeneracy.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1480" y="1837944"/>
            <a:ext cx="4892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INNER PRODUCT AXIOMS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11480" y="2075688"/>
            <a:ext cx="489204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(IP1) ⟨φ|ψ⟩ = ⟨ψ|φ⟩*  [conjugate symmetry]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(IP2) ⟨φ|αψ + βχ⟩ = α⟨φ|ψ⟩ + β⟨φ|χ⟩  [linearity]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(IP3) ⟨ψ|ψ⟩ ≥ 0  [positive semidefinite]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(IP4) ⟨ψ|ψ⟩ = 0 ⟺ |ψ⟩ = 0  [non-degeneracy]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1480" y="2935224"/>
            <a:ext cx="4892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CAUCHY-SCHWARZ AND TRIANGLE INEQUALITIES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3172968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|⟨φ|ψ⟩|² ≤ ⟨φ|φ⟩·⟨ψ|ψ⟩  [Cauchy–Schwarz]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‖|φ⟩ + |ψ⟩‖ ≤ ‖|φ⟩‖ + ‖|ψ⟩‖  [Triangle inequality]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3785616"/>
            <a:ext cx="4892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AND NON-EXAMPLES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4023360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ℂⁿ (finite dim.), L²(ℝ), L²([0,1]), ℓ²(ℤ). Non-Hilbert spaces: C([0,1]) with L²-norm (not complete); L²ₗₒc without the square-integrability constraint.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577840" y="822960"/>
            <a:ext cx="3291840" cy="146304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577840" y="822960"/>
            <a:ext cx="45720" cy="146304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42432" y="896112"/>
            <a:ext cx="3063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FORMULA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760720" y="1152144"/>
            <a:ext cx="30175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⟨φ|ψ⟩* = ⟨ψ|φ⟩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|⟨φ|ψ⟩|² ≤ ‖φ‖²‖ψ‖²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‖|ψ⟩‖ = ⟨ψ|ψ⟩^(1/2)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ℂⁿ: ⟨φ|ψ⟩ = Σᵢ φᵢ*ψᵢ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577840" y="2377440"/>
            <a:ext cx="3291840" cy="246888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77840" y="2377440"/>
            <a:ext cx="45720" cy="246888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42432" y="2450592"/>
            <a:ext cx="3063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760720" y="2706624"/>
            <a:ext cx="30175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ℂ² is a Hilbert space: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|φ⟩ = (φ₁,φ₂)ᵀ, |ψ⟩ = (ψ₁,ψ₂)ᵀ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⟨φ|ψ⟩ = φ₁*ψ₁ + φ₂*ψ₂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Conjugate symmetry: ✓ by inspection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Linearity: ✓ distributivity of 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⟨ψ|ψ⟩ = |ψ₁|² + |ψ₂|² ≥ 0  ✓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Completeness: ℂⁿ is complete ✓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7432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858000" y="489204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L01.2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L01.3: Bounded and Unbounded Operators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norm, domain, and physical examples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5212080" cy="402336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822960"/>
            <a:ext cx="45720" cy="4023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896112"/>
            <a:ext cx="4892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OPERATORS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1133856"/>
            <a:ext cx="48920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operator Â: H → H is bounded if ‖Â‖ := sup{‖Â|ψ⟩‖/‖|ψ⟩‖ : |ψ⟩ ≠ 0} &lt; ∞. Equivalently, Â is bounded iff it is continuous. All operators on finite-dimensional spaces are bounded.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1480" y="1837944"/>
            <a:ext cx="4892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UNBOUNDED OPERATORS AND DOMAIN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11480" y="2075688"/>
            <a:ext cx="4892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Unbounded operators Â: D(Â) → H are only defined on a dense subset D(Â) ⊂ H. Key examples: x̂ (position) and p̂ = −iℏ∂/∂x (momentum) on L²(ℝ). These are unbounded because x̂|ψₙ⟩ can have ‖x̂|ψₙ⟩‖ → ∞ for normalised |ψₙ⟩.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4892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ADJOINT OPERATOR Â†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3063240"/>
            <a:ext cx="48920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via ⟨φ|Âψ⟩ = ⟨Â†φ|ψ⟩ for all |φ⟩ ∈ D(Â†) and |ψ⟩ ∈ D(Â). For matrices: (Â†)ᵢⱼ = Âⱼᵢ* (conjugate transpose). Key property: (Â†)† = Â when Â is bounded.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3767328"/>
            <a:ext cx="4892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CLASSIFICATIONS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4005072"/>
            <a:ext cx="48920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Hermitian (self-adjoint): Â = Â† → real eigenvalues (observables)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Anti-Hermitian: Â = −Â† → imaginary eigenvalues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Unitary: ÂÂ† = Â†Â = 1̂ → norm-preserving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Normal: ÂÂ† = Â†Â → diagonalisable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577840" y="822960"/>
            <a:ext cx="3291840" cy="146304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577840" y="822960"/>
            <a:ext cx="45720" cy="146304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42432" y="896112"/>
            <a:ext cx="3063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FORMULA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760720" y="1152144"/>
            <a:ext cx="30175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‖Â‖ = sup‖Â|ψ⟩‖/‖|ψ⟩‖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⟨φ|Âψ⟩ = ⟨Â†φ|ψ⟩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(Â†)ᵢⱼ = (Â)ⱼᵢ*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(ÂB̂)† = B̂†Â†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(Â†)† = Â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577840" y="2377440"/>
            <a:ext cx="3291840" cy="246888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77840" y="2377440"/>
            <a:ext cx="45720" cy="246888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42432" y="2450592"/>
            <a:ext cx="3063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760720" y="2706624"/>
            <a:ext cx="30175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Â† for spin-1/2 operator: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 = σ₊ = [[0,1],[0,0]] (raising operator)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Â† = (Â*)ᵀ = [[0,0],[1,0]] = σ₋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⟨φ|σ₊ψ⟩ = ⟨σ₋φ|ψ⟩ ✓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Anti-Hermitian example: iσᵧ = [[0,1],[-1,0]]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(iσᵧ)† = −iσᵧ = −(iσᵧ)  ✓ anti-Hermitian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7432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858000" y="489204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L01.3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L01.4: Hermitian and Anti-Hermitian Operators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Classification, properties, and the decomposition theorem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5212080" cy="402336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822960"/>
            <a:ext cx="45720" cy="4023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896112"/>
            <a:ext cx="4892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HERMITIAN OPERATORS: Â = Â†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1133856"/>
            <a:ext cx="48920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Hermitian operator satisfies ⟨φ|Âψ⟩ = ⟨Âφ|ψ⟩ for all |φ⟩, |ψ⟩. Key properties: (1) all eigenvalues are real, (2) eigenvectors for distinct eigenvalues are orthogonal, (3) eigenvectors form a complete basis (spectral theorem).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1480" y="1837944"/>
            <a:ext cx="4892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ANTI-HERMITIAN OPERATORS: Â = −Â†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11480" y="2075688"/>
            <a:ext cx="48920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anti-Hermitian operator satisfies Â† = −Â. Properties: (1) all eigenvalues are purely imaginary (λ = iμ, μ ∈ ℝ), (2) iÂ is Hermitian. Physical role: generators of unitary transformations are anti-Hermitian; observables = i × generators.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1480" y="2779776"/>
            <a:ext cx="4892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PROOF: (Â†)† = Â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3017520"/>
            <a:ext cx="48920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definition of adjoint: ⟨φ|(Â†)†ψ⟩ = ⟨(Â†)φ|ψ⟩ for all |φ⟩, |ψ⟩.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⟨(Â†)φ|ψ⟩ = ⟨ψ|(Â†)φ⟩* = ⟨Â†ψ|φ⟩* ... Applying the adjoint definition twice recovers the original operator. Therefore (Â†)† = Â. □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3785616"/>
            <a:ext cx="4892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 THEOREM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4023360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operator decomposes uniquely into Hermitian and anti-Hermitian parts: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 = (Â + Â†)/2 + (Â − Â†)/2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= Â_H + Â_AH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Â_H is Hermitian and Â_AH is anti-Hermitian.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577840" y="822960"/>
            <a:ext cx="3291840" cy="146304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577840" y="822960"/>
            <a:ext cx="45720" cy="146304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42432" y="896112"/>
            <a:ext cx="3063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FORMULA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760720" y="1152144"/>
            <a:ext cx="30175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Hermitian: Â = Â†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Anti-Hermitian: Â = −Â†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(Â†)† = Â  [involution]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Â_H = (Â + Â†)/2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Â_AH = (Â − Â†)/2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577840" y="2377440"/>
            <a:ext cx="3291840" cy="246888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77840" y="2377440"/>
            <a:ext cx="45720" cy="246888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42432" y="2450592"/>
            <a:ext cx="3063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760720" y="2706624"/>
            <a:ext cx="30175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Â = [[1+i, 2],[3, 4−i]]: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Â† = [[1−i, 3],[2, 4+i]]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Â_H = [[1, 5/2],[5/2, 4]] (Hermitian part)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Â_AH = [[i, −1/2],[1/2, −i]] (anti-Hermitian)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Verify: Â_H = Â_H†  ✓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Verify: Â_AH† = −Â_AH  ✓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Check: Â_H + Â_AH = Â  ✓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7432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858000" y="489204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L01.4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11D2E"/>
          </a:solidFill>
          <a:ln w="12700">
            <a:solidFill>
              <a:srgbClr val="111D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37160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F4C430"/>
          </a:solidFill>
          <a:ln w="12700">
            <a:solidFill>
              <a:srgbClr val="F4C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371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High School Track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484632"/>
            <a:ext cx="7589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28600" y="749808"/>
            <a:ext cx="4297680" cy="182880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41248"/>
            <a:ext cx="40782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4C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097280"/>
            <a:ext cx="4023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inner product as 'overlap' between states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norm as 'length' of a quantum state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ℝ² and ℂ² as concrete finite-dimensional examples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Hermitian vs. non-Hermitian 2×2 matrices by inspection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28600" y="2651760"/>
            <a:ext cx="4297680" cy="2148840"/>
          </a:xfrm>
          <a:prstGeom prst="rect">
            <a:avLst/>
          </a:prstGeom>
          <a:solidFill>
            <a:srgbClr val="0A1628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" y="2743200"/>
            <a:ext cx="40782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2999232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ℂ² example: |+⟩ = (1,0), |−⟩ = (0,1)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⟨+|−⟩ = 1·0 + 0·1 = 0 (orthogonal)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‖|+⟩‖ = √(1²+0²) = 1 (normalised)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σ_z = [[1,0],[0,−1]]: σ_z† = σ_z ✓ Hermitian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749808"/>
            <a:ext cx="4251960" cy="182880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73168" y="841248"/>
            <a:ext cx="40325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SET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00600" y="1097280"/>
            <a:ext cx="39776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P1: Compute ⟨φ|ψ⟩ for |φ⟩=(1,i)/√2, |ψ⟩=(i,1)/√2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P2: Verify σ_x is Hermitian; verify iσ_x is anti-Hermitian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P3: Find ‖α|+⟩ + β|−⟩‖ in terms of |α|, |β|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2651760"/>
            <a:ext cx="4251960" cy="2148840"/>
          </a:xfrm>
          <a:prstGeom prst="rect">
            <a:avLst/>
          </a:prstGeom>
          <a:solidFill>
            <a:srgbClr val="0A1628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73168" y="2743200"/>
            <a:ext cx="40325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&amp; DEPTH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00600" y="2999232"/>
            <a:ext cx="397764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arrow addition in 2D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factors e^(iθ) as unit complex numbers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Superposition = vector addition in ℂ²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858000" y="489204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HS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11D2E"/>
          </a:solidFill>
          <a:ln w="12700">
            <a:solidFill>
              <a:srgbClr val="111D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37160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4CAF7D"/>
          </a:solidFill>
          <a:ln w="12700">
            <a:solidFill>
              <a:srgbClr val="4CAF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371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BegUG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Beg. UG Track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484632"/>
            <a:ext cx="7589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28600" y="749808"/>
            <a:ext cx="4297680" cy="182880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41248"/>
            <a:ext cx="40782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CAF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097280"/>
            <a:ext cx="4023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all four Hilbert space axioms for ℂⁿ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Â† for explicit 2×2 and 3×3 matrices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definition of bounded operator and operator norm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Cauchy–Schwarz: |⟨φ|ψ⟩|² ≤ ‖φ‖²‖ψ‖²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28600" y="2651760"/>
            <a:ext cx="4297680" cy="2148840"/>
          </a:xfrm>
          <a:prstGeom prst="rect">
            <a:avLst/>
          </a:prstGeom>
          <a:solidFill>
            <a:srgbClr val="0A1628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" y="2743200"/>
            <a:ext cx="40782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2999232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Â† for Â = [[1+i, 2−i],[3i, 4]]: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Transpose → [[1+i, 3i],[2−i, 4]]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Complex conjugate → [[1−i, −3i],[2+i, 4]]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Â† = [[1−i, −3i],[2+i, 4]]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749808"/>
            <a:ext cx="4251960" cy="182880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73168" y="841248"/>
            <a:ext cx="40325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SET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00600" y="1097280"/>
            <a:ext cx="39776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P1: Compute adjoint of a general 2×2 complex matrix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P2: Verify axiom (IP2) for L²([0,1]) explicitly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P3: Show the operator norm satisfies ‖Â‖ ≥ 0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P4: Is σ_z + iσ_y Hermitian, anti-Hermitian, or neither?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2651760"/>
            <a:ext cx="4251960" cy="2148840"/>
          </a:xfrm>
          <a:prstGeom prst="rect">
            <a:avLst/>
          </a:prstGeom>
          <a:solidFill>
            <a:srgbClr val="0A1628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73168" y="2743200"/>
            <a:ext cx="40325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&amp; DEPTH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00600" y="2999232"/>
            <a:ext cx="397764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that ‖Â‖ = ‖Â†‖ for bounded operators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to Frobenius norm ‖Â‖_F = √Tr(Â†Â)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858000" y="489204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BegUG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11D2E"/>
          </a:solidFill>
          <a:ln w="12700">
            <a:solidFill>
              <a:srgbClr val="111D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37160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5B9BD5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371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AdvUG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Adv. UG Track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484632"/>
            <a:ext cx="7589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28600" y="749808"/>
            <a:ext cx="4297680" cy="182880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41248"/>
            <a:ext cx="40782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097280"/>
            <a:ext cx="4023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adjoint is unique given inner product structure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 (ÂB̂)† = B̂†Â† from the adjoint definition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explicit examples of unbounded operators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that bounded ⟺ continuous for linear operators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28600" y="2651760"/>
            <a:ext cx="4297680" cy="2148840"/>
          </a:xfrm>
          <a:prstGeom prst="rect">
            <a:avLst/>
          </a:prstGeom>
          <a:solidFill>
            <a:srgbClr val="0A1628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" y="2743200"/>
            <a:ext cx="40782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2999232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(ÂB̂)† = B̂†Â†: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⟨φ|(ÂB̂)ψ⟩ = ⟨Â†φ|B̂ψ⟩ = ⟨B̂†Â†φ|ψ⟩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uniqueness of adjoint: (ÂB̂)† = B̂†Â† □</a:t>
            </a:r>
            <a:endParaRPr lang="en-US" sz="900" dirty="0"/>
          </a:p>
          <a:p>
            <a:pPr indent="0" marL="0">
              <a:buNone/>
            </a:pPr>
            <a:r>
              <a:rPr lang="en-US" sz="8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Key: adjoint reverses operator order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749808"/>
            <a:ext cx="4251960" cy="182880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73168" y="841248"/>
            <a:ext cx="40325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SET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00600" y="1097280"/>
            <a:ext cx="39776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P1: Prove adjoint is unique (use non-degeneracy of IP)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P2: Show p̂ = −iℏd/dx is Hermitian on S(ℝ) ⊂ L²(ℝ)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P3: Prove bounded ⟺ continuous for linear operators on H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P4: Find ‖σ_x‖ using the operator norm definition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2651760"/>
            <a:ext cx="4251960" cy="2148840"/>
          </a:xfrm>
          <a:prstGeom prst="rect">
            <a:avLst/>
          </a:prstGeom>
          <a:solidFill>
            <a:srgbClr val="0A1628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73168" y="2743200"/>
            <a:ext cx="40325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&amp; DEPTH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00600" y="2999232"/>
            <a:ext cx="397764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graph theorem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Hellinger–Toeplitz: everywhere-defined Hermitian ⟹ bounded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858000" y="489204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AdvUG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11D2E"/>
          </a:solidFill>
          <a:ln w="12700">
            <a:solidFill>
              <a:srgbClr val="111D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37160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9B72CF"/>
          </a:solidFill>
          <a:ln w="12700">
            <a:solidFill>
              <a:srgbClr val="9B72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371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MSc Track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484632"/>
            <a:ext cx="7589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28600" y="749808"/>
            <a:ext cx="4297680" cy="182880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41248"/>
            <a:ext cx="40782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B7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097280"/>
            <a:ext cx="4023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L²(ℝ) rigorously via Lebesgue integration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operator norm and relate to spectral radius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and apply the Hellinger–Toeplitz theorem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bounded ↔ continuous and domain considerations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28600" y="2651760"/>
            <a:ext cx="4297680" cy="2148840"/>
          </a:xfrm>
          <a:prstGeom prst="rect">
            <a:avLst/>
          </a:prstGeom>
          <a:solidFill>
            <a:srgbClr val="0A1628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" y="2743200"/>
            <a:ext cx="40782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2999232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‖x̂‖ on L²([-N,N]):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ψₙ = χ_[n,n+1]/√1, ‖x̂ψₙ‖ ≈ n → ∞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x̂ is unbounded on L²(ℝ) ✓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‖x̂‖ on L²([-N,N]) = N (finite, bounded) ✓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749808"/>
            <a:ext cx="4251960" cy="182880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73168" y="841248"/>
            <a:ext cx="40325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SET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00600" y="1097280"/>
            <a:ext cx="39776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P1: Use Riesz–Fischer to prove L²(ℝ) is complete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P2: Prove operator norm ‖Â‖ = sup of spectrum |σ(Â)|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P3: State Hellinger–Toeplitz theorem; give counterexample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2651760"/>
            <a:ext cx="4251960" cy="2148840"/>
          </a:xfrm>
          <a:prstGeom prst="rect">
            <a:avLst/>
          </a:prstGeom>
          <a:solidFill>
            <a:srgbClr val="0A1628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73168" y="2743200"/>
            <a:ext cx="40325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&amp; DEPTH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00600" y="2999232"/>
            <a:ext cx="397764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 radius formula: r(Â) = lim ‖Âⁿ‖^(1/n)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 to spectral theorem for bounded self-adjoint operators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858000" y="489204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MSc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11D2E"/>
          </a:solidFill>
          <a:ln w="12700">
            <a:solidFill>
              <a:srgbClr val="111D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37160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E07B6A"/>
          </a:solidFill>
          <a:ln w="12700">
            <a:solidFill>
              <a:srgbClr val="E07B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371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PhD Track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484632"/>
            <a:ext cx="7589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28600" y="749808"/>
            <a:ext cx="4297680" cy="182880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41248"/>
            <a:ext cx="40782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07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097280"/>
            <a:ext cx="4023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spectrum of unbounded operators rigorously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domain issues for Hermitian vs. self-adjoint operators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Hellinger–Toeplitz theorem with proof sketch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operators by their deficiency indices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28600" y="2651760"/>
            <a:ext cx="4297680" cy="2148840"/>
          </a:xfrm>
          <a:prstGeom prst="rect">
            <a:avLst/>
          </a:prstGeom>
          <a:solidFill>
            <a:srgbClr val="0A1628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" y="2743200"/>
            <a:ext cx="40782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2999232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distinction for p̂ on L²([0,1]):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D(p̂_min) = H¹₀(0,1): p̂ is Hermitian, not self-adjoint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D(p̂_θ) = {ψ: ψ(1) = e^(iθ)ψ(0)}: self-adjoint extension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θ ∈ [0,2π) gives distinct self-adjoint extension!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749808"/>
            <a:ext cx="4251960" cy="182880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73168" y="841248"/>
            <a:ext cx="40325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SET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00600" y="1097280"/>
            <a:ext cx="39776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P1: Prove Hellinger–Toeplitz: dom(Â) = H, Hermitian ⟹ bounded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P2: Compute deficiency indices (n₊,n₋) for p̂ on L²([0,1])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2651760"/>
            <a:ext cx="4251960" cy="2148840"/>
          </a:xfrm>
          <a:prstGeom prst="rect">
            <a:avLst/>
          </a:prstGeom>
          <a:solidFill>
            <a:srgbClr val="0A1628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73168" y="2743200"/>
            <a:ext cx="40325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&amp; DEPTH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00600" y="2999232"/>
            <a:ext cx="397764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operators and closed extensions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Neumann deficiency index theorem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 theory: resolvent set, point/continuous/residual spectrum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858000" y="489204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PhD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Common Pitfalls &amp; Misconceptions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pitfalls across all tiers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41248"/>
            <a:ext cx="4251960" cy="16916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" y="932688"/>
            <a:ext cx="40325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PITFALLS (A)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39776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Confusing 'Hermitian' with 'self-adjoint' — they differ for unbounded operators on domains D(Â) ⊊ H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complex conjugation in adjoint: (Â†)ᵢⱼ = Â*ⱼᵢ not Âⱼᵢ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all operators on H are bounded — x̂ and p̂ are not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3440" y="841248"/>
            <a:ext cx="4251960" cy="16916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73168" y="932688"/>
            <a:ext cx="40325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PITFALLS (B)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1188720"/>
            <a:ext cx="39776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⟨φ|ψ⟩ as symmetric — it is conjugate-symmetric: ⟨φ|ψ⟩ = ⟨ψ|φ⟩*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Confusing operator norm ‖Â‖ with Frobenius norm ‖Â‖_F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that anti-Hermitian operators have imaginary (not real) eigenvalues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8600" y="2606040"/>
            <a:ext cx="4251960" cy="132588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" y="2697480"/>
            <a:ext cx="40325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ANCHORS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2953512"/>
            <a:ext cx="39776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Hilbert (1900s): spectral theory of integral operators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Neumann (1932): Mathematical Foundations of QM — axiomatic Hilbert space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Hellinger &amp; Toeplitz (1910): unbounded symmetric operators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 (1930s): self-adjoint extensions and domains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2606040"/>
            <a:ext cx="4251960" cy="132588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73168" y="2697480"/>
            <a:ext cx="40325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QUICK REFERENCE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00600" y="2953512"/>
            <a:ext cx="39776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product: ⟨φ|ψ⟩ = Σᵢφᵢ*ψᵢ (ℂⁿ)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Adjoint: (Â†)ᵢⱼ = Â*ⱼᵢ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Norm: ‖|ψ⟩‖ = √⟨ψ|ψ⟩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Classification: Â = Â† (Hermitian), Â = −Â† (anti-Herm.)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28600" y="4005072"/>
            <a:ext cx="8686800" cy="7772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328" y="4096512"/>
            <a:ext cx="84673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B7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CONNECTIONS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4352544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L02: Unitary operators Û with ÛÛ† = 1̂ built from Hermitian generators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L03: Spectral theorem requires self-adjoint operators; real eigenvalues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L04: Matrix exponential e^(iÂ) uses adjoint structure extensively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7432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858000" y="489204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Pitfalls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Assessment &amp; Homework Summary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artifact bundle — all tiers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1682496" cy="3566160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822960"/>
            <a:ext cx="1682496" cy="256032"/>
          </a:xfrm>
          <a:prstGeom prst="rect">
            <a:avLst/>
          </a:prstGeom>
          <a:solidFill>
            <a:srgbClr val="F4C430"/>
          </a:solidFill>
          <a:ln w="12700">
            <a:solidFill>
              <a:srgbClr val="F4C4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822960"/>
            <a:ext cx="1682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1752" y="1115568"/>
            <a:ext cx="1536192" cy="3218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Problems: 3 simple + 2 advanced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(simple, ~1h): Inner Product Visualiser in ℂ²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(adv, ~2-3h): Norm of L² Functions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Research: Explain why complex amplitudes are necessary for quantum interference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956816" y="822960"/>
            <a:ext cx="1682496" cy="3566160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56816" y="822960"/>
            <a:ext cx="1682496" cy="256032"/>
          </a:xfrm>
          <a:prstGeom prst="rect">
            <a:avLst/>
          </a:prstGeom>
          <a:solidFill>
            <a:srgbClr val="4CAF7D"/>
          </a:solidFill>
          <a:ln w="12700">
            <a:solidFill>
              <a:srgbClr val="4CAF7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56816" y="822960"/>
            <a:ext cx="1682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BegUG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29968" y="1115568"/>
            <a:ext cx="1536192" cy="3218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Problems: 5 simple + 2 advanced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(simple, ~2h): Adjoint Calculator with Verification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(adv, ~4h): Operator Norms for 3×3 Matrices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Research: Prove Cauchy–Schwarz inequality from the axioms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85032" y="822960"/>
            <a:ext cx="1682496" cy="3566160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85032" y="822960"/>
            <a:ext cx="1682496" cy="256032"/>
          </a:xfrm>
          <a:prstGeom prst="rect">
            <a:avLst/>
          </a:prstGeom>
          <a:solidFill>
            <a:srgbClr val="5B9BD5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85032" y="822960"/>
            <a:ext cx="1682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AdvUG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758184" y="1115568"/>
            <a:ext cx="1536192" cy="3218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Problems: 3 simple + 3 advanced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(simple, ~2h): Bounded vs. Unbounded Operator Explorer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(adv, ~6h): Domain of p̂ on L²([0,1])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Research: Prove bounded ⟺ continuous for linear maps on H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413248" y="822960"/>
            <a:ext cx="1682496" cy="3566160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13248" y="822960"/>
            <a:ext cx="1682496" cy="256032"/>
          </a:xfrm>
          <a:prstGeom prst="rect">
            <a:avLst/>
          </a:prstGeom>
          <a:solidFill>
            <a:srgbClr val="9B72CF"/>
          </a:solidFill>
          <a:ln w="12700">
            <a:solidFill>
              <a:srgbClr val="9B72C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13248" y="822960"/>
            <a:ext cx="1682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0" y="1115568"/>
            <a:ext cx="1536192" cy="3218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Problems: 2 simple + 3 advanced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(simple, ~3h): L² Completeness via Cauchy Sequences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(adv, ~8h): Operator norm vs. Frobenius norm study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Research: Hellinger–Toeplitz theorem — statement, proof, implications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141464" y="822960"/>
            <a:ext cx="1682496" cy="3566160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41464" y="822960"/>
            <a:ext cx="1682496" cy="256032"/>
          </a:xfrm>
          <a:prstGeom prst="rect">
            <a:avLst/>
          </a:prstGeom>
          <a:solidFill>
            <a:srgbClr val="E07B6A"/>
          </a:solidFill>
          <a:ln w="12700">
            <a:solidFill>
              <a:srgbClr val="E07B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41464" y="822960"/>
            <a:ext cx="1682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214616" y="1115568"/>
            <a:ext cx="1536192" cy="3218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Problems: 2 simple + 3 advanced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(simple, ~3h): Rigour Checklist for Hilbert Space Axioms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(adv, ~15h): Self-Adjoint Extensions of p̂ on [0,1]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Research: Von Neumann's deficiency index theory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28600" y="4480560"/>
            <a:ext cx="8686800" cy="59436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" y="4572000"/>
            <a:ext cx="84673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 ASSIGNMENT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828032"/>
            <a:ext cx="841248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(all students): Problems from your track's Set A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HONOURS (optional): Set B problems from your track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PROJECT: Choose simple OR advanced track from your tier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RESEARCH: At least one well-defined question; open questions for MSc/PhD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7432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858000" y="489204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Assessment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95360" y="4572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13716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References &amp; Bibliography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Historical, educational, and research-level reading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41248"/>
            <a:ext cx="2743200" cy="39776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" y="932688"/>
            <a:ext cx="2523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TEXTBOOKS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2468880" cy="352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Sakurai &amp; Napolitano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Quantum Mechanics, 3rd ed.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1: Fundamental Concepts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Dirac, P.A.M.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 of Quantum Mechanics, 4th ed.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1–2: Notation &amp; Hilbert Space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&amp; Chuang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Computation &amp; Quantum Information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2: Linear Algebra Primer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108960" y="841248"/>
            <a:ext cx="2788920" cy="39776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18688" y="932688"/>
            <a:ext cx="256946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 REFERENCES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46120" y="1188720"/>
            <a:ext cx="2514600" cy="352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Reed &amp; Simon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of Modern Mathematical Physics, Vol. 1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2: Hilbert Spaces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Galindo &amp; Pascual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Mechanics I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1: Mathematical Framework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Thirring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Mathematical Physics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1: Hilbert Space Theory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035040" y="841248"/>
            <a:ext cx="2880360" cy="39776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44768" y="932688"/>
            <a:ext cx="26609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&amp; RESEARCH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172200" y="1188720"/>
            <a:ext cx="2606040" cy="352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Neumann (1932)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 Foundations of Quantum Mechanics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Foundational axiomatic treatment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Hilbert (1912)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Grundzüge einer allgemeinen Theorie der linearen Integralgleichungen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Origin of Hilbert space concept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Hellinger &amp; Toeplitz (1910)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Grundsätzliches über Sturm-Liouville'sche Theorie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First treatment of unbounded operators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858000" y="489204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References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9144000" cy="1143000"/>
          </a:xfrm>
          <a:prstGeom prst="rect">
            <a:avLst/>
          </a:prstGeom>
          <a:solidFill>
            <a:srgbClr val="162236"/>
          </a:solidFill>
          <a:ln w="12700">
            <a:solidFill>
              <a:srgbClr val="16223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Tier-Differentiated Concept Slides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L01: The Hilbert Space of Quantum States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slides — 5 tiers × 4 learning objectives — each with diagram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3657600"/>
            <a:ext cx="1097280" cy="329184"/>
          </a:xfrm>
          <a:prstGeom prst="roundRect">
            <a:avLst>
              <a:gd name="adj" fmla="val 13889"/>
            </a:avLst>
          </a:prstGeom>
          <a:solidFill>
            <a:srgbClr val="F4C430"/>
          </a:solidFill>
          <a:ln w="12700">
            <a:solidFill>
              <a:srgbClr val="F4C43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3657600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70048" y="3657600"/>
            <a:ext cx="1097280" cy="329184"/>
          </a:xfrm>
          <a:prstGeom prst="roundRect">
            <a:avLst>
              <a:gd name="adj" fmla="val 13889"/>
            </a:avLst>
          </a:prstGeom>
          <a:solidFill>
            <a:srgbClr val="4CAF7D"/>
          </a:solidFill>
          <a:ln w="12700">
            <a:solidFill>
              <a:srgbClr val="4CAF7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70048" y="3657600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BegUG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968496" y="3657600"/>
            <a:ext cx="1097280" cy="329184"/>
          </a:xfrm>
          <a:prstGeom prst="roundRect">
            <a:avLst>
              <a:gd name="adj" fmla="val 13889"/>
            </a:avLst>
          </a:prstGeom>
          <a:solidFill>
            <a:srgbClr val="5B9BD5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68496" y="3657600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AdvUG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266944" y="3657600"/>
            <a:ext cx="1097280" cy="329184"/>
          </a:xfrm>
          <a:prstGeom prst="roundRect">
            <a:avLst>
              <a:gd name="adj" fmla="val 13889"/>
            </a:avLst>
          </a:prstGeom>
          <a:solidFill>
            <a:srgbClr val="9B72CF"/>
          </a:solidFill>
          <a:ln w="12700">
            <a:solidFill>
              <a:srgbClr val="9B72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66944" y="3657600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565392" y="3657600"/>
            <a:ext cx="1097280" cy="329184"/>
          </a:xfrm>
          <a:prstGeom prst="roundRect">
            <a:avLst>
              <a:gd name="adj" fmla="val 13889"/>
            </a:avLst>
          </a:prstGeom>
          <a:solidFill>
            <a:srgbClr val="E07B6A"/>
          </a:solidFill>
          <a:ln w="12700">
            <a:solidFill>
              <a:srgbClr val="E07B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65392" y="3657600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9144000" cy="1554480"/>
          </a:xfrm>
          <a:prstGeom prst="rect">
            <a:avLst/>
          </a:prstGeom>
          <a:solidFill>
            <a:srgbClr val="162236"/>
          </a:solidFill>
          <a:ln w="12700">
            <a:solidFill>
              <a:srgbClr val="16223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30428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 1: Hilbert Space Definition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971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slides — one per tier (HS / BegUG / AdvUG / MSc / PhD)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A1422"/>
          </a:solidFill>
          <a:ln w="12700">
            <a:solidFill>
              <a:srgbClr val="0A14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55448"/>
            <a:ext cx="804672" cy="384048"/>
          </a:xfrm>
          <a:prstGeom prst="roundRect">
            <a:avLst>
              <a:gd name="adj" fmla="val 11905"/>
            </a:avLst>
          </a:prstGeom>
          <a:solidFill>
            <a:srgbClr val="F4C430"/>
          </a:solidFill>
          <a:ln w="12700">
            <a:solidFill>
              <a:srgbClr val="F4C4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55448"/>
            <a:ext cx="804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70432" y="155448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LO1: Hilbert Space Definition  |  High School Track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70432" y="438912"/>
            <a:ext cx="6949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8600" y="786384"/>
            <a:ext cx="5074920" cy="26060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6868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C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EXPLANATION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106424"/>
            <a:ext cx="481888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inner product ⟨φ|ψ⟩ measures the 'overlap' between two quantum states.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⟨φ|ψ⟩ = 0, the states are orthogonal — perfectly distinguishable.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norm ‖|ψ⟩‖ = √⟨ψ|ψ⟩ gives the 'length' of a state.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 ⟨ψ|ψ⟩ = 1 ensures probabilities add to 1.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Think: the Hilbert space is like ℝ² or ℂ², but possibly infinite-dimensional.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3474720"/>
            <a:ext cx="5074920" cy="658368"/>
          </a:xfrm>
          <a:prstGeom prst="rect">
            <a:avLst/>
          </a:prstGeom>
          <a:solidFill>
            <a:srgbClr val="0A162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" y="3566160"/>
            <a:ext cx="48188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⟨φ|ψ⟩ ∈ ℂ  (complex number)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‖|ψ⟩‖ = √⟨ψ|ψ⟩  (real ≥ 0)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⟨ψ|ψ⟩ = 1  (normalised state)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4206240"/>
            <a:ext cx="5074920" cy="86868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" y="4288536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/ SUMMARY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65760" y="4526280"/>
            <a:ext cx="48188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Concrete: use ℂ² spin states. |+⟩=(1,0)ᵀ, |−⟩=(0,1)ᵀ, ⟨+|−⟩ = 0 (orthogonal), ‖|+⟩‖ = 1.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786384"/>
            <a:ext cx="3383280" cy="4288536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63640" y="3387852"/>
            <a:ext cx="1828800" cy="0"/>
          </a:xfrm>
          <a:prstGeom prst="line">
            <a:avLst/>
          </a:prstGeom>
          <a:noFill/>
          <a:ln w="12700">
            <a:solidFill>
              <a:srgbClr val="3A5A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20840" y="3845052"/>
            <a:ext cx="0" cy="-1828800"/>
          </a:xfrm>
          <a:prstGeom prst="line">
            <a:avLst/>
          </a:prstGeom>
          <a:noFill/>
          <a:ln w="12700">
            <a:solidFill>
              <a:srgbClr val="3A5A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78040" y="3387852"/>
            <a:ext cx="731520" cy="-914400"/>
          </a:xfrm>
          <a:prstGeom prst="line">
            <a:avLst/>
          </a:prstGeom>
          <a:noFill/>
          <a:ln w="31750">
            <a:solidFill>
              <a:srgbClr val="00B4D8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7927848" y="2363724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|φ⟩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178040" y="3387852"/>
            <a:ext cx="-274320" cy="-1188720"/>
          </a:xfrm>
          <a:prstGeom prst="line">
            <a:avLst/>
          </a:prstGeom>
          <a:noFill/>
          <a:ln w="31750">
            <a:solidFill>
              <a:srgbClr val="F4A261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6519672" y="2089404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|ψ⟩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976872" y="3040380"/>
            <a:ext cx="402336" cy="402336"/>
          </a:xfrm>
          <a:prstGeom prst="arc">
            <a:avLst/>
          </a:prstGeom>
          <a:solidFill>
            <a:srgbClr val="1E4060">
              <a:alpha val="60000"/>
            </a:srgbClr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04888" y="3022092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909560" y="2473452"/>
            <a:ext cx="-731520" cy="-73152"/>
          </a:xfrm>
          <a:prstGeom prst="line">
            <a:avLst/>
          </a:prstGeom>
          <a:noFill/>
          <a:ln w="12700">
            <a:solidFill>
              <a:srgbClr val="5A7A9A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577840" y="4507992"/>
            <a:ext cx="3200400" cy="475488"/>
          </a:xfrm>
          <a:prstGeom prst="rect">
            <a:avLst/>
          </a:prstGeom>
          <a:solidFill>
            <a:srgbClr val="0A162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14416" y="4535424"/>
            <a:ext cx="31272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⟨φ|ψ⟩ = ||φ|| ||ψ|| cos θ  ∈ ℂ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486400" y="84124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Product = Overlap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274320" y="4892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858000" y="4892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LO1 · HS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A1422"/>
          </a:solidFill>
          <a:ln w="12700">
            <a:solidFill>
              <a:srgbClr val="0A14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55448"/>
            <a:ext cx="804672" cy="384048"/>
          </a:xfrm>
          <a:prstGeom prst="roundRect">
            <a:avLst>
              <a:gd name="adj" fmla="val 11905"/>
            </a:avLst>
          </a:prstGeom>
          <a:solidFill>
            <a:srgbClr val="4CAF7D"/>
          </a:solidFill>
          <a:ln w="12700">
            <a:solidFill>
              <a:srgbClr val="4CAF7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55448"/>
            <a:ext cx="804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BegUG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70432" y="155448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LO1: Hilbert Space Definition  |  Beg. Undergraduate Track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70432" y="438912"/>
            <a:ext cx="6949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8600" y="786384"/>
            <a:ext cx="5074920" cy="26060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6868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4CAF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EXPLANATION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106424"/>
            <a:ext cx="481888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Hilbert space ℋ is a complete complex inner product space.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(IP1) Conjugate symmetry: ⟨φ|ψ⟩ = ⟨ψ|φ⟩*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(IP2) Linearity in second slot: ⟨φ|αψ + βχ⟩ = α⟨φ|ψ⟩ + β⟨φ|χ⟩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(IP3) Positive semidefinite: ⟨ψ|ψ⟩ ≥ 0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(IP4) Non-degenerate: ⟨ψ|ψ⟩ = 0 iff |ψ⟩ = 0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Completeness: every Cauchy sequence converges within ℋ.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3474720"/>
            <a:ext cx="5074920" cy="658368"/>
          </a:xfrm>
          <a:prstGeom prst="rect">
            <a:avLst/>
          </a:prstGeom>
          <a:solidFill>
            <a:srgbClr val="0A162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" y="3566160"/>
            <a:ext cx="48188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ℂⁿ: ⟨φ|ψ⟩ = Σᵢ φᵢ* ψᵢ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Cauchy: ‖|ψₙ⟩ − |ψₘ⟩‖ → 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Complete: limit ∈ ℋ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4206240"/>
            <a:ext cx="5074920" cy="86868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" y="4288536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/ SUMMARY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65760" y="4526280"/>
            <a:ext cx="48188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Exercise: Verify all 4 axioms for ⟨φ|ψ⟩ = Σᵢ φᵢ* ψᵢ on ℂⁿ.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786384"/>
            <a:ext cx="3383280" cy="4288536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0" y="84124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 Inner Product Axioms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577840" y="1078992"/>
            <a:ext cx="1531620" cy="1801368"/>
          </a:xfrm>
          <a:prstGeom prst="roundRect">
            <a:avLst>
              <a:gd name="adj" fmla="val 3582"/>
            </a:avLst>
          </a:prstGeom>
          <a:solidFill>
            <a:srgbClr val="0F2035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14416" y="1106424"/>
            <a:ext cx="36576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IP1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632704" y="1261872"/>
            <a:ext cx="1440180" cy="1581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Conjugate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⟨φ|ψ⟩=⟨ψ|φ⟩*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200900" y="1078992"/>
            <a:ext cx="1531620" cy="1801368"/>
          </a:xfrm>
          <a:prstGeom prst="roundRect">
            <a:avLst>
              <a:gd name="adj" fmla="val 3582"/>
            </a:avLst>
          </a:prstGeom>
          <a:solidFill>
            <a:srgbClr val="0F2035"/>
          </a:solidFill>
          <a:ln w="19050">
            <a:solidFill>
              <a:srgbClr val="F4A2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7476" y="1106424"/>
            <a:ext cx="36576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IP2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255764" y="1261872"/>
            <a:ext cx="1440180" cy="1581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Linearity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2nd slot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α|ψ⟩+β|χ⟩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577840" y="2935224"/>
            <a:ext cx="1531620" cy="1801368"/>
          </a:xfrm>
          <a:prstGeom prst="roundRect">
            <a:avLst>
              <a:gd name="adj" fmla="val 3582"/>
            </a:avLst>
          </a:prstGeom>
          <a:solidFill>
            <a:srgbClr val="0F2035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4416" y="2962656"/>
            <a:ext cx="36576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IP3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632704" y="3118104"/>
            <a:ext cx="1440180" cy="1581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Semidefinite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⟨ψ|ψ⟩ ≥ 0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200900" y="2935224"/>
            <a:ext cx="1531620" cy="1801368"/>
          </a:xfrm>
          <a:prstGeom prst="roundRect">
            <a:avLst>
              <a:gd name="adj" fmla="val 3582"/>
            </a:avLst>
          </a:prstGeom>
          <a:solidFill>
            <a:srgbClr val="0F2035"/>
          </a:solidFill>
          <a:ln w="19050">
            <a:solidFill>
              <a:srgbClr val="E07B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37476" y="2962656"/>
            <a:ext cx="36576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7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IP4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255764" y="3118104"/>
            <a:ext cx="1440180" cy="1581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⟨ψ|ψ⟩=0⟺0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5760720" y="4800600"/>
            <a:ext cx="2834640" cy="20116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0" y="4791456"/>
            <a:ext cx="33832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COMPLETENESS  ⟹  Hilbert Space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274320" y="4892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858000" y="4892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LO1 · BegUG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A1422"/>
          </a:solidFill>
          <a:ln w="12700">
            <a:solidFill>
              <a:srgbClr val="0A14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55448"/>
            <a:ext cx="804672" cy="384048"/>
          </a:xfrm>
          <a:prstGeom prst="roundRect">
            <a:avLst>
              <a:gd name="adj" fmla="val 11905"/>
            </a:avLst>
          </a:prstGeom>
          <a:solidFill>
            <a:srgbClr val="5B9BD5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55448"/>
            <a:ext cx="804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AdvUG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70432" y="155448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LO1: Hilbert Space Definition  |  Adv. Undergraduate Track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70432" y="438912"/>
            <a:ext cx="6949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8600" y="786384"/>
            <a:ext cx="5074920" cy="26060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6868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EXPLANATION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106424"/>
            <a:ext cx="481888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Hilbert space ℋ over ℂ satisfies all four inner product axioms (IP1–IP4) and is complete.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 means: if ‖|ψₙ⟩ − |ψₘ⟩‖ → 0, then ∃ |ψ⟩ ∈ ℋ with ‖|ψₙ⟩ − |ψ⟩‖ → 0.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ℂⁿ (finite), L²(ℝ) (infinite). Non-example: C([0,1]) with L²-norm.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Cauchy–Schwarz: |⟨φ|ψ⟩|² ≤ ⟨φ|φ⟩⟨ψ|ψ⟩ — prove using ‖|ψ⟩ − λ|φ⟩‖² ≥ 0.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3474720"/>
            <a:ext cx="5074920" cy="658368"/>
          </a:xfrm>
          <a:prstGeom prst="rect">
            <a:avLst/>
          </a:prstGeom>
          <a:solidFill>
            <a:srgbClr val="0A162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" y="3566160"/>
            <a:ext cx="48188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‖|ψ⟩ − |ψₙ⟩‖ → 0  (convergence)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|⟨φ|ψ⟩|² ≤ ‖φ‖²‖ψ‖² (C-S)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ℂⁿ, L²(ℝ), ℓ²(ℤ) are Hilbert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4206240"/>
            <a:ext cx="5074920" cy="86868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" y="4288536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/ SUMMARY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65760" y="4526280"/>
            <a:ext cx="48188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task: Show C([0,1]) with ‖f‖₂ = (∫|f|²dx)^½ is NOT complete.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786384"/>
            <a:ext cx="3383280" cy="4288536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0" y="84124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Completeness: No Missing Limits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596128" y="1289304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Complete: ℋ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623560" y="1472184"/>
            <a:ext cx="3063240" cy="0"/>
          </a:xfrm>
          <a:prstGeom prst="line">
            <a:avLst/>
          </a:prstGeom>
          <a:noFill/>
          <a:ln w="19050">
            <a:solidFill>
              <a:srgbClr val="2A5A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46013" y="1408176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67805" y="1408176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03059" y="1408176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13955" y="1408176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00493" y="1408176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24851" y="1408176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18120" y="1408176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13648" y="1380744"/>
            <a:ext cx="164592" cy="164592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66760" y="119786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∈ ℋ ✓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596128" y="1581912"/>
            <a:ext cx="3154680" cy="274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96128" y="158191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8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‖|ψₙ⟩ − |ψₘ⟩‖ → 0  ⟹  limit ∈ ℋ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5577840" y="1947672"/>
            <a:ext cx="3200400" cy="0"/>
          </a:xfrm>
          <a:prstGeom prst="line">
            <a:avLst/>
          </a:prstGeom>
          <a:noFill/>
          <a:ln w="9525">
            <a:solidFill>
              <a:srgbClr val="2A4A6A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5596128" y="291693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07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Incomplete: C([0,1]) with L² norm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623560" y="3118104"/>
            <a:ext cx="3063240" cy="0"/>
          </a:xfrm>
          <a:prstGeom prst="line">
            <a:avLst/>
          </a:prstGeom>
          <a:noFill/>
          <a:ln w="19050">
            <a:solidFill>
              <a:srgbClr val="2A5A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46013" y="3054096"/>
            <a:ext cx="128016" cy="12801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7805" y="3054096"/>
            <a:ext cx="128016" cy="12801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03059" y="3054096"/>
            <a:ext cx="128016" cy="12801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413955" y="3054096"/>
            <a:ext cx="128016" cy="12801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00493" y="3054096"/>
            <a:ext cx="128016" cy="12801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724851" y="3054096"/>
            <a:ext cx="128016" cy="12801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595360" y="2980944"/>
            <a:ext cx="0" cy="274320"/>
          </a:xfrm>
          <a:prstGeom prst="line">
            <a:avLst/>
          </a:prstGeom>
          <a:noFill/>
          <a:ln w="25400">
            <a:solidFill>
              <a:srgbClr val="E07B6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668512" y="3026664"/>
            <a:ext cx="164592" cy="164592"/>
          </a:xfrm>
          <a:prstGeom prst="ellipse">
            <a:avLst/>
          </a:prstGeom>
          <a:solidFill>
            <a:srgbClr val="E07B6A">
              <a:alpha val="70000"/>
            </a:srgbClr>
          </a:solidFill>
          <a:ln w="19050">
            <a:solidFill>
              <a:srgbClr val="E07B6A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8394192" y="284378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07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∉ space ✗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5596128" y="3227832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of polynomials → non-polynomial (not in space!)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274320" y="4892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858000" y="4892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LO1 · AdvUG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A1422"/>
          </a:solidFill>
          <a:ln w="12700">
            <a:solidFill>
              <a:srgbClr val="0A14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55448"/>
            <a:ext cx="804672" cy="384048"/>
          </a:xfrm>
          <a:prstGeom prst="roundRect">
            <a:avLst>
              <a:gd name="adj" fmla="val 11905"/>
            </a:avLst>
          </a:prstGeom>
          <a:solidFill>
            <a:srgbClr val="9B72CF"/>
          </a:solidFill>
          <a:ln w="12700">
            <a:solidFill>
              <a:srgbClr val="9B72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55448"/>
            <a:ext cx="804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70432" y="155448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LO1: Hilbert Space Definition  |  Master's Track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70432" y="438912"/>
            <a:ext cx="6949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8600" y="786384"/>
            <a:ext cx="5074920" cy="26060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6868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B7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EXPLANATION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106424"/>
            <a:ext cx="481888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L²(ℝ) is the canonical infinite-dimensional separable Hilbert space.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Formally: equivalence classes [f] where f ~ g iff ∫|f−g|²dμ = 0 (a.e. equal).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Riesz–Fischer theorem (1907) proves L²(ℝ) is complete.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Separability: L²(ℝ) has a countable orthonormal basis {eₙ} (e.g., Hermite functions).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Sobolev spaces H^s(ℝ) ⊂ L²(ℝ) for s &gt; 0 carry additional regularity.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3474720"/>
            <a:ext cx="5074920" cy="658368"/>
          </a:xfrm>
          <a:prstGeom prst="rect">
            <a:avLst/>
          </a:prstGeom>
          <a:solidFill>
            <a:srgbClr val="0A162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" y="3566160"/>
            <a:ext cx="48188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‖f‖² = ∫_{ℝ} |f(x)|² dμ(x)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⟨f|g⟩ = ∫ f*(x) g(x) dμ(x)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Riesz–Fischer: L² is complete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4206240"/>
            <a:ext cx="5074920" cy="86868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" y="4288536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/ SUMMARY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65760" y="4526280"/>
            <a:ext cx="48188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Theorem (Riesz–Fischer): Every L²-Cauchy sequence has a subsequence converging pointwise a.e. to its L²-limit.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786384"/>
            <a:ext cx="3383280" cy="4288536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0" y="84124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L²(ℝ) as a Hilbert Space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715000" y="2615184"/>
            <a:ext cx="3017520" cy="0"/>
          </a:xfrm>
          <a:prstGeom prst="line">
            <a:avLst/>
          </a:prstGeom>
          <a:noFill/>
          <a:ln w="15240">
            <a:solidFill>
              <a:srgbClr val="4A7A9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715000" y="2615184"/>
            <a:ext cx="0" cy="-1188720"/>
          </a:xfrm>
          <a:prstGeom prst="line">
            <a:avLst/>
          </a:prstGeom>
          <a:noFill/>
          <a:ln w="15240">
            <a:solidFill>
              <a:srgbClr val="4A7A9A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8769096" y="2542032"/>
            <a:ext cx="1645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7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513832" y="1389888"/>
            <a:ext cx="320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7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ψ(x)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733288" y="2508687"/>
            <a:ext cx="143332" cy="-56807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76620" y="2451880"/>
            <a:ext cx="143332" cy="-76091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19952" y="2375789"/>
            <a:ext cx="143332" cy="-96102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63285" y="2279687"/>
            <a:ext cx="143332" cy="-113993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06617" y="2165694"/>
            <a:ext cx="143332" cy="-126225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49949" y="2039469"/>
            <a:ext cx="143332" cy="-129225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93281" y="1910243"/>
            <a:ext cx="143332" cy="-120249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36613" y="1789994"/>
            <a:ext cx="143332" cy="-98257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79946" y="1691737"/>
            <a:ext cx="143332" cy="-64485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23278" y="1627252"/>
            <a:ext cx="143332" cy="-2248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6610" y="1604772"/>
            <a:ext cx="143332" cy="2248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09942" y="1627252"/>
            <a:ext cx="143332" cy="64485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453274" y="1691737"/>
            <a:ext cx="143332" cy="98257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96607" y="1789994"/>
            <a:ext cx="143332" cy="120249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39939" y="1910243"/>
            <a:ext cx="143332" cy="129225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883271" y="2039469"/>
            <a:ext cx="143332" cy="126225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26603" y="2165694"/>
            <a:ext cx="143332" cy="113993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69935" y="2279687"/>
            <a:ext cx="143332" cy="96102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13268" y="2375789"/>
            <a:ext cx="143332" cy="76091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456600" y="2451880"/>
            <a:ext cx="143332" cy="56807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3942" y="1759306"/>
            <a:ext cx="1659636" cy="855878"/>
          </a:xfrm>
          <a:prstGeom prst="rect">
            <a:avLst/>
          </a:prstGeom>
          <a:solidFill>
            <a:srgbClr val="00B4D8">
              <a:alpha val="20000"/>
            </a:srgbClr>
          </a:solidFill>
          <a:ln w="12700">
            <a:solidFill>
              <a:srgbClr val="00B4D8">
                <a:alpha val="2000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67728" y="2115922"/>
            <a:ext cx="5120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∫|ψ(x)|²dx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5577840" y="4069080"/>
            <a:ext cx="3218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ψ ∈ L²(ℝ): square-integrable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77840" y="4270248"/>
            <a:ext cx="3218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⟨φ|ψ⟩ = ∫φ*(x)ψ(x)dx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577840" y="4471416"/>
            <a:ext cx="3218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‖ψ‖² = ∫|ψ(x)|²dx &lt; ∞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577840" y="4672584"/>
            <a:ext cx="3218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Complete: Riesz–Fischer theorem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74320" y="4892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6858000" y="4892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LO1 · MSc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A1422"/>
          </a:solidFill>
          <a:ln w="12700">
            <a:solidFill>
              <a:srgbClr val="0A14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55448"/>
            <a:ext cx="804672" cy="384048"/>
          </a:xfrm>
          <a:prstGeom prst="roundRect">
            <a:avLst>
              <a:gd name="adj" fmla="val 11905"/>
            </a:avLst>
          </a:prstGeom>
          <a:solidFill>
            <a:srgbClr val="E07B6A"/>
          </a:solidFill>
          <a:ln w="12700">
            <a:solidFill>
              <a:srgbClr val="E07B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55448"/>
            <a:ext cx="804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70432" y="155448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LO1: Hilbert Space Definition  |  PhD Track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70432" y="438912"/>
            <a:ext cx="6949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8600" y="786384"/>
            <a:ext cx="5074920" cy="26060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6868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07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EXPLANATION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106424"/>
            <a:ext cx="481888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Separable Hilbert spaces: all infinite-dimensional separable Hilbert spaces are isomorphic to ℓ²(ℤ).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Non-separable: L∞ and certain von Neumann algebra Hilbert spaces.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theorem: every inner product space has a unique Hilbert space completion.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theory: operators like x̂, p̂ are defined on dense domains D(Â) ⊊ L²(ℝ).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Gel'fand triple: S(ℝ) ⊂ L²(ℝ) ⊂ S*(ℝ) — rigged Hilbert space for continuous spectrum.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3474720"/>
            <a:ext cx="5074920" cy="658368"/>
          </a:xfrm>
          <a:prstGeom prst="rect">
            <a:avLst/>
          </a:prstGeom>
          <a:solidFill>
            <a:srgbClr val="0A162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" y="3566160"/>
            <a:ext cx="48188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ℓ²(ℤ) ≅ L²(ℝ) (separable ∞-dim)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Ī = closure of inner product space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⊂ L² ⊂ S* (Gel'fand triple)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4206240"/>
            <a:ext cx="5074920" cy="86868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" y="4288536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/ SUMMARY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65760" y="4526280"/>
            <a:ext cx="48188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all separable infinite-dimensional Hilbert spaces are unitarily isomorphic — there is essentially ONE such space.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786384"/>
            <a:ext cx="3383280" cy="4288536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0" y="84124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 Hierarchy of Spaces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21731" y="1215238"/>
            <a:ext cx="3112618" cy="3259287"/>
          </a:xfrm>
          <a:prstGeom prst="ellipse">
            <a:avLst/>
          </a:prstGeom>
          <a:solidFill>
            <a:srgbClr val="2A4A6A">
              <a:alpha val="30000"/>
            </a:srgbClr>
          </a:solidFill>
          <a:ln w="19050">
            <a:solidFill>
              <a:srgbClr val="2A4A6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60059" y="1601206"/>
            <a:ext cx="2435962" cy="2487351"/>
          </a:xfrm>
          <a:prstGeom prst="ellipse">
            <a:avLst/>
          </a:prstGeom>
          <a:solidFill>
            <a:srgbClr val="1A5A7A">
              <a:alpha val="30000"/>
            </a:srgbClr>
          </a:solidFill>
          <a:ln w="19050">
            <a:solidFill>
              <a:srgbClr val="1A5A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98387" y="1944289"/>
            <a:ext cx="1759306" cy="1801185"/>
          </a:xfrm>
          <a:prstGeom prst="ellipse">
            <a:avLst/>
          </a:prstGeom>
          <a:solidFill>
            <a:srgbClr val="0A7A9A">
              <a:alpha val="30000"/>
            </a:srgbClr>
          </a:solidFill>
          <a:ln w="19050">
            <a:solidFill>
              <a:srgbClr val="0A7A9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36715" y="2287372"/>
            <a:ext cx="1082650" cy="1115019"/>
          </a:xfrm>
          <a:prstGeom prst="ellipse">
            <a:avLst/>
          </a:prstGeom>
          <a:solidFill>
            <a:srgbClr val="00B4D8">
              <a:alpha val="30000"/>
            </a:srgbClr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89397" y="1215238"/>
            <a:ext cx="594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8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8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922362" y="1558320"/>
            <a:ext cx="594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Normed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5689397" y="3616818"/>
            <a:ext cx="594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Banach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976872" y="2501798"/>
            <a:ext cx="594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Hilbert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5993892" y="4754880"/>
            <a:ext cx="23682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complete inner product ⟨·|·⟩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559552" y="4544568"/>
            <a:ext cx="32369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⊂ previous + extra structure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74320" y="4892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858000" y="4892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LO1 · PhD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9144000" cy="1554480"/>
          </a:xfrm>
          <a:prstGeom prst="rect">
            <a:avLst/>
          </a:prstGeom>
          <a:solidFill>
            <a:srgbClr val="162236"/>
          </a:solidFill>
          <a:ln w="12700">
            <a:solidFill>
              <a:srgbClr val="16223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30428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 2: Bounded vs Unbounded Ops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971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slides — one per tier (HS / BegUG / AdvUG / MSc / PhD)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A1422"/>
          </a:solidFill>
          <a:ln w="12700">
            <a:solidFill>
              <a:srgbClr val="0A14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55448"/>
            <a:ext cx="804672" cy="384048"/>
          </a:xfrm>
          <a:prstGeom prst="roundRect">
            <a:avLst>
              <a:gd name="adj" fmla="val 11905"/>
            </a:avLst>
          </a:prstGeom>
          <a:solidFill>
            <a:srgbClr val="F4C430"/>
          </a:solidFill>
          <a:ln w="12700">
            <a:solidFill>
              <a:srgbClr val="F4C4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55448"/>
            <a:ext cx="804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70432" y="155448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LO2: Bounded vs Unbounded Ops  |  High School Track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70432" y="438912"/>
            <a:ext cx="6949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8600" y="786384"/>
            <a:ext cx="5074920" cy="26060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6868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C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EXPLANATION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106424"/>
            <a:ext cx="481888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BOUNDED operator Â has a finite 'stretching factor': ‖Â|ψ⟩‖ ≤ M‖|ψ⟩‖ for all states.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UNBOUNDED operator can stretch states by arbitrarily large amounts.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Bounded: spin operators Ŝₓ, Ŝᵧ, Ŝᵤ (eigenvalues ±ℏ/2 — always finite).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Unbounded: position x̂ (eigenvalues any real x ∈ ℝ) and momentum p̂.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Physicists use both: bounded for two-level systems, unbounded for continuous degrees of freedom.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3474720"/>
            <a:ext cx="5074920" cy="658368"/>
          </a:xfrm>
          <a:prstGeom prst="rect">
            <a:avLst/>
          </a:prstGeom>
          <a:solidFill>
            <a:srgbClr val="0A162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" y="3566160"/>
            <a:ext cx="48188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Bounded: ∃M &lt; ∞, ‖Â|ψ⟩‖ ≤ M‖|ψ⟩‖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Unbounded: sup ‖Â|ψ⟩‖/‖|ψ⟩‖ = ∞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4206240"/>
            <a:ext cx="5074920" cy="86868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" y="4288536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/ SUMMARY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65760" y="4526280"/>
            <a:ext cx="48188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finite matrix → bounded. Differential operator → unbounded.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786384"/>
            <a:ext cx="3383280" cy="4288536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0" y="84124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vs. Unbounded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596128" y="1078992"/>
            <a:ext cx="1508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596128" y="1289304"/>
            <a:ext cx="1490472" cy="3236976"/>
          </a:xfrm>
          <a:prstGeom prst="rect">
            <a:avLst/>
          </a:prstGeom>
          <a:solidFill>
            <a:srgbClr val="0F2035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50992" y="1932584"/>
            <a:ext cx="617220" cy="0"/>
          </a:xfrm>
          <a:prstGeom prst="line">
            <a:avLst/>
          </a:prstGeom>
          <a:noFill/>
          <a:ln w="15240">
            <a:solidFill>
              <a:srgbClr val="00B4D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650992" y="2361438"/>
            <a:ext cx="617220" cy="0"/>
          </a:xfrm>
          <a:prstGeom prst="line">
            <a:avLst/>
          </a:prstGeom>
          <a:noFill/>
          <a:ln w="15240">
            <a:solidFill>
              <a:srgbClr val="00B4D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650992" y="2790292"/>
            <a:ext cx="617220" cy="0"/>
          </a:xfrm>
          <a:prstGeom prst="line">
            <a:avLst/>
          </a:prstGeom>
          <a:noFill/>
          <a:ln w="15240">
            <a:solidFill>
              <a:srgbClr val="00B4D8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6286500" y="30403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596128" y="4663440"/>
            <a:ext cx="14904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‖Â‖ &lt; ∞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251192" y="1078992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07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UNBOUNDED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315200" y="1718158"/>
            <a:ext cx="407365" cy="0"/>
          </a:xfrm>
          <a:prstGeom prst="line">
            <a:avLst/>
          </a:prstGeom>
          <a:noFill/>
          <a:ln w="15240">
            <a:solidFill>
              <a:srgbClr val="E07B6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315200" y="2254225"/>
            <a:ext cx="760415" cy="0"/>
          </a:xfrm>
          <a:prstGeom prst="line">
            <a:avLst/>
          </a:prstGeom>
          <a:noFill/>
          <a:ln w="15240">
            <a:solidFill>
              <a:srgbClr val="E07B6A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315200" y="2790292"/>
            <a:ext cx="1493672" cy="0"/>
          </a:xfrm>
          <a:prstGeom prst="line">
            <a:avLst/>
          </a:prstGeom>
          <a:noFill/>
          <a:ln w="15240">
            <a:solidFill>
              <a:srgbClr val="E07B6A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7251192" y="466344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7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x̂, p̂ on L²(ℝ)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178040" y="1042416"/>
            <a:ext cx="0" cy="3922776"/>
          </a:xfrm>
          <a:prstGeom prst="line">
            <a:avLst/>
          </a:prstGeom>
          <a:noFill/>
          <a:ln w="12700">
            <a:solidFill>
              <a:srgbClr val="2A4A6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4892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858000" y="4892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LO2 · HS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A1422"/>
          </a:solidFill>
          <a:ln w="12700">
            <a:solidFill>
              <a:srgbClr val="0A14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55448"/>
            <a:ext cx="804672" cy="384048"/>
          </a:xfrm>
          <a:prstGeom prst="roundRect">
            <a:avLst>
              <a:gd name="adj" fmla="val 11905"/>
            </a:avLst>
          </a:prstGeom>
          <a:solidFill>
            <a:srgbClr val="4CAF7D"/>
          </a:solidFill>
          <a:ln w="12700">
            <a:solidFill>
              <a:srgbClr val="4CAF7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55448"/>
            <a:ext cx="804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BegUG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70432" y="155448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LO2: Bounded vs Unbounded Ops  |  Beg. Undergraduate Track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70432" y="438912"/>
            <a:ext cx="6949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8600" y="786384"/>
            <a:ext cx="5074920" cy="26060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6868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4CAF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EXPLANATION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106424"/>
            <a:ext cx="481888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Definition: Â is bounded if ‖Â‖ := sup{‖Â|ψ⟩‖/‖|ψ⟩‖ : |ψ⟩ ≠ 0} &lt; ∞.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Equivalent: Â is bounded iff Â is continuous (linear maps).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norm submultiplicativity: ‖ÂB̂‖ ≤ ‖Â‖‖B̂‖.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operators on ℂ²: ‖σₓ‖ = ‖σᵧ‖ = ‖σᵤ‖ = 1.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x̂ on L²([−N,N]): ‖x̂‖ = N → ∞ as N → ∞.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3474720"/>
            <a:ext cx="5074920" cy="658368"/>
          </a:xfrm>
          <a:prstGeom prst="rect">
            <a:avLst/>
          </a:prstGeom>
          <a:solidFill>
            <a:srgbClr val="0A162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" y="3566160"/>
            <a:ext cx="48188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‖Â‖ = sup{ ‖Â|ψ⟩‖ : ‖|ψ⟩‖ = 1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‖σₙ‖ = 1  (bounded)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‖x̂‖ on L²([-N,N]) = N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4206240"/>
            <a:ext cx="5074920" cy="86868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" y="4288536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/ SUMMARY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65760" y="4526280"/>
            <a:ext cx="48188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‖σ₃‖ using the definition. Eigenvectors |+⟩, |−⟩: σ₃|±⟩ = ±|±⟩, so ‖σ₃‖ = 1.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786384"/>
            <a:ext cx="3383280" cy="4288536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0" y="84124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Norm ‖Â‖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167628" y="2492837"/>
            <a:ext cx="1005840" cy="704088"/>
          </a:xfrm>
          <a:prstGeom prst="ellipse">
            <a:avLst/>
          </a:prstGeom>
          <a:solidFill>
            <a:srgbClr val="1A3A5A">
              <a:alpha val="60000"/>
            </a:srgbClr>
          </a:solidFill>
          <a:ln w="19050">
            <a:solidFill>
              <a:srgbClr val="5B9B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67628" y="2291669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ball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{|ψ⟩: ‖|ψ⟩‖=1}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173468" y="2844881"/>
            <a:ext cx="502920" cy="0"/>
          </a:xfrm>
          <a:prstGeom prst="line">
            <a:avLst/>
          </a:prstGeom>
          <a:noFill/>
          <a:ln w="25400">
            <a:solidFill>
              <a:srgbClr val="F4A261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7356348" y="2662001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40396" y="2291669"/>
            <a:ext cx="502920" cy="1106424"/>
          </a:xfrm>
          <a:prstGeom prst="ellipse">
            <a:avLst/>
          </a:prstGeom>
          <a:solidFill>
            <a:srgbClr val="1A3520">
              <a:alpha val="50000"/>
            </a:srgbClr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40396" y="2090501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Â(unit ball)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991856" y="2844881"/>
            <a:ext cx="0" cy="-553212"/>
          </a:xfrm>
          <a:prstGeom prst="line">
            <a:avLst/>
          </a:prstGeom>
          <a:noFill/>
          <a:ln w="19050">
            <a:solidFill>
              <a:srgbClr val="F4A261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8001914" y="2072213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‖Â‖ = max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stretching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559552" y="4617720"/>
            <a:ext cx="3236976" cy="365760"/>
          </a:xfrm>
          <a:prstGeom prst="rect">
            <a:avLst/>
          </a:prstGeom>
          <a:solidFill>
            <a:srgbClr val="0A162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77840" y="46177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‖Â‖ := sup{ ‖Â|ψ⟩‖ : ‖|ψ⟩‖ = 1 }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" y="4892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858000" y="4892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LO2 · BegUG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A1422"/>
          </a:solidFill>
          <a:ln w="12700">
            <a:solidFill>
              <a:srgbClr val="0A14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55448"/>
            <a:ext cx="804672" cy="384048"/>
          </a:xfrm>
          <a:prstGeom prst="roundRect">
            <a:avLst>
              <a:gd name="adj" fmla="val 11905"/>
            </a:avLst>
          </a:prstGeom>
          <a:solidFill>
            <a:srgbClr val="5B9BD5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55448"/>
            <a:ext cx="804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AdvUG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70432" y="155448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LO2: Bounded vs Unbounded Ops  |  Adv. Undergraduate Track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70432" y="438912"/>
            <a:ext cx="6949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8600" y="786384"/>
            <a:ext cx="5074920" cy="26060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6868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EXPLANATION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106424"/>
            <a:ext cx="481888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Theorem: A linear map Â: ℋ → ℋ is bounded iff it is continuous.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(→): If ‖Â‖ ≤ M, then ‖Â|ψ⟩ − Â|φ⟩‖ = ‖Â(|ψ⟩−|φ⟩)‖ ≤ M‖|ψ⟩−|φ⟩‖ → 0.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(←): By contradiction — assume ‖Â|ψₙ⟩‖ ≥ n‖|ψₙ⟩‖. Normalise to get a contradiction with continuity.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Hellinger–Toeplitz: if Â is everywhere defined and Hermitian, then Â is bounded.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x̂ and p̂ (unbounded) CANNOT be defined on all of L²(ℝ).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3474720"/>
            <a:ext cx="5074920" cy="658368"/>
          </a:xfrm>
          <a:prstGeom prst="rect">
            <a:avLst/>
          </a:prstGeom>
          <a:solidFill>
            <a:srgbClr val="0A162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" y="3566160"/>
            <a:ext cx="48188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Bounded ⟺ continuous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 via ε-δ argument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Hellinger–Toeplitz theorem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4206240"/>
            <a:ext cx="5074920" cy="86868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" y="4288536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/ SUMMARY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65760" y="4526280"/>
            <a:ext cx="48188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Hellinger–Toeplitz theorem shows that genuine physical observables (x̂, p̂, Ĥ) must have restricted domains.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786384"/>
            <a:ext cx="3383280" cy="4288536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0" y="84124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 ⟺  Continuous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596128" y="1106424"/>
            <a:ext cx="1285646" cy="1200790"/>
          </a:xfrm>
          <a:prstGeom prst="roundRect">
            <a:avLst>
              <a:gd name="adj" fmla="val 4569"/>
            </a:avLst>
          </a:prstGeom>
          <a:solidFill>
            <a:srgbClr val="0A2540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96128" y="1106424"/>
            <a:ext cx="1285646" cy="12007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‖Â|ψ⟩‖ ≤ M‖|ψ⟩‖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all |ψ⟩ ∈ ℋ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474306" y="1106424"/>
            <a:ext cx="1285646" cy="1200790"/>
          </a:xfrm>
          <a:prstGeom prst="roundRect">
            <a:avLst>
              <a:gd name="adj" fmla="val 4569"/>
            </a:avLst>
          </a:prstGeom>
          <a:solidFill>
            <a:srgbClr val="0A2530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74306" y="1106424"/>
            <a:ext cx="1285646" cy="12007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|ψₙ⟩→|ψ⟩ ⟹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Â|ψₙ⟩→Â|ψ⟩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918350" y="1706819"/>
            <a:ext cx="519379" cy="0"/>
          </a:xfrm>
          <a:prstGeom prst="line">
            <a:avLst/>
          </a:prstGeom>
          <a:noFill/>
          <a:ln w="19050">
            <a:solidFill>
              <a:srgbClr val="F4A26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437730" y="1743395"/>
            <a:ext cx="-519379" cy="0"/>
          </a:xfrm>
          <a:prstGeom prst="line">
            <a:avLst/>
          </a:prstGeom>
          <a:noFill/>
          <a:ln w="19050">
            <a:solidFill>
              <a:srgbClr val="F4A261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6918350" y="1560515"/>
            <a:ext cx="51937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⟺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596128" y="3554090"/>
            <a:ext cx="1285646" cy="1200790"/>
          </a:xfrm>
          <a:prstGeom prst="roundRect">
            <a:avLst>
              <a:gd name="adj" fmla="val 3046"/>
            </a:avLst>
          </a:prstGeom>
          <a:solidFill>
            <a:srgbClr val="0A1520"/>
          </a:solidFill>
          <a:ln w="12700">
            <a:solidFill>
              <a:srgbClr val="3A6A9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96128" y="3554090"/>
            <a:ext cx="1285646" cy="12007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ABA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proof: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7ABA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ε-δ argument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7ABA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‖Â(|ψ⟩-|φ⟩)‖≤M‖|ψ⟩-|φ⟩‖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474306" y="3554090"/>
            <a:ext cx="1285646" cy="1200790"/>
          </a:xfrm>
          <a:prstGeom prst="roundRect">
            <a:avLst>
              <a:gd name="adj" fmla="val 3046"/>
            </a:avLst>
          </a:prstGeom>
          <a:solidFill>
            <a:srgbClr val="0A1520"/>
          </a:solidFill>
          <a:ln w="12700">
            <a:solidFill>
              <a:srgbClr val="3A6A9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74306" y="3554090"/>
            <a:ext cx="1285646" cy="12007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ABA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⟸ proof: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7ABA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 via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7ABA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unbounded sequence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74320" y="4892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858000" y="4892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LO2 · AdvUG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A1422"/>
          </a:solidFill>
          <a:ln w="12700">
            <a:solidFill>
              <a:srgbClr val="0A14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55448"/>
            <a:ext cx="804672" cy="384048"/>
          </a:xfrm>
          <a:prstGeom prst="roundRect">
            <a:avLst>
              <a:gd name="adj" fmla="val 11905"/>
            </a:avLst>
          </a:prstGeom>
          <a:solidFill>
            <a:srgbClr val="9B72CF"/>
          </a:solidFill>
          <a:ln w="12700">
            <a:solidFill>
              <a:srgbClr val="9B72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55448"/>
            <a:ext cx="804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70432" y="155448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LO2: Bounded vs Unbounded Ops  |  Master's Track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70432" y="438912"/>
            <a:ext cx="6949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8600" y="786384"/>
            <a:ext cx="5074920" cy="26060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6868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B7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EXPLANATION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106424"/>
            <a:ext cx="481888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norm ‖Â‖ = sup{‖Â|ψ⟩‖ : ‖|ψ⟩‖=1} makes B(ℋ) into a Banach algebra.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 radius formula: r(Â) = lim_{n→∞} ‖Âⁿ‖^{1/n} = sup{|λ| : λ ∈ σ(Â)}.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self-adjoint Â: ‖Â‖ = r(Â) = sup{|λ| : λ ∈ σ(Â)} (norm = spectral radius).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operators: a special class — limits of finite-rank operators; spectrum is discrete (except 0).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Hilbert–Schmidt operators: ‖Â‖_HS = (Tr Â†Â)^½ &lt; ∞; a subset of compact operators.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3474720"/>
            <a:ext cx="5074920" cy="658368"/>
          </a:xfrm>
          <a:prstGeom prst="rect">
            <a:avLst/>
          </a:prstGeom>
          <a:solidFill>
            <a:srgbClr val="0A162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" y="3566160"/>
            <a:ext cx="48188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r(Â) = lim ‖Âⁿ‖^{1/n}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Self-adjoint: ‖Â‖ = r(Â)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‖Â‖_HS = √Tr(Â†Â)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4206240"/>
            <a:ext cx="5074920" cy="86868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" y="4288536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/ SUMMARY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65760" y="4526280"/>
            <a:ext cx="48188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Hermitian Â: the operator norm equals the spectral radius, which equals the largest |eigenvalue|.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786384"/>
            <a:ext cx="3383280" cy="4288536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0" y="84124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‖x̂‖ on L²([−N,N]) = 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760720" y="4572000"/>
            <a:ext cx="2971800" cy="0"/>
          </a:xfrm>
          <a:prstGeom prst="line">
            <a:avLst/>
          </a:prstGeom>
          <a:noFill/>
          <a:ln w="15240">
            <a:solidFill>
              <a:srgbClr val="4A7A9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760720" y="4572000"/>
            <a:ext cx="0" cy="-3465576"/>
          </a:xfrm>
          <a:prstGeom prst="line">
            <a:avLst/>
          </a:prstGeom>
          <a:noFill/>
          <a:ln w="15240">
            <a:solidFill>
              <a:srgbClr val="4A7A9A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8769096" y="4498848"/>
            <a:ext cx="137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486400" y="1069848"/>
            <a:ext cx="274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‖x̂‖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760720" y="4572000"/>
            <a:ext cx="2615184" cy="-3049707"/>
          </a:xfrm>
          <a:prstGeom prst="line">
            <a:avLst/>
          </a:prstGeom>
          <a:noFill/>
          <a:ln w="25400">
            <a:solidFill>
              <a:srgbClr val="E07B6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75904" y="1522293"/>
            <a:ext cx="297180" cy="-346558"/>
          </a:xfrm>
          <a:prstGeom prst="line">
            <a:avLst/>
          </a:prstGeom>
          <a:noFill/>
          <a:ln w="25400">
            <a:solidFill>
              <a:srgbClr val="E07B6A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7246620" y="1972818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07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∞ as N→∞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07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(unbounded on L²(ℝ)!)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6355080" y="4535424"/>
            <a:ext cx="0" cy="73152"/>
          </a:xfrm>
          <a:prstGeom prst="line">
            <a:avLst/>
          </a:prstGeom>
          <a:noFill/>
          <a:ln w="12700">
            <a:solidFill>
              <a:srgbClr val="4A7A9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81928" y="4608576"/>
            <a:ext cx="14630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6949440" y="4535424"/>
            <a:ext cx="0" cy="73152"/>
          </a:xfrm>
          <a:prstGeom prst="line">
            <a:avLst/>
          </a:prstGeom>
          <a:noFill/>
          <a:ln w="12700">
            <a:solidFill>
              <a:srgbClr val="4A7A9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76288" y="4608576"/>
            <a:ext cx="14630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7543800" y="4535424"/>
            <a:ext cx="0" cy="73152"/>
          </a:xfrm>
          <a:prstGeom prst="line">
            <a:avLst/>
          </a:prstGeom>
          <a:noFill/>
          <a:ln w="12700">
            <a:solidFill>
              <a:srgbClr val="4A7A9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70648" y="4608576"/>
            <a:ext cx="14630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8138160" y="4535424"/>
            <a:ext cx="0" cy="73152"/>
          </a:xfrm>
          <a:prstGeom prst="line">
            <a:avLst/>
          </a:prstGeom>
          <a:noFill/>
          <a:ln w="12700">
            <a:solidFill>
              <a:srgbClr val="4A7A9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65008" y="4608576"/>
            <a:ext cx="14630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5724144" y="3878885"/>
            <a:ext cx="73152" cy="0"/>
          </a:xfrm>
          <a:prstGeom prst="line">
            <a:avLst/>
          </a:prstGeom>
          <a:noFill/>
          <a:ln w="12700">
            <a:solidFill>
              <a:srgbClr val="4A7A9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3805733"/>
            <a:ext cx="14630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5724144" y="3185770"/>
            <a:ext cx="73152" cy="0"/>
          </a:xfrm>
          <a:prstGeom prst="line">
            <a:avLst/>
          </a:prstGeom>
          <a:noFill/>
          <a:ln w="12700">
            <a:solidFill>
              <a:srgbClr val="4A7A9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77840" y="3112618"/>
            <a:ext cx="14630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5724144" y="2492654"/>
            <a:ext cx="73152" cy="0"/>
          </a:xfrm>
          <a:prstGeom prst="line">
            <a:avLst/>
          </a:prstGeom>
          <a:noFill/>
          <a:ln w="12700">
            <a:solidFill>
              <a:srgbClr val="4A7A9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77840" y="2419502"/>
            <a:ext cx="14630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5724144" y="1799539"/>
            <a:ext cx="73152" cy="0"/>
          </a:xfrm>
          <a:prstGeom prst="line">
            <a:avLst/>
          </a:prstGeom>
          <a:noFill/>
          <a:ln w="12700">
            <a:solidFill>
              <a:srgbClr val="4A7A9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77840" y="1726387"/>
            <a:ext cx="14630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577840" y="4754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finite interval → bounded; ℝ → unbounded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274320" y="4892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58000" y="4892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LO2 · MSc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A1422"/>
          </a:solidFill>
          <a:ln w="12700">
            <a:solidFill>
              <a:srgbClr val="0A14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55448"/>
            <a:ext cx="804672" cy="384048"/>
          </a:xfrm>
          <a:prstGeom prst="roundRect">
            <a:avLst>
              <a:gd name="adj" fmla="val 11905"/>
            </a:avLst>
          </a:prstGeom>
          <a:solidFill>
            <a:srgbClr val="E07B6A"/>
          </a:solidFill>
          <a:ln w="12700">
            <a:solidFill>
              <a:srgbClr val="E07B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55448"/>
            <a:ext cx="804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70432" y="155448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LO2: Bounded vs Unbounded Ops  |  PhD Track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70432" y="438912"/>
            <a:ext cx="6949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8600" y="786384"/>
            <a:ext cx="5074920" cy="26060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6868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07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EXPLANATION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106424"/>
            <a:ext cx="481888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Unbounded operators require careful domain specification. Key example: p̂ = −iℏd/dx on L²([0,1]).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Deficiency indices (n₊, n₋): count dimensions of ker(Â* ∓ i).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Self-adjoint extensions exist iff n₊ = n₋.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p̂ on L²([0,1]): n₊ = n₋ = 1 → one-parameter family of s.a. extensions p̂_θ with boundary conditions ψ(1) = e^{iθ}ψ(0).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θ give different physics (different spectra)!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3474720"/>
            <a:ext cx="5074920" cy="658368"/>
          </a:xfrm>
          <a:prstGeom prst="rect">
            <a:avLst/>
          </a:prstGeom>
          <a:solidFill>
            <a:srgbClr val="0A162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" y="3566160"/>
            <a:ext cx="48188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n± = dim ker(Â*∓i)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s.a. extension iff n₊ = n₋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p̂_θ: ψ(1) = e^{iθ}ψ(0)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4206240"/>
            <a:ext cx="5074920" cy="86868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" y="4288536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/ SUMMARY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65760" y="4526280"/>
            <a:ext cx="48188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Neumann deficiency index theorem: the space of s.a. extensions is parametrised by U(n₊) when n₊ = n₋ = n.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786384"/>
            <a:ext cx="3383280" cy="4288536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0" y="84124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Spectrum of Unbounded Operators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977250" y="1712708"/>
            <a:ext cx="2401580" cy="1921264"/>
          </a:xfrm>
          <a:prstGeom prst="ellipse">
            <a:avLst/>
          </a:prstGeom>
          <a:solidFill>
            <a:srgbClr val="0A1628">
              <a:alpha val="80000"/>
            </a:srgbClr>
          </a:solidFill>
          <a:ln w="12700">
            <a:solidFill>
              <a:srgbClr val="2A5A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67522" y="2673340"/>
            <a:ext cx="2621036" cy="0"/>
          </a:xfrm>
          <a:prstGeom prst="line">
            <a:avLst/>
          </a:prstGeom>
          <a:noFill/>
          <a:ln w="15240">
            <a:solidFill>
              <a:srgbClr val="3A6A8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178040" y="3694011"/>
            <a:ext cx="0" cy="-2151071"/>
          </a:xfrm>
          <a:prstGeom prst="line">
            <a:avLst/>
          </a:prstGeom>
          <a:noFill/>
          <a:ln w="15240">
            <a:solidFill>
              <a:srgbClr val="3A6A8A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8506846" y="2581900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8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068312" y="1451500"/>
            <a:ext cx="201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8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267751" y="2627620"/>
            <a:ext cx="91440" cy="9144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08107" y="2627620"/>
            <a:ext cx="91440" cy="9144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564604" y="2627620"/>
            <a:ext cx="91440" cy="9144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56260" y="2627620"/>
            <a:ext cx="91440" cy="9144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17408" y="3033577"/>
            <a:ext cx="1921264" cy="0"/>
          </a:xfrm>
          <a:prstGeom prst="line">
            <a:avLst/>
          </a:prstGeom>
          <a:noFill/>
          <a:ln w="25400">
            <a:solidFill>
              <a:srgbClr val="F4A2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0" y="4462272"/>
            <a:ext cx="109728" cy="10972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15584" y="4416552"/>
            <a:ext cx="29809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σₚ(A): point spectrum (eigenvalues)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5669280" y="4736592"/>
            <a:ext cx="274320" cy="0"/>
          </a:xfrm>
          <a:prstGeom prst="line">
            <a:avLst/>
          </a:prstGeom>
          <a:noFill/>
          <a:ln w="25400">
            <a:solidFill>
              <a:srgbClr val="F4A26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98464" y="4645152"/>
            <a:ext cx="2798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σ_c(A): continuous spectrum (x̂, p̂)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669280" y="4937760"/>
            <a:ext cx="274320" cy="0"/>
          </a:xfrm>
          <a:prstGeom prst="line">
            <a:avLst/>
          </a:prstGeom>
          <a:noFill/>
          <a:ln w="25400">
            <a:solidFill>
              <a:srgbClr val="E07B6A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5998464" y="4855464"/>
            <a:ext cx="2798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E07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σ_r(A): residual spectrum (rare)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274320" y="4892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858000" y="4892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LO2 · PhD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9144000" cy="1554480"/>
          </a:xfrm>
          <a:prstGeom prst="rect">
            <a:avLst/>
          </a:prstGeom>
          <a:solidFill>
            <a:srgbClr val="162236"/>
          </a:solidFill>
          <a:ln w="12700">
            <a:solidFill>
              <a:srgbClr val="16223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30428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 3: The Adjoint Operator Â†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971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slides — one per tier (HS / BegUG / AdvUG / MSc / PhD)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A1422"/>
          </a:solidFill>
          <a:ln w="12700">
            <a:solidFill>
              <a:srgbClr val="0A14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55448"/>
            <a:ext cx="804672" cy="384048"/>
          </a:xfrm>
          <a:prstGeom prst="roundRect">
            <a:avLst>
              <a:gd name="adj" fmla="val 11905"/>
            </a:avLst>
          </a:prstGeom>
          <a:solidFill>
            <a:srgbClr val="F4C430"/>
          </a:solidFill>
          <a:ln w="12700">
            <a:solidFill>
              <a:srgbClr val="F4C4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55448"/>
            <a:ext cx="804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70432" y="155448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LO3: The Adjoint Operator Â†  |  High School Track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70432" y="438912"/>
            <a:ext cx="6949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8600" y="786384"/>
            <a:ext cx="5074920" cy="26060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6868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C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EXPLANATION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106424"/>
            <a:ext cx="481888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adjoint A† is the 'mirror image' of A in the inner product.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matrices: A† = conjugate transpose = take transpose, then complex conjugate each entry.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(A†)ᵢⱼ = (A)ⱼᵢ* (swap row↔col, take complex conjugate).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σ₊ = [[0,1],[0,0]] raises spin. σ₊† = σ₋ = [[0,0],[1,0]] lowers spin.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adjoint reverses the action: where A raises, A† lowers.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3474720"/>
            <a:ext cx="5074920" cy="658368"/>
          </a:xfrm>
          <a:prstGeom prst="rect">
            <a:avLst/>
          </a:prstGeom>
          <a:solidFill>
            <a:srgbClr val="0A162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" y="3566160"/>
            <a:ext cx="48188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(A†)ᵢⱼ = (A)ⱼᵢ*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(A†)† = A  (involution)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σ₊† = σ₋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4206240"/>
            <a:ext cx="5074920" cy="86868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" y="4288536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/ SUMMARY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65760" y="4526280"/>
            <a:ext cx="48188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compute [[1+i, 2],[3, 4−i]]†. Answer: [[1−i, 3],[2, 4+i]].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786384"/>
            <a:ext cx="3383280" cy="4288536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0" y="84124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Computing the Adjoint A†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669280" y="1289304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16752" y="1106424"/>
            <a:ext cx="0" cy="640080"/>
          </a:xfrm>
          <a:prstGeom prst="line">
            <a:avLst/>
          </a:prstGeom>
          <a:noFill/>
          <a:ln w="19050">
            <a:solidFill>
              <a:srgbClr val="B0C4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39712" y="1106424"/>
            <a:ext cx="0" cy="640080"/>
          </a:xfrm>
          <a:prstGeom prst="line">
            <a:avLst/>
          </a:prstGeom>
          <a:noFill/>
          <a:ln w="19050">
            <a:solidFill>
              <a:srgbClr val="B0C4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71616" y="1152144"/>
            <a:ext cx="74980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76288" y="1426464"/>
            <a:ext cx="530352" cy="0"/>
          </a:xfrm>
          <a:prstGeom prst="line">
            <a:avLst/>
          </a:prstGeom>
          <a:noFill/>
          <a:ln w="19050">
            <a:solidFill>
              <a:srgbClr val="F4A261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7424928" y="1106424"/>
            <a:ext cx="868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Transpose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(swap rows↔cols)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8339328" y="1106424"/>
            <a:ext cx="0" cy="640080"/>
          </a:xfrm>
          <a:prstGeom prst="line">
            <a:avLst/>
          </a:prstGeom>
          <a:noFill/>
          <a:ln w="19050">
            <a:solidFill>
              <a:srgbClr val="B0C4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62288" y="1106424"/>
            <a:ext cx="0" cy="640080"/>
          </a:xfrm>
          <a:prstGeom prst="line">
            <a:avLst/>
          </a:prstGeom>
          <a:noFill/>
          <a:ln w="19050">
            <a:solidFill>
              <a:srgbClr val="B0C4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94192" y="1152144"/>
            <a:ext cx="74980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750808" y="1993392"/>
            <a:ext cx="0" cy="146304"/>
          </a:xfrm>
          <a:prstGeom prst="line">
            <a:avLst/>
          </a:prstGeom>
          <a:noFill/>
          <a:ln w="19050">
            <a:solidFill>
              <a:srgbClr val="2ECC71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5998464" y="1993392"/>
            <a:ext cx="2926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Complex Conjugate (z → z*)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5669280" y="2194560"/>
            <a:ext cx="411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A† =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08192" y="2157984"/>
            <a:ext cx="0" cy="64008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1152" y="2157984"/>
            <a:ext cx="0" cy="64008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63056" y="2203704"/>
            <a:ext cx="74980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 c*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b*  d*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302752" y="2176272"/>
            <a:ext cx="548640" cy="530352"/>
          </a:xfrm>
          <a:prstGeom prst="rect">
            <a:avLst/>
          </a:prstGeom>
          <a:solidFill>
            <a:srgbClr val="0A162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39328" y="219456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(A†)ᵢⱼ = (A)ⱼᵢ*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8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(conjugate transpose)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74320" y="4892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858000" y="4892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LO3 · HS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A1422"/>
          </a:solidFill>
          <a:ln w="12700">
            <a:solidFill>
              <a:srgbClr val="0A14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55448"/>
            <a:ext cx="804672" cy="384048"/>
          </a:xfrm>
          <a:prstGeom prst="roundRect">
            <a:avLst>
              <a:gd name="adj" fmla="val 11905"/>
            </a:avLst>
          </a:prstGeom>
          <a:solidFill>
            <a:srgbClr val="4CAF7D"/>
          </a:solidFill>
          <a:ln w="12700">
            <a:solidFill>
              <a:srgbClr val="4CAF7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55448"/>
            <a:ext cx="804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BegUG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70432" y="155448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LO3: The Adjoint Operator Â†  |  Beg. Undergraduate Track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70432" y="438912"/>
            <a:ext cx="6949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8600" y="786384"/>
            <a:ext cx="5074920" cy="26060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6868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4CAF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EXPLANATION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106424"/>
            <a:ext cx="481888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Definition: A† is the unique operator satisfying ⟨φ|Aψ⟩ = ⟨A†φ|ψ⟩ for all |φ⟩, |ψ⟩.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n×n matrices: (A†)ᵢⱼ = (A)ⱼᵢ* (conjugate transpose).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properties: (i) (A†)† = A; (ii) (AB)† = B†A† (reversal!); (iii) (αA)† = α*A†.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Hermitian: A = A† (real eigenvalues — observables). Anti-Hermitian: A = −A†.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Pauli matrices σₓ, σᵧ, σᵤ are all Hermitian: σᵢ† = σᵢ.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3474720"/>
            <a:ext cx="5074920" cy="658368"/>
          </a:xfrm>
          <a:prstGeom prst="rect">
            <a:avLst/>
          </a:prstGeom>
          <a:solidFill>
            <a:srgbClr val="0A162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" y="3566160"/>
            <a:ext cx="48188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⟨φ|Aψ⟩ = ⟨A†φ|ψ⟩  (definition)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(AB)† = B†A†  (reversal)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σᵢ† = σᵢ  (Hermitian)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4206240"/>
            <a:ext cx="5074920" cy="86868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" y="4288536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/ SUMMARY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65760" y="4526280"/>
            <a:ext cx="48188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(AB)† = B†A†: ⟨φ|(AB)ψ⟩ = ⟨A†φ|Bψ⟩ = ⟨B†A†φ|ψ⟩ by applying adjoint definition twice.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786384"/>
            <a:ext cx="3383280" cy="4288536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0" y="84124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Adjoint via Inner Product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577840" y="1472184"/>
            <a:ext cx="1531620" cy="594360"/>
          </a:xfrm>
          <a:prstGeom prst="roundRect">
            <a:avLst>
              <a:gd name="adj" fmla="val 9231"/>
            </a:avLst>
          </a:prstGeom>
          <a:solidFill>
            <a:srgbClr val="0A2040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77840" y="1472184"/>
            <a:ext cx="15316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⟨φ | Â | ψ⟩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127748" y="1609344"/>
            <a:ext cx="182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338060" y="1472184"/>
            <a:ext cx="1531620" cy="594360"/>
          </a:xfrm>
          <a:prstGeom prst="roundRect">
            <a:avLst>
              <a:gd name="adj" fmla="val 9231"/>
            </a:avLst>
          </a:prstGeom>
          <a:solidFill>
            <a:srgbClr val="0A4020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38060" y="1472184"/>
            <a:ext cx="15316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⟨Â†φ | ψ⟩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79692" y="2066544"/>
            <a:ext cx="0" cy="274320"/>
          </a:xfrm>
          <a:prstGeom prst="line">
            <a:avLst/>
          </a:prstGeom>
          <a:noFill/>
          <a:ln w="15240">
            <a:solidFill>
              <a:srgbClr val="00B4D8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6037326" y="2075688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 acts on |ψ⟩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(right side)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916418" y="2066544"/>
            <a:ext cx="0" cy="274320"/>
          </a:xfrm>
          <a:prstGeom prst="line">
            <a:avLst/>
          </a:prstGeom>
          <a:noFill/>
          <a:ln w="15240">
            <a:solidFill>
              <a:srgbClr val="2ECC71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7338060" y="2075688"/>
            <a:ext cx="15316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Â† acts on ⟨φ|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(left side)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5577840" y="4114800"/>
            <a:ext cx="3200400" cy="777240"/>
          </a:xfrm>
          <a:prstGeom prst="rect">
            <a:avLst/>
          </a:prstGeom>
          <a:solidFill>
            <a:srgbClr val="0A1628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14416" y="4151376"/>
            <a:ext cx="3127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= σ₊ = [[0,1],[0,0]]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614416" y="4352544"/>
            <a:ext cx="3127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A† = [[0,0],[1,0]] = σ₋  (lowering operator)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614416" y="4553712"/>
            <a:ext cx="3127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⟨φ|σ₊ψ⟩ = ⟨σ₋φ|ψ⟩  ✓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614416" y="4709160"/>
            <a:ext cx="3127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∴ (σ₊)† = σ₋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274320" y="4892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858000" y="4892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LO3 · BegUG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A1422"/>
          </a:solidFill>
          <a:ln w="12700">
            <a:solidFill>
              <a:srgbClr val="0A14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55448"/>
            <a:ext cx="804672" cy="384048"/>
          </a:xfrm>
          <a:prstGeom prst="roundRect">
            <a:avLst>
              <a:gd name="adj" fmla="val 11905"/>
            </a:avLst>
          </a:prstGeom>
          <a:solidFill>
            <a:srgbClr val="5B9BD5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55448"/>
            <a:ext cx="804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AdvUG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70432" y="155448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LO3: The Adjoint Operator Â†  |  Adv. Undergraduate Track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70432" y="438912"/>
            <a:ext cx="6949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8600" y="786384"/>
            <a:ext cx="5074920" cy="26060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6868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EXPLANATION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106424"/>
            <a:ext cx="481888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Uniqueness of adjoint: if A† and Ã both satisfy ⟨φ|Aψ⟩ = ⟨A†φ|ψ⟩ = ⟨Ãφ|ψ⟩, then ⟨(A†−Ã)φ|ψ⟩ = 0 for all |ψ⟩, so A† = Ã.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(A†)† = A: ⟨φ|(A†)†ψ⟩ = ⟨(A†)φ|ψ⟩* by anti-linearity ... (show details).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Decomposition: A = (A+A†)/2 + (A−A†)/2 = A_H + A_AH (unique, A_H Hermitian, A_AH anti-Hermitian).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= A†, all eigenvalues real and eigenvectors orthogonal (proved in L03).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3474720"/>
            <a:ext cx="5074920" cy="658368"/>
          </a:xfrm>
          <a:prstGeom prst="rect">
            <a:avLst/>
          </a:prstGeom>
          <a:solidFill>
            <a:srgbClr val="0A162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" y="3566160"/>
            <a:ext cx="48188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Uniqueness: ⟨(A†−Ã)φ|ψ⟩=0 ⟹ A†=Ã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A_H + A_AH (unique decomp.)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A_H = (A+A†)/2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4206240"/>
            <a:ext cx="5074920" cy="86868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" y="4288536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/ SUMMARY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65760" y="4526280"/>
            <a:ext cx="48188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A = [[1+i, 2],[3, 4−i]] into A_H and A_AH. Verify A_H = A_H†, A_AH = −A_AH†.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786384"/>
            <a:ext cx="3383280" cy="4288536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0" y="84124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Adjoint Properties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596128" y="1106424"/>
            <a:ext cx="3163824" cy="1143000"/>
          </a:xfrm>
          <a:prstGeom prst="roundRect">
            <a:avLst>
              <a:gd name="adj" fmla="val 4800"/>
            </a:avLst>
          </a:prstGeom>
          <a:solidFill>
            <a:srgbClr val="0A1525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50992" y="116128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(A†)† = 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50992" y="1435608"/>
            <a:ext cx="303580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definition twice: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⟨φ|(A†)†ψ⟩ = ⟨A†φ|ψ⟩* ... = ⟨Aφ|ψ⟩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(A†)† = A  □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596128" y="2368296"/>
            <a:ext cx="3163824" cy="1143000"/>
          </a:xfrm>
          <a:prstGeom prst="roundRect">
            <a:avLst>
              <a:gd name="adj" fmla="val 4800"/>
            </a:avLst>
          </a:prstGeom>
          <a:solidFill>
            <a:srgbClr val="0A1525"/>
          </a:solidFill>
          <a:ln w="19050">
            <a:solidFill>
              <a:srgbClr val="F4A2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50992" y="242316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(AB)† = B†A†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50992" y="2697480"/>
            <a:ext cx="303580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⟨φ|(AB)ψ⟩ = ⟨A†φ|Bψ⟩ = ⟨B†A†φ|ψ⟩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reverses!  □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596128" y="3630168"/>
            <a:ext cx="3163824" cy="1143000"/>
          </a:xfrm>
          <a:prstGeom prst="roundRect">
            <a:avLst>
              <a:gd name="adj" fmla="val 4800"/>
            </a:avLst>
          </a:prstGeom>
          <a:solidFill>
            <a:srgbClr val="0A1525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50992" y="368503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‖A‖ = ‖A†‖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50992" y="3959352"/>
            <a:ext cx="303580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from ‖A‖² = ‖A†A‖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‖A†A‖ = ‖AA†‖ for bounded A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" y="4892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858000" y="4892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LO3 · AdvUG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A1422"/>
          </a:solidFill>
          <a:ln w="12700">
            <a:solidFill>
              <a:srgbClr val="0A14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55448"/>
            <a:ext cx="804672" cy="384048"/>
          </a:xfrm>
          <a:prstGeom prst="roundRect">
            <a:avLst>
              <a:gd name="adj" fmla="val 11905"/>
            </a:avLst>
          </a:prstGeom>
          <a:solidFill>
            <a:srgbClr val="9B72CF"/>
          </a:solidFill>
          <a:ln w="12700">
            <a:solidFill>
              <a:srgbClr val="9B72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55448"/>
            <a:ext cx="804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70432" y="155448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LO3: The Adjoint Operator Â†  |  Master's Track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70432" y="438912"/>
            <a:ext cx="6949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8600" y="786384"/>
            <a:ext cx="5074920" cy="26060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6868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B7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EXPLANATION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106424"/>
            <a:ext cx="481888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bounded operators: Â† is the Hilbert space adjoint, related to the Banach adjoint by the Riesz map.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Riesz representation: every f ∈ ℋ* is of the form f = ⟨φ|·⟩ for a unique |φ⟩ ∈ ℋ.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Banach adjoint A*: Y* → X* defined by (A*g)(x) = g(Ax). Coincides with Hilbert adjoint via Riesz map.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unbounded operators: domain of A† may differ from domain of A (subtle distinction between symmetric and self-adjoint).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Criterion: Â is self-adjoint iff A = A† AND D(Â) = D(A†).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3474720"/>
            <a:ext cx="5074920" cy="658368"/>
          </a:xfrm>
          <a:prstGeom prst="rect">
            <a:avLst/>
          </a:prstGeom>
          <a:solidFill>
            <a:srgbClr val="0A162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" y="3566160"/>
            <a:ext cx="48188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Riesz: ℋ ≅ ℋ* (anti-linear iso)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Banach: (A*g)(x) = g(Ax)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D(Â) = D(A†) for self-adjoint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4206240"/>
            <a:ext cx="5074920" cy="86868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" y="4288536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/ SUMMARY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65760" y="4526280"/>
            <a:ext cx="48188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Theorem: For bounded Â on ℋ, the Hilbert adjoint Â† exists uniquely and ‖Â†‖ = ‖Â‖.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786384"/>
            <a:ext cx="3383280" cy="4288536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0" y="84124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Riesz Representation and the Adjoint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596128" y="1115568"/>
            <a:ext cx="1531620" cy="457200"/>
          </a:xfrm>
          <a:prstGeom prst="roundRect">
            <a:avLst>
              <a:gd name="adj" fmla="val 12000"/>
            </a:avLst>
          </a:prstGeom>
          <a:solidFill>
            <a:srgbClr val="0A2040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96128" y="1115568"/>
            <a:ext cx="15316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ℋ  (ket space)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|φ⟩, |ψ⟩ ∈ ℋ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28332" y="1115568"/>
            <a:ext cx="1531620" cy="457200"/>
          </a:xfrm>
          <a:prstGeom prst="roundRect">
            <a:avLst>
              <a:gd name="adj" fmla="val 12000"/>
            </a:avLst>
          </a:prstGeom>
          <a:solidFill>
            <a:srgbClr val="0A4020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28332" y="1115568"/>
            <a:ext cx="15316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ℋ* (bra space)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⟨φ|, ⟨ψ| ∈ ℋ*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164324" y="1344168"/>
            <a:ext cx="45720" cy="0"/>
          </a:xfrm>
          <a:prstGeom prst="line">
            <a:avLst/>
          </a:prstGeom>
          <a:noFill/>
          <a:ln w="19050">
            <a:solidFill>
              <a:srgbClr val="F4A26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210044" y="1417320"/>
            <a:ext cx="-45720" cy="0"/>
          </a:xfrm>
          <a:prstGeom prst="line">
            <a:avLst/>
          </a:prstGeom>
          <a:noFill/>
          <a:ln w="19050">
            <a:solidFill>
              <a:srgbClr val="F4A261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7164324" y="1143000"/>
            <a:ext cx="1005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Riesz: |φ⟩ ↔ ⟨φ|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596128" y="1883664"/>
            <a:ext cx="1531620" cy="457200"/>
          </a:xfrm>
          <a:prstGeom prst="roundRect">
            <a:avLst>
              <a:gd name="adj" fmla="val 12000"/>
            </a:avLst>
          </a:prstGeom>
          <a:solidFill>
            <a:srgbClr val="1A2A40"/>
          </a:solidFill>
          <a:ln w="19050">
            <a:solidFill>
              <a:srgbClr val="5B9BD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96128" y="1883664"/>
            <a:ext cx="15316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Â: ℋ → ℋ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|ψ⟩ ↦ Â|ψ⟩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228332" y="1883664"/>
            <a:ext cx="1531620" cy="457200"/>
          </a:xfrm>
          <a:prstGeom prst="roundRect">
            <a:avLst>
              <a:gd name="adj" fmla="val 12000"/>
            </a:avLst>
          </a:prstGeom>
          <a:solidFill>
            <a:srgbClr val="1A4030"/>
          </a:solidFill>
          <a:ln w="19050">
            <a:solidFill>
              <a:srgbClr val="00897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28332" y="1883664"/>
            <a:ext cx="15316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Â†: ℋ → ℋ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⟨φ| ↦ ⟨φ|Â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164324" y="2112264"/>
            <a:ext cx="45720" cy="0"/>
          </a:xfrm>
          <a:prstGeom prst="line">
            <a:avLst/>
          </a:prstGeom>
          <a:noFill/>
          <a:ln w="19050">
            <a:solidFill>
              <a:srgbClr val="9B72CF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7164324" y="1929384"/>
            <a:ext cx="1005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B7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adjoint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596128" y="2706624"/>
            <a:ext cx="3163824" cy="658368"/>
          </a:xfrm>
          <a:prstGeom prst="rect">
            <a:avLst/>
          </a:prstGeom>
          <a:solidFill>
            <a:srgbClr val="0A162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32704" y="2752344"/>
            <a:ext cx="30906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Riesz Theorem: For every f ∈ ℋ*, ∃! |φ⟩ ∈ ℋ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C8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such that f(|ψ⟩) = ⟨φ|ψ⟩ for all |ψ⟩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C8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makes ℋ ≅ ℋ* (self-dual)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74320" y="4892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858000" y="4892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LO3 · MSc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A1422"/>
          </a:solidFill>
          <a:ln w="12700">
            <a:solidFill>
              <a:srgbClr val="0A14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55448"/>
            <a:ext cx="804672" cy="384048"/>
          </a:xfrm>
          <a:prstGeom prst="roundRect">
            <a:avLst>
              <a:gd name="adj" fmla="val 11905"/>
            </a:avLst>
          </a:prstGeom>
          <a:solidFill>
            <a:srgbClr val="E07B6A"/>
          </a:solidFill>
          <a:ln w="12700">
            <a:solidFill>
              <a:srgbClr val="E07B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55448"/>
            <a:ext cx="804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70432" y="155448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LO3: The Adjoint Operator Â†  |  PhD Track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70432" y="438912"/>
            <a:ext cx="6949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8600" y="786384"/>
            <a:ext cx="5074920" cy="26060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6868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07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EXPLANATION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106424"/>
            <a:ext cx="481888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Self-adjoint vs. Hermitian: for unbounded Â, 'Hermitian' (symmetric on dense domain) ≠ 'self-adjoint' (Â = Â† with D(Â) = D(A†)).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Neumann theory: self-adjoint extensions of symmetric operators classified by deficiency spaces N± = ker(Â* ∓ i).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p̂ = −iℏd/dx on L²([0,1]) with domain C∞_c(0,1): symmetric but not s.a. — n₊ = n₋ = 1.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Self-adjoint extensions p̂_θ: ψ(1) = e^{iθ}ψ(0), θ ∈ [0,2π).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Physical: different θ = different boundary conditions = different quantum mechanics!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3474720"/>
            <a:ext cx="5074920" cy="658368"/>
          </a:xfrm>
          <a:prstGeom prst="rect">
            <a:avLst/>
          </a:prstGeom>
          <a:solidFill>
            <a:srgbClr val="0A162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" y="3566160"/>
            <a:ext cx="48188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Symmetric: D(Â)⊂D(Â†), Â†|_{D}=Â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Self-adjoint: D(Â)=D(Â†)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n± = dim ker(Â*∓i)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4206240"/>
            <a:ext cx="5074920" cy="86868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" y="4288536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/ SUMMARY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65760" y="4526280"/>
            <a:ext cx="48188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Hellinger–Toeplitz: a symmetric operator with D(Â) = ℋ is automatically bounded. So all unbounded symmetric ops have proper domain.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786384"/>
            <a:ext cx="3383280" cy="4288536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0" y="84124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Issues for Unbounded Adjoints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50992" y="1133856"/>
            <a:ext cx="1082650" cy="475488"/>
          </a:xfrm>
          <a:prstGeom prst="roundRect">
            <a:avLst>
              <a:gd name="adj" fmla="val 11538"/>
            </a:avLst>
          </a:prstGeom>
          <a:solidFill>
            <a:srgbClr val="1A3050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50992" y="1133856"/>
            <a:ext cx="108265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D(Â) ⊊ ℋ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subset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446874" y="1133856"/>
            <a:ext cx="1285646" cy="475488"/>
          </a:xfrm>
          <a:prstGeom prst="roundRect">
            <a:avLst>
              <a:gd name="adj" fmla="val 11538"/>
            </a:avLst>
          </a:prstGeom>
          <a:solidFill>
            <a:srgbClr val="1A4030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46874" y="1133856"/>
            <a:ext cx="128564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D(Â†) ⊇ D(Â) ?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always!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770218" y="1371600"/>
            <a:ext cx="640080" cy="0"/>
          </a:xfrm>
          <a:prstGeom prst="line">
            <a:avLst/>
          </a:prstGeom>
          <a:noFill/>
          <a:ln w="19050">
            <a:solidFill>
              <a:srgbClr val="F4A261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6770218" y="1133856"/>
            <a:ext cx="67665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596128" y="1746504"/>
            <a:ext cx="3163824" cy="566928"/>
          </a:xfrm>
          <a:prstGeom prst="roundRect">
            <a:avLst>
              <a:gd name="adj" fmla="val 6452"/>
            </a:avLst>
          </a:prstGeom>
          <a:solidFill>
            <a:srgbClr val="0A1525"/>
          </a:solidFill>
          <a:ln w="15240">
            <a:solidFill>
              <a:srgbClr val="F4A2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50992" y="178308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Symmetric: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650992" y="1993392"/>
            <a:ext cx="3035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D(Â) ⊂ D(Â†) and Â†|_{D(A)} = Â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(but Â† ≠ Â — domains differ!)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596128" y="2386584"/>
            <a:ext cx="3163824" cy="566928"/>
          </a:xfrm>
          <a:prstGeom prst="roundRect">
            <a:avLst>
              <a:gd name="adj" fmla="val 6452"/>
            </a:avLst>
          </a:prstGeom>
          <a:solidFill>
            <a:srgbClr val="0A1525"/>
          </a:solidFill>
          <a:ln w="15240">
            <a:solidFill>
              <a:srgbClr val="2ECC7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50992" y="242316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Self-adjoint: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650992" y="2633472"/>
            <a:ext cx="3035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D(Â†) = D(Â) and Â† = Â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(observables require this!)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596128" y="3026664"/>
            <a:ext cx="3163824" cy="566928"/>
          </a:xfrm>
          <a:prstGeom prst="roundRect">
            <a:avLst>
              <a:gd name="adj" fmla="val 6452"/>
            </a:avLst>
          </a:prstGeom>
          <a:solidFill>
            <a:srgbClr val="0A1525"/>
          </a:solidFill>
          <a:ln w="15240">
            <a:solidFill>
              <a:srgbClr val="9B72C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50992" y="306324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9B7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Essentially self-adj.: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650992" y="3273552"/>
            <a:ext cx="3035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 has a unique s.a. extension = Â̄†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74320" y="4892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858000" y="4892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LO3 · PhD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9144000" cy="1554480"/>
          </a:xfrm>
          <a:prstGeom prst="rect">
            <a:avLst/>
          </a:prstGeom>
          <a:solidFill>
            <a:srgbClr val="162236"/>
          </a:solidFill>
          <a:ln w="12700">
            <a:solidFill>
              <a:srgbClr val="16223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30428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 4: Operator Classification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971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slides — one per tier (HS / BegUG / AdvUG / MSc / PhD)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A1422"/>
          </a:solidFill>
          <a:ln w="12700">
            <a:solidFill>
              <a:srgbClr val="0A14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55448"/>
            <a:ext cx="804672" cy="384048"/>
          </a:xfrm>
          <a:prstGeom prst="roundRect">
            <a:avLst>
              <a:gd name="adj" fmla="val 11905"/>
            </a:avLst>
          </a:prstGeom>
          <a:solidFill>
            <a:srgbClr val="F4C430"/>
          </a:solidFill>
          <a:ln w="12700">
            <a:solidFill>
              <a:srgbClr val="F4C4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55448"/>
            <a:ext cx="804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70432" y="155448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LO4: Operator Classification  |  High School Track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70432" y="438912"/>
            <a:ext cx="6949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8600" y="786384"/>
            <a:ext cx="5074920" cy="26060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6868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C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EXPLANATION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106424"/>
            <a:ext cx="481888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HERMITIAN operators (A = A†) always have REAL eigenvalues — perfect for measurement outcomes!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ANTI-HERMITIAN operators (A = −A†) have PURELY IMAGINARY eigenvalues.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UNITARY operators (AA† = 1̂) have eigenvalues ON THE UNIT CIRCLE |λ| = 1.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σ₃ (Hermitian, λ = ±1); iσ₃ (anti-Hermitian, λ = ±i); e^{iθ} (unitary, |e^{iθ}|=1).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type of eigenvalue tells you the physical role of the operator.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3474720"/>
            <a:ext cx="5074920" cy="658368"/>
          </a:xfrm>
          <a:prstGeom prst="rect">
            <a:avLst/>
          </a:prstGeom>
          <a:solidFill>
            <a:srgbClr val="0A162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" y="3566160"/>
            <a:ext cx="48188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Hermitian: λ ∈ ℝ  (observable)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Anti-Hermitian: λ ∈ iℝ  (generator)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Unitary: |λ| = 1  (symmetry)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4206240"/>
            <a:ext cx="5074920" cy="86868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" y="4288536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/ SUMMARY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65760" y="4526280"/>
            <a:ext cx="48188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classification: compute Aσ₂A† for A arbitrary. Does σ₂ = σ₂†? Eigenvalues: ±1 ∈ ℝ → Hermitian ✓.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786384"/>
            <a:ext cx="3383280" cy="4288536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0" y="84124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 Eigenvalues Live?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989320" y="2716225"/>
            <a:ext cx="2377440" cy="0"/>
          </a:xfrm>
          <a:prstGeom prst="line">
            <a:avLst/>
          </a:prstGeom>
          <a:noFill/>
          <a:ln w="19050">
            <a:solidFill>
              <a:srgbClr val="4A7A9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178040" y="3722065"/>
            <a:ext cx="0" cy="-2011680"/>
          </a:xfrm>
          <a:prstGeom prst="line">
            <a:avLst/>
          </a:prstGeom>
          <a:noFill/>
          <a:ln w="19050">
            <a:solidFill>
              <a:srgbClr val="4A7A9A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8385048" y="2624785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Re(λ)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040880" y="1618945"/>
            <a:ext cx="34747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Im(λ)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382512" y="2652217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39712" y="2652217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96912" y="2652217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54112" y="2652217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19872" y="2652217"/>
            <a:ext cx="128016" cy="12801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07608" y="2853385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Hermitian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A†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eigenvalues ∈ ℝ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114032" y="2012137"/>
            <a:ext cx="128016" cy="128016"/>
          </a:xfrm>
          <a:prstGeom prst="ellipse">
            <a:avLst/>
          </a:prstGeom>
          <a:solidFill>
            <a:srgbClr val="E07B6A"/>
          </a:solidFill>
          <a:ln w="12700">
            <a:solidFill>
              <a:srgbClr val="E07B6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114032" y="2423617"/>
            <a:ext cx="128016" cy="128016"/>
          </a:xfrm>
          <a:prstGeom prst="ellipse">
            <a:avLst/>
          </a:prstGeom>
          <a:solidFill>
            <a:srgbClr val="E07B6A"/>
          </a:solidFill>
          <a:ln w="12700">
            <a:solidFill>
              <a:srgbClr val="E07B6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14032" y="2972257"/>
            <a:ext cx="128016" cy="128016"/>
          </a:xfrm>
          <a:prstGeom prst="ellipse">
            <a:avLst/>
          </a:prstGeom>
          <a:solidFill>
            <a:srgbClr val="E07B6A"/>
          </a:solidFill>
          <a:ln w="12700">
            <a:solidFill>
              <a:srgbClr val="E07B6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114032" y="3338017"/>
            <a:ext cx="128016" cy="128016"/>
          </a:xfrm>
          <a:prstGeom prst="ellipse">
            <a:avLst/>
          </a:prstGeom>
          <a:solidFill>
            <a:srgbClr val="E07B6A"/>
          </a:solidFill>
          <a:ln w="12700">
            <a:solidFill>
              <a:srgbClr val="E07B6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0" y="1938985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7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Anti-Hermitian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E07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−A†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E07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eigenvalues ∈ iℝ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675120" y="2213305"/>
            <a:ext cx="1005840" cy="1005840"/>
          </a:xfrm>
          <a:prstGeom prst="ellipse">
            <a:avLst/>
          </a:prstGeom>
          <a:solidFill>
            <a:srgbClr val="0D1B2A">
              <a:alpha val="0"/>
            </a:srgbClr>
          </a:solidFill>
          <a:ln w="19050">
            <a:solidFill>
              <a:srgbClr val="F4A261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7580376" y="2002993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Unitary |λ|=1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274320" y="4892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858000" y="4892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LO4 · HS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A1422"/>
          </a:solidFill>
          <a:ln w="12700">
            <a:solidFill>
              <a:srgbClr val="0A14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55448"/>
            <a:ext cx="804672" cy="384048"/>
          </a:xfrm>
          <a:prstGeom prst="roundRect">
            <a:avLst>
              <a:gd name="adj" fmla="val 11905"/>
            </a:avLst>
          </a:prstGeom>
          <a:solidFill>
            <a:srgbClr val="4CAF7D"/>
          </a:solidFill>
          <a:ln w="12700">
            <a:solidFill>
              <a:srgbClr val="4CAF7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55448"/>
            <a:ext cx="804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BegUG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70432" y="155448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LO4: Operator Classification  |  Beg. Undergraduate Track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70432" y="438912"/>
            <a:ext cx="6949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8600" y="786384"/>
            <a:ext cx="5074920" cy="26060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6868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4CAF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EXPLANATION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106424"/>
            <a:ext cx="481888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of 2×2 operators: given A, compute A† = (A*)ᵀ, then check: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(i) A = A†? → HERMITIAN. Real eigenvalues, orthogonal eigenvectors.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(ii) A = −A†? → ANTI-HERMITIAN. Imaginary eigenvalues. i×(anti-Hermitian) = Hermitian.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(iii) AA† = A†A = 1̂? → UNITARY. Eigenvalues on unit circle, preserves inner products.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(iv) None of the above? → general complex operator.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operator decomposes: A = (A+A†)/2 + (A−A†)/2 (Hermitian + anti-Hermitian).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3474720"/>
            <a:ext cx="5074920" cy="658368"/>
          </a:xfrm>
          <a:prstGeom prst="rect">
            <a:avLst/>
          </a:prstGeom>
          <a:solidFill>
            <a:srgbClr val="0A162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" y="3566160"/>
            <a:ext cx="48188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A†  →  eigenvalues ∈ ℝ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−A†  →  eigenvalues ∈ iℝ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AA† = 1̂  →  |eigenvalues| = 1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4206240"/>
            <a:ext cx="5074920" cy="86868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" y="4288536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/ SUMMARY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65760" y="4526280"/>
            <a:ext cx="48188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Classify: σ₁ (Hermitian), iσ₁ (anti-Hermitian), e^{iθσ₁} (unitary). Verify each classification.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786384"/>
            <a:ext cx="3383280" cy="4288536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0" y="84124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Decision Tree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247638" y="1078992"/>
            <a:ext cx="1860804" cy="365760"/>
          </a:xfrm>
          <a:prstGeom prst="roundRect">
            <a:avLst>
              <a:gd name="adj" fmla="val 20000"/>
            </a:avLst>
          </a:prstGeom>
          <a:solidFill>
            <a:srgbClr val="1A3A5A"/>
          </a:solidFill>
          <a:ln w="19050">
            <a:solidFill>
              <a:srgbClr val="5B9B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47638" y="1078992"/>
            <a:ext cx="18608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A†.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= A†?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247638" y="1444752"/>
            <a:ext cx="-182880" cy="320040"/>
          </a:xfrm>
          <a:prstGeom prst="line">
            <a:avLst/>
          </a:prstGeom>
          <a:noFill/>
          <a:ln w="19050">
            <a:solidFill>
              <a:srgbClr val="2ECC71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5744718" y="1490472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596128" y="1792224"/>
            <a:ext cx="1184148" cy="475488"/>
          </a:xfrm>
          <a:prstGeom prst="roundRect">
            <a:avLst>
              <a:gd name="adj" fmla="val 11538"/>
            </a:avLst>
          </a:prstGeom>
          <a:solidFill>
            <a:srgbClr val="0A3020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96128" y="1792224"/>
            <a:ext cx="11841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HERMITIAN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A†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eigenvalues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 ✓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8108442" y="1444752"/>
            <a:ext cx="137160" cy="320040"/>
          </a:xfrm>
          <a:prstGeom prst="line">
            <a:avLst/>
          </a:prstGeom>
          <a:noFill/>
          <a:ln w="19050">
            <a:solidFill>
              <a:srgbClr val="E07B6A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8145018" y="1481328"/>
            <a:ext cx="7498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7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→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E07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= −A†?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8181594" y="2148840"/>
            <a:ext cx="0" cy="365760"/>
          </a:xfrm>
          <a:prstGeom prst="line">
            <a:avLst/>
          </a:prstGeom>
          <a:noFill/>
          <a:ln w="19050">
            <a:solidFill>
              <a:srgbClr val="F4A261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8071866" y="2157984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035290" y="2542032"/>
            <a:ext cx="1116482" cy="475488"/>
          </a:xfrm>
          <a:prstGeom prst="roundRect">
            <a:avLst>
              <a:gd name="adj" fmla="val 11538"/>
            </a:avLst>
          </a:prstGeom>
          <a:solidFill>
            <a:srgbClr val="2A1A00"/>
          </a:solidFill>
          <a:ln w="19050">
            <a:solidFill>
              <a:srgbClr val="F4A2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35290" y="2542032"/>
            <a:ext cx="111648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ANTI-HERMITIAN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−A†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imaginary eigenvalues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 ✓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279788" y="2331720"/>
            <a:ext cx="0" cy="210312"/>
          </a:xfrm>
          <a:prstGeom prst="line">
            <a:avLst/>
          </a:prstGeom>
          <a:noFill/>
          <a:ln w="15240">
            <a:solidFill>
              <a:srgbClr val="7B8FA6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9256014" y="237744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23426" y="2542032"/>
            <a:ext cx="947318" cy="475488"/>
          </a:xfrm>
          <a:prstGeom prst="roundRect">
            <a:avLst>
              <a:gd name="adj" fmla="val 11538"/>
            </a:avLst>
          </a:prstGeom>
          <a:solidFill>
            <a:srgbClr val="1A1A1A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23426" y="2542032"/>
            <a:ext cx="94731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7A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eigenvalues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7A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observable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4320" y="4892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858000" y="4892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LO4 · BegUG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A1422"/>
          </a:solidFill>
          <a:ln w="12700">
            <a:solidFill>
              <a:srgbClr val="0A14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55448"/>
            <a:ext cx="804672" cy="384048"/>
          </a:xfrm>
          <a:prstGeom prst="roundRect">
            <a:avLst>
              <a:gd name="adj" fmla="val 11905"/>
            </a:avLst>
          </a:prstGeom>
          <a:solidFill>
            <a:srgbClr val="5B9BD5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55448"/>
            <a:ext cx="804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AdvUG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70432" y="155448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LO4: Operator Classification  |  Adv. Undergraduate Track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70432" y="438912"/>
            <a:ext cx="6949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8600" y="786384"/>
            <a:ext cx="5074920" cy="26060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6868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EXPLANATION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106424"/>
            <a:ext cx="481888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finite-dimensional operators, classification by spectrum and adjoint relation: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Hermitian A = A†: all λₙ ∈ ℝ, orthonormal eigenbasis, spectral theorem applies.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operators AA† = A†A: same as Hermitian but eigenvalues can be complex; still diagonalisable.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Unitaries form a group U(n) under composition; Hermitians form a real vector space.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Commutator: if A = A†, B = B†, then i[A,B] is Hermitian (key for quantum mechanics!).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3474720"/>
            <a:ext cx="5074920" cy="658368"/>
          </a:xfrm>
          <a:prstGeom prst="rect">
            <a:avLst/>
          </a:prstGeom>
          <a:solidFill>
            <a:srgbClr val="0A162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" y="3566160"/>
            <a:ext cx="48188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Normal: AA† = A†A  (diag'able)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i[A,B] Hermitian if A,B Hermitian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U(n) group, Herm = Lie algebra u(n)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4206240"/>
            <a:ext cx="5074920" cy="86868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" y="4288536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/ SUMMARY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65760" y="4526280"/>
            <a:ext cx="48188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Prove: if A = A†, B = B†, then i[A,B] = i(AB−BA) is Hermitian. [Check: (i[A,B])† = −i[A,B]† = i[A,B] ✓]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786384"/>
            <a:ext cx="3383280" cy="4288536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0" y="84124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Hermitian Decomposition of Any Operator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720840" y="1078992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1A3A5A"/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20840" y="10789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 (any operator)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995160" y="1536192"/>
            <a:ext cx="-640080" cy="36576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360920" y="1536192"/>
            <a:ext cx="640080" cy="365760"/>
          </a:xfrm>
          <a:prstGeom prst="line">
            <a:avLst/>
          </a:prstGeom>
          <a:noFill/>
          <a:ln w="19050">
            <a:solidFill>
              <a:srgbClr val="F4A261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596128" y="1929384"/>
            <a:ext cx="1420978" cy="594360"/>
          </a:xfrm>
          <a:prstGeom prst="roundRect">
            <a:avLst>
              <a:gd name="adj" fmla="val 9231"/>
            </a:avLst>
          </a:prstGeom>
          <a:solidFill>
            <a:srgbClr val="0A2A40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96128" y="1929384"/>
            <a:ext cx="142097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Â_H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(Hermitian part)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(Â + Â†) / 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086600" y="2139696"/>
            <a:ext cx="201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338974" y="1929384"/>
            <a:ext cx="1420978" cy="594360"/>
          </a:xfrm>
          <a:prstGeom prst="roundRect">
            <a:avLst>
              <a:gd name="adj" fmla="val 9231"/>
            </a:avLst>
          </a:prstGeom>
          <a:solidFill>
            <a:srgbClr val="2A1A00"/>
          </a:solidFill>
          <a:ln w="19050">
            <a:solidFill>
              <a:srgbClr val="F4A2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38974" y="1929384"/>
            <a:ext cx="142097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Â_AH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(Anti-Hermitian)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(Â − Â†) / 2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596128" y="2660904"/>
            <a:ext cx="3163824" cy="0"/>
          </a:xfrm>
          <a:prstGeom prst="line">
            <a:avLst/>
          </a:prstGeom>
          <a:noFill/>
          <a:ln w="9525">
            <a:solidFill>
              <a:srgbClr val="2A4A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14416" y="2734056"/>
            <a:ext cx="15224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Â_H = Â_H†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7136892" y="2734056"/>
            <a:ext cx="14209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real eigenvalues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614416" y="3026664"/>
            <a:ext cx="15224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Â_AH = −Â_AH†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136892" y="3026664"/>
            <a:ext cx="14209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imaginary eigenvalues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614416" y="3319272"/>
            <a:ext cx="15224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iÂ_AH is Hermitian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7136892" y="3319272"/>
            <a:ext cx="14209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generators of unitaries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614416" y="3611880"/>
            <a:ext cx="15224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decomposition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136892" y="3611880"/>
            <a:ext cx="14209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for all bounded Â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74320" y="4892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858000" y="4892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LO4 · AdvUG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A1422"/>
          </a:solidFill>
          <a:ln w="12700">
            <a:solidFill>
              <a:srgbClr val="0A14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55448"/>
            <a:ext cx="804672" cy="384048"/>
          </a:xfrm>
          <a:prstGeom prst="roundRect">
            <a:avLst>
              <a:gd name="adj" fmla="val 11905"/>
            </a:avLst>
          </a:prstGeom>
          <a:solidFill>
            <a:srgbClr val="9B72CF"/>
          </a:solidFill>
          <a:ln w="12700">
            <a:solidFill>
              <a:srgbClr val="9B72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55448"/>
            <a:ext cx="804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70432" y="155448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LO4: Operator Classification  |  Master's Track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70432" y="438912"/>
            <a:ext cx="6949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8600" y="786384"/>
            <a:ext cx="5074920" cy="26060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6868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B7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EXPLANATION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106424"/>
            <a:ext cx="481888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 theorem for bounded self-adjoint operators: A = ∫λ dP(λ) where P is a projection-valued measure.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normal operators: same but λ ∈ ℂ. Unitary operators: spectrum on S¹.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Fuglede's theorem: if AN = NA* for normal N, then AN* = N*A.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Borel functional calculus: f(A) = ∫f(λ)dP(λ) for any bounded Borel f: σ(A) → ℂ.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Neumann algebras: closed under weak limits; generated by spectral projections of self-adjoint operators.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3474720"/>
            <a:ext cx="5074920" cy="658368"/>
          </a:xfrm>
          <a:prstGeom prst="rect">
            <a:avLst/>
          </a:prstGeom>
          <a:solidFill>
            <a:srgbClr val="0A162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" y="3566160"/>
            <a:ext cx="48188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∫λ dP(λ)  (spectral meas.)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f(A) = ∫f(λ) dP(λ)  (func. calc.)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σ(A) ⊂ ℝ iff A = A†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4206240"/>
            <a:ext cx="5074920" cy="86868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" y="4288536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/ SUMMARY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65760" y="4526280"/>
            <a:ext cx="48188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Borel functional calculus extends the spectral theorem: any bounded Borel function of a self-adjoint operator is a well-defined bounded operator.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786384"/>
            <a:ext cx="3383280" cy="4288536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0" y="84124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 of Operator Classes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596128" y="1078992"/>
            <a:ext cx="777240" cy="566928"/>
          </a:xfrm>
          <a:prstGeom prst="roundRect">
            <a:avLst>
              <a:gd name="adj" fmla="val 8065"/>
            </a:avLst>
          </a:prstGeom>
          <a:solidFill>
            <a:srgbClr val="0A1A2A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96128" y="1078992"/>
            <a:ext cx="777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Hermitian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A†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673852" y="1719072"/>
            <a:ext cx="590702" cy="590702"/>
          </a:xfrm>
          <a:prstGeom prst="ellipse">
            <a:avLst/>
          </a:prstGeom>
          <a:solidFill>
            <a:srgbClr val="0A1020">
              <a:alpha val="70000"/>
            </a:srgbClr>
          </a:solidFill>
          <a:ln w="9525">
            <a:solidFill>
              <a:srgbClr val="2A4A6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3852" y="2014423"/>
            <a:ext cx="590702" cy="0"/>
          </a:xfrm>
          <a:prstGeom prst="line">
            <a:avLst/>
          </a:prstGeom>
          <a:noFill/>
          <a:ln w="9525">
            <a:solidFill>
              <a:srgbClr val="3A6A9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69203" y="1719072"/>
            <a:ext cx="0" cy="590702"/>
          </a:xfrm>
          <a:prstGeom prst="line">
            <a:avLst/>
          </a:prstGeom>
          <a:noFill/>
          <a:ln w="9525">
            <a:solidFill>
              <a:srgbClr val="3A6A9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73852" y="2014423"/>
            <a:ext cx="590702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96128" y="2364638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σ(A) ⊆ ℝ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6409944" y="1078992"/>
            <a:ext cx="777240" cy="566928"/>
          </a:xfrm>
          <a:prstGeom prst="roundRect">
            <a:avLst>
              <a:gd name="adj" fmla="val 8065"/>
            </a:avLst>
          </a:prstGeom>
          <a:solidFill>
            <a:srgbClr val="0A1A2A"/>
          </a:solidFill>
          <a:ln w="19050">
            <a:solidFill>
              <a:srgbClr val="F4A2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944" y="1078992"/>
            <a:ext cx="777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Anti-Hermitian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−A†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6487668" y="1719072"/>
            <a:ext cx="590702" cy="590702"/>
          </a:xfrm>
          <a:prstGeom prst="ellipse">
            <a:avLst/>
          </a:prstGeom>
          <a:solidFill>
            <a:srgbClr val="0A1020">
              <a:alpha val="70000"/>
            </a:srgbClr>
          </a:solidFill>
          <a:ln w="9525">
            <a:solidFill>
              <a:srgbClr val="2A4A6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87668" y="2014423"/>
            <a:ext cx="590702" cy="0"/>
          </a:xfrm>
          <a:prstGeom prst="line">
            <a:avLst/>
          </a:prstGeom>
          <a:noFill/>
          <a:ln w="9525">
            <a:solidFill>
              <a:srgbClr val="3A6A9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83019" y="1719072"/>
            <a:ext cx="0" cy="590702"/>
          </a:xfrm>
          <a:prstGeom prst="line">
            <a:avLst/>
          </a:prstGeom>
          <a:noFill/>
          <a:ln w="9525">
            <a:solidFill>
              <a:srgbClr val="3A6A9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87668" y="2014423"/>
            <a:ext cx="590702" cy="0"/>
          </a:xfrm>
          <a:prstGeom prst="line">
            <a:avLst/>
          </a:prstGeom>
          <a:noFill/>
          <a:ln w="25400">
            <a:solidFill>
              <a:srgbClr val="F4A26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9944" y="2364638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σ(A) ⊆ iℝ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7223760" y="1078992"/>
            <a:ext cx="777240" cy="566928"/>
          </a:xfrm>
          <a:prstGeom prst="roundRect">
            <a:avLst>
              <a:gd name="adj" fmla="val 8065"/>
            </a:avLst>
          </a:prstGeom>
          <a:solidFill>
            <a:srgbClr val="0A1A2A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23760" y="1078992"/>
            <a:ext cx="777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AA† = 1̂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7301484" y="1719072"/>
            <a:ext cx="590702" cy="590702"/>
          </a:xfrm>
          <a:prstGeom prst="ellipse">
            <a:avLst/>
          </a:prstGeom>
          <a:solidFill>
            <a:srgbClr val="0A1020">
              <a:alpha val="70000"/>
            </a:srgbClr>
          </a:solidFill>
          <a:ln w="9525">
            <a:solidFill>
              <a:srgbClr val="2A4A6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01484" y="2014423"/>
            <a:ext cx="590702" cy="0"/>
          </a:xfrm>
          <a:prstGeom prst="line">
            <a:avLst/>
          </a:prstGeom>
          <a:noFill/>
          <a:ln w="9525">
            <a:solidFill>
              <a:srgbClr val="3A6A9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596835" y="1719072"/>
            <a:ext cx="0" cy="590702"/>
          </a:xfrm>
          <a:prstGeom prst="line">
            <a:avLst/>
          </a:prstGeom>
          <a:noFill/>
          <a:ln w="9525">
            <a:solidFill>
              <a:srgbClr val="3A6A9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381229" y="1798817"/>
            <a:ext cx="431213" cy="431213"/>
          </a:xfrm>
          <a:prstGeom prst="ellipse">
            <a:avLst/>
          </a:prstGeom>
          <a:solidFill>
            <a:srgbClr val="0D1B2A">
              <a:alpha val="0"/>
            </a:srgbClr>
          </a:solidFill>
          <a:ln w="25400">
            <a:solidFill>
              <a:srgbClr val="2ECC7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23760" y="2364638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σ(A) ⊆ S¹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8037576" y="1078992"/>
            <a:ext cx="777240" cy="566928"/>
          </a:xfrm>
          <a:prstGeom prst="roundRect">
            <a:avLst>
              <a:gd name="adj" fmla="val 8065"/>
            </a:avLst>
          </a:prstGeom>
          <a:solidFill>
            <a:srgbClr val="0A1A2A"/>
          </a:solidFill>
          <a:ln w="19050">
            <a:solidFill>
              <a:srgbClr val="9B72C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037576" y="1078992"/>
            <a:ext cx="777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B7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9B7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AA† = A†A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8115300" y="1719072"/>
            <a:ext cx="590702" cy="590702"/>
          </a:xfrm>
          <a:prstGeom prst="ellipse">
            <a:avLst/>
          </a:prstGeom>
          <a:solidFill>
            <a:srgbClr val="0A1020">
              <a:alpha val="70000"/>
            </a:srgbClr>
          </a:solidFill>
          <a:ln w="9525">
            <a:solidFill>
              <a:srgbClr val="2A4A6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115300" y="2014423"/>
            <a:ext cx="590702" cy="0"/>
          </a:xfrm>
          <a:prstGeom prst="line">
            <a:avLst/>
          </a:prstGeom>
          <a:noFill/>
          <a:ln w="9525">
            <a:solidFill>
              <a:srgbClr val="3A6A9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10651" y="1719072"/>
            <a:ext cx="0" cy="590702"/>
          </a:xfrm>
          <a:prstGeom prst="line">
            <a:avLst/>
          </a:prstGeom>
          <a:noFill/>
          <a:ln w="9525">
            <a:solidFill>
              <a:srgbClr val="3A6A9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95045" y="1798817"/>
            <a:ext cx="431213" cy="431213"/>
          </a:xfrm>
          <a:prstGeom prst="ellipse">
            <a:avLst/>
          </a:prstGeom>
          <a:solidFill>
            <a:srgbClr val="9B72CF">
              <a:alpha val="40000"/>
            </a:srgbClr>
          </a:solidFill>
          <a:ln w="12700">
            <a:solidFill>
              <a:srgbClr val="9B72C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37576" y="2364638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B7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σ(A) ⊆ ℂ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5596128" y="4507992"/>
            <a:ext cx="3163824" cy="475488"/>
          </a:xfrm>
          <a:prstGeom prst="rect">
            <a:avLst/>
          </a:prstGeom>
          <a:solidFill>
            <a:srgbClr val="0A1628"/>
          </a:solidFill>
          <a:ln w="12700">
            <a:solidFill>
              <a:srgbClr val="2A5A7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32704" y="4526280"/>
            <a:ext cx="30906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self-adjoint ⟹ normal;  unitary ⟹ normal;  normal ⟺ diagonalisable (spectral theorem)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74320" y="4892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6858000" y="4892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LO4 · MSc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A1422"/>
          </a:solidFill>
          <a:ln w="12700">
            <a:solidFill>
              <a:srgbClr val="0A14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55448"/>
            <a:ext cx="804672" cy="384048"/>
          </a:xfrm>
          <a:prstGeom prst="roundRect">
            <a:avLst>
              <a:gd name="adj" fmla="val 11905"/>
            </a:avLst>
          </a:prstGeom>
          <a:solidFill>
            <a:srgbClr val="E07B6A"/>
          </a:solidFill>
          <a:ln w="12700">
            <a:solidFill>
              <a:srgbClr val="E07B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55448"/>
            <a:ext cx="8046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70432" y="155448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LO4: Operator Classification  |  PhD Track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70432" y="438912"/>
            <a:ext cx="6949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Hilbert Space of Quantum States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28600" y="786384"/>
            <a:ext cx="5074920" cy="260604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6868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07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EXPLANATION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106424"/>
            <a:ext cx="481888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C*-algebra perspective: B(ℋ) is a C*-algebra with involution A ↦ A†, satisfying ‖A†A‖ = ‖A‖².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Gelfand–Naimark: every C*-algebra is ∗-isomorphic to a closed subalgebra of B(ℋ).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 construction: from a state ω on a C*-algebra, construct a Hilbert space ℋ_ω and representation.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Tomita–Takesaki: for von Neumann algebras, the modular operator Δ and modular conjugation J classify the algebra.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Physical: KMS states, thermal equilibrium, and quantum statistical mechanics emerge from Tomita–Takesaki.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3474720"/>
            <a:ext cx="5074920" cy="658368"/>
          </a:xfrm>
          <a:prstGeom prst="rect">
            <a:avLst/>
          </a:prstGeom>
          <a:solidFill>
            <a:srgbClr val="0A162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" y="3566160"/>
            <a:ext cx="48188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C*: ‖A*A‖ = ‖A‖² (identity)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GNS: ω → (ℋ_ω, π_ω, |Ω⟩)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8E8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Tomita: JMJ = M' (commutant)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4206240"/>
            <a:ext cx="5074920" cy="868680"/>
          </a:xfrm>
          <a:prstGeom prst="rect">
            <a:avLst/>
          </a:prstGeom>
          <a:solidFill>
            <a:srgbClr val="162236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" y="4288536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/ SUMMARY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65760" y="4526280"/>
            <a:ext cx="48188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abstract quantum theory (C*-algebra + state) can be concretely realised as operators on a Hilbert space via the GNS construction.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786384"/>
            <a:ext cx="3383280" cy="4288536"/>
          </a:xfrm>
          <a:prstGeom prst="rect">
            <a:avLst/>
          </a:prstGeom>
          <a:solidFill>
            <a:srgbClr val="16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0" y="84124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C*-Algebra Classification &amp; GNS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55564" y="1088136"/>
            <a:ext cx="3044952" cy="685800"/>
          </a:xfrm>
          <a:prstGeom prst="roundRect">
            <a:avLst>
              <a:gd name="adj" fmla="val 8000"/>
            </a:avLst>
          </a:prstGeom>
          <a:solidFill>
            <a:srgbClr val="0A1A2A"/>
          </a:solidFill>
          <a:ln w="15240">
            <a:solidFill>
              <a:srgbClr val="3A7AA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55564" y="1115568"/>
            <a:ext cx="3044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Banach algebra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55564" y="1362456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‖AB‖ ≤ ‖A‖‖B‖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178040" y="1773936"/>
            <a:ext cx="0" cy="137160"/>
          </a:xfrm>
          <a:prstGeom prst="line">
            <a:avLst/>
          </a:prstGeom>
          <a:noFill/>
          <a:ln w="15240">
            <a:solidFill>
              <a:srgbClr val="3A6A8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909310" y="1911096"/>
            <a:ext cx="2537460" cy="685800"/>
          </a:xfrm>
          <a:prstGeom prst="roundRect">
            <a:avLst>
              <a:gd name="adj" fmla="val 8000"/>
            </a:avLst>
          </a:prstGeom>
          <a:solidFill>
            <a:srgbClr val="0A1A2A"/>
          </a:solidFill>
          <a:ln w="15240">
            <a:solidFill>
              <a:srgbClr val="5B9B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09310" y="1938528"/>
            <a:ext cx="25374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C*-algebra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909310" y="2185416"/>
            <a:ext cx="25374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‖A*A‖ = ‖A‖²  (C*-identity)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178040" y="2596896"/>
            <a:ext cx="0" cy="137160"/>
          </a:xfrm>
          <a:prstGeom prst="line">
            <a:avLst/>
          </a:prstGeom>
          <a:noFill/>
          <a:ln w="15240">
            <a:solidFill>
              <a:srgbClr val="3A6A8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196889" y="2734056"/>
            <a:ext cx="1962302" cy="685800"/>
          </a:xfrm>
          <a:prstGeom prst="roundRect">
            <a:avLst>
              <a:gd name="adj" fmla="val 8000"/>
            </a:avLst>
          </a:prstGeom>
          <a:solidFill>
            <a:srgbClr val="0A1A2A"/>
          </a:solidFill>
          <a:ln w="15240">
            <a:solidFill>
              <a:srgbClr val="9B72C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6889" y="2761488"/>
            <a:ext cx="196230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B7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Neumann algebra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196889" y="3008376"/>
            <a:ext cx="196230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in weak operator topology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7178040" y="3419856"/>
            <a:ext cx="0" cy="137160"/>
          </a:xfrm>
          <a:prstGeom prst="line">
            <a:avLst/>
          </a:prstGeom>
          <a:noFill/>
          <a:ln w="15240">
            <a:solidFill>
              <a:srgbClr val="3A6A8A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467551" y="3557016"/>
            <a:ext cx="1420978" cy="685800"/>
          </a:xfrm>
          <a:prstGeom prst="roundRect">
            <a:avLst>
              <a:gd name="adj" fmla="val 8000"/>
            </a:avLst>
          </a:prstGeom>
          <a:solidFill>
            <a:srgbClr val="0A1A2A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67551" y="3584448"/>
            <a:ext cx="14209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B(ℋ) bounded operators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67551" y="3831336"/>
            <a:ext cx="1420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universal: every C*-algebra ↪ B(ℋ)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5577840" y="472744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Gelfand–Naimark–Segal: every C*-algebra is ∗-isomorphic to a subalgebra of B(ℋ)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274320" y="4892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858000" y="4892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LO4 · PhD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9144000" cy="1143000"/>
          </a:xfrm>
          <a:prstGeom prst="rect">
            <a:avLst/>
          </a:prstGeom>
          <a:solidFill>
            <a:srgbClr val="162236"/>
          </a:solidFill>
          <a:ln w="12700">
            <a:solidFill>
              <a:srgbClr val="16223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B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Topic Slides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L01: Advanced Mathematical Foundations — each with diagram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Lebesgue Integration  ·  Banach Spaces  ·  Banach Duality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097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Lebesgue Integration and L²(ℝ)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52120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7A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step functions to square-integrable wavefunctions — the measure-theoretic foundation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858000" y="4892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Lebesgue Integration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28600" y="804672"/>
            <a:ext cx="4846320" cy="214884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8600" y="804672"/>
            <a:ext cx="45720" cy="2148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" y="877824"/>
            <a:ext cx="46177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LEBESGUE, NOT RIEMANN?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1124712"/>
            <a:ext cx="4572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Riemann integral fails for: pointwise limits of sequences, functions with many discontinuities, infinite-dimensional completeness.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Lebesgue's key insight: measure the domain first. For f: ℝ → ℝ, partition the RANGE [a,b] into strips of height ε, then measure the set {x : a ≤ f(x) &lt; a+ε}.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allows integration of far more functions than Riemann, and crucially makes L²(ℝ) complete (Riesz–Fischer theorem).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3035808"/>
            <a:ext cx="4846320" cy="1993392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8600" y="3035808"/>
            <a:ext cx="45720" cy="1993392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192" y="3108960"/>
            <a:ext cx="46177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L²(ℝ) FORMALLY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11480" y="3355848"/>
            <a:ext cx="4572000" cy="1581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L²(ℝ) = { f: ℝ→ℂ measurable | ∫|f(x)|²dμ &lt; ∞ }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product: ⟨f|g⟩ = ∫f*(x)g(x)dμ(x)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Norm: ‖f‖² = ∫|f(x)|²dμ(x)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identify f ~ g when ∫|f−g|²dμ = 0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(equal almost everywhere — measure zero sets ignored)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Riesz–Fischer: every Cauchy sequence in L²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converges to a function in L² → COMPLETE.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28600" y="5010912"/>
            <a:ext cx="4846320" cy="100584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" y="5010912"/>
            <a:ext cx="45720" cy="10058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3192" y="5084064"/>
            <a:ext cx="46177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SIGNIFICANCE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5330952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Wavefunctions ψ(x) ∈ L²(ℝ): normalisable quantum states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Riemann integral would exclude physically reasonable ψ (e.g., limits of wave packets)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Lebesgue theory makes ‖ψ(t)‖ = const rigorous for all 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Dirac delta δ(x) lives in L²-dual, not L² itself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257800" y="804672"/>
            <a:ext cx="3611880" cy="521208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57800" y="859536"/>
            <a:ext cx="3611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Lebesgue vs. Riemann Integration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58968" y="1097280"/>
            <a:ext cx="14859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Riemann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458968" y="2953512"/>
            <a:ext cx="1485900" cy="0"/>
          </a:xfrm>
          <a:prstGeom prst="line">
            <a:avLst/>
          </a:prstGeom>
          <a:noFill/>
          <a:ln w="12700">
            <a:solidFill>
              <a:srgbClr val="5A7A9A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458968" y="2953512"/>
            <a:ext cx="0" cy="-1463040"/>
          </a:xfrm>
          <a:prstGeom prst="line">
            <a:avLst/>
          </a:prstGeom>
          <a:noFill/>
          <a:ln w="12700">
            <a:solidFill>
              <a:srgbClr val="5A7A9A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6981444" y="2862072"/>
            <a:ext cx="14630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5330952" y="1453896"/>
            <a:ext cx="14630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458968" y="2951253"/>
            <a:ext cx="99060" cy="-8445"/>
          </a:xfrm>
          <a:prstGeom prst="line">
            <a:avLst/>
          </a:prstGeom>
          <a:noFill/>
          <a:ln w="22860">
            <a:solidFill>
              <a:srgbClr val="1E5FA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58028" y="2942807"/>
            <a:ext cx="99060" cy="-29905"/>
          </a:xfrm>
          <a:prstGeom prst="line">
            <a:avLst/>
          </a:prstGeom>
          <a:noFill/>
          <a:ln w="22860">
            <a:solidFill>
              <a:srgbClr val="1E5FA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57088" y="2912902"/>
            <a:ext cx="99060" cy="-82753"/>
          </a:xfrm>
          <a:prstGeom prst="line">
            <a:avLst/>
          </a:prstGeom>
          <a:noFill/>
          <a:ln w="22860">
            <a:solidFill>
              <a:srgbClr val="1E5FA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56148" y="2830149"/>
            <a:ext cx="99060" cy="-176708"/>
          </a:xfrm>
          <a:prstGeom prst="line">
            <a:avLst/>
          </a:prstGeom>
          <a:noFill/>
          <a:ln w="22860">
            <a:solidFill>
              <a:srgbClr val="1E5FA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855208" y="2653442"/>
            <a:ext cx="99060" cy="-284387"/>
          </a:xfrm>
          <a:prstGeom prst="line">
            <a:avLst/>
          </a:prstGeom>
          <a:noFill/>
          <a:ln w="22860">
            <a:solidFill>
              <a:srgbClr val="1E5FA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54268" y="2369055"/>
            <a:ext cx="99060" cy="-327076"/>
          </a:xfrm>
          <a:prstGeom prst="line">
            <a:avLst/>
          </a:prstGeom>
          <a:noFill/>
          <a:ln w="22860">
            <a:solidFill>
              <a:srgbClr val="1E5FA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53328" y="2041979"/>
            <a:ext cx="99060" cy="-226834"/>
          </a:xfrm>
          <a:prstGeom prst="line">
            <a:avLst/>
          </a:prstGeom>
          <a:noFill/>
          <a:ln w="22860">
            <a:solidFill>
              <a:srgbClr val="1E5FA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52388" y="1815145"/>
            <a:ext cx="99060" cy="0"/>
          </a:xfrm>
          <a:prstGeom prst="line">
            <a:avLst/>
          </a:prstGeom>
          <a:noFill/>
          <a:ln w="22860">
            <a:solidFill>
              <a:srgbClr val="1E5FA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51448" y="1815145"/>
            <a:ext cx="99060" cy="226834"/>
          </a:xfrm>
          <a:prstGeom prst="line">
            <a:avLst/>
          </a:prstGeom>
          <a:noFill/>
          <a:ln w="22860">
            <a:solidFill>
              <a:srgbClr val="1E5FA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50508" y="2041979"/>
            <a:ext cx="99060" cy="327076"/>
          </a:xfrm>
          <a:prstGeom prst="line">
            <a:avLst/>
          </a:prstGeom>
          <a:noFill/>
          <a:ln w="22860">
            <a:solidFill>
              <a:srgbClr val="1E5FA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49568" y="2369055"/>
            <a:ext cx="99060" cy="284387"/>
          </a:xfrm>
          <a:prstGeom prst="line">
            <a:avLst/>
          </a:prstGeom>
          <a:noFill/>
          <a:ln w="22860">
            <a:solidFill>
              <a:srgbClr val="1E5FA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48628" y="2653442"/>
            <a:ext cx="99060" cy="176708"/>
          </a:xfrm>
          <a:prstGeom prst="line">
            <a:avLst/>
          </a:prstGeom>
          <a:noFill/>
          <a:ln w="22860">
            <a:solidFill>
              <a:srgbClr val="1E5FA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47688" y="2830149"/>
            <a:ext cx="99060" cy="82753"/>
          </a:xfrm>
          <a:prstGeom prst="line">
            <a:avLst/>
          </a:prstGeom>
          <a:noFill/>
          <a:ln w="22860">
            <a:solidFill>
              <a:srgbClr val="1E5FA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746748" y="2912902"/>
            <a:ext cx="99060" cy="29905"/>
          </a:xfrm>
          <a:prstGeom prst="line">
            <a:avLst/>
          </a:prstGeom>
          <a:noFill/>
          <a:ln w="22860">
            <a:solidFill>
              <a:srgbClr val="1E5FA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45808" y="2942807"/>
            <a:ext cx="99060" cy="8445"/>
          </a:xfrm>
          <a:prstGeom prst="line">
            <a:avLst/>
          </a:prstGeom>
          <a:noFill/>
          <a:ln w="22860">
            <a:solidFill>
              <a:srgbClr val="1E5FA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58968" y="2938258"/>
            <a:ext cx="238506" cy="15254"/>
          </a:xfrm>
          <a:prstGeom prst="rect">
            <a:avLst/>
          </a:prstGeom>
          <a:solidFill>
            <a:srgbClr val="1E5FA8">
              <a:alpha val="30000"/>
            </a:srgbClr>
          </a:solidFill>
          <a:ln w="6350">
            <a:solidFill>
              <a:srgbClr val="1E5FA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706618" y="2708176"/>
            <a:ext cx="238506" cy="245336"/>
          </a:xfrm>
          <a:prstGeom prst="rect">
            <a:avLst/>
          </a:prstGeom>
          <a:solidFill>
            <a:srgbClr val="1E5FA8">
              <a:alpha val="30000"/>
            </a:srgbClr>
          </a:solidFill>
          <a:ln w="6350">
            <a:solidFill>
              <a:srgbClr val="1E5FA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54268" y="1969619"/>
            <a:ext cx="238506" cy="983893"/>
          </a:xfrm>
          <a:prstGeom prst="rect">
            <a:avLst/>
          </a:prstGeom>
          <a:solidFill>
            <a:srgbClr val="1E5FA8">
              <a:alpha val="30000"/>
            </a:srgbClr>
          </a:solidFill>
          <a:ln w="6350">
            <a:solidFill>
              <a:srgbClr val="1E5FA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01918" y="1969619"/>
            <a:ext cx="238506" cy="983893"/>
          </a:xfrm>
          <a:prstGeom prst="rect">
            <a:avLst/>
          </a:prstGeom>
          <a:solidFill>
            <a:srgbClr val="1E5FA8">
              <a:alpha val="30000"/>
            </a:srgbClr>
          </a:solidFill>
          <a:ln w="6350">
            <a:solidFill>
              <a:srgbClr val="1E5FA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49568" y="2708176"/>
            <a:ext cx="238506" cy="245336"/>
          </a:xfrm>
          <a:prstGeom prst="rect">
            <a:avLst/>
          </a:prstGeom>
          <a:solidFill>
            <a:srgbClr val="1E5FA8">
              <a:alpha val="30000"/>
            </a:srgbClr>
          </a:solidFill>
          <a:ln w="6350">
            <a:solidFill>
              <a:srgbClr val="1E5FA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697218" y="2938258"/>
            <a:ext cx="238506" cy="15254"/>
          </a:xfrm>
          <a:prstGeom prst="rect">
            <a:avLst/>
          </a:prstGeom>
          <a:solidFill>
            <a:srgbClr val="1E5FA8">
              <a:alpha val="30000"/>
            </a:srgbClr>
          </a:solidFill>
          <a:ln w="6350">
            <a:solidFill>
              <a:srgbClr val="1E5F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58968" y="3026664"/>
            <a:ext cx="14859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E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 x-axis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E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vertical strips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7200900" y="1106424"/>
            <a:ext cx="14859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Lebesgue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00900" y="2953512"/>
            <a:ext cx="1485900" cy="0"/>
          </a:xfrm>
          <a:prstGeom prst="line">
            <a:avLst/>
          </a:prstGeom>
          <a:noFill/>
          <a:ln w="12700">
            <a:solidFill>
              <a:srgbClr val="5A7A9A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7200900" y="2953512"/>
            <a:ext cx="0" cy="-1463040"/>
          </a:xfrm>
          <a:prstGeom prst="line">
            <a:avLst/>
          </a:prstGeom>
          <a:noFill/>
          <a:ln w="12700">
            <a:solidFill>
              <a:srgbClr val="5A7A9A"/>
            </a:solidFill>
            <a:prstDash val="solid"/>
            <a:tailEnd type="triangle"/>
          </a:ln>
        </p:spPr>
      </p:sp>
      <p:sp>
        <p:nvSpPr>
          <p:cNvPr id="52" name="Text 50"/>
          <p:cNvSpPr/>
          <p:nvPr/>
        </p:nvSpPr>
        <p:spPr>
          <a:xfrm>
            <a:off x="8723376" y="2862072"/>
            <a:ext cx="14630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072884" y="1453896"/>
            <a:ext cx="14630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7200900" y="2951253"/>
            <a:ext cx="99060" cy="-8445"/>
          </a:xfrm>
          <a:prstGeom prst="line">
            <a:avLst/>
          </a:prstGeom>
          <a:noFill/>
          <a:ln w="22860">
            <a:solidFill>
              <a:srgbClr val="00897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99960" y="2942807"/>
            <a:ext cx="99060" cy="-29905"/>
          </a:xfrm>
          <a:prstGeom prst="line">
            <a:avLst/>
          </a:prstGeom>
          <a:noFill/>
          <a:ln w="22860">
            <a:solidFill>
              <a:srgbClr val="00897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399020" y="2912902"/>
            <a:ext cx="99060" cy="-82753"/>
          </a:xfrm>
          <a:prstGeom prst="line">
            <a:avLst/>
          </a:prstGeom>
          <a:noFill/>
          <a:ln w="22860">
            <a:solidFill>
              <a:srgbClr val="00897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498080" y="2830149"/>
            <a:ext cx="99060" cy="-176708"/>
          </a:xfrm>
          <a:prstGeom prst="line">
            <a:avLst/>
          </a:prstGeom>
          <a:noFill/>
          <a:ln w="22860">
            <a:solidFill>
              <a:srgbClr val="00897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97140" y="2653442"/>
            <a:ext cx="99060" cy="-284387"/>
          </a:xfrm>
          <a:prstGeom prst="line">
            <a:avLst/>
          </a:prstGeom>
          <a:noFill/>
          <a:ln w="22860">
            <a:solidFill>
              <a:srgbClr val="00897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696200" y="2369055"/>
            <a:ext cx="99060" cy="-327076"/>
          </a:xfrm>
          <a:prstGeom prst="line">
            <a:avLst/>
          </a:prstGeom>
          <a:noFill/>
          <a:ln w="22860">
            <a:solidFill>
              <a:srgbClr val="00897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795260" y="2041979"/>
            <a:ext cx="99060" cy="-226834"/>
          </a:xfrm>
          <a:prstGeom prst="line">
            <a:avLst/>
          </a:prstGeom>
          <a:noFill/>
          <a:ln w="22860">
            <a:solidFill>
              <a:srgbClr val="00897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894320" y="1815145"/>
            <a:ext cx="99060" cy="0"/>
          </a:xfrm>
          <a:prstGeom prst="line">
            <a:avLst/>
          </a:prstGeom>
          <a:noFill/>
          <a:ln w="22860">
            <a:solidFill>
              <a:srgbClr val="00897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993380" y="1815145"/>
            <a:ext cx="99060" cy="226834"/>
          </a:xfrm>
          <a:prstGeom prst="line">
            <a:avLst/>
          </a:prstGeom>
          <a:noFill/>
          <a:ln w="22860">
            <a:solidFill>
              <a:srgbClr val="00897B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092440" y="2041979"/>
            <a:ext cx="99060" cy="327076"/>
          </a:xfrm>
          <a:prstGeom prst="line">
            <a:avLst/>
          </a:prstGeom>
          <a:noFill/>
          <a:ln w="22860">
            <a:solidFill>
              <a:srgbClr val="00897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191500" y="2369055"/>
            <a:ext cx="99060" cy="284387"/>
          </a:xfrm>
          <a:prstGeom prst="line">
            <a:avLst/>
          </a:prstGeom>
          <a:noFill/>
          <a:ln w="22860">
            <a:solidFill>
              <a:srgbClr val="00897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290560" y="2653442"/>
            <a:ext cx="99060" cy="176708"/>
          </a:xfrm>
          <a:prstGeom prst="line">
            <a:avLst/>
          </a:prstGeom>
          <a:noFill/>
          <a:ln w="22860">
            <a:solidFill>
              <a:srgbClr val="00897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389620" y="2830149"/>
            <a:ext cx="99060" cy="82753"/>
          </a:xfrm>
          <a:prstGeom prst="line">
            <a:avLst/>
          </a:prstGeom>
          <a:noFill/>
          <a:ln w="22860">
            <a:solidFill>
              <a:srgbClr val="00897B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488680" y="2912902"/>
            <a:ext cx="99060" cy="29905"/>
          </a:xfrm>
          <a:prstGeom prst="line">
            <a:avLst/>
          </a:prstGeom>
          <a:noFill/>
          <a:ln w="22860">
            <a:solidFill>
              <a:srgbClr val="00897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587740" y="2942807"/>
            <a:ext cx="99060" cy="8445"/>
          </a:xfrm>
          <a:prstGeom prst="line">
            <a:avLst/>
          </a:prstGeom>
          <a:noFill/>
          <a:ln w="22860">
            <a:solidFill>
              <a:srgbClr val="00897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888721" y="2742834"/>
            <a:ext cx="110258" cy="210678"/>
          </a:xfrm>
          <a:prstGeom prst="rect">
            <a:avLst/>
          </a:prstGeom>
          <a:solidFill>
            <a:srgbClr val="00897B">
              <a:alpha val="40000"/>
            </a:srgbClr>
          </a:solidFill>
          <a:ln w="6350">
            <a:solidFill>
              <a:srgbClr val="00897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869578" y="2532156"/>
            <a:ext cx="148543" cy="210678"/>
          </a:xfrm>
          <a:prstGeom prst="rect">
            <a:avLst/>
          </a:prstGeom>
          <a:solidFill>
            <a:srgbClr val="00897B">
              <a:alpha val="40000"/>
            </a:srgbClr>
          </a:solidFill>
          <a:ln w="6350">
            <a:solidFill>
              <a:srgbClr val="00897B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848755" y="2321479"/>
            <a:ext cx="190190" cy="210678"/>
          </a:xfrm>
          <a:prstGeom prst="rect">
            <a:avLst/>
          </a:prstGeom>
          <a:solidFill>
            <a:srgbClr val="00897B">
              <a:alpha val="40000"/>
            </a:srgbClr>
          </a:solidFill>
          <a:ln w="6350">
            <a:solidFill>
              <a:srgbClr val="00897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18508" y="2110801"/>
            <a:ext cx="250685" cy="210678"/>
          </a:xfrm>
          <a:prstGeom prst="rect">
            <a:avLst/>
          </a:prstGeom>
          <a:solidFill>
            <a:srgbClr val="00897B">
              <a:alpha val="40000"/>
            </a:srgbClr>
          </a:solidFill>
          <a:ln w="6350">
            <a:solidFill>
              <a:srgbClr val="00897B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56422" y="1900123"/>
            <a:ext cx="374856" cy="210678"/>
          </a:xfrm>
          <a:prstGeom prst="rect">
            <a:avLst/>
          </a:prstGeom>
          <a:solidFill>
            <a:srgbClr val="00897B">
              <a:alpha val="40000"/>
            </a:srgbClr>
          </a:solidFill>
          <a:ln w="6350">
            <a:solidFill>
              <a:srgbClr val="00897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200900" y="3026664"/>
            <a:ext cx="14859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 f-range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horizontal slabs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7063740" y="1307592"/>
            <a:ext cx="0" cy="4617720"/>
          </a:xfrm>
          <a:prstGeom prst="line">
            <a:avLst/>
          </a:prstGeom>
          <a:noFill/>
          <a:ln w="9525">
            <a:solidFill>
              <a:srgbClr val="C0D0E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257800" y="4599432"/>
            <a:ext cx="3611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Convergence in L²(ℝ)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94960" y="4809744"/>
            <a:ext cx="3337560" cy="1024128"/>
          </a:xfrm>
          <a:prstGeom prst="rect">
            <a:avLst/>
          </a:prstGeom>
          <a:solidFill>
            <a:srgbClr val="EAF4FF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458968" y="4846320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fₙ → f in L²: ‖fₙ − f‖² = ∫|fₙ(x) − f(x)|²dx → 0</a:t>
            </a:r>
            <a:endParaRPr lang="en-US" sz="750" dirty="0"/>
          </a:p>
        </p:txBody>
      </p:sp>
      <p:sp>
        <p:nvSpPr>
          <p:cNvPr id="79" name="Text 77"/>
          <p:cNvSpPr/>
          <p:nvPr/>
        </p:nvSpPr>
        <p:spPr>
          <a:xfrm>
            <a:off x="5458968" y="5074920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Riesz–Fischer: every Cauchy sequence converges in L²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5458968" y="5303520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Pointwise a.e. limit ≠ L² limit in general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5458968" y="5532120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but: dominated convergence → L² convergence</a:t>
            </a:r>
            <a:endParaRPr lang="en-US" sz="7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097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Banach Spaces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52120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7A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normed vector spaces: the broader family containing Hilbert spaces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858000" y="4892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Banach Spaces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28600" y="804672"/>
            <a:ext cx="4846320" cy="201168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8600" y="804672"/>
            <a:ext cx="45720" cy="2011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" y="877824"/>
            <a:ext cx="46177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DEFINITION: BANACH SPACE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1124712"/>
            <a:ext cx="45720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Banach space is a complete normed vector space (X, ‖·‖) over ℝ or ℂ.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 axioms: (N1) ‖x‖ ≥ 0, = 0 iff x = 0; (N2) ‖αx‖ = |α|‖x‖; (N3) ‖x+y‖ ≤ ‖x‖ + ‖y‖.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Complete: every Cauchy sequence {xₙ} with ‖xₙ−xₘ‖→0 converges to a limit in X.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difference from Hilbert: a Banach space has a NORM but no INNER PRODUCT in general.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2907792"/>
            <a:ext cx="4846320" cy="196596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8600" y="2907792"/>
            <a:ext cx="45720" cy="196596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192" y="2980944"/>
            <a:ext cx="46177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HILBERT VS. BANACH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11480" y="3227832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Hilbert space ℋ: inner product ⟨·|·⟩ → norm ‖ψ‖ = √⟨ψ|ψ⟩. Every Hilbert space is Banach.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Banach space: norm ‖·‖ only. NOT every norm comes from an inner product.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(Parallelogram law): a normed space is Hilbert iff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‖x+y‖² + ‖x−y‖² = 2(‖x‖² + ‖y‖²) for all x, y.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Lᵖ(ℝ) for p ≠ 2 is Banach but NOT Hilbert: the parallelogram law fails.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28600" y="4956048"/>
            <a:ext cx="4846320" cy="1152144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" y="4956048"/>
            <a:ext cx="45720" cy="1152144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3192" y="5029200"/>
            <a:ext cx="46177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MECHANICS CONNECTION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5276088"/>
            <a:ext cx="4572000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 state space is specifically a Hilbert space (needs inner product for Born rule and probabilities)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 algebras (C*-algebras) are Banach *-algebras with the C*-identity ‖A*A‖ = ‖A‖²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Sobolev spaces (domains of differential operators) are Banach, often not Hilbert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257800" y="804672"/>
            <a:ext cx="3611880" cy="530352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57800" y="868680"/>
            <a:ext cx="3611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Hierarchy &amp; Examples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40680" y="1106424"/>
            <a:ext cx="3246120" cy="438912"/>
          </a:xfrm>
          <a:prstGeom prst="roundRect">
            <a:avLst>
              <a:gd name="adj" fmla="val 12500"/>
            </a:avLst>
          </a:prstGeom>
          <a:solidFill>
            <a:srgbClr val="0A1825"/>
          </a:solidFill>
          <a:ln w="15240">
            <a:solidFill>
              <a:srgbClr val="4A7A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3832" y="1133856"/>
            <a:ext cx="16230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A7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Space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513832" y="1344168"/>
            <a:ext cx="16230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 + scalar mult.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063740" y="1161288"/>
            <a:ext cx="155813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ABA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linear space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063740" y="1545336"/>
            <a:ext cx="0" cy="384048"/>
          </a:xfrm>
          <a:prstGeom prst="line">
            <a:avLst/>
          </a:prstGeom>
          <a:noFill/>
          <a:ln w="15240">
            <a:solidFill>
              <a:srgbClr val="4A7A9A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6990588" y="163677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40680" y="1929384"/>
            <a:ext cx="3246120" cy="438912"/>
          </a:xfrm>
          <a:prstGeom prst="roundRect">
            <a:avLst>
              <a:gd name="adj" fmla="val 12500"/>
            </a:avLst>
          </a:prstGeom>
          <a:solidFill>
            <a:srgbClr val="0A1825"/>
          </a:solidFill>
          <a:ln w="15240">
            <a:solidFill>
              <a:srgbClr val="3A9AA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1956816"/>
            <a:ext cx="16230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Normed Space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513832" y="2167128"/>
            <a:ext cx="16230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‖·‖ satisfies N1–N3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7063740" y="1984248"/>
            <a:ext cx="155813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ABA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polynomials P[0,1]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063740" y="2368296"/>
            <a:ext cx="0" cy="384048"/>
          </a:xfrm>
          <a:prstGeom prst="line">
            <a:avLst/>
          </a:prstGeom>
          <a:noFill/>
          <a:ln w="15240">
            <a:solidFill>
              <a:srgbClr val="4A7A9A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6990588" y="245973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40680" y="2752344"/>
            <a:ext cx="3246120" cy="438912"/>
          </a:xfrm>
          <a:prstGeom prst="roundRect">
            <a:avLst>
              <a:gd name="adj" fmla="val 12500"/>
            </a:avLst>
          </a:prstGeom>
          <a:solidFill>
            <a:srgbClr val="0A1825"/>
          </a:solidFill>
          <a:ln w="15240">
            <a:solidFill>
              <a:srgbClr val="00897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2779776"/>
            <a:ext cx="16230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Banach Space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513832" y="2990088"/>
            <a:ext cx="16230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completeness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7063740" y="2807208"/>
            <a:ext cx="155813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ABA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Lᵖ(ℝ), C(K), ℓᵖ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7063740" y="3191256"/>
            <a:ext cx="0" cy="384048"/>
          </a:xfrm>
          <a:prstGeom prst="line">
            <a:avLst/>
          </a:prstGeom>
          <a:noFill/>
          <a:ln w="15240">
            <a:solidFill>
              <a:srgbClr val="4A7A9A"/>
            </a:solidFill>
            <a:prstDash val="solid"/>
            <a:tailEnd type="triangle"/>
          </a:ln>
        </p:spPr>
      </p:sp>
      <p:sp>
        <p:nvSpPr>
          <p:cNvPr id="39" name="Text 37"/>
          <p:cNvSpPr/>
          <p:nvPr/>
        </p:nvSpPr>
        <p:spPr>
          <a:xfrm>
            <a:off x="6990588" y="328269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⊂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440680" y="3575304"/>
            <a:ext cx="3246120" cy="438912"/>
          </a:xfrm>
          <a:prstGeom prst="roundRect">
            <a:avLst>
              <a:gd name="adj" fmla="val 12500"/>
            </a:avLst>
          </a:prstGeom>
          <a:solidFill>
            <a:srgbClr val="0A1825"/>
          </a:solidFill>
          <a:ln w="15240">
            <a:solidFill>
              <a:srgbClr val="5B9BD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13832" y="3602736"/>
            <a:ext cx="16230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Product Space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513832" y="3813048"/>
            <a:ext cx="16230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⟨·|·⟩ → norm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7063740" y="3630168"/>
            <a:ext cx="155813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ABA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pre-Hilbert space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063740" y="4014216"/>
            <a:ext cx="0" cy="384048"/>
          </a:xfrm>
          <a:prstGeom prst="line">
            <a:avLst/>
          </a:prstGeom>
          <a:noFill/>
          <a:ln w="15240">
            <a:solidFill>
              <a:srgbClr val="4A7A9A"/>
            </a:solidFill>
            <a:prstDash val="solid"/>
            <a:tailEnd type="triangle"/>
          </a:ln>
        </p:spPr>
      </p:sp>
      <p:sp>
        <p:nvSpPr>
          <p:cNvPr id="45" name="Text 43"/>
          <p:cNvSpPr/>
          <p:nvPr/>
        </p:nvSpPr>
        <p:spPr>
          <a:xfrm>
            <a:off x="6990588" y="410565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⊂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440680" y="4398264"/>
            <a:ext cx="3246120" cy="438912"/>
          </a:xfrm>
          <a:prstGeom prst="roundRect">
            <a:avLst>
              <a:gd name="adj" fmla="val 12500"/>
            </a:avLst>
          </a:prstGeom>
          <a:solidFill>
            <a:srgbClr val="0A1825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4425696"/>
            <a:ext cx="16230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Hilbert Space ℋ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513832" y="4636008"/>
            <a:ext cx="16230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complete inner product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063740" y="4453128"/>
            <a:ext cx="155813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ABA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L²(ℝ), ℂⁿ, ℓ²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5440680" y="5358384"/>
            <a:ext cx="3246120" cy="658368"/>
          </a:xfrm>
          <a:prstGeom prst="rect">
            <a:avLst/>
          </a:prstGeom>
          <a:solidFill>
            <a:srgbClr val="0A1628"/>
          </a:solidFill>
          <a:ln w="19050">
            <a:solidFill>
              <a:srgbClr val="F4A26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77256" y="5376672"/>
            <a:ext cx="3154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Parallelogram Law (Hilbert iff...)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477256" y="5596128"/>
            <a:ext cx="3154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8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‖x+y‖² + ‖x−y‖² = 2(‖x‖² + ‖y‖²)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477256" y="5779008"/>
            <a:ext cx="3154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07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for ‖·‖₁ and ‖·‖∞: not Hilbert!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097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L01 — Banach Duality: Operators and Distributions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52120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7A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dual pairing between function spaces and their duals — from bras to Schwartz distributions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77072" y="5486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QM: Module I.1 — L01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858000" y="48920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 · Banach Duality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28600" y="804672"/>
            <a:ext cx="4846320" cy="214884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8600" y="804672"/>
            <a:ext cx="45720" cy="2148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" y="877824"/>
            <a:ext cx="46177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BANACH DUAL SPACE X*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1124712"/>
            <a:ext cx="4572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Banach space X, the dual X* = B(X, ℂ) is the space of all continuous linear functionals f: X → ℂ.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 on X*: ‖f‖_* = sup{ |f(x)| : ‖x‖ ≤ 1 }.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dual pairing ⟨f, x⟩ = f(x) is bilinear in (f, x) and bounded: |⟨f,x⟩| ≤ ‖f‖_* ‖x‖.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Riesz representation: For Hilbert ℋ, the map |φ⟩ ↦ ⟨φ|·⟩ is an ANTILINEAR isometric isomorphism ℋ → ℋ*. Hence ℋ ≅ ℋ* (self-dual).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3044952"/>
            <a:ext cx="4846320" cy="182880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8600" y="3044952"/>
            <a:ext cx="45720" cy="182880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192" y="3118104"/>
            <a:ext cx="46177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ADJOINT OPERATORS AND DUAL MAPS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11480" y="3364992"/>
            <a:ext cx="4572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A: X → Y (bounded operator), the adjoint (Banach sense) A*: Y* → X* is defined by: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(A*g)(x) = g(Ax)   for g ∈ Y*, x ∈ X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BANACH adjoint (also called transpose). For Hilbert spaces, it coincides with the Hilbert adjoint A†.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‖A*‖ = ‖A‖  (norm is preserved under dualisation).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28600" y="4956048"/>
            <a:ext cx="4846320" cy="1152144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" y="4956048"/>
            <a:ext cx="45720" cy="1152144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3192" y="5029200"/>
            <a:ext cx="46177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DISTRIBUTIONS: L²-DUAL AND SOBOLEV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5276088"/>
            <a:ext cx="4572000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 space S(ℝ) ⊂ L²(ℝ) ⊂ S*(ℝ) — the Gel'fand triple (rigged Hilbert space).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S*(ℝ) = tempered distributions: |δ(x)⟩ (Dirac delta) ∈ S*, not in L².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⟨δ, ψ⟩ = ψ(0): a functional on S(ℝ). This is Banach duality in action.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Sobolev Hˢ(ℝ): dual is H⁻ˢ(ℝ). The pair (Hˢ, H⁻ˢ) is a Banach dual pair relevant to PDE and QM.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257800" y="804672"/>
            <a:ext cx="3611880" cy="5303520"/>
          </a:xfrm>
          <a:prstGeom prst="rect">
            <a:avLst/>
          </a:prstGeom>
          <a:solidFill>
            <a:srgbClr val="F0F4F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57800" y="868680"/>
            <a:ext cx="3611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Banach Duality Diagrams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394960" y="1106424"/>
            <a:ext cx="3337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Gel'fand Triple (Rigged Hilbert Space)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22392" y="1335024"/>
            <a:ext cx="914400" cy="749808"/>
          </a:xfrm>
          <a:prstGeom prst="roundRect">
            <a:avLst>
              <a:gd name="adj" fmla="val 7317"/>
            </a:avLst>
          </a:prstGeom>
          <a:solidFill>
            <a:srgbClr val="0A1525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22392" y="137160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S(ℝ)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22392" y="1645920"/>
            <a:ext cx="914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</a:t>
            </a:r>
            <a:endParaRPr lang="en-US" sz="750" dirty="0"/>
          </a:p>
          <a:p>
            <a:pPr algn="ctr" indent="0" marL="0">
              <a:buNone/>
            </a:pPr>
            <a:r>
              <a:rPr lang="en-US" sz="750" i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functions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6679692" y="1335024"/>
            <a:ext cx="914400" cy="749808"/>
          </a:xfrm>
          <a:prstGeom prst="roundRect">
            <a:avLst>
              <a:gd name="adj" fmla="val 7317"/>
            </a:avLst>
          </a:prstGeom>
          <a:solidFill>
            <a:srgbClr val="0A1525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79692" y="137160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L²(ℝ)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9692" y="1645920"/>
            <a:ext cx="914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square-integrable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i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wavefunctions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7955280" y="1335024"/>
            <a:ext cx="914400" cy="749808"/>
          </a:xfrm>
          <a:prstGeom prst="roundRect">
            <a:avLst>
              <a:gd name="adj" fmla="val 7317"/>
            </a:avLst>
          </a:prstGeom>
          <a:solidFill>
            <a:srgbClr val="0A1525"/>
          </a:solidFill>
          <a:ln w="19050">
            <a:solidFill>
              <a:srgbClr val="E07B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55280" y="137160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7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S*(ℝ)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955280" y="1645920"/>
            <a:ext cx="914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distributions</a:t>
            </a:r>
            <a:endParaRPr lang="en-US" sz="750" dirty="0"/>
          </a:p>
          <a:p>
            <a:pPr algn="ctr" indent="0" marL="0">
              <a:buNone/>
            </a:pPr>
            <a:r>
              <a:rPr lang="en-US" sz="750" i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|x⟩, |p⟩, δ(x)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355080" y="1709928"/>
            <a:ext cx="306324" cy="0"/>
          </a:xfrm>
          <a:prstGeom prst="line">
            <a:avLst/>
          </a:prstGeom>
          <a:noFill/>
          <a:ln w="19050">
            <a:solidFill>
              <a:srgbClr val="5B9BD5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7612380" y="1709928"/>
            <a:ext cx="324612" cy="0"/>
          </a:xfrm>
          <a:prstGeom prst="line">
            <a:avLst/>
          </a:prstGeom>
          <a:noFill/>
          <a:ln w="19050">
            <a:solidFill>
              <a:srgbClr val="5B9BD5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382512" y="1563624"/>
            <a:ext cx="2880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⊂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639812" y="1563624"/>
            <a:ext cx="3063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⊂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394960" y="2139696"/>
            <a:ext cx="3337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B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embeddings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394960" y="2377440"/>
            <a:ext cx="3337560" cy="0"/>
          </a:xfrm>
          <a:prstGeom prst="line">
            <a:avLst/>
          </a:prstGeom>
          <a:noFill/>
          <a:ln w="9525">
            <a:solidFill>
              <a:srgbClr val="C0D0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94960" y="2450592"/>
            <a:ext cx="3337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Adjoint = Dual Map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513832" y="2706624"/>
            <a:ext cx="749808" cy="384048"/>
          </a:xfrm>
          <a:prstGeom prst="roundRect">
            <a:avLst>
              <a:gd name="adj" fmla="val 11905"/>
            </a:avLst>
          </a:prstGeom>
          <a:solidFill>
            <a:srgbClr val="0A1828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706624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863840" y="2706624"/>
            <a:ext cx="749808" cy="384048"/>
          </a:xfrm>
          <a:prstGeom prst="roundRect">
            <a:avLst>
              <a:gd name="adj" fmla="val 11905"/>
            </a:avLst>
          </a:prstGeom>
          <a:solidFill>
            <a:srgbClr val="0A1828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863840" y="2706624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300216" y="2898648"/>
            <a:ext cx="1527048" cy="0"/>
          </a:xfrm>
          <a:prstGeom prst="line">
            <a:avLst/>
          </a:prstGeom>
          <a:noFill/>
          <a:ln w="22860">
            <a:solidFill>
              <a:srgbClr val="F4A261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6954012" y="2706624"/>
            <a:ext cx="228600" cy="3072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513832" y="3712464"/>
            <a:ext cx="749808" cy="384048"/>
          </a:xfrm>
          <a:prstGeom prst="roundRect">
            <a:avLst>
              <a:gd name="adj" fmla="val 11905"/>
            </a:avLst>
          </a:prstGeom>
          <a:solidFill>
            <a:srgbClr val="0A1828"/>
          </a:solidFill>
          <a:ln w="19050">
            <a:solidFill>
              <a:srgbClr val="E07B6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712464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7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X*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7863840" y="3712464"/>
            <a:ext cx="749808" cy="384048"/>
          </a:xfrm>
          <a:prstGeom prst="roundRect">
            <a:avLst>
              <a:gd name="adj" fmla="val 11905"/>
            </a:avLst>
          </a:prstGeom>
          <a:solidFill>
            <a:srgbClr val="0A1828"/>
          </a:solidFill>
          <a:ln w="19050">
            <a:solidFill>
              <a:srgbClr val="9B72C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863840" y="3712464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B7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Y*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827264" y="3904488"/>
            <a:ext cx="-1527048" cy="0"/>
          </a:xfrm>
          <a:prstGeom prst="line">
            <a:avLst/>
          </a:prstGeom>
          <a:noFill/>
          <a:ln w="22860">
            <a:solidFill>
              <a:srgbClr val="9B72CF"/>
            </a:solidFill>
            <a:prstDash val="solid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6954012" y="3750869"/>
            <a:ext cx="256032" cy="3072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B72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888736" y="3090672"/>
            <a:ext cx="0" cy="621792"/>
          </a:xfrm>
          <a:prstGeom prst="line">
            <a:avLst/>
          </a:prstGeom>
          <a:noFill/>
          <a:ln w="12700">
            <a:solidFill>
              <a:srgbClr val="4A7A9A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8238744" y="3090672"/>
            <a:ext cx="0" cy="621792"/>
          </a:xfrm>
          <a:prstGeom prst="line">
            <a:avLst/>
          </a:prstGeom>
          <a:noFill/>
          <a:ln w="12700">
            <a:solidFill>
              <a:srgbClr val="4A7A9A"/>
            </a:solidFill>
            <a:prstDash val="dash"/>
          </a:ln>
        </p:spPr>
      </p:sp>
      <p:sp>
        <p:nvSpPr>
          <p:cNvPr id="53" name="Text 51"/>
          <p:cNvSpPr/>
          <p:nvPr/>
        </p:nvSpPr>
        <p:spPr>
          <a:xfrm>
            <a:off x="6300216" y="3227832"/>
            <a:ext cx="1545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4A7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dualise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5394960" y="4169664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reverses arrows!</a:t>
            </a:r>
            <a:endParaRPr lang="en-US" sz="750" dirty="0"/>
          </a:p>
          <a:p>
            <a:pPr algn="ctr" indent="0" marL="0">
              <a:buNone/>
            </a:pPr>
            <a:r>
              <a:rPr lang="en-US" sz="750" i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(A*)ᵀ = contravariant functor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5394960" y="5394960"/>
            <a:ext cx="3337560" cy="621792"/>
          </a:xfrm>
          <a:prstGeom prst="rect">
            <a:avLst/>
          </a:prstGeom>
          <a:solidFill>
            <a:srgbClr val="0A1628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40680" y="5413248"/>
            <a:ext cx="326440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C8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δ ∈ S*(ℝ)  ⟺  ⟨δ, ψ⟩ = ψ(0)</a:t>
            </a:r>
            <a:endParaRPr lang="en-US" sz="780" dirty="0"/>
          </a:p>
          <a:p>
            <a:pPr algn="l" indent="0" marL="0">
              <a:buNone/>
            </a:pPr>
            <a:r>
              <a:rPr lang="en-US" sz="780" dirty="0">
                <a:solidFill>
                  <a:srgbClr val="C8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x̂*δ = −δ'  (adjoint in distribution sense)</a:t>
            </a:r>
            <a:endParaRPr lang="en-US" sz="780" dirty="0"/>
          </a:p>
          <a:p>
            <a:pPr algn="l" indent="0" marL="0">
              <a:buNone/>
            </a:pPr>
            <a:r>
              <a:rPr lang="en-US" sz="780" dirty="0">
                <a:solidFill>
                  <a:srgbClr val="C8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⟨x|ψ⟩ = ψ(x) is a dual pairing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QM Module I.1 — L01: The Hilbert Space of Quantum States</dc:title>
  <dc:subject>PptxGenJS Presentation</dc:subject>
  <dc:creator>QM/QC Programme — Module I.1</dc:creator>
  <cp:lastModifiedBy>QM/QC Programme — Module I.1</cp:lastModifiedBy>
  <cp:revision>1</cp:revision>
  <dcterms:created xsi:type="dcterms:W3CDTF">2026-04-26T13:21:40Z</dcterms:created>
  <dcterms:modified xsi:type="dcterms:W3CDTF">2026-04-26T13:21:40Z</dcterms:modified>
</cp:coreProperties>
</file>