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6" r:id="rId46"/>
    <p:sldId id="300" r:id="rId47"/>
    <p:sldId id="305" r:id="rId48"/>
    <p:sldId id="302" r:id="rId49"/>
    <p:sldId id="301" r:id="rId50"/>
    <p:sldId id="303" r:id="rId51"/>
    <p:sldId id="307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E1C5D-6BAB-4616-BA6F-305C716B1653}" v="2" dt="2026-05-02T14:35:48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164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50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Hilbert Space of Quantum States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&amp; Algebraic Foundations — Module I.1, Lecture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Motivation — why Euclidean space is insufficient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Definition of a Hilbert space H: inner product, norm, completeness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Bounded vs. unbounded operators; operator norm; adjoint 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Anti-Hermitian operators; [Â†]† = Â; worked examples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definition of a Hilbert space and verify L²(ℝ) is 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bounded from unbounded operators with physical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adjoint Â† and compute it for 2×2 matrices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Hermitian (Â = Â†) and anti-Hermitian (Â = −Â†) operators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as overlap; norm as length; ℝ² and ℂ² as tangible examples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axioms in ℂⁿ; compute Â† for explicit matrices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adjoint is unique; show (ÂB̂)† = B̂†Â†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 space rigorously; operator norm; boundedness ↔ continuity equivalence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of unbounded operators; domain issues; Hellinger–Toeplitz theorem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verify Hilbert space axioms for ℂⁿ; compute adjoints of given 3×3 matrices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(Â†)† = Â; show bounded ⇒ continuous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norm visualiser for L² functions (simple); unbounded operator counterexample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TRACK — Infinite-Dimensional Generalisation of ℝⁿ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AS GEOMETRY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the right infinite-dimensional generalisation of ℝⁿ. The inner product ⟨·|·⟩ gives angles between states; completeness means no 'missing limits' in sequences of states.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AND ANGLES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 measures the overlap (angle) between two quantum states. Real part gives correlation; imaginary part encodes phase. Orthogonality ⟨φ|ψ⟩ = 0 means perfectly distinguishable states.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NO MISSING LIMITS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Cauchy sequence {|ψₙ⟩} with ‖|ψₙ⟩ − |ψₘ⟩‖ → 0 must converge to a state already in H. This is essential for time-evolution, Fourier expansions, and perturbation theory.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FROM INNER PRODUCT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‖|ψ⟩‖ = √⟨ψ|ψ⟩. This defines the 'length' of a state. Normalisation ⟨ψ|ψ⟩ = 1 ensures probabilities sum to unity.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ALGEBRAIC/AXIOMATIC TRACK — Formal Axioms and Operator Theory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AXIOMS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a complex vector space with inner product ⟨·|·⟩ satisfying: (1) conjugate symmetry ⟨φ|ψ⟩ = ⟨ψ|φ⟩*; (2) linearity in second argument; (3) positive definiteness ⟨ψ|ψ⟩ ≥ 0, = 0 iff |ψ⟩ = 0; (4) completeness.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OPERATOR Â†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is defined by ⟨φ|Âψ⟩ = ⟨Â†φ|ψ⟩ for all |φ⟩, |ψ⟩ ∈ H. For matrices: (Â†)ᵢⱼ = (Â)ⱼᵢ* (conjugate transpose). Properties: (Â†)† = Â, (ÂB̂)† = B̂†Â†.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vs. UNBOUNDED OPERATORS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is bounded if ‖Â‖ := sup{‖Â|ψ⟩‖ : ‖|ψ⟩‖ = 1} &lt; ∞. Physical examples — bounded: spin operators Ŝᵢ; unbounded: position x̂ and momentum p̂ on L²(ℝ).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AND ANTI-HERMITIAN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Hermitian: Â = Â† — real eigenvalues, observable. Anti-Hermitian: Â = −Â† — purely imaginary eigenvalues. Every operator decomposes: Â = (Â + Â†)/2 + (Â − Â†)/2.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L01.1: Motivation: Why Hilbert Space?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of Euclidean space and the need for infinite dimensions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INADEQUACY OF ℝⁿ FOR QUANTUM MECHANICS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require superposition over continuous variables (position, momentum). A particle's wavefunction ψ(x) ∈ L²(ℝ) cannot be represented in any finite-dimensional space. The correct arena is an infinite-dimensional Hilbert space.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NECESSITY OF COMPLEX NUMBERS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phenomena (double-slit experiment) require complex amplitudes. Real vector spaces cannot produce the interference cross-terms |A₁ + A₂|² = |A₁|² + |A₂|² + 2 Re(A₁*A₂) with the correct sign.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AS PHYSICAL REQUIREMENT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U(t)|ψ⟩ and Fourier-mode expansions require limits to exist within H. A non-complete space would have quantum states 'escaping' to outside the mathematical framework.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 placed QM on rigorous mathematical footing using Hilbert spaces. Dirac's bra-ket notation (1930) provided the physical language that maps naturally onto this framework.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∈ 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‖|ψ⟩‖ = √⟨ψ|ψ⟩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Cauchy: ‖|ψₙ⟩ − |ψₘ⟩‖ →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limit ∈ 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as a Hilbert space: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ψ(x) with ∫|ψ|²dx &lt; ∞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= ∫φ*(x)ψ(x)dx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‖ψ‖² = ∫|ψ(x)|²dx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Riesz–Fischer theorem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Gaussian ψ = N·exp(−x²/2σ²) ∈ L²(ℝ)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L01.2: Hilbert Space Definition and Axioms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structure: inner product, norm, and completeness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HILBERT SPACE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H is a complete inner product space over ℂ. The inner product ⟨·|·⟩: H × H → ℂ satisfies four axioms: (1) conjugate symmetry, (2) linearity in second slot, (3) positive definiteness, (4) non-degeneracy.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INNER PRODUCT AXIOMS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(IP1) ⟨φ|ψ⟩ = ⟨ψ|φ⟩*  [conjugate symmetry]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(IP2) ⟨φ|αψ + βχ⟩ = α⟨φ|ψ⟩ + β⟨φ|χ⟩  [linearity]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(IP3) ⟨ψ|ψ⟩ ≥ 0  [positive semidefinite]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(IP4) ⟨ψ|ψ⟩ = 0 ⟺ |ψ⟩ = 0  [non-degeneracy]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3522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AND TRIANGLE INEQUALITIES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729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⟨φ|φ⟩·⟨ψ|ψ⟩  [Cauchy–Schwarz]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‖|φ⟩ + |ψ⟩‖ ≤ ‖|φ⟩‖ + ‖|ψ⟩‖  [Triangle inequality]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AND NON-EXAMPLES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ℂⁿ (finite dim.), L²(ℝ), L²([0,1]), ℓ²(ℤ). Non-Hilbert spaces: C([0,1]) with L²-norm (not complete); L²ₗₒc without the square-integrability constraint.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⟨φ|ψ⟩* = ⟨ψ|φ⟩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‖φ‖²‖ψ‖²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‖|ψ⟩‖ = ⟨ψ|ψ⟩^(1/2)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ℂⁿ: ⟨φ|ψ⟩ = Σᵢ φᵢ*ψᵢ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ℂ² is a Hilbert space: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|φ⟩ = (φ₁,φ₂)ᵀ, |ψ⟩ = (ψ₁,ψ₂)ᵀ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 = φ₁*ψ₁ + φ₂*ψ₂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symmetry: ✓ by inspection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Linearity: ✓ distributivity of 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|ψ₁|² + |ψ₂|² ≥ 0  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ℂⁿ is complete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L01.3: Bounded and Unbounded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norm, domain, and physical examples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Â: H → H is bounded if ‖Â‖ := sup{‖Â|ψ⟩‖/‖|ψ⟩‖ : |ψ⟩ ≠ 0} &lt; ∞. Equivalently, Â is bounded iff it is continuous. All operators on finite-dimensional spaces are bounded.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AND DOMAIN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Â: D(Â) → H are only defined on a dense subset D(Â) ⊂ H. Key examples: x̂ (position) and p̂ = −iℏ∂/∂x (momentum) on L²(ℝ). These are unbounded because x̂|ψₙ⟩ can have ‖x̂|ψₙ⟩‖ → ∞ for normalised |ψₙ⟩.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OPERATOR Â†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via ⟨φ|Âψ⟩ = ⟨Â†φ|ψ⟩ for all |φ⟩ ∈ D(Â†) and |ψ⟩ ∈ D(Â). For matrices: (Â†)ᵢⱼ = Âⱼᵢ* (conjugate transpose). Key property: (Â†)† = Â when Â is bounded.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CLASSIFICATIONS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Hermitian (self-adjoint): Â = Â† → real eigenvalues (observables)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Anti-Hermitian: Â = −Â† → imaginary eigenvalues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Unitary: ÂÂ† = Â†Â = 1̂ → norm-preserving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Normal: ÂÂ† = Â†Â → diagonalisable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‖Â‖ = sup‖Â|ψ⟩‖/‖|ψ⟩‖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⟨φ|Âψ⟩ = ⟨Â†φ|ψ⟩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(Â†)ᵢⱼ = (Â)ⱼᵢ*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(ÂB̂)† = B̂†Â†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(Â†)† = 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spin-1/2 operator: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σ₊ = [[0,1],[0,0]] (raising operator)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 = (Â*)ᵀ = [[0,0],[1,0]] = σ₋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⟨φ|σ₊ψ⟩ = ⟨σ₋φ|ψ⟩ ✓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example: iσᵧ = [[0,1],[-1,0]]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(iσᵧ)† = −iσᵧ = −(iσᵧ)  ✓ anti-Hermitian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L01.4: Hermitian and Anti-Hermitian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properties, and the decomposition theorem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OPERATORS: Â = Â†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Hermitian operator satisfies ⟨φ|Âψ⟩ = ⟨Âφ|ψ⟩ for all |φ⟩, |ψ⟩. Key properties: (1) all eigenvalues are real, (2) eigenvectors for distinct eigenvalues are orthogonal, (3) eigenvectors form a complete basis (spectral theorem).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OPERATORS: Â = −Â†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anti-Hermitian operator satisfies Â† = −Â. Properties: (1) all eigenvalues are purely imaginary (λ = iμ, μ ∈ ℝ), (2) iÂ is Hermitian. Physical role: generators of unitary transformations are anti-Hermitian; observables = i × generators.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(Â†)† = Â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definition of adjoint: ⟨φ|(Â†)†ψ⟩ = ⟨(Â†)φ|ψ⟩ for all |φ⟩, |ψ⟩.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⟨(Â†)φ|ψ⟩ = ⟨ψ|(Â†)φ⟩* = ⟨Â†ψ|φ⟩* ... Applying the adjoint definition twice recovers the original operator. Therefore (Â†)† = Â. 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THEOREM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decomposes uniquely into Hermitian and anti-Hermitian parts: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(Â + Â†)/2 + (Â − Â†)/2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Â_H + Â_AH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Â_H is Hermitian and Â_AH is anti-Hermitian.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Hermitian: Â = 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Anti-Hermitian: Â = −Â†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(Â†)† = Â  [involution]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 = (Â + Â†)/2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 = (Â − Â†)/2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Â = [[1+i, 2],[3, 4−i]]: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 = [[1−i, 3],[2, 4+i]]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 = [[1, 5/2],[5/2, 4]] (Hermitian part)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 = [[i, −1/2],[1/2, −i]] (anti-Hermitian)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Verify: Â_H = Â_H†  ✓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Verify: Â_AH† = −Â_AH  ✓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Check: Â_H + Â_AH = Â 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inner product as 'overlap' between states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norm as 'length' of a quantum state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ℝ² and ℂ² as concrete finite-dimensional examples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Hermitian vs. non-Hermitian 2×2 matrices by inspection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ℂ² example: |+⟩ = (1,0), |−⟩ = (0,1)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⟨+|−⟩ = 1·0 + 0·1 = 0 (orthogonal)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‖|+⟩‖ = √(1²+0²) = 1 (normalised)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[[1,0],[0,−1]]: σ_z† = σ_z ✓ Hermitian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⟨φ|ψ⟩ for |φ⟩=(1,i)/√2, |ψ⟩=(i,1)/√2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σ_x is Hermitian; verify iσ_x is anti-Hermitian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Find ‖α|+⟩ + β|−⟩‖ in terms of |α|, |β|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arrow addition in 2D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factors e^(iθ) as unit complex numbers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vector addition in ℂ²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four Hilbert space axioms for ℂⁿ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explicit 2×2 and 3×3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 of bounded operator and operator norm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Cauchy–Schwarz: |⟨φ|ψ⟩|² ≤ ‖φ‖²‖ψ‖²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Â = [[1+i, 2−i],[3i, 4]]: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Transpose → [[1+i, 3i],[2−i, 4]]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Complex conjugate → [[1−i, −3i],[2+i, 4]]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Â† = [[1−i, −3i],[2+i, 4]]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adjoint of a general 2×2 complex matrix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axiom (IP2) for L²([0,1]) explicitly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Show the operator norm satisfies ‖Â‖ ≥ 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Is σ_z + iσ_y Hermitian, anti-Hermitian, or neither?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‖Â‖ = ‖Â†‖ for bounded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Frobenius norm ‖Â‖_F = √Tr(Â†Â)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adjoint is unique given inner product structure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(ÂB̂)† = B̂†Â† from the adjoint definition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explicit examples of unbounded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bounded ⟺ continuous for linear operators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(ÂB̂)† = B̂†Â†: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⟨φ|(ÂB̂)ψ⟩ = ⟨Â†φ|B̂ψ⟩ = ⟨B̂†Â†φ|ψ⟩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uniqueness of adjoint: (ÂB̂)† = B̂†Â† □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Key: adjoint reverses operator order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adjoint is unique (use non-degeneracy of IP)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p̂ = −iℏd/dx is Hermitian on S(ℝ) ⊂ L²(ℝ)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bounded ⟺ continuous for linear operators on 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Find ‖σ_x‖ using the operator norm definition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graph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Hellinger–Toeplitz: everywhere-defined Hermitian ⟹ bounded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L²(ℝ) rigorously via Lebesgue integration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operator norm and relate to spectral radius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Hellinger–Toeplitz theorem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bounded ↔ continuous and domain considerations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‖x̂‖ on L²([-N,N]):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ψₙ = χ_[n,n+1]/√1, ‖x̂ψₙ‖ ≈ n → ∞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x̂ is unbounded on L²(ℝ)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‖x̂‖ on L²([-N,N]) = N (finite, bounded)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Use Riesz–Fischer to prove L²(ℝ) is complete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Prove operator norm ‖Â‖ = sup of spectrum |σ(Â)|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State Hellinger–Toeplitz theorem; give counterexample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radius formula: r(Â) = lim ‖Âⁿ‖^(1/n)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to spectral theorem for bounded self-adjoint operators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spectrum of unbounded operators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domain issues for Hermitian vs. self-adjoint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Hellinger–Toeplitz theorem with proof sketch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operators by their deficiency indices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distinction for p̂ on L²([0,1]):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D(p̂_min) = H¹₀(0,1): p̂ is Hermitian, not self-adjoint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D(p̂_θ) = {ψ: ψ(1) = e^(iθ)ψ(0)}: self-adjoint extension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θ ∈ [0,2π) gives distinct self-adjoint extension!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Hellinger–Toeplitz: dom(Â) = H, Hermitian ⟹ bounded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deficiency indices (n₊,n₋) for p̂ on L²([0,1])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operators and closed extensions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deficiency index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theory: resolvent set, point/continuous/residual spectrum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'Hermitian' with 'self-adjoint' — they differ for unbounded operators on domains D(Â) ⊊ 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complex conjugation in adjoint: (Â†)ᵢⱼ = Â*ⱼᵢ not Âⱼᵢ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all operators on H are bounded — x̂ and p̂ are not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⟨φ|ψ⟩ as symmetric — it is conjugate-symmetric: ⟨φ|ψ⟩ = ⟨ψ|φ⟩*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operator norm ‖Â‖ with Frobenius norm ‖Â‖_F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anti-Hermitian operators have imaginary (not real) eigenvalues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(1900s): spectral theory of integral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(1932): Mathematical Foundations of QM — axiomatic Hilbert space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&amp; Toeplitz (1910): unbounded symmetric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(1930s): self-adjoint extensions and domains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= Σᵢφᵢ*ψᵢ (ℂⁿ)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Adjoint: (Â†)ᵢⱼ = Â*ⱼᵢ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‖|ψ⟩‖ = √⟨ψ|ψ⟩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Â = Â† (Hermitian), Â = −Â† (anti-Herm.)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L02: Unitary operators Û with ÛÛ† = 1̂ built from Hermitian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L03: Spectral theorem requires self-adjoint operators; real eigenvalues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L04: Matrix exponential e^(iÂ) uses adjoint structure extensively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~1h): Inner Product Visualiser in ℂ²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~2-3h): Norm of L² Functions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Explain why complex amplitudes are necessary for quantum interference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5 simple + 2 advanced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Adjoint Calculator with Verification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Operator Norms for 3×3 Matrices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Cauchy–Schwarz inequality from the axioms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Bounded vs. Unbounded Operator Explorer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Domain of p̂ on L²([0,1])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bounded ⟺ continuous for linear maps on 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L² Completeness via Cauchy Sequences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Operator norm vs. Frobenius norm study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Hellinger–Toeplitz theorem — statement, proof, implications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Rigour Checklist for Hilbert Space Axioms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Self-Adjoint Extensions of p̂ on [0,1]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Von Neumann's deficiency index theory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Mechanics, 3rd 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Fundamental Concepts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Dirac, P.A.M.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Mechanics, 4th 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1–2: Notation &amp; Hilbert Space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&amp; Chuang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Computation &amp; Quantum Information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Linear Algebra Primer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&amp; Simon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 Modern Mathematical Physics, Vol. 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Hilbert Spaces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 &amp; Pascual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Mathematical Framework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Mathematical Physics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Hilbert Space Theory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Foundational axiomatic treatment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(1912)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Grundzüge einer allgemeinen Theorie der linearen Integralgleichungen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 of Hilbert space concept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&amp; Toeplitz (1910)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Grundsätzliches über Sturm-Liouville'sche Theorie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First treatment of unbounded operators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Tier-Differentiated Concept Slides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L01: The Hilbert Space of Quantum States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 — 5 tiers × 4 learning objectives — each with diagram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2670048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68496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3968496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66944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266944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65392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565392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1: Hilbert Space Definition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LO1: Hilbert Space Definition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⟨φ|ψ⟩ measures the 'overlap' between two quantum states.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⟨φ|ψ⟩ = 0, the states are orthogonal — perfectly distinguishable.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 ‖|ψ⟩‖ = √⟨ψ|ψ⟩ gives the 'length' of a state.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⟨ψ|ψ⟩ = 1 ensures probabilities add to 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Hilbert space is like ℝ² or ℂ², but possibly infinite-dimensional.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⟨φ|ψ⟩ ∈ ℂ  (complex number)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‖|ψ⟩‖ = √⟨ψ|ψ⟩  (real ≥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⟨ψ|ψ⟩ = 1  (normalised state)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Concrete: use ℂ² spin states. |+⟩=(1,0)ᵀ, |−⟩=(0,1)ᵀ, ⟨+|−⟩ = 0 (orthogonal), ‖|+⟩‖ = 1.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6263640" y="3387852"/>
            <a:ext cx="182880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6720840" y="3845052"/>
            <a:ext cx="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7178040" y="3387852"/>
            <a:ext cx="7315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7927848" y="2363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3387852"/>
            <a:ext cx="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6519672" y="20894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76872" y="3040380"/>
            <a:ext cx="402336" cy="402336"/>
          </a:xfrm>
          <a:prstGeom prst="arc">
            <a:avLst/>
          </a:prstGeom>
          <a:solidFill>
            <a:srgbClr val="1E4060">
              <a:alpha val="6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104888" y="30220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09560" y="2473452"/>
            <a:ext cx="0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5577840" y="4507992"/>
            <a:ext cx="32004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614416" y="4535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⟨φ|ψ⟩ = ||φ|| ||ψ|| cos θ  ∈ 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= Overlap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LO1 · HS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LO1: Hilbert Space Definition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ℋ is a complete complex inner product space.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(IP1) Conjugate symmetry: ⟨φ|ψ⟩ = ⟨ψ|φ⟩*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(IP2) Linearity in second slot: ⟨φ|αψ + βχ⟩ = α⟨φ|ψ⟩ + β⟨φ|χ⟩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(IP3) Positive semidefinite: ⟨ψ|ψ⟩ ≥ 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(IP4) Non-degenerate: ⟨ψ|ψ⟩ = 0 iff |ψ⟩ = 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converges within ℋ.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ℂⁿ: ⟨φ|ψ⟩ = Σᵢ φᵢ* ψᵢ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Cauchy: ‖|ψₙ⟩ − |ψₘ⟩‖ →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Complete: limit ∈ 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Verify all 4 axioms for ⟨φ|ψ⟩ = Σᵢ φᵢ* ψᵢ on ℂⁿ.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Inner Product Axioms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1078992"/>
            <a:ext cx="1531620" cy="1801368"/>
          </a:xfrm>
          <a:prstGeom prst="roundRect">
            <a:avLst>
              <a:gd name="adj" fmla="val 3582"/>
            </a:avLst>
          </a:prstGeom>
          <a:solidFill>
            <a:srgbClr val="0F203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614416" y="1106424"/>
            <a:ext cx="365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32704" y="1261872"/>
            <a:ext cx="144018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⟨φ|ψ⟩=⟨ψ|φ⟩*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00900" y="1078992"/>
            <a:ext cx="1531620" cy="1801368"/>
          </a:xfrm>
          <a:prstGeom prst="roundRect">
            <a:avLst>
              <a:gd name="adj" fmla="val 3582"/>
            </a:avLst>
          </a:prstGeom>
          <a:solidFill>
            <a:srgbClr val="0F203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7237476" y="1106424"/>
            <a:ext cx="365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55764" y="1261872"/>
            <a:ext cx="144018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2nd slot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α|ψ⟩+β|χ⟩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577840" y="2935224"/>
            <a:ext cx="1531620" cy="1801368"/>
          </a:xfrm>
          <a:prstGeom prst="roundRect">
            <a:avLst>
              <a:gd name="adj" fmla="val 3582"/>
            </a:avLst>
          </a:prstGeom>
          <a:solidFill>
            <a:srgbClr val="0F2035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5614416" y="2962656"/>
            <a:ext cx="365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32704" y="3118104"/>
            <a:ext cx="144018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Semidefinite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≥ 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200900" y="2935224"/>
            <a:ext cx="1531620" cy="1801368"/>
          </a:xfrm>
          <a:prstGeom prst="roundRect">
            <a:avLst>
              <a:gd name="adj" fmla="val 3582"/>
            </a:avLst>
          </a:prstGeom>
          <a:solidFill>
            <a:srgbClr val="0F2035"/>
          </a:solidFill>
          <a:ln w="1905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237476" y="2962656"/>
            <a:ext cx="365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55764" y="3118104"/>
            <a:ext cx="144018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⟨ψ|ψ⟩=0⟺0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60720" y="4800600"/>
            <a:ext cx="28346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5486400" y="4791456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COMPLETENESS  ⟹  Hilbert Space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LO1 · BegUG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LO1: Hilbert Space Definition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ℋ over ℂ satisfies all four inner product axioms (IP1–IP4) and is complete.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means: if ‖|ψₙ⟩ − |ψₘ⟩‖ → 0, then ∃ |ψ⟩ ∈ ℋ with ‖|ψₙ⟩ − |ψ⟩‖ → 0.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ℂⁿ (finite), L²(ℝ) (infinite). Non-example: C([0,1]) with L²-norm.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Cauchy–Schwarz: |⟨φ|ψ⟩|² ≤ ⟨φ|φ⟩⟨ψ|ψ⟩ — prove using ‖|ψ⟩ − λ|φ⟩‖² ≥ 0.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‖|ψ⟩ − |ψₙ⟩‖ → 0  (convergence)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|⟨φ|ψ⟩|² ≤ ‖φ‖²‖ψ‖² (C-S)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ℂⁿ, L²(ℝ), ℓ²(ℤ) are Hilbert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task: Show C([0,1]) with ‖f‖₂ = (∫|f|²dx)^½ is NOT complete.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No Missing Limits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2893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23560" y="1472184"/>
            <a:ext cx="3063240" cy="0"/>
          </a:xfrm>
          <a:prstGeom prst="line">
            <a:avLst/>
          </a:prstGeom>
          <a:noFill/>
          <a:ln w="1905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046013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6667805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7103059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413955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7600493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7724851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7818120" y="140817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8613648" y="138074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8366760" y="11978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∈ ℋ ✓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96128" y="1581912"/>
            <a:ext cx="31546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5596128" y="15819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‖|ψₙ⟩ − |ψₘ⟩‖ → 0  ⟹  limit ∈ 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77840" y="1947672"/>
            <a:ext cx="320040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5596128" y="29169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Incomplete: C([0,1]) with L² norm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23560" y="3118104"/>
            <a:ext cx="3063240" cy="0"/>
          </a:xfrm>
          <a:prstGeom prst="line">
            <a:avLst/>
          </a:prstGeom>
          <a:noFill/>
          <a:ln w="1905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6046013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6667805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7103059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7413955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Shape 37"/>
          <p:cNvSpPr/>
          <p:nvPr/>
        </p:nvSpPr>
        <p:spPr>
          <a:xfrm>
            <a:off x="7600493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7724851" y="305409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Shape 39"/>
          <p:cNvSpPr/>
          <p:nvPr/>
        </p:nvSpPr>
        <p:spPr>
          <a:xfrm>
            <a:off x="8595360" y="2980944"/>
            <a:ext cx="0" cy="274320"/>
          </a:xfrm>
          <a:prstGeom prst="line">
            <a:avLst/>
          </a:prstGeom>
          <a:noFill/>
          <a:ln w="254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Shape 40"/>
          <p:cNvSpPr/>
          <p:nvPr/>
        </p:nvSpPr>
        <p:spPr>
          <a:xfrm>
            <a:off x="8668512" y="3026664"/>
            <a:ext cx="164592" cy="164592"/>
          </a:xfrm>
          <a:prstGeom prst="ellipse">
            <a:avLst/>
          </a:prstGeom>
          <a:solidFill>
            <a:srgbClr val="E07B6A">
              <a:alpha val="70000"/>
            </a:srgbClr>
          </a:solidFill>
          <a:ln w="19050">
            <a:solidFill>
              <a:srgbClr val="E07B6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8394192" y="28437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∉ space ✗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96128" y="3227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polynomials → non-polynomial (not in space!)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LO1 · AdvUG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LO1: Hilbert Space Definition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is the canonical infinite-dimensional separable Hilbert space.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 equivalence classes [f] where f ~ g iff ∫|f−g|²dμ = 0 (a.e. equal).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Riesz–Fischer theorem (1907) proves L²(ℝ) is complete.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Separability: L²(ℝ) has a countable orthonormal basis {eₙ} (e.g., Hermite functions).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Sobolev spaces H^s(ℝ) ⊂ L²(ℝ) for s &gt; 0 carry additional regularity.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‖f‖² = ∫_{ℝ} |f(x)|² dμ(x)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⟨f|g⟩ = ∫ f*(x) g(x) dμ(x)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Riesz–Fischer: L² is complete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(Riesz–Fischer): Every L²-Cauchy sequence has a subsequence converging pointwise a.e. to its L²-limit.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as a Hilbert Space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15000" y="2615184"/>
            <a:ext cx="3017520" cy="0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5715000" y="2615184"/>
            <a:ext cx="0" cy="0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769096" y="25420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13832" y="138988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33288" y="2508687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5876620" y="2451880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6019952" y="2375789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6163285" y="2279687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6306617" y="2165694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6449949" y="2039469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6593281" y="1910243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6736613" y="1789994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6879946" y="1691737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7023278" y="1627252"/>
            <a:ext cx="1433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31"/>
          <p:cNvSpPr/>
          <p:nvPr/>
        </p:nvSpPr>
        <p:spPr>
          <a:xfrm>
            <a:off x="7166610" y="1604772"/>
            <a:ext cx="143332" cy="224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Shape 32"/>
          <p:cNvSpPr/>
          <p:nvPr/>
        </p:nvSpPr>
        <p:spPr>
          <a:xfrm>
            <a:off x="7309942" y="1627252"/>
            <a:ext cx="143332" cy="6448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7453274" y="1691737"/>
            <a:ext cx="143332" cy="98257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7596607" y="1789994"/>
            <a:ext cx="143332" cy="120249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7739939" y="1910243"/>
            <a:ext cx="143332" cy="12922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7883271" y="2039469"/>
            <a:ext cx="143332" cy="12622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Shape 37"/>
          <p:cNvSpPr/>
          <p:nvPr/>
        </p:nvSpPr>
        <p:spPr>
          <a:xfrm>
            <a:off x="8026603" y="2165694"/>
            <a:ext cx="143332" cy="113993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8169935" y="2279687"/>
            <a:ext cx="143332" cy="9610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Shape 39"/>
          <p:cNvSpPr/>
          <p:nvPr/>
        </p:nvSpPr>
        <p:spPr>
          <a:xfrm>
            <a:off x="8313268" y="2375789"/>
            <a:ext cx="143332" cy="76091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Shape 40"/>
          <p:cNvSpPr/>
          <p:nvPr/>
        </p:nvSpPr>
        <p:spPr>
          <a:xfrm>
            <a:off x="8456600" y="2451880"/>
            <a:ext cx="143332" cy="56807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Shape 41"/>
          <p:cNvSpPr/>
          <p:nvPr/>
        </p:nvSpPr>
        <p:spPr>
          <a:xfrm>
            <a:off x="6393942" y="1759306"/>
            <a:ext cx="1659636" cy="85587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Text 42"/>
          <p:cNvSpPr/>
          <p:nvPr/>
        </p:nvSpPr>
        <p:spPr>
          <a:xfrm>
            <a:off x="6967728" y="211592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∫|ψ(x)|²dx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77840" y="40690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 ∈ L²(ℝ): square-integrable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4270248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⟨φ|ψ⟩ = ∫φ*(x)ψ(x)dx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77840" y="4471416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‖ψ‖² = ∫|ψ(x)|²dx &lt; ∞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77840" y="4672584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Complete: Riesz–Fischer theorem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LO1 · MSc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LO1: Hilbert Space Definition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Hilbert spaces: all infinite-dimensional separable Hilbert spaces are isomorphic to ℓ²(ℤ).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Non-separable: L∞ and certain von Neumann algebra Hilbert spaces.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theorem: every inner product space has a unique Hilbert space completion.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theory: operators like x̂, p̂ are defined on dense domains D(Â) ⊊ L²(ℝ).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triple: S(ℝ) ⊂ L²(ℝ) ⊂ S*(ℝ) — rigged Hilbert space for continuous spectrum.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ℓ²(ℤ) ≅ L²(ℝ) (separable ∞-dim)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Ī = closure of inner product space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⊂ L² ⊂ S* (Gel'fand triple)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all separable infinite-dimensional Hilbert spaces are unitarily isomorphic — there is essentially ONE such space.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Hierarchy of Spaces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21731" y="1215238"/>
            <a:ext cx="3112618" cy="3259287"/>
          </a:xfrm>
          <a:prstGeom prst="ellipse">
            <a:avLst/>
          </a:prstGeom>
          <a:solidFill>
            <a:srgbClr val="2A4A6A">
              <a:alpha val="30000"/>
            </a:srgbClr>
          </a:solidFill>
          <a:ln w="190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5960059" y="1601206"/>
            <a:ext cx="2435962" cy="2487351"/>
          </a:xfrm>
          <a:prstGeom prst="ellipse">
            <a:avLst/>
          </a:prstGeom>
          <a:solidFill>
            <a:srgbClr val="1A5A7A">
              <a:alpha val="30000"/>
            </a:srgbClr>
          </a:solidFill>
          <a:ln w="19050">
            <a:solidFill>
              <a:srgbClr val="1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298387" y="1944289"/>
            <a:ext cx="1759306" cy="1801185"/>
          </a:xfrm>
          <a:prstGeom prst="ellipse">
            <a:avLst/>
          </a:prstGeom>
          <a:solidFill>
            <a:srgbClr val="0A7A9A">
              <a:alpha val="30000"/>
            </a:srgbClr>
          </a:solidFill>
          <a:ln w="19050">
            <a:solidFill>
              <a:srgbClr val="0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6636715" y="2287372"/>
            <a:ext cx="1082650" cy="1115019"/>
          </a:xfrm>
          <a:prstGeom prst="ellipse">
            <a:avLst/>
          </a:prstGeom>
          <a:solidFill>
            <a:srgbClr val="00B4D8">
              <a:alpha val="3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689397" y="121523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22362" y="15583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89397" y="361681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76872" y="250179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93892" y="4754880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complete inner product ⟨·|·⟩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9552" y="4544568"/>
            <a:ext cx="3236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⊂ previous + extra structure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LO1 · PhD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2: Bounded vs Unbounded 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LO2: Bounded vs Unbounded Ops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operator Â has a finite 'stretching factor': ‖Â|ψ⟩‖ ≤ M‖|ψ⟩‖ for all states.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UNBOUNDED operator can stretch states by arbitrarily large amounts.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spin operators Ŝₓ, Ŝᵧ, Ŝᵤ (eigenvalues ±ℏ/2 — always finite).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Unbounded: position x̂ (eigenvalues any real x ∈ ℝ) and momentum p̂.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Physicists use both: bounded for two-level systems, unbounded for continuous degrees of freedom.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Bounded: ∃M &lt; ∞, ‖Â|ψ⟩‖ ≤ M‖|ψ⟩‖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Unbounded: sup ‖Â|ψ⟩‖/‖|ψ⟩‖ = ∞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finite matrix → bounded. Differential operator → unbounded.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vs. Unbounded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07899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96128" y="1289304"/>
            <a:ext cx="1490472" cy="3236976"/>
          </a:xfrm>
          <a:prstGeom prst="rect">
            <a:avLst/>
          </a:prstGeom>
          <a:solidFill>
            <a:srgbClr val="0F2035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650992" y="1932584"/>
            <a:ext cx="6172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5650992" y="2361438"/>
            <a:ext cx="6172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5650992" y="2790292"/>
            <a:ext cx="6172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286500" y="30403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96128" y="4663440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‖Â‖ &lt; ∞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51192" y="1078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0" y="1718158"/>
            <a:ext cx="407365" cy="0"/>
          </a:xfrm>
          <a:prstGeom prst="line">
            <a:avLst/>
          </a:prstGeom>
          <a:noFill/>
          <a:ln w="15240">
            <a:solidFill>
              <a:srgbClr val="E07B6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7315200" y="2254225"/>
            <a:ext cx="760415" cy="0"/>
          </a:xfrm>
          <a:prstGeom prst="line">
            <a:avLst/>
          </a:prstGeom>
          <a:noFill/>
          <a:ln w="15240">
            <a:solidFill>
              <a:srgbClr val="E07B6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7315200" y="2790292"/>
            <a:ext cx="1493672" cy="0"/>
          </a:xfrm>
          <a:prstGeom prst="line">
            <a:avLst/>
          </a:prstGeom>
          <a:noFill/>
          <a:ln w="15240">
            <a:solidFill>
              <a:srgbClr val="E07B6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251192" y="4663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x̂, p̂ on L²(ℝ)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78040" y="1042416"/>
            <a:ext cx="0" cy="3922776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LO2 · HS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LO2: Bounded vs Unbounded Ops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Â is bounded if ‖Â‖ := sup{‖Â|ψ⟩‖/‖|ψ⟩‖ : |ψ⟩ ≠ 0} &lt; ∞.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Equivalent: Â is bounded iff Â is continuous (linear maps).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norm submultiplicativity: ‖ÂB̂‖ ≤ ‖Â‖‖B̂‖.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operators on ℂ²: ‖σₓ‖ = ‖σᵧ‖ = ‖σᵤ‖ = 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x̂ on L²([−N,N]): ‖x̂‖ = N → ∞ as N → ∞.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‖Â‖ = sup{ ‖Â|ψ⟩‖ : ‖|ψ⟩‖ = 1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‖σₙ‖ = 1  (bounded)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‖x̂‖ on L²([-N,N]) = 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‖σ₃‖ using the definition. Eigenvectors |+⟩, |−⟩: σ₃|±⟩ = ±|±⟩, so ‖σ₃‖ = 1.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Norm ‖Â‖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7628" y="2492837"/>
            <a:ext cx="1005840" cy="704088"/>
          </a:xfrm>
          <a:prstGeom prst="ellipse">
            <a:avLst/>
          </a:prstGeom>
          <a:solidFill>
            <a:srgbClr val="1A3A5A">
              <a:alpha val="60000"/>
            </a:srgbClr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167628" y="2291669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ball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{|ψ⟩: ‖|ψ⟩‖=1}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73468" y="2844881"/>
            <a:ext cx="5029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356348" y="2662001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40396" y="2291669"/>
            <a:ext cx="502920" cy="1106424"/>
          </a:xfrm>
          <a:prstGeom prst="ellipse">
            <a:avLst/>
          </a:prstGeom>
          <a:solidFill>
            <a:srgbClr val="1A3520">
              <a:alpha val="5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740396" y="209050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Â(unit ball)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91856" y="2844881"/>
            <a:ext cx="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8001914" y="2072213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‖Â‖ = max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59552" y="4617720"/>
            <a:ext cx="323697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5778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‖Â‖ := sup{ ‖Â|ψ⟩‖ : ‖|ψ⟩‖ = 1 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LO2 · BegUG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LO2: Bounded vs Unbounded Ops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A linear map Â: ℋ → ℋ is bounded iff it is continuous.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(→): If ‖Â‖ ≤ M, then ‖Â|ψ⟩ − Â|φ⟩‖ = ‖Â(|ψ⟩−|φ⟩)‖ ≤ M‖|ψ⟩−|φ⟩‖ → 0.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(←): By contradiction — assume ‖Â|ψₙ⟩‖ ≥ n‖|ψₙ⟩‖. Normalise to get a contradiction with continuity.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Hellinger–Toeplitz: if Â is everywhere defined and Hermitian, then Â is bounded.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x̂ and p̂ (unbounded) CANNOT be defined on all of L²(ℝ).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 ⟺ continuous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via ε-δ argument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Hellinger–Toeplitz theorem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Hellinger–Toeplitz theorem shows that genuine physical observables (x̂, p̂, Ĥ) must have restricted domains.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 ⟺  Continuous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106424"/>
            <a:ext cx="1285646" cy="1200790"/>
          </a:xfrm>
          <a:prstGeom prst="roundRect">
            <a:avLst>
              <a:gd name="adj" fmla="val 4569"/>
            </a:avLst>
          </a:prstGeom>
          <a:solidFill>
            <a:srgbClr val="0A25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596128" y="1106424"/>
            <a:ext cx="1285646" cy="1200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‖Â|ψ⟩‖ ≤ M‖|ψ⟩‖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|ψ⟩ ∈ ℋ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74306" y="1106424"/>
            <a:ext cx="1285646" cy="1200790"/>
          </a:xfrm>
          <a:prstGeom prst="roundRect">
            <a:avLst>
              <a:gd name="adj" fmla="val 4569"/>
            </a:avLst>
          </a:prstGeom>
          <a:solidFill>
            <a:srgbClr val="0A253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474306" y="1106424"/>
            <a:ext cx="1285646" cy="1200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|ψₙ⟩→|ψ⟩ ⟹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Â|ψₙ⟩→Â|ψ⟩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18350" y="1706819"/>
            <a:ext cx="519379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437730" y="1743395"/>
            <a:ext cx="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918350" y="1560515"/>
            <a:ext cx="51937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96128" y="3554090"/>
            <a:ext cx="1285646" cy="1200790"/>
          </a:xfrm>
          <a:prstGeom prst="roundRect">
            <a:avLst>
              <a:gd name="adj" fmla="val 3046"/>
            </a:avLst>
          </a:prstGeom>
          <a:solidFill>
            <a:srgbClr val="0A1520"/>
          </a:solidFill>
          <a:ln w="12700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5596128" y="3554090"/>
            <a:ext cx="1285646" cy="1200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proof: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ε-δ argument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‖Â(|ψ⟩-|φ⟩)‖≤M‖|ψ⟩-|φ⟩‖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74306" y="3554090"/>
            <a:ext cx="1285646" cy="1200790"/>
          </a:xfrm>
          <a:prstGeom prst="roundRect">
            <a:avLst>
              <a:gd name="adj" fmla="val 3046"/>
            </a:avLst>
          </a:prstGeom>
          <a:solidFill>
            <a:srgbClr val="0A1520"/>
          </a:solidFill>
          <a:ln w="12700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474306" y="3554090"/>
            <a:ext cx="1285646" cy="1200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⟸ proof: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via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sequence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LO2 · AdvUG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LO2: Bounded vs Unbounded Ops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norm ‖Â‖ = sup{‖Â|ψ⟩‖ : ‖|ψ⟩‖=1} makes B(ℋ) into a Banach algebra.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radius formula: r(Â) = lim_{n→∞} ‖Âⁿ‖^{1/n} = sup{|λ| : λ ∈ σ(Â)}.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self-adjoint Â: ‖Â‖ = r(Â) = sup{|λ| : λ ∈ σ(Â)} (norm = spectral radius).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operators: a special class — limits of finite-rank operators; spectrum is discrete (except 0).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Hilbert–Schmidt operators: ‖Â‖_HS = (Tr Â†Â)^½ &lt; ∞; a subset of compact operators.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r(Â) = lim ‖Âⁿ‖^{1/n}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Self-adjoint: ‖Â‖ = r(Â)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‖Â‖_HS = √Tr(Â†Â)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Hermitian Â: the operator norm equals the spectral radius, which equals the largest |eigenvalue|.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‖x̂‖ on L²([−N,N]) = 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4572000"/>
            <a:ext cx="2971800" cy="0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5760720" y="4572000"/>
            <a:ext cx="0" cy="0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769096" y="4498848"/>
            <a:ext cx="137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10698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‖x̂‖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60720" y="4572000"/>
            <a:ext cx="2615184" cy="0"/>
          </a:xfrm>
          <a:prstGeom prst="line">
            <a:avLst/>
          </a:prstGeom>
          <a:noFill/>
          <a:ln w="254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8375904" y="1522293"/>
            <a:ext cx="297180" cy="0"/>
          </a:xfrm>
          <a:prstGeom prst="line">
            <a:avLst/>
          </a:prstGeom>
          <a:noFill/>
          <a:ln w="25400">
            <a:solidFill>
              <a:srgbClr val="E07B6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246620" y="197281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∞ as N→∞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(unbounded on L²(ℝ)!)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55080" y="4535424"/>
            <a:ext cx="0" cy="73152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6281928" y="460857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949440" y="4535424"/>
            <a:ext cx="0" cy="73152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6876288" y="460857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43800" y="4535424"/>
            <a:ext cx="0" cy="73152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7470648" y="460857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138160" y="4535424"/>
            <a:ext cx="0" cy="73152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8065008" y="460857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724144" y="3878885"/>
            <a:ext cx="73152" cy="0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5577840" y="3805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724144" y="3185770"/>
            <a:ext cx="73152" cy="0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5577840" y="311261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724144" y="2492654"/>
            <a:ext cx="73152" cy="0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5577840" y="241950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24144" y="1799539"/>
            <a:ext cx="73152" cy="0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5577840" y="17263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7784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finite interval → bounded; ℝ → unbounded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LO2 · MSc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LO2: Bounded vs Unbounded Ops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require careful domain specification. Key example: p̂ = −iℏd/dx on L²([0,1]).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indices (n₊, n₋): count dimensions of ker(Â* ∓ i).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extensions exist iff n₊ = n₋.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p̂ on L²([0,1]): n₊ = n₋ = 1 → one-parameter family of s.a. extensions p̂_θ with boundary conditions ψ(1) = e^{iθ}ψ(0).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θ give different physics (different spectra)!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n± = dim ker(Â*∓i)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s.a. extension iff n₊ = n₋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p̂_θ: ψ(1) = e^{iθ}ψ(0)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deficiency index theorem: the space of s.a. extensions is parametrised by U(n₊) when n₊ = n₋ = 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of Unbounded Operators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77250" y="1712708"/>
            <a:ext cx="2401580" cy="1921264"/>
          </a:xfrm>
          <a:prstGeom prst="ellipse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5867522" y="2673340"/>
            <a:ext cx="2621036" cy="0"/>
          </a:xfrm>
          <a:prstGeom prst="line">
            <a:avLst/>
          </a:prstGeom>
          <a:noFill/>
          <a:ln w="15240">
            <a:solidFill>
              <a:srgbClr val="3A6A8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7178040" y="3694011"/>
            <a:ext cx="0" cy="0"/>
          </a:xfrm>
          <a:prstGeom prst="line">
            <a:avLst/>
          </a:prstGeom>
          <a:noFill/>
          <a:ln w="15240">
            <a:solidFill>
              <a:srgbClr val="3A6A8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506846" y="258190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68312" y="145150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67751" y="26276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6808107" y="26276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7564604" y="26276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8256260" y="26276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6217408" y="3033577"/>
            <a:ext cx="1921264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5669280" y="44622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5815584" y="441655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σₚ(A): point spectrum (eigenvalues)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69280" y="4736592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5998464" y="4645152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σ_c(A): continuous spectrum (x̂, p̂)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69280" y="4937760"/>
            <a:ext cx="274320" cy="0"/>
          </a:xfrm>
          <a:prstGeom prst="line">
            <a:avLst/>
          </a:prstGeom>
          <a:noFill/>
          <a:ln w="25400">
            <a:solidFill>
              <a:srgbClr val="E07B6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5998464" y="4855464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σ_r(A): residual spectrum (rare)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LO2 · PhD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3: The Adjoint Operator Â†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LO3: The Adjoint Operator Â†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A† is the 'mirror image' of A in the inner product.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matrices: A† = conjugate transpose = take transpose, then complex conjugate each entry.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(A†)ᵢⱼ = (A)ⱼᵢ* (swap row↔col, take complex conjugate).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σ₊ = [[0,1],[0,0]] raises spin. σ₊† = σ₋ = [[0,0],[1,0]] lowers spin.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reverses the action: where A raises, A† lowers.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(A†)ᵢⱼ = (A)ⱼᵢ*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(A†)† = A  (involution)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σ₊† = σ₋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compute [[1+i, 2],[3, 4−i]]†. Answer: [[1−i, 3],[2, 4+i]].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Adjoint A†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0" y="12893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1106424"/>
            <a:ext cx="0" cy="640080"/>
          </a:xfrm>
          <a:prstGeom prst="line">
            <a:avLst/>
          </a:prstGeom>
          <a:noFill/>
          <a:ln w="190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839712" y="1106424"/>
            <a:ext cx="0" cy="640080"/>
          </a:xfrm>
          <a:prstGeom prst="line">
            <a:avLst/>
          </a:prstGeom>
          <a:noFill/>
          <a:ln w="190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071616" y="1152144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76288" y="1426464"/>
            <a:ext cx="53035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424928" y="1106424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Transpose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(swap rows↔cols)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339328" y="1106424"/>
            <a:ext cx="0" cy="640080"/>
          </a:xfrm>
          <a:prstGeom prst="line">
            <a:avLst/>
          </a:prstGeom>
          <a:noFill/>
          <a:ln w="190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9162288" y="1106424"/>
            <a:ext cx="0" cy="640080"/>
          </a:xfrm>
          <a:prstGeom prst="line">
            <a:avLst/>
          </a:prstGeom>
          <a:noFill/>
          <a:ln w="190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8394192" y="1152144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50808" y="1993392"/>
            <a:ext cx="0" cy="146304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998464" y="19933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Complex Conjugate (z → z*)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0" y="21945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A† =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08192" y="2157984"/>
            <a:ext cx="0" cy="6400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6931152" y="2157984"/>
            <a:ext cx="0" cy="6400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6163056" y="2203704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 c*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b*  d*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02752" y="2176272"/>
            <a:ext cx="54864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8339328" y="21945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(A†)ᵢⱼ = (A)ⱼᵢ*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(conjugate transpose)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LO3 · HS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LO3: The Adjoint Operator Â†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A† is the unique operator satisfying ⟨φ|Aψ⟩ = ⟨A†φ|ψ⟩ for all |φ⟩, |ψ⟩.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n×n matrices: (A†)ᵢⱼ = (A)ⱼᵢ* (conjugate transpose).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 (i) (A†)† = A; (ii) (AB)† = B†A† (reversal!); (iii) (αA)† = α*A†.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Hermitian: A = A† (real eigenvalues — observables). Anti-Hermitian: A = −A†.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matrices σₓ, σᵧ, σᵤ are all Hermitian: σᵢ† = σᵢ.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⟨φ|Aψ⟩ = ⟨A†φ|ψ⟩  (definition)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(AB)† = B†A†  (reversal)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σᵢ† = σᵢ  (Hermitian)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(AB)† = B†A†: ⟨φ|(AB)ψ⟩ = ⟨A†φ|Bψ⟩ = ⟨B†A†φ|ψ⟩ by applying adjoint definition twice.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via Inner Product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1472184"/>
            <a:ext cx="1531620" cy="594360"/>
          </a:xfrm>
          <a:prstGeom prst="roundRect">
            <a:avLst>
              <a:gd name="adj" fmla="val 9231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577840" y="1472184"/>
            <a:ext cx="15316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 | Â | ψ⟩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27748" y="160934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38060" y="1472184"/>
            <a:ext cx="1531620" cy="594360"/>
          </a:xfrm>
          <a:prstGeom prst="roundRect">
            <a:avLst>
              <a:gd name="adj" fmla="val 9231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7338060" y="1472184"/>
            <a:ext cx="15316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⟨Â†φ | ψ⟩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9692" y="2066544"/>
            <a:ext cx="0" cy="27432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037326" y="20756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acts on |ψ⟩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(right side)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16418" y="2066544"/>
            <a:ext cx="0" cy="274320"/>
          </a:xfrm>
          <a:prstGeom prst="line">
            <a:avLst/>
          </a:prstGeom>
          <a:noFill/>
          <a:ln w="15240">
            <a:solidFill>
              <a:srgbClr val="2ECC7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7338060" y="2075688"/>
            <a:ext cx="1531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 acts on ⟨φ|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 side)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77840" y="4114800"/>
            <a:ext cx="3200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614416" y="4151376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= σ₊ = [[0,1],[0,0]]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14416" y="4352544"/>
            <a:ext cx="3127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A† = [[0,0],[1,0]] = σ₋  (lowering operator)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14416" y="4553712"/>
            <a:ext cx="3127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⟨φ|σ₊ψ⟩ = ⟨σ₋φ|ψ⟩  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14416" y="470916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(σ₊)† = σ₋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LO3 · BegUG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LO3: The Adjoint Operator Â†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adjoint: if A† and Ã both satisfy ⟨φ|Aψ⟩ = ⟨A†φ|ψ⟩ = ⟨Ãφ|ψ⟩, then ⟨(A†−Ã)φ|ψ⟩ = 0 for all |ψ⟩, so A† = Ã.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(A†)† = A: ⟨φ|(A†)†ψ⟩ = ⟨(A†)φ|ψ⟩* by anti-linearity ... (show details).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A = (A+A†)/2 + (A−A†)/2 = A_H + A_AH (unique, A_H Hermitian, A_AH anti-Hermitian).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= A†, all eigenvalues real and eigenvectors orthogonal (proved in L03).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Uniqueness: ⟨(A†−Ã)φ|ψ⟩=0 ⟹ A†=Ã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A_H + A_AH (unique decomp.)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A_H = (A+A†)/2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= [[1+i, 2],[3, 4−i]] into A_H and A_AH. Verify A_H = A_H†, A_AH = −A_AH†.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Adjoint Properties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106424"/>
            <a:ext cx="3163824" cy="1143000"/>
          </a:xfrm>
          <a:prstGeom prst="roundRect">
            <a:avLst>
              <a:gd name="adj" fmla="val 4800"/>
            </a:avLst>
          </a:prstGeom>
          <a:solidFill>
            <a:srgbClr val="0A152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650992" y="11612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(A†)† = 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0992" y="1435608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definition twice: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⟨φ|(A†)†ψ⟩ = ⟨A†φ|ψ⟩* ... = ⟨Aφ|ψ⟩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(A†)† = A  □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96128" y="2368296"/>
            <a:ext cx="3163824" cy="1143000"/>
          </a:xfrm>
          <a:prstGeom prst="roundRect">
            <a:avLst>
              <a:gd name="adj" fmla="val 4800"/>
            </a:avLst>
          </a:prstGeom>
          <a:solidFill>
            <a:srgbClr val="0A152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650992" y="2423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(AB)† = B†A†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50992" y="2697480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⟨φ|(AB)ψ⟩ = ⟨A†φ|Bψ⟩ = ⟨B†A†φ|ψ⟩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reverses!  □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96128" y="3630168"/>
            <a:ext cx="3163824" cy="1143000"/>
          </a:xfrm>
          <a:prstGeom prst="roundRect">
            <a:avLst>
              <a:gd name="adj" fmla="val 4800"/>
            </a:avLst>
          </a:prstGeom>
          <a:solidFill>
            <a:srgbClr val="0A1525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5650992" y="3685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‖A‖ = ‖A†‖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50992" y="3959352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from ‖A‖² = ‖A†A‖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‖A†A‖ = ‖AA†‖ for bounded 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LO3 · AdvUG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LO3: The Adjoint Operator Â†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bounded operators: Â† is the Hilbert space adjoint, related to the Banach adjoint by the Riesz map.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representation: every f ∈ ℋ* is of the form f = ⟨φ|·⟩ for a unique |φ⟩ ∈ ℋ.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adjoint A*: Y* → X* defined by (A*g)(x) = g(Ax). Coincides with Hilbert adjoint via Riesz map.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unbounded operators: domain of A† may differ from domain of A (subtle distinction between symmetric and self-adjoint).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Â is self-adjoint iff A = A† AND D(Â) = D(A†).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Riesz: ℋ ≅ ℋ* (anti-linear iso)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Banach: (A*g)(x) = g(Ax)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D(Â) = D(A†) for self-adjoint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For bounded Â on ℋ, the Hilbert adjoint Â† exists uniquely and ‖Â†‖ = ‖Â‖.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and the Adjoint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115568"/>
            <a:ext cx="1531620" cy="457200"/>
          </a:xfrm>
          <a:prstGeom prst="roundRect">
            <a:avLst>
              <a:gd name="adj" fmla="val 12000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596128" y="1115568"/>
            <a:ext cx="1531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  (ket space)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|φ⟩, |ψ⟩ ∈ 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8332" y="1115568"/>
            <a:ext cx="1531620" cy="457200"/>
          </a:xfrm>
          <a:prstGeom prst="roundRect">
            <a:avLst>
              <a:gd name="adj" fmla="val 12000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228332" y="1115568"/>
            <a:ext cx="1531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ℋ* (bra space)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⟨φ|, ⟨ψ| ∈ ℋ*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64324" y="1344168"/>
            <a:ext cx="457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7210044" y="1417320"/>
            <a:ext cx="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164324" y="1143000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Riesz: |φ⟩ ↔ ⟨φ|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96128" y="1883664"/>
            <a:ext cx="1531620" cy="457200"/>
          </a:xfrm>
          <a:prstGeom prst="roundRect">
            <a:avLst>
              <a:gd name="adj" fmla="val 12000"/>
            </a:avLst>
          </a:prstGeom>
          <a:solidFill>
            <a:srgbClr val="1A2A40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5596128" y="1883664"/>
            <a:ext cx="1531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Â: ℋ → 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↦ Â|ψ⟩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8332" y="1883664"/>
            <a:ext cx="1531620" cy="457200"/>
          </a:xfrm>
          <a:prstGeom prst="roundRect">
            <a:avLst>
              <a:gd name="adj" fmla="val 12000"/>
            </a:avLst>
          </a:prstGeom>
          <a:solidFill>
            <a:srgbClr val="1A4030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228332" y="1883664"/>
            <a:ext cx="1531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Â†: ℋ → 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 ↦ ⟨φ|Â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64324" y="2112264"/>
            <a:ext cx="45720" cy="0"/>
          </a:xfrm>
          <a:prstGeom prst="line">
            <a:avLst/>
          </a:prstGeom>
          <a:noFill/>
          <a:ln w="19050">
            <a:solidFill>
              <a:srgbClr val="9B72CF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7164324" y="1929384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96128" y="2706624"/>
            <a:ext cx="31638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5632704" y="2752344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Theorem: For every f ∈ ℋ*, ∃! |φ⟩ ∈ ℋ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that f(|ψ⟩) = ⟨φ|ψ⟩ for all |ψ⟩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ℋ ≅ ℋ* (self-dual)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LO3 · MSc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LO3: The Adjoint Operator Â†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vs. Hermitian: for unbounded Â, 'Hermitian' (symmetric on dense domain) ≠ 'self-adjoint' (Â = Â† with D(Â) = D(A†)).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theory: self-adjoint extensions of symmetric operators classified by deficiency spaces N± = ker(Â* ∓ i).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p̂ = −iℏd/dx on L²([0,1]) with domain C∞_c(0,1): symmetric but not s.a. — n₊ = n₋ = 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extensions p̂_θ: ψ(1) = e^{iθ}ψ(0), θ ∈ [0,2π).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different θ = different boundary conditions = different quantum mechanics!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Symmetric: D(Â)⊂D(Â†), Â†|_{D}=Â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Self-adjoint: D(Â)=D(Â†)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n± = dim ker(Â*∓i)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Hellinger–Toeplitz: a symmetric operator with D(Â) = ℋ is automatically bounded. So all unbounded symmetric ops have proper domain.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Issues for Unbounded Adjoints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50992" y="1133856"/>
            <a:ext cx="1082650" cy="475488"/>
          </a:xfrm>
          <a:prstGeom prst="roundRect">
            <a:avLst>
              <a:gd name="adj" fmla="val 11538"/>
            </a:avLst>
          </a:prstGeom>
          <a:solidFill>
            <a:srgbClr val="1A305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650992" y="1133856"/>
            <a:ext cx="108265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D(Â) ⊊ 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subset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46874" y="1133856"/>
            <a:ext cx="1285646" cy="475488"/>
          </a:xfrm>
          <a:prstGeom prst="roundRect">
            <a:avLst>
              <a:gd name="adj" fmla="val 11538"/>
            </a:avLst>
          </a:prstGeom>
          <a:solidFill>
            <a:srgbClr val="1A403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446874" y="1133856"/>
            <a:ext cx="128564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D(Â†) ⊇ D(Â) 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70218" y="1371600"/>
            <a:ext cx="6400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770218" y="1133856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96128" y="1746504"/>
            <a:ext cx="3163824" cy="566928"/>
          </a:xfrm>
          <a:prstGeom prst="roundRect">
            <a:avLst>
              <a:gd name="adj" fmla="val 6452"/>
            </a:avLst>
          </a:prstGeom>
          <a:solidFill>
            <a:srgbClr val="0A1525"/>
          </a:solidFill>
          <a:ln w="1524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5650992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50992" y="199339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D(Â) ⊂ D(Â†) and Â†|_{D(A)} = Â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 Â† ≠ Â — domains differ!)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96128" y="2386584"/>
            <a:ext cx="3163824" cy="566928"/>
          </a:xfrm>
          <a:prstGeom prst="roundRect">
            <a:avLst>
              <a:gd name="adj" fmla="val 6452"/>
            </a:avLst>
          </a:prstGeom>
          <a:solidFill>
            <a:srgbClr val="0A1525"/>
          </a:solidFill>
          <a:ln w="1524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650992" y="24231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50992" y="263347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D(Â†) = D(Â) and Â† = Â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(observables require this!)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96128" y="3026664"/>
            <a:ext cx="3163824" cy="566928"/>
          </a:xfrm>
          <a:prstGeom prst="roundRect">
            <a:avLst>
              <a:gd name="adj" fmla="val 6452"/>
            </a:avLst>
          </a:prstGeom>
          <a:solidFill>
            <a:srgbClr val="0A1525"/>
          </a:solidFill>
          <a:ln w="1524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5650992" y="3063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self-adj.: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50992" y="327355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has a unique s.a. extension = Â̄†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LO3 · PhD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4: Operator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LO4: Operator Classification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 (A = A†) always have REAL eigenvalues — perfect for measurement outcomes!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operators (A = −A†) have PURELY IMAGINARY eigenvalues.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(AA† = 1̂) have eigenvalues ON THE UNIT CIRCLE |λ| = 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σ₃ (Hermitian, λ = ±1); iσ₃ (anti-Hermitian, λ = ±i); e^{iθ} (unitary, |e^{iθ}|=1).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eigenvalue tells you the physical role of the operator.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Hermitian: λ ∈ ℝ  (observable)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Anti-Hermitian: λ ∈ iℝ  (generator)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Unitary: |λ| = 1  (symmetry)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classification: compute Aσ₂A† for A arbitrary. Does σ₂ = σ₂†? Eigenvalues: ±1 ∈ ℝ → Hermitian ✓.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Eigenvalues Live?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9320" y="2716225"/>
            <a:ext cx="2377440" cy="0"/>
          </a:xfrm>
          <a:prstGeom prst="line">
            <a:avLst/>
          </a:prstGeom>
          <a:noFill/>
          <a:ln w="1905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7178040" y="3722065"/>
            <a:ext cx="0" cy="0"/>
          </a:xfrm>
          <a:prstGeom prst="line">
            <a:avLst/>
          </a:prstGeom>
          <a:noFill/>
          <a:ln w="1905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385048" y="262478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Re(λ)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1618945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Im(λ)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82512" y="2652217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6839712" y="2652217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7296912" y="2652217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7754112" y="2652217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8119872" y="2652217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6007608" y="285338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∈ ℝ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14032" y="2012137"/>
            <a:ext cx="128016" cy="128016"/>
          </a:xfrm>
          <a:prstGeom prst="ellipse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7114032" y="2423617"/>
            <a:ext cx="128016" cy="128016"/>
          </a:xfrm>
          <a:prstGeom prst="ellipse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7114032" y="2972257"/>
            <a:ext cx="128016" cy="128016"/>
          </a:xfrm>
          <a:prstGeom prst="ellipse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7114032" y="3338017"/>
            <a:ext cx="128016" cy="128016"/>
          </a:xfrm>
          <a:prstGeom prst="ellipse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7315200" y="1938985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−A†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∈ iℝ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2213305"/>
            <a:ext cx="1005840" cy="1005840"/>
          </a:xfrm>
          <a:prstGeom prst="ellipse">
            <a:avLst/>
          </a:prstGeom>
          <a:solidFill>
            <a:srgbClr val="0D1B2A">
              <a:alpha val="0"/>
            </a:srgbClr>
          </a:solidFill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7580376" y="2002993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|λ|=1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LO4 · HS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LO4: Operator Classification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2×2 operators: given A, compute A† = (A*)ᵀ, then check: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A = A†? → HERMITIAN. Real eigenvalues, orthogonal eigenvectors.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A = −A†? → ANTI-HERMITIAN. Imaginary eigenvalues. i×(anti-Hermitian) = Hermitian.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AA† = A†A = 1̂? → UNITARY. Eigenvalues on unit circle, preserves inner products.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(iv) None of the above? → general complex operator.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decomposes: A = (A+A†)/2 + (A−A†)/2 (Hermitian + anti-Hermitian).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A†  →  eigenvalues ∈ 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−A†  →  eigenvalues ∈ iℝ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AA† = 1̂  →  |eigenvalues| = 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σ₁ (Hermitian), iσ₁ (anti-Hermitian), e^{iθσ₁} (unitary). Verify each classification.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Decision Tree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47638" y="1078992"/>
            <a:ext cx="1860804" cy="365760"/>
          </a:xfrm>
          <a:prstGeom prst="roundRect">
            <a:avLst>
              <a:gd name="adj" fmla="val 20000"/>
            </a:avLst>
          </a:prstGeom>
          <a:solidFill>
            <a:srgbClr val="1A3A5A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247638" y="1078992"/>
            <a:ext cx="18608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A†.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= A†?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47638" y="1444752"/>
            <a:ext cx="0" cy="32004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744718" y="1490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96128" y="1792224"/>
            <a:ext cx="1184148" cy="475488"/>
          </a:xfrm>
          <a:prstGeom prst="roundRect">
            <a:avLst>
              <a:gd name="adj" fmla="val 11538"/>
            </a:avLst>
          </a:prstGeom>
          <a:solidFill>
            <a:srgbClr val="0A302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596128" y="1792224"/>
            <a:ext cx="11841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A†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eigenvalues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✓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08442" y="1444752"/>
            <a:ext cx="137160" cy="320040"/>
          </a:xfrm>
          <a:prstGeom prst="line">
            <a:avLst/>
          </a:prstGeom>
          <a:noFill/>
          <a:ln w="19050">
            <a:solidFill>
              <a:srgbClr val="E07B6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8145018" y="1481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= −A†?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81594" y="2148840"/>
            <a:ext cx="0" cy="3657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8071866" y="21579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35290" y="2542032"/>
            <a:ext cx="1116482" cy="475488"/>
          </a:xfrm>
          <a:prstGeom prst="roundRect">
            <a:avLst>
              <a:gd name="adj" fmla="val 11538"/>
            </a:avLst>
          </a:prstGeom>
          <a:solidFill>
            <a:srgbClr val="2A1A00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035290" y="2542032"/>
            <a:ext cx="111648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−A†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imaginary eigenvalues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✓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279788" y="2331720"/>
            <a:ext cx="0" cy="210312"/>
          </a:xfrm>
          <a:prstGeom prst="line">
            <a:avLst/>
          </a:prstGeom>
          <a:noFill/>
          <a:ln w="15240">
            <a:solidFill>
              <a:srgbClr val="7B8FA6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9256014" y="23774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23426" y="2542032"/>
            <a:ext cx="947318" cy="475488"/>
          </a:xfrm>
          <a:prstGeom prst="roundRect">
            <a:avLst>
              <a:gd name="adj" fmla="val 11538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9123426" y="2542032"/>
            <a:ext cx="9473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eigenvalues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observable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LO4 · BegUG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LO4: Operator Classification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finite-dimensional operators, classification by spectrum and adjoint relation: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A = A†: all λₙ ∈ ℝ, orthonormal eigenbasis, spectral theorem applies.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operators AA† = A†A: same as Hermitian but eigenvalues can be complex; still diagonalisable.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Unitaries form a group U(n) under composition; Hermitians form a real vector space.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Commutator: if A = A†, B = B†, then i[A,B] is Hermitian (key for quantum mechanics!).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Normal: AA† = A†A  (diag'able)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i[A,B] Hermitian if A,B Hermitian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U(n) group, Herm = Lie algebra u(n)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if A = A†, B = B†, then i[A,B] = i(AB−BA) is Hermitian. [Check: (i[A,B])† = −i[A,B]† = i[A,B] ✓]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Decomposition of Any Operator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10789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A3A5A"/>
          </a:solidFill>
          <a:ln w="254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720840" y="10789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(any operator)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1536192"/>
            <a:ext cx="0" cy="3657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7360920" y="1536192"/>
            <a:ext cx="640080" cy="36576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5596128" y="1929384"/>
            <a:ext cx="1420978" cy="594360"/>
          </a:xfrm>
          <a:prstGeom prst="roundRect">
            <a:avLst>
              <a:gd name="adj" fmla="val 9231"/>
            </a:avLst>
          </a:prstGeom>
          <a:solidFill>
            <a:srgbClr val="0A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596128" y="1929384"/>
            <a:ext cx="14209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(Hermitian part)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 + Â†) /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86600" y="213969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38974" y="1929384"/>
            <a:ext cx="1420978" cy="594360"/>
          </a:xfrm>
          <a:prstGeom prst="roundRect">
            <a:avLst>
              <a:gd name="adj" fmla="val 9231"/>
            </a:avLst>
          </a:prstGeom>
          <a:solidFill>
            <a:srgbClr val="2A1A00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7338974" y="1929384"/>
            <a:ext cx="14209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(Anti-Hermitian)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 − Â†) /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2660904"/>
            <a:ext cx="3163824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614416" y="2734056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 = Â_H†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36892" y="2734056"/>
            <a:ext cx="1420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eigenvalues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14416" y="3026664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 = −Â_AH†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6892" y="3026664"/>
            <a:ext cx="1420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imaginary eigenvalues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14416" y="3319272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iÂ_AH is Hermitian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36892" y="3319272"/>
            <a:ext cx="1420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generators of unitaries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14416" y="3611880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decomposition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6892" y="3611880"/>
            <a:ext cx="1420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 all bounded Â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LO4 · AdvUG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LO4: Operator Classification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for bounded self-adjoint operators: A = ∫λ dP(λ) where P is a projection-valued measure.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 operators: same but λ ∈ ℂ. Unitary operators: spectrum on S¹.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Fuglede's theorem: if AN = NA* for normal N, then AN* = N*A.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Borel functional calculus: f(A) = ∫f(λ)dP(λ) for any bounded Borel f: σ(A) → 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algebras: closed under weak limits; generated by spectral projections of self-adjoint operators.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∫λ dP(λ)  (spectral meas.)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f(A) = ∫f(λ) dP(λ)  (func. calc.)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σ(A) ⊂ ℝ iff A = A†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Borel functional calculus extends the spectral theorem: any bounded Borel function of a self-adjoint operator is a well-defined bounded operator.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of Operator Classes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078992"/>
            <a:ext cx="777240" cy="566928"/>
          </a:xfrm>
          <a:prstGeom prst="roundRect">
            <a:avLst>
              <a:gd name="adj" fmla="val 8065"/>
            </a:avLst>
          </a:prstGeom>
          <a:solidFill>
            <a:srgbClr val="0A1A2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596128" y="10789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A†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73852" y="1719072"/>
            <a:ext cx="590702" cy="590702"/>
          </a:xfrm>
          <a:prstGeom prst="ellipse">
            <a:avLst/>
          </a:prstGeom>
          <a:solidFill>
            <a:srgbClr val="0A1020">
              <a:alpha val="70000"/>
            </a:srgbClr>
          </a:solidFill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5673852" y="2014423"/>
            <a:ext cx="590702" cy="0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5969203" y="1719072"/>
            <a:ext cx="0" cy="590702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5673852" y="2014423"/>
            <a:ext cx="59070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5596128" y="236463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σ(A) ⊆ ℝ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09944" y="1078992"/>
            <a:ext cx="777240" cy="566928"/>
          </a:xfrm>
          <a:prstGeom prst="roundRect">
            <a:avLst>
              <a:gd name="adj" fmla="val 8065"/>
            </a:avLst>
          </a:prstGeom>
          <a:solidFill>
            <a:srgbClr val="0A1A2A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6409944" y="10789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−A†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87668" y="1719072"/>
            <a:ext cx="590702" cy="590702"/>
          </a:xfrm>
          <a:prstGeom prst="ellipse">
            <a:avLst/>
          </a:prstGeom>
          <a:solidFill>
            <a:srgbClr val="0A1020">
              <a:alpha val="70000"/>
            </a:srgbClr>
          </a:solidFill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6487668" y="2014423"/>
            <a:ext cx="590702" cy="0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6783019" y="1719072"/>
            <a:ext cx="0" cy="590702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6487668" y="2014423"/>
            <a:ext cx="59070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6409944" y="236463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σ(A) ⊆ iℝ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23760" y="1078992"/>
            <a:ext cx="777240" cy="566928"/>
          </a:xfrm>
          <a:prstGeom prst="roundRect">
            <a:avLst>
              <a:gd name="adj" fmla="val 8065"/>
            </a:avLst>
          </a:prstGeom>
          <a:solidFill>
            <a:srgbClr val="0A1A2A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7223760" y="10789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AA† = 1̂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01484" y="1719072"/>
            <a:ext cx="590702" cy="590702"/>
          </a:xfrm>
          <a:prstGeom prst="ellipse">
            <a:avLst/>
          </a:prstGeom>
          <a:solidFill>
            <a:srgbClr val="0A1020">
              <a:alpha val="70000"/>
            </a:srgbClr>
          </a:solidFill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7301484" y="2014423"/>
            <a:ext cx="590702" cy="0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7596835" y="1719072"/>
            <a:ext cx="0" cy="590702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7381229" y="1798817"/>
            <a:ext cx="431213" cy="431213"/>
          </a:xfrm>
          <a:prstGeom prst="ellipse">
            <a:avLst/>
          </a:prstGeom>
          <a:solidFill>
            <a:srgbClr val="0D1B2A">
              <a:alpha val="0"/>
            </a:srgbClr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7223760" y="236463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σ(A) ⊆ S¹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037576" y="1078992"/>
            <a:ext cx="777240" cy="566928"/>
          </a:xfrm>
          <a:prstGeom prst="roundRect">
            <a:avLst>
              <a:gd name="adj" fmla="val 8065"/>
            </a:avLst>
          </a:prstGeom>
          <a:solidFill>
            <a:srgbClr val="0A1A2A"/>
          </a:solidFill>
          <a:ln w="1905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8037576" y="10789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AA† = A†A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115300" y="1719072"/>
            <a:ext cx="590702" cy="590702"/>
          </a:xfrm>
          <a:prstGeom prst="ellipse">
            <a:avLst/>
          </a:prstGeom>
          <a:solidFill>
            <a:srgbClr val="0A1020">
              <a:alpha val="70000"/>
            </a:srgbClr>
          </a:solidFill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Shape 41"/>
          <p:cNvSpPr/>
          <p:nvPr/>
        </p:nvSpPr>
        <p:spPr>
          <a:xfrm>
            <a:off x="8115300" y="2014423"/>
            <a:ext cx="590702" cy="0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Shape 42"/>
          <p:cNvSpPr/>
          <p:nvPr/>
        </p:nvSpPr>
        <p:spPr>
          <a:xfrm>
            <a:off x="8410651" y="1719072"/>
            <a:ext cx="0" cy="590702"/>
          </a:xfrm>
          <a:prstGeom prst="line">
            <a:avLst/>
          </a:prstGeom>
          <a:noFill/>
          <a:ln w="9525">
            <a:solidFill>
              <a:srgbClr val="3A6A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Shape 43"/>
          <p:cNvSpPr/>
          <p:nvPr/>
        </p:nvSpPr>
        <p:spPr>
          <a:xfrm>
            <a:off x="8195045" y="1798817"/>
            <a:ext cx="431213" cy="431213"/>
          </a:xfrm>
          <a:prstGeom prst="ellipse">
            <a:avLst/>
          </a:prstGeom>
          <a:solidFill>
            <a:srgbClr val="9B72CF">
              <a:alpha val="40000"/>
            </a:srgbClr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Text 44"/>
          <p:cNvSpPr/>
          <p:nvPr/>
        </p:nvSpPr>
        <p:spPr>
          <a:xfrm>
            <a:off x="8037576" y="236463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σ(A) ⊆ ℂ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96128" y="4507992"/>
            <a:ext cx="3163824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2A5A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46"/>
          <p:cNvSpPr/>
          <p:nvPr/>
        </p:nvSpPr>
        <p:spPr>
          <a:xfrm>
            <a:off x="5632704" y="4526280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⟹ normal;  unitary ⟹ normal;  normal ⟺ diagonalisable (spectral theorem)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LO4 · MSc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LO4: Operator Classification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C*-algebra perspective: B(ℋ) is a C*-algebra with involution A ↦ A†, satisfying ‖A†A‖ = ‖A‖².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Gelfand–Naimark: every C*-algebra is ∗-isomorphic to a closed subalgebra of B(ℋ).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 construction: from a state ω on a C*-algebra, construct a Hilbert space ℋ_ω and representation.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Tomita–Takesaki: for von Neumann algebras, the modular operator Δ and modular conjugation J classify the algebra.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KMS states, thermal equilibrium, and quantum statistical mechanics emerge from Tomita–Takesaki.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C*: ‖A*A‖ = ‖A‖² (identity)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GNS: ω → (ℋ_ω, π_ω, |Ω⟩)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Tomita: JMJ = M' (commutant)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abstract quantum theory (C*-algebra + state) can be concretely realised as operators on a Hilbert space via the GNS construction.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C*-Algebra Classification &amp; GNS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55564" y="1088136"/>
            <a:ext cx="3044952" cy="6858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 w="15240">
            <a:solidFill>
              <a:srgbClr val="3A7A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655564" y="1115568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algebra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55564" y="136245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‖AB‖ ≤ ‖A‖‖B‖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78040" y="1773936"/>
            <a:ext cx="0" cy="137160"/>
          </a:xfrm>
          <a:prstGeom prst="line">
            <a:avLst/>
          </a:prstGeom>
          <a:noFill/>
          <a:ln w="15240">
            <a:solidFill>
              <a:srgbClr val="3A6A8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5909310" y="1911096"/>
            <a:ext cx="2537460" cy="6858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 w="1524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909310" y="1938528"/>
            <a:ext cx="25374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C*-algebra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09310" y="2185416"/>
            <a:ext cx="25374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‖A*A‖ = ‖A‖²  (C*-identity)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8040" y="2596896"/>
            <a:ext cx="0" cy="137160"/>
          </a:xfrm>
          <a:prstGeom prst="line">
            <a:avLst/>
          </a:prstGeom>
          <a:noFill/>
          <a:ln w="15240">
            <a:solidFill>
              <a:srgbClr val="3A6A8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6196889" y="2734056"/>
            <a:ext cx="1962302" cy="6858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 w="1524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6196889" y="2761488"/>
            <a:ext cx="19623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algebra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6889" y="3008376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in weak operator topology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78040" y="3419856"/>
            <a:ext cx="0" cy="137160"/>
          </a:xfrm>
          <a:prstGeom prst="line">
            <a:avLst/>
          </a:prstGeom>
          <a:noFill/>
          <a:ln w="15240">
            <a:solidFill>
              <a:srgbClr val="3A6A8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6467551" y="3557016"/>
            <a:ext cx="1420978" cy="6858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6467551" y="3584448"/>
            <a:ext cx="1420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B(ℋ) bounded operators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67551" y="3831336"/>
            <a:ext cx="1420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every C*-algebra ↪ B(ℋ)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77840" y="4727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Gelfand–Naimark–Segal: every C*-algebra is ∗-isomorphic to a subalgebra of B(ℋ)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LO4 · PhD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Topic Slides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L01: Advanced Mathematical Foundations — each with diagram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Lebesgue Integration  ·  Banach Spaces  ·  Banach Duality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Lebesgue Integration and L²(ℝ)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step functions to square-integrable wavefunctions — the measure-theoretic foundation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61610" y="4875669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3579435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Lebesgue Integration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5703"/>
            <a:ext cx="4846320" cy="1495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45719" cy="151680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93192" y="877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LEBESGUE, NOT RIEMANN?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247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Riemann integral fails for: pointwise limits of sequences, functions with many discontinuities, infinite-dimensional completeness.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Lebesgue's key insight: measure the domain first. For f: ℝ → ℝ, partition the RANGE [a,b] into strips of height ε, then measure the set {x : a ≤ f(x) &lt; a+ε}.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integration of far more functions than Riemann, and crucially makes L²(ℝ) complete (Riesz–Fischer theorem).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279904"/>
            <a:ext cx="48463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228600" y="2279904"/>
            <a:ext cx="45719" cy="167030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393192" y="2353056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FORMALLY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99944"/>
            <a:ext cx="457200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= { f: ℝ→ℂ measurable | ∫|f(x)|²dμ &lt; ∞ }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⟨f|g⟩ = ∫f*(x)g(x)dμ(x)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‖f‖² = ∫|f(x)|²dμ(x)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identify f ~ g when ∫|f−g|²dμ = 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(equal almost everywhere — measure zero sets ignored)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Riesz–Fischer: every Cauchy sequence in L²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a function in L² → COMPLETE.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4067310"/>
            <a:ext cx="4846320" cy="1009527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228600" y="4067310"/>
            <a:ext cx="45720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93192" y="4140462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SIGNIFICANCE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38735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Wavefunctions ψ(x) ∈ L²(ℝ): normalisable quantum states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 integral would exclude physically reasonable ψ (e.g., limits of wave packets)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Lebesgue theory makes ‖ψ(t)‖ = const rigorous for all 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delta δ(x) lives in L²-dual, not L² itself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804672"/>
            <a:ext cx="3611880" cy="3995487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5257800" y="8595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Lebesgue vs. Riemann 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58968" y="1097280"/>
            <a:ext cx="14859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58968" y="2953512"/>
            <a:ext cx="1485900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5458968" y="2953512"/>
            <a:ext cx="0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981444" y="2862072"/>
            <a:ext cx="146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30952" y="1453896"/>
            <a:ext cx="146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458968" y="2951253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5558028" y="2942807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5657088" y="2912902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5756148" y="2830149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5855208" y="2653442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30"/>
          <p:cNvSpPr/>
          <p:nvPr/>
        </p:nvSpPr>
        <p:spPr>
          <a:xfrm>
            <a:off x="5954268" y="2369055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31"/>
          <p:cNvSpPr/>
          <p:nvPr/>
        </p:nvSpPr>
        <p:spPr>
          <a:xfrm>
            <a:off x="6053328" y="2041979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Shape 32"/>
          <p:cNvSpPr/>
          <p:nvPr/>
        </p:nvSpPr>
        <p:spPr>
          <a:xfrm>
            <a:off x="6152388" y="1815145"/>
            <a:ext cx="99060" cy="0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6251448" y="1815145"/>
            <a:ext cx="99060" cy="226834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6350508" y="2041979"/>
            <a:ext cx="99060" cy="327076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6449568" y="2369055"/>
            <a:ext cx="99060" cy="284387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6548628" y="2653442"/>
            <a:ext cx="99060" cy="176708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Shape 37"/>
          <p:cNvSpPr/>
          <p:nvPr/>
        </p:nvSpPr>
        <p:spPr>
          <a:xfrm>
            <a:off x="6647688" y="2830149"/>
            <a:ext cx="99060" cy="82753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Shape 38"/>
          <p:cNvSpPr/>
          <p:nvPr/>
        </p:nvSpPr>
        <p:spPr>
          <a:xfrm>
            <a:off x="6746748" y="2912902"/>
            <a:ext cx="99060" cy="29905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Shape 39"/>
          <p:cNvSpPr/>
          <p:nvPr/>
        </p:nvSpPr>
        <p:spPr>
          <a:xfrm>
            <a:off x="6845808" y="2942807"/>
            <a:ext cx="99060" cy="8445"/>
          </a:xfrm>
          <a:prstGeom prst="line">
            <a:avLst/>
          </a:prstGeom>
          <a:noFill/>
          <a:ln w="2286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Shape 40"/>
          <p:cNvSpPr/>
          <p:nvPr/>
        </p:nvSpPr>
        <p:spPr>
          <a:xfrm>
            <a:off x="5458968" y="2938258"/>
            <a:ext cx="238506" cy="15254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Shape 41"/>
          <p:cNvSpPr/>
          <p:nvPr/>
        </p:nvSpPr>
        <p:spPr>
          <a:xfrm>
            <a:off x="5706618" y="2708176"/>
            <a:ext cx="238506" cy="245336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Shape 42"/>
          <p:cNvSpPr/>
          <p:nvPr/>
        </p:nvSpPr>
        <p:spPr>
          <a:xfrm>
            <a:off x="5954268" y="1969619"/>
            <a:ext cx="238506" cy="983893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Shape 43"/>
          <p:cNvSpPr/>
          <p:nvPr/>
        </p:nvSpPr>
        <p:spPr>
          <a:xfrm>
            <a:off x="6201918" y="1969619"/>
            <a:ext cx="238506" cy="983893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Shape 44"/>
          <p:cNvSpPr/>
          <p:nvPr/>
        </p:nvSpPr>
        <p:spPr>
          <a:xfrm>
            <a:off x="6449568" y="2708176"/>
            <a:ext cx="238506" cy="245336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Shape 45"/>
          <p:cNvSpPr/>
          <p:nvPr/>
        </p:nvSpPr>
        <p:spPr>
          <a:xfrm>
            <a:off x="6697218" y="2938258"/>
            <a:ext cx="238506" cy="15254"/>
          </a:xfrm>
          <a:prstGeom prst="rect">
            <a:avLst/>
          </a:prstGeom>
          <a:solidFill>
            <a:srgbClr val="1E5FA8">
              <a:alpha val="30000"/>
            </a:srgbClr>
          </a:solidFill>
          <a:ln w="635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46"/>
          <p:cNvSpPr/>
          <p:nvPr/>
        </p:nvSpPr>
        <p:spPr>
          <a:xfrm>
            <a:off x="5458968" y="3026664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x-axis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vertical strips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200900" y="1106424"/>
            <a:ext cx="14859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Lebesgue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00900" y="2953512"/>
            <a:ext cx="1485900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1" name="Shape 49"/>
          <p:cNvSpPr/>
          <p:nvPr/>
        </p:nvSpPr>
        <p:spPr>
          <a:xfrm>
            <a:off x="7200900" y="2953512"/>
            <a:ext cx="0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2" name="Text 50"/>
          <p:cNvSpPr/>
          <p:nvPr/>
        </p:nvSpPr>
        <p:spPr>
          <a:xfrm>
            <a:off x="8723376" y="2862072"/>
            <a:ext cx="146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072884" y="1453896"/>
            <a:ext cx="146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200900" y="2951253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Shape 53"/>
          <p:cNvSpPr/>
          <p:nvPr/>
        </p:nvSpPr>
        <p:spPr>
          <a:xfrm>
            <a:off x="7299960" y="2942807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Shape 54"/>
          <p:cNvSpPr/>
          <p:nvPr/>
        </p:nvSpPr>
        <p:spPr>
          <a:xfrm>
            <a:off x="7399020" y="2912902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7" name="Shape 55"/>
          <p:cNvSpPr/>
          <p:nvPr/>
        </p:nvSpPr>
        <p:spPr>
          <a:xfrm>
            <a:off x="7498080" y="2830149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8" name="Shape 56"/>
          <p:cNvSpPr/>
          <p:nvPr/>
        </p:nvSpPr>
        <p:spPr>
          <a:xfrm>
            <a:off x="7597140" y="2653442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9" name="Shape 57"/>
          <p:cNvSpPr/>
          <p:nvPr/>
        </p:nvSpPr>
        <p:spPr>
          <a:xfrm>
            <a:off x="7696200" y="2369055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0" name="Shape 58"/>
          <p:cNvSpPr/>
          <p:nvPr/>
        </p:nvSpPr>
        <p:spPr>
          <a:xfrm>
            <a:off x="7795260" y="2041979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Shape 59"/>
          <p:cNvSpPr/>
          <p:nvPr/>
        </p:nvSpPr>
        <p:spPr>
          <a:xfrm>
            <a:off x="7894320" y="1815145"/>
            <a:ext cx="99060" cy="0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Shape 60"/>
          <p:cNvSpPr/>
          <p:nvPr/>
        </p:nvSpPr>
        <p:spPr>
          <a:xfrm>
            <a:off x="7993380" y="1815145"/>
            <a:ext cx="99060" cy="226834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3" name="Shape 61"/>
          <p:cNvSpPr/>
          <p:nvPr/>
        </p:nvSpPr>
        <p:spPr>
          <a:xfrm>
            <a:off x="8092440" y="2041979"/>
            <a:ext cx="99060" cy="327076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4" name="Shape 62"/>
          <p:cNvSpPr/>
          <p:nvPr/>
        </p:nvSpPr>
        <p:spPr>
          <a:xfrm>
            <a:off x="8191500" y="2369055"/>
            <a:ext cx="99060" cy="284387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5" name="Shape 63"/>
          <p:cNvSpPr/>
          <p:nvPr/>
        </p:nvSpPr>
        <p:spPr>
          <a:xfrm>
            <a:off x="8290560" y="2653442"/>
            <a:ext cx="99060" cy="176708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6" name="Shape 64"/>
          <p:cNvSpPr/>
          <p:nvPr/>
        </p:nvSpPr>
        <p:spPr>
          <a:xfrm>
            <a:off x="8389620" y="2830149"/>
            <a:ext cx="99060" cy="82753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7" name="Shape 65"/>
          <p:cNvSpPr/>
          <p:nvPr/>
        </p:nvSpPr>
        <p:spPr>
          <a:xfrm>
            <a:off x="8488680" y="2912902"/>
            <a:ext cx="99060" cy="29905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8" name="Shape 66"/>
          <p:cNvSpPr/>
          <p:nvPr/>
        </p:nvSpPr>
        <p:spPr>
          <a:xfrm>
            <a:off x="8587740" y="2942807"/>
            <a:ext cx="99060" cy="8445"/>
          </a:xfrm>
          <a:prstGeom prst="line">
            <a:avLst/>
          </a:prstGeom>
          <a:noFill/>
          <a:ln w="228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Shape 67"/>
          <p:cNvSpPr/>
          <p:nvPr/>
        </p:nvSpPr>
        <p:spPr>
          <a:xfrm>
            <a:off x="7888721" y="2742834"/>
            <a:ext cx="110258" cy="210678"/>
          </a:xfrm>
          <a:prstGeom prst="rect">
            <a:avLst/>
          </a:prstGeom>
          <a:solidFill>
            <a:srgbClr val="00897B">
              <a:alpha val="40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0" name="Shape 68"/>
          <p:cNvSpPr/>
          <p:nvPr/>
        </p:nvSpPr>
        <p:spPr>
          <a:xfrm>
            <a:off x="7869578" y="2532156"/>
            <a:ext cx="148543" cy="210678"/>
          </a:xfrm>
          <a:prstGeom prst="rect">
            <a:avLst/>
          </a:prstGeom>
          <a:solidFill>
            <a:srgbClr val="00897B">
              <a:alpha val="40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1" name="Shape 69"/>
          <p:cNvSpPr/>
          <p:nvPr/>
        </p:nvSpPr>
        <p:spPr>
          <a:xfrm>
            <a:off x="7848755" y="2321479"/>
            <a:ext cx="190190" cy="210678"/>
          </a:xfrm>
          <a:prstGeom prst="rect">
            <a:avLst/>
          </a:prstGeom>
          <a:solidFill>
            <a:srgbClr val="00897B">
              <a:alpha val="40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2" name="Shape 70"/>
          <p:cNvSpPr/>
          <p:nvPr/>
        </p:nvSpPr>
        <p:spPr>
          <a:xfrm>
            <a:off x="7818508" y="2110801"/>
            <a:ext cx="250685" cy="210678"/>
          </a:xfrm>
          <a:prstGeom prst="rect">
            <a:avLst/>
          </a:prstGeom>
          <a:solidFill>
            <a:srgbClr val="00897B">
              <a:alpha val="40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3" name="Shape 71"/>
          <p:cNvSpPr/>
          <p:nvPr/>
        </p:nvSpPr>
        <p:spPr>
          <a:xfrm>
            <a:off x="7756422" y="1900123"/>
            <a:ext cx="374856" cy="210678"/>
          </a:xfrm>
          <a:prstGeom prst="rect">
            <a:avLst/>
          </a:prstGeom>
          <a:solidFill>
            <a:srgbClr val="00897B">
              <a:alpha val="40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4" name="Text 72"/>
          <p:cNvSpPr/>
          <p:nvPr/>
        </p:nvSpPr>
        <p:spPr>
          <a:xfrm>
            <a:off x="7200900" y="3026664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f-range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horizontal slabs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063740" y="1307592"/>
            <a:ext cx="0" cy="4617720"/>
          </a:xfrm>
          <a:prstGeom prst="line">
            <a:avLst/>
          </a:prstGeom>
          <a:noFill/>
          <a:ln w="9525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6" name="Text 74"/>
          <p:cNvSpPr/>
          <p:nvPr/>
        </p:nvSpPr>
        <p:spPr>
          <a:xfrm>
            <a:off x="5257800" y="4617279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in L²(ℝ)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394960" y="3497139"/>
            <a:ext cx="3337560" cy="1024128"/>
          </a:xfrm>
          <a:prstGeom prst="rect">
            <a:avLst/>
          </a:prstGeom>
          <a:solidFill>
            <a:srgbClr val="EAF4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8" name="Text 76"/>
          <p:cNvSpPr/>
          <p:nvPr/>
        </p:nvSpPr>
        <p:spPr>
          <a:xfrm>
            <a:off x="5458968" y="3533715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fₙ → f in L²: ‖fₙ − f‖² = ∫|fₙ(x) − f(x)|²dx → 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458968" y="3762315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Riesz–Fischer: every Cauchy sequence converges in L²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458968" y="3990915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a.e. limit ≠ L² limit in general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458968" y="4219515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dominated convergence → L² convergence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Banach Spaces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normed vector spaces: the broader family containing Hilbert spaces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8138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Banach Spaces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846320" cy="14127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45719" cy="14310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93192" y="877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BANACH SPACE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24712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Banach space is a complete normed vector space (X, ‖·‖) over ℝ or ℂ.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axioms: (N1) ‖x‖ ≥ 0, = 0 iff x = 0; (N2) ‖αx‖ = |α|‖x‖; (N3) ‖x+y‖ ≤ ‖x‖ + ‖y‖.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every Cauchy sequence {xₙ} with ‖xₙ−xₘ‖→0 converges to a limit in X.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Hilbert: a Banach space has a NORM but no INNER PRODUCT in general.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245876"/>
            <a:ext cx="4846320" cy="16311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228600" y="2245876"/>
            <a:ext cx="45719" cy="16311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393192" y="2319028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VS. BANACH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65916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ℋ: inner product ⟨·|·⟩ → norm ‖ψ‖ = √⟨ψ|ψ⟩. Every Hilbert space is Banach.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space: norm ‖·‖ only. NOT every norm comes from an inner product.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(Parallelogram law): a normed space is Hilbert iff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‖x+y‖² + ‖x−y‖² = 2(‖x‖² + ‖y‖²) for all x, y.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Lᵖ(ℝ) for p ≠ 2 is Banach but NOT Hilbert: the parallelogram law fails.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877864"/>
            <a:ext cx="4846320" cy="115214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228600" y="3877864"/>
            <a:ext cx="45720" cy="11521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93192" y="3951016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CONNECTION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197904"/>
            <a:ext cx="457200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state space is specifically a Hilbert space (needs inner product for Born rule and probabilities)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algebras (C*-algebras) are Banach *-algebras with the C*-identity ‖A*A‖ = ‖A‖²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Sobolev spaces (domains of differential operators) are Banach, often not Hilbert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79184" y="804672"/>
            <a:ext cx="3611880" cy="42245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5257800" y="868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Hierarchy &amp; Examples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1106424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0A1825"/>
          </a:solidFill>
          <a:ln w="15240">
            <a:solidFill>
              <a:srgbClr val="4A7A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513832" y="1133856"/>
            <a:ext cx="16230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13832" y="1344168"/>
            <a:ext cx="16230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+ scalar mult.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063740" y="1161288"/>
            <a:ext cx="15581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linear space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081314" y="1541295"/>
            <a:ext cx="0" cy="159871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7049580" y="1504039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0680" y="169164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0A1825"/>
          </a:solidFill>
          <a:ln w="15240">
            <a:solidFill>
              <a:srgbClr val="3A9A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513832" y="1755942"/>
            <a:ext cx="16230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Normed Space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13832" y="1966254"/>
            <a:ext cx="16230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‖·‖ satisfies N1–N3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063740" y="1783374"/>
            <a:ext cx="15581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polynomials P[0,1]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080791" y="2146777"/>
            <a:ext cx="4334" cy="157805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7095744" y="2125537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34632" y="232287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0A1825"/>
          </a:solidFill>
          <a:ln w="1524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5507784" y="2350302"/>
            <a:ext cx="16230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Space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07784" y="2560614"/>
            <a:ext cx="16230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completeness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57692" y="2377734"/>
            <a:ext cx="15581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Lᵖ(ℝ), C(K), ℓᵖ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49580" y="2768830"/>
            <a:ext cx="0" cy="175832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7051783" y="274349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43776" y="2944074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0A1825"/>
          </a:solidFill>
          <a:ln w="1524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5516928" y="2971506"/>
            <a:ext cx="16230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6928" y="3181818"/>
            <a:ext cx="16230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⟨·|·⟩ → norm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066836" y="2998938"/>
            <a:ext cx="15581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pre-Hilbert space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66836" y="3382986"/>
            <a:ext cx="0" cy="384048"/>
          </a:xfrm>
          <a:prstGeom prst="line">
            <a:avLst/>
          </a:prstGeom>
          <a:noFill/>
          <a:ln w="15240">
            <a:solidFill>
              <a:srgbClr val="4A7A9A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5" name="Text 43"/>
          <p:cNvSpPr/>
          <p:nvPr/>
        </p:nvSpPr>
        <p:spPr>
          <a:xfrm>
            <a:off x="6993684" y="347442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72684" y="3776325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0A182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/>
          <p:nvPr/>
        </p:nvSpPr>
        <p:spPr>
          <a:xfrm>
            <a:off x="5507784" y="3776178"/>
            <a:ext cx="16230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45836" y="4014069"/>
            <a:ext cx="16230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complete inner product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095744" y="3831189"/>
            <a:ext cx="15581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L²(ℝ), ℂⁿ, ℓ²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1828" y="4296987"/>
            <a:ext cx="32461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1" name="Text 49"/>
          <p:cNvSpPr/>
          <p:nvPr/>
        </p:nvSpPr>
        <p:spPr>
          <a:xfrm>
            <a:off x="5518404" y="4315275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 Law (Hilbert iff...)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18404" y="4534731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‖x+y‖² + ‖x−y‖² = 2(‖x‖² + ‖y‖²)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18404" y="4717611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 ‖·‖₁ and ‖·‖∞: not Hilbert!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Banach Duality: Operators and Distributions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pairing between function spaces and their duals — from bras to Schwartz distributions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6606" y="44263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Banach Duality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846320" cy="133502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393192" y="782025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DUAL SPACE X*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88957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Banach space X, the dual X* = B(X, ℂ) is the space of all continuous linear functionals f: X → ℂ.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on X*: ‖f‖_* = sup{ |f(x)| : ‖x‖ ≤ 1 }.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pairing ⟨f, x⟩ = f(x) is bilinear in (f, x) and bounded: |⟨f,x⟩| ≤ ‖f‖_* ‖x‖.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representation: For Hilbert ℋ, the map |φ⟩ ↦ ⟨φ|·⟩ is an ANTILINEAR isometric isomorphism ℋ → ℋ*. Hence ℋ ≅ ℋ* (self-dual).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7170" y="2160592"/>
            <a:ext cx="4846320" cy="13872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217170" y="2160592"/>
            <a:ext cx="59436" cy="1369627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381762" y="2137945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OPERATORS AND DUAL MAPS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0050" y="2262910"/>
            <a:ext cx="4572000" cy="12849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A: X → Y (bounded operator), the adjoint (Banach sense) A*: Y* → X* is defined by: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(A*g)(x) = g(Ax)   for g ∈ Y*, x ∈ X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BANACH adjoint (also called transpose). For Hilbert spaces, it coincides with the Hilbert adjoint A†.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‖A*‖ = ‖A‖  (norm is preserved under dualisation).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0886" y="3567226"/>
            <a:ext cx="4846320" cy="1466545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230886" y="3567227"/>
            <a:ext cx="45720" cy="14665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95478" y="3588125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DISTRIBUTIONS: L²-DUAL AND SOBOLEV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3766" y="3887267"/>
            <a:ext cx="457200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Schwartz space S(ℝ) ⊂ L²(ℝ) ⊂ S*(ℝ) — the Gel'fand triple (rigged Hilbert space).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S*(ℝ) = tempered distributions: |δ(x)⟩ (Dirac delta) ∈ S*, not in L².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⟨δ, ψ⟩ = ψ(0): a functional on S(ℝ). This is Banach duality in action.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Sobolev Hˢ(ℝ): dual is H⁻ˢ(ℝ). The pair (Hˢ, H⁻ˢ) is a Banach dual pair relevant to PDE and QM.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804672"/>
            <a:ext cx="3611880" cy="4087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5257800" y="868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Banach Duality Diagrams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110642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(Rigged Hilbert Space)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22392" y="1335024"/>
            <a:ext cx="914400" cy="749808"/>
          </a:xfrm>
          <a:prstGeom prst="roundRect">
            <a:avLst>
              <a:gd name="adj" fmla="val 7317"/>
            </a:avLst>
          </a:prstGeom>
          <a:solidFill>
            <a:srgbClr val="0A152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422392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S(ℝ)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22392" y="16459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Schwartz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79692" y="1335024"/>
            <a:ext cx="914400" cy="749808"/>
          </a:xfrm>
          <a:prstGeom prst="roundRect">
            <a:avLst>
              <a:gd name="adj" fmla="val 7317"/>
            </a:avLst>
          </a:prstGeom>
          <a:solidFill>
            <a:srgbClr val="0A1525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6679692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9692" y="16459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square-integrable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55280" y="1335024"/>
            <a:ext cx="914400" cy="749808"/>
          </a:xfrm>
          <a:prstGeom prst="roundRect">
            <a:avLst>
              <a:gd name="adj" fmla="val 7317"/>
            </a:avLst>
          </a:prstGeom>
          <a:solidFill>
            <a:srgbClr val="0A1525"/>
          </a:solidFill>
          <a:ln w="1905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95528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S*(ℝ)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164592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|x⟩, |p⟩, δ(x)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55080" y="1709928"/>
            <a:ext cx="306324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31"/>
          <p:cNvSpPr/>
          <p:nvPr/>
        </p:nvSpPr>
        <p:spPr>
          <a:xfrm>
            <a:off x="7612380" y="1709928"/>
            <a:ext cx="324612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6382512" y="1563624"/>
            <a:ext cx="2880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9812" y="1563624"/>
            <a:ext cx="3063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213969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394960" y="2377440"/>
            <a:ext cx="3337560" cy="0"/>
          </a:xfrm>
          <a:prstGeom prst="line">
            <a:avLst/>
          </a:prstGeom>
          <a:noFill/>
          <a:ln w="9525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5394960" y="245059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Adjoint = Dual Map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13832" y="270662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0A18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5513832" y="2706624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63840" y="270662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0A1828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Text 40"/>
          <p:cNvSpPr/>
          <p:nvPr/>
        </p:nvSpPr>
        <p:spPr>
          <a:xfrm>
            <a:off x="7863840" y="2706624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0216" y="2898648"/>
            <a:ext cx="1527048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44" name="Text 42"/>
          <p:cNvSpPr/>
          <p:nvPr/>
        </p:nvSpPr>
        <p:spPr>
          <a:xfrm>
            <a:off x="6954012" y="2706624"/>
            <a:ext cx="22860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13832" y="337282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0A1828"/>
          </a:solidFill>
          <a:ln w="1905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Text 44"/>
          <p:cNvSpPr/>
          <p:nvPr/>
        </p:nvSpPr>
        <p:spPr>
          <a:xfrm>
            <a:off x="5513832" y="3372824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63840" y="337282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0A1828"/>
          </a:solidFill>
          <a:ln w="1905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Text 46"/>
          <p:cNvSpPr/>
          <p:nvPr/>
        </p:nvSpPr>
        <p:spPr>
          <a:xfrm>
            <a:off x="7863840" y="3372824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27264" y="3564848"/>
            <a:ext cx="0" cy="0"/>
          </a:xfrm>
          <a:prstGeom prst="line">
            <a:avLst/>
          </a:prstGeom>
          <a:noFill/>
          <a:ln w="22860">
            <a:solidFill>
              <a:srgbClr val="9B72CF"/>
            </a:solidFill>
            <a:prstDash val="solid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0" name="Text 48"/>
          <p:cNvSpPr/>
          <p:nvPr/>
        </p:nvSpPr>
        <p:spPr>
          <a:xfrm>
            <a:off x="6954012" y="3411229"/>
            <a:ext cx="256032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88736" y="3090672"/>
            <a:ext cx="0" cy="621792"/>
          </a:xfrm>
          <a:prstGeom prst="line">
            <a:avLst/>
          </a:prstGeom>
          <a:noFill/>
          <a:ln w="12700">
            <a:solidFill>
              <a:srgbClr val="4A7A9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52" name="Shape 50"/>
          <p:cNvSpPr/>
          <p:nvPr/>
        </p:nvSpPr>
        <p:spPr>
          <a:xfrm>
            <a:off x="8238744" y="3090672"/>
            <a:ext cx="0" cy="621792"/>
          </a:xfrm>
          <a:prstGeom prst="line">
            <a:avLst/>
          </a:prstGeom>
          <a:noFill/>
          <a:ln w="12700">
            <a:solidFill>
              <a:srgbClr val="4A7A9A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53" name="Text 51"/>
          <p:cNvSpPr/>
          <p:nvPr/>
        </p:nvSpPr>
        <p:spPr>
          <a:xfrm>
            <a:off x="6300216" y="3227832"/>
            <a:ext cx="1545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394960" y="38300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reverses arrows!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(A*)ᵀ = contravariant functor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394960" y="4184466"/>
            <a:ext cx="33375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Text 54"/>
          <p:cNvSpPr/>
          <p:nvPr/>
        </p:nvSpPr>
        <p:spPr>
          <a:xfrm>
            <a:off x="5440680" y="4202754"/>
            <a:ext cx="32644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δ ∈ S*(ℝ)  ⟺  ⟨δ, ψ⟩ = ψ(0)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x̂*δ = −δ'  (adjoint in distribution sense)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⟨x|ψ⟩ = ψ(x) is a dual pairing</a:t>
            </a:r>
            <a:endParaRPr lang="en-US" sz="7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0165-0A15-B008-1FC2-A24B37F8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E844A6-5B02-F8D7-C365-8F7F7C86CE8E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Frobenius norm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72A355-4192-85F3-D885-396A5FC5D661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748979-1123-442B-0053-A87662B7504A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B4D07C1-F36A-B189-6F2F-BF024CBEF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24" y="705395"/>
            <a:ext cx="8080396" cy="320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99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DD8D-3E8E-A9A9-BBC7-0472DA72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magine 61">
            <a:extLst>
              <a:ext uri="{FF2B5EF4-FFF2-40B4-BE49-F238E27FC236}">
                <a16:creationId xmlns:a16="http://schemas.microsoft.com/office/drawing/2014/main" id="{CCEBCF04-7CFD-DDC4-6C18-CD410040A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357" y="3509554"/>
            <a:ext cx="4586551" cy="135922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8C969D2-026F-2FF3-E19B-67EECC68D7A9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Self Adjoint operators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F42148-DC91-C1A0-09C5-AC60A6F8805E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3499AF-14BD-306D-BFAE-EE36E43C118E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58" name="Immagine 57">
            <a:extLst>
              <a:ext uri="{FF2B5EF4-FFF2-40B4-BE49-F238E27FC236}">
                <a16:creationId xmlns:a16="http://schemas.microsoft.com/office/drawing/2014/main" id="{2B46519A-291E-802E-1586-56437670A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158" y="601725"/>
            <a:ext cx="4553059" cy="2594829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E8E17198-E503-D93D-EC9B-1E670D0C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858" y="3509554"/>
            <a:ext cx="4911607" cy="144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76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74C2-8F09-673A-26E3-EDAAD721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DC0A74-485A-108C-8D8C-1D82274C37A9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</a:t>
            </a:r>
            <a:r>
              <a:rPr lang="en-US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Graph theorem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7F66A3-048B-DD6E-E4C8-76B0F1985A84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077EAA-0789-3226-2A29-0CC49B447253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D53B0D9-BEA3-7E95-824B-8E6EB971C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831260"/>
            <a:ext cx="87820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1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C325-EA59-E542-D284-3B74776D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558569-9652-0CC1-01BC-D62F2D3ED06F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Hellinger Toeplitz theorem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4AFE3C-9E10-713B-5A6F-F891B31403B3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9A9C1F-CBAB-1404-A30E-81E46160BC43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0E894F7-6BD5-6B2B-74DE-24E6D158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503138"/>
            <a:ext cx="5756971" cy="45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39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8FCC-6650-5965-29FD-E4F0EB3A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A0E5A7-7EFA-25D8-ADE6-FC093DD80984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</a:t>
            </a:r>
            <a:r>
              <a:rPr lang="en-US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Theorem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845E0E-B806-8FB2-FB11-6A5714C313E1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D01D6A-76F1-E21E-8105-070D38B00BB0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A138339-1E37-E5C4-B6F9-2B2FC655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" y="2725783"/>
            <a:ext cx="4521946" cy="217673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B79B61C-B56B-6E31-6FB9-17C60512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25783"/>
            <a:ext cx="4371703" cy="183690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43F380D-50A5-C1A1-6534-430DA3842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66" y="461064"/>
            <a:ext cx="8610600" cy="10572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6C5BE30-6435-9949-6CD7-1ADB02605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66" y="1562100"/>
            <a:ext cx="85915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305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8566-5D09-F90E-A562-08883408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C967BE-7505-8A39-C61D-971CA6EEED20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</a:t>
            </a:r>
            <a:r>
              <a:rPr lang="en-US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Riesz Fischer theorem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F38302-0390-2486-0D43-95C9D9F02634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A4502E-055E-5022-3CE8-71810EAEE5DC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A3789BA-8599-5627-84C7-739A55677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1283"/>
            <a:ext cx="4806480" cy="250248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18876A2-1B91-CC27-FB33-E3004C97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250" y="3248297"/>
            <a:ext cx="4131030" cy="164238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C4F7CF8-FCAE-2EC5-A1B7-F9686B9A4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3775"/>
            <a:ext cx="4914646" cy="203750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0CD7FB49-EA00-CE5E-A1D8-82B88B01C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491" y="1292350"/>
            <a:ext cx="6069875" cy="9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0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F1C5-018C-18A3-B54E-B8D86BF1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28A538-2F0C-7EB4-1FD2-A0D7FF6A48C4}"/>
              </a:ext>
            </a:extLst>
          </p:cNvPr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Hahn-Banach theorem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16FBB6-1991-7AEA-F256-E3B07FEB48BA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B9046C-2834-D04E-B50E-ECD0E7B6D17E}"/>
              </a:ext>
            </a:extLst>
          </p:cNvPr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B935703-57B0-7989-607D-32D73C9DD65B}"/>
              </a:ext>
            </a:extLst>
          </p:cNvPr>
          <p:cNvSpPr/>
          <p:nvPr/>
        </p:nvSpPr>
        <p:spPr>
          <a:xfrm>
            <a:off x="274320" y="520773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</a:t>
            </a:r>
            <a:r>
              <a:rPr lang="en-US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Radius</a:t>
            </a:r>
            <a:endParaRPr lang="en-US" sz="1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008B5C1-21AC-C350-F31C-2CC2B733B507}"/>
              </a:ext>
            </a:extLst>
          </p:cNvPr>
          <p:cNvSpPr/>
          <p:nvPr/>
        </p:nvSpPr>
        <p:spPr>
          <a:xfrm>
            <a:off x="274320" y="932689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Riesz Fischer representation theorem</a:t>
            </a:r>
            <a:endParaRPr lang="en-US" sz="18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67F84C9-39FD-A647-BD9A-86A982499035}"/>
              </a:ext>
            </a:extLst>
          </p:cNvPr>
          <p:cNvSpPr/>
          <p:nvPr/>
        </p:nvSpPr>
        <p:spPr>
          <a:xfrm>
            <a:off x="274320" y="1277113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C* algebra</a:t>
            </a:r>
            <a:endParaRPr lang="en-US" sz="18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94E0F80-96B7-C383-F478-0CA691C8E9DA}"/>
              </a:ext>
            </a:extLst>
          </p:cNvPr>
          <p:cNvSpPr/>
          <p:nvPr/>
        </p:nvSpPr>
        <p:spPr>
          <a:xfrm>
            <a:off x="274320" y="16228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GNS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9150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11040</Words>
  <Application>Microsoft Office PowerPoint</Application>
  <PresentationFormat>Presentazione su schermo (16:9)</PresentationFormat>
  <Paragraphs>1181</Paragraphs>
  <Slides>51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L01: The Hilbert Space of Quantum States</dc:title>
  <dc:subject>PptxGenJS Presentation</dc:subject>
  <dc:creator>QM/QC Programme — Module I.1</dc:creator>
  <cp:lastModifiedBy>Margherita Capriati</cp:lastModifiedBy>
  <cp:revision>3</cp:revision>
  <dcterms:created xsi:type="dcterms:W3CDTF">2026-04-26T13:21:40Z</dcterms:created>
  <dcterms:modified xsi:type="dcterms:W3CDTF">2026-05-02T14:49:08Z</dcterms:modified>
</cp:coreProperties>
</file>