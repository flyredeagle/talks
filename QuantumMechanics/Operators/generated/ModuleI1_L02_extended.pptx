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-914400"/>
            <a:ext cx="4114800" cy="4114800"/>
          </a:xfrm>
          <a:prstGeom prst="ellipse">
            <a:avLst/>
          </a:prstGeom>
          <a:solidFill>
            <a:srgbClr val="1B3055">
              <a:alpha val="60000"/>
            </a:srgbClr>
          </a:solidFill>
          <a:ln w="12700">
            <a:solidFill>
              <a:srgbClr val="1B30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0" y="-182880"/>
            <a:ext cx="3200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1E3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Ψ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MECHANICS  —  MODULE I.1  —  HILBERT SPACE &amp; OPERATORS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L02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62179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Unitary Operators and Symmetry Transformations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320040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Preservation of Structure — Module I.1, Lecture 2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657600"/>
            <a:ext cx="685800" cy="246888"/>
          </a:xfrm>
          <a:prstGeom prst="roundRect">
            <a:avLst>
              <a:gd name="adj" fmla="val 18519"/>
            </a:avLst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657600"/>
            <a:ext cx="685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234440" y="3657600"/>
            <a:ext cx="685800" cy="246888"/>
          </a:xfrm>
          <a:prstGeom prst="roundRect">
            <a:avLst>
              <a:gd name="adj" fmla="val 18519"/>
            </a:avLst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34440" y="3657600"/>
            <a:ext cx="685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011680" y="3657600"/>
            <a:ext cx="685800" cy="246888"/>
          </a:xfrm>
          <a:prstGeom prst="roundRect">
            <a:avLst>
              <a:gd name="adj" fmla="val 18519"/>
            </a:avLst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11680" y="3657600"/>
            <a:ext cx="685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88920" y="3657600"/>
            <a:ext cx="685800" cy="246888"/>
          </a:xfrm>
          <a:prstGeom prst="roundRect">
            <a:avLst>
              <a:gd name="adj" fmla="val 18519"/>
            </a:avLst>
          </a:prstGeom>
          <a:solidFill>
            <a:srgbClr val="9B72CF"/>
          </a:solidFill>
          <a:ln w="12700">
            <a:solidFill>
              <a:srgbClr val="9B72C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88920" y="3657600"/>
            <a:ext cx="685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566160" y="3657600"/>
            <a:ext cx="685800" cy="246888"/>
          </a:xfrm>
          <a:prstGeom prst="roundRect">
            <a:avLst>
              <a:gd name="adj" fmla="val 18519"/>
            </a:avLst>
          </a:prstGeom>
          <a:solidFill>
            <a:srgbClr val="E07B6A"/>
          </a:solidFill>
          <a:ln w="12700">
            <a:solidFill>
              <a:srgbClr val="E07B6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66160" y="3657600"/>
            <a:ext cx="685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40690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expanded deck  ·  5 tiers  ·  Worked examples  ·  Complete problem sets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74320" y="48920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I.1 — L02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858000" y="48920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solidFill>
            <a:srgbClr val="E8F0F8"/>
          </a:solidFill>
          <a:ln w="12700">
            <a:solidFill>
              <a:srgbClr val="E8F0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74320" y="13716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L02 — Lecture Overview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Unitary Operators and Symmetry Transformations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868680"/>
            <a:ext cx="4206240" cy="169164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868680"/>
            <a:ext cx="45720" cy="1691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941832"/>
            <a:ext cx="3977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90-MIN PACING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11480" y="1197864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0–15 min: Recap — inner products and adjoint from L01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15–40 min: Definition of unitary: ÛÛ† = Û†Û = 1̂; inner product preservation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40–65 min: Physical incarnations: rotations Û(θ), translations T̂(a), time evolution e^(−iĤt/ℏ)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65–90 min: Unitary equivalence of operators; spectral invariance; Stone's theorem preview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26280" y="868680"/>
            <a:ext cx="4343400" cy="169164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26280" y="868680"/>
            <a:ext cx="45720" cy="169164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90872" y="941832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LEARNING OUTCOMES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709160" y="1197864"/>
            <a:ext cx="40690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unitarity ÛÛ† = 1̂ from definition and examples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that unitary maps preserve norms and transition probabilities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unitary operators from physical symmetries (rotation, translation, phase)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Û = e^(iĜ) for Hermitian generator Ĝ (Stone's theorem preview)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28600" y="2633472"/>
            <a:ext cx="1664208" cy="132588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8600" y="2633472"/>
            <a:ext cx="1664208" cy="256032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8600" y="2633472"/>
            <a:ext cx="1664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20040" y="2926080"/>
            <a:ext cx="1481328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Rotations as length-preserving maps; rotating a quantum state without losing information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956816" y="2633472"/>
            <a:ext cx="1664208" cy="132588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56816" y="2633472"/>
            <a:ext cx="1664208" cy="256032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956816" y="2633472"/>
            <a:ext cx="1664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048256" y="2926080"/>
            <a:ext cx="1481328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ÛÛ† = 1̂ for rotation matrices; compute Û|ψ⟩ for explicit states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85032" y="2633472"/>
            <a:ext cx="1664208" cy="132588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85032" y="2633472"/>
            <a:ext cx="1664208" cy="256032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85032" y="2633472"/>
            <a:ext cx="1664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776472" y="2926080"/>
            <a:ext cx="1481328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eigenvalues of unitary operators lie on unit circle; prove spectral invariance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413248" y="2633472"/>
            <a:ext cx="1664208" cy="132588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13248" y="2633472"/>
            <a:ext cx="1664208" cy="256032"/>
          </a:xfrm>
          <a:prstGeom prst="rect">
            <a:avLst/>
          </a:prstGeom>
          <a:solidFill>
            <a:srgbClr val="9B72CF"/>
          </a:solidFill>
          <a:ln w="12700">
            <a:solidFill>
              <a:srgbClr val="9B72C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13248" y="2633472"/>
            <a:ext cx="1664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504688" y="2926080"/>
            <a:ext cx="1481328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One-parameter groups; Stone's theorem; generator Ĝ and Lie algebra connection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7141464" y="2633472"/>
            <a:ext cx="1664208" cy="132588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141464" y="2633472"/>
            <a:ext cx="1664208" cy="256032"/>
          </a:xfrm>
          <a:prstGeom prst="rect">
            <a:avLst/>
          </a:prstGeom>
          <a:solidFill>
            <a:srgbClr val="E07B6A"/>
          </a:solidFill>
          <a:ln w="12700">
            <a:solidFill>
              <a:srgbClr val="E07B6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41464" y="2633472"/>
            <a:ext cx="1664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232904" y="2926080"/>
            <a:ext cx="1481328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Strongly continuous unitary groups on Banach spaces; Hille–Yosida theorem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28600" y="4023360"/>
            <a:ext cx="8641080" cy="82296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28600" y="4023360"/>
            <a:ext cx="45720" cy="8229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93192" y="4096512"/>
            <a:ext cx="8412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BUNDLE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11480" y="4352544"/>
            <a:ext cx="83667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— verify unitarity for 2×2 rotation and phase matrices; compute Û|ψ⟩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 — prove unitary ⟹ isometric; show spectrum of Û lies on |z| = 1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Projects: animate unitary evolution of two-level state (simple); matrix exponential e^(iθĜ) (complex)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74320" y="48920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I.1 — L02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858000" y="48920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· Overview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solidFill>
            <a:srgbClr val="E8F0F8"/>
          </a:solidFill>
          <a:ln w="12700">
            <a:solidFill>
              <a:srgbClr val="E8F0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74320" y="13716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L02 — Dual-Track Content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parallel perspectives: Geometric/Physical  ↔  Algebraic/Axiomatic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841248"/>
            <a:ext cx="4251960" cy="397764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841248"/>
            <a:ext cx="4251960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841248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TRACK — Symmetry and Conservation Laws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188720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SYMMETRY AS STRUCTURE PRESERVATION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65760" y="1399032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symmetry is a transformation that leaves the physics unchanged. In QM, this means preserving transition probabilities |⟨φ|ψ⟩|² → invariant. By Wigner's theorem (L05), every such symmetry is implemented by a unitary or anti-unitary operator.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2057400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ROTATIONS Û(θ)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65760" y="2267712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rotation by angle θ around axis n̂ is implemented by Û(θ) = e^(−iθn̂·Ĵ/ℏ) where Ĵ is the angular momentum operator. Unitarity guarantees ‖Û(θ)|ψ⟩‖ = ‖|ψ⟩‖ — rotation doesn't change normalisation.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5760" y="2926080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TRANSLATIONS AND TIME EVOLUTION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65760" y="3136392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translation by a: T̂(a) = e^(−iap̂/ℏ). Time evolution: Û(t) = e^(−iĤt/ℏ). Both are unitary (Ĥ and p̂ Hermitian), ensuring probability conservation. These are one-parameter unitary groups.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5760" y="3794760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NOETHER'S THEOREM PREVIEW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65760" y="4005072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continuous symmetry → conserved quantity. Rotational invariance → [Ĥ, Ĵ] = 0 → angular momentum conserved. Translational invariance → [Ĥ, p̂] = 0 → momentum conserved.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63440" y="841248"/>
            <a:ext cx="4251960" cy="397764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841248"/>
            <a:ext cx="4251960" cy="29260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841248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 TRACK — Unitary Groups and Stone's Theorem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54880" y="1188720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UNITARY OPERATOR DEFINITION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754880" y="1399032"/>
            <a:ext cx="4069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Û is unitary iff ÛÛ† = Û†Û = 1̂. Equivalent conditions: (1) Û is a bijective isometry, (2) Û preserves the inner product ⟨Ûφ|Ûψ⟩ = ⟨φ|ψ⟩, (3) Û has a bounded inverse Û⁻¹ = Û†.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54880" y="2057400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SPECTRUM OF UNITARY OPERATORS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754880" y="2267712"/>
            <a:ext cx="4069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eigenvalues λ of a unitary operator Û lie on the unit circle |λ| = 1. Proof: Û|u⟩ = λ|u⟩ ⟹ ‖Û|u⟩‖² = |λ|²‖|u⟩‖² = ‖|u⟩‖² ⟹ |λ| = 1. So λ = e^(iφ) for some φ ∈ ℝ.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754880" y="2926080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STONE'S THEOREM (STATEMENT)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754880" y="3136392"/>
            <a:ext cx="4069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{Û(t)}_{t∈ℝ} is a strongly continuous one-parameter unitary group on H, then there exists a unique self-adjoint operator Ĝ (the generator) such that Û(t) = e^(−itĜ). Conversely, any self-adjoint Ĝ generates a unitary group.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754880" y="3794760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UNITARY EQUIVALENCE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754880" y="4005072"/>
            <a:ext cx="4069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Â and B̂ = ÛÂÛ† are unitarily equivalent. They have identical spectra: σ(B̂) = σ(Â). Physically: physics is representation-independent — unitarily equivalent H's describe the same physics.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74320" y="48920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I.1 — L02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858000" y="48920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· Dual Track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solidFill>
            <a:srgbClr val="E8F0F8"/>
          </a:solidFill>
          <a:ln w="12700">
            <a:solidFill>
              <a:srgbClr val="E8F0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74320" y="137160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L02 — L02.1: Unitary Operators: Definition and Properties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Structure-preserving maps on Hilbert space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28600" y="822960"/>
            <a:ext cx="5212080" cy="402336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822960"/>
            <a:ext cx="45720" cy="4023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896112"/>
            <a:ext cx="4892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OF UNITARY OPERATOR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11480" y="1133856"/>
            <a:ext cx="4892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operator Û: H → H is unitary if ÛÛ† = Û†Û = 1̂. This means: (1) Û is surjective (onto), (2) Û preserves inner products ⟨Ûφ|Ûψ⟩ = ⟨φ|ψ⟩, (3) Û has a bounded inverse Û⁻¹ = Û†.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1837944"/>
            <a:ext cx="4892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PRESERVATION OF TRANSITION PROBABILITIES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11480" y="2075688"/>
            <a:ext cx="4892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any |φ⟩, |ψ⟩ ∈ H: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|⟨Ûφ|Ûψ⟩|² = |⟨φ|Û†Ûψ⟩|² = |⟨φ|ψ⟩|²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precisely what is needed for physical symmetries — measuring outcomes doesn't change under unitary transformation.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1480" y="2825496"/>
            <a:ext cx="4892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EIGENVALUES ON THE UNIT CIRCLE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11480" y="3063240"/>
            <a:ext cx="4892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Û|u⟩ = λ|u⟩ then ‖λ|u⟩‖ = ‖Û|u⟩‖ = ‖|u⟩‖ ⟹ |λ| = 1. All eigenvalues take the form λ = e^(iφ) for φ ∈ ℝ. The spectrum of Û is a subset of the unit circle in ℂ.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1480" y="3721608"/>
            <a:ext cx="4892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UNITARY GROUP U(H)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11480" y="3959352"/>
            <a:ext cx="4892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set of all unitary operators on H forms a group U(H) under composition. Closure: ÛV̂ unitary; identity: 1̂; inverse: Û† = Û⁻¹; associativity: operator composition. For dim H = n, this is the Lie group U(n).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77840" y="822960"/>
            <a:ext cx="3291840" cy="146304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577840" y="822960"/>
            <a:ext cx="45720" cy="14630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42432" y="896112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FORMULA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760720" y="1152144"/>
            <a:ext cx="3017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ÛÛ† = Û†Û = 1̂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⟨Ûφ|Ûψ⟩ = ⟨φ|ψ⟩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|λ| = 1 for eigenvalue λ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Û⁻¹ = Û†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577840" y="2377440"/>
            <a:ext cx="3291840" cy="246888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577840" y="2377440"/>
            <a:ext cx="45720" cy="246888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42432" y="2450592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760720" y="2706624"/>
            <a:ext cx="301752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rotation matrix: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Û(θ) = [[cos θ, −sin θ],[sin θ, cos θ]]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Û†(θ) = Û(−θ) = Û(θ)ᵀ (real matrix)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Û(θ)Û†(θ) = 1̂  ✓ (cos²θ+sin²θ = 1)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gate: Û = [[1,0],[0,e^(iφ)]]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ÛÛ† = diag(1,1) = 1̂  ✓ unitary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74320" y="48920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I.1 — L02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858000" y="48920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· L02.1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solidFill>
            <a:srgbClr val="E8F0F8"/>
          </a:solidFill>
          <a:ln w="12700">
            <a:solidFill>
              <a:srgbClr val="E8F0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74320" y="137160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L02 — L02.2: Û = e^(iĜ): The Exponential Map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Unitary operators from Hermitian generators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28600" y="822960"/>
            <a:ext cx="5212080" cy="402336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822960"/>
            <a:ext cx="45720" cy="4023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896112"/>
            <a:ext cx="4892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GENERATING UNITARIES FROM HERMITIAN OPERATORS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11480" y="1133856"/>
            <a:ext cx="48920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Ĝ is Hermitian (Ĝ = Ĝ†), then Û(θ) = e^(iθĜ) is unitary for all θ ∈ ℝ. Proof: Û†(θ) = (e^(iθĜ))† = e^(−iθĜ†) = e^(−iθĜ) = Û(−θ) = Û⁻¹(θ). So ÛÛ† = 1̂. □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1901952"/>
            <a:ext cx="4892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STONE'S THEOREM (PREVIEW)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11480" y="2139696"/>
            <a:ext cx="4892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Conversely, every strongly continuous one-parameter unitary group {Û(t)}_{t∈ℝ} arises from a unique self-adjoint generator Ĝ via Û(t) = e^(−itĜ). This makes Hermitian operators fundamental: they generate all continuous symmetries.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1480" y="2843784"/>
            <a:ext cx="4892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EXAMPLES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11480" y="3081528"/>
            <a:ext cx="48920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Phase: Û(θ) = e^(iθ) (global phase, trivial generator 1̂)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Rotation: Û_z(θ) = e^(−iθŜ_z/ℏ) (Ŝ_z = spin generator)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Time evolution: Û(t) = e^(−iĤt/ℏ) (Ĥ = Hamiltonian)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Translations: T̂(a) = e^(−iap̂/ℏ) (p̂ = momentum)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1480" y="3849624"/>
            <a:ext cx="4892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INVARIANCE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11480" y="4087368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Â|aₙ⟩ = aₙ|aₙ⟩ and B̂ = ÛÂÛ†, then B̂(Û|aₙ⟩) = aₙ(Û|aₙ⟩). The eigenvalues are identical; only the eigenvectors are rotated. Physics is representation-independent.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77840" y="822960"/>
            <a:ext cx="3291840" cy="146304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577840" y="822960"/>
            <a:ext cx="45720" cy="14630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42432" y="896112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FORMULA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760720" y="1152144"/>
            <a:ext cx="3017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Û = e^(iθĜ), Ĝ = Ĝ†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Û† = e^(−iθĜ)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ÛÛ† = e^(iθĜ)e^(−iθĜ) = 1̂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σ(ÛÂÛ†) = σ(Â)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577840" y="2377440"/>
            <a:ext cx="3291840" cy="246888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577840" y="2377440"/>
            <a:ext cx="45720" cy="246888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42432" y="2450592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760720" y="2706624"/>
            <a:ext cx="301752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Û_z(θ) = e^(−iθσ_z/2) for spin-1/2: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σ_z = diag(1,−1), so: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e^(−iθσ_z/2) = diag(e^(−iθ/2), e^(iθ/2))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Eigenvalues: e^(±iθ/2) — on unit circle ✓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Ûσ_xÛ† = cos(θ)σ_x + sin(θ)σ_y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 Spectrum of σ_x unchanged: {+1, −1} ✓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74320" y="48920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I.1 — L02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858000" y="48920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· L02.2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solidFill>
            <a:srgbClr val="E8F0F8"/>
          </a:solidFill>
          <a:ln w="12700">
            <a:solidFill>
              <a:srgbClr val="E8F0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74320" y="137160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L02 — L02.3: Physical Symmetries as Unitary Operators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Rotations, translations, and time evolution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28600" y="822960"/>
            <a:ext cx="5212080" cy="402336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822960"/>
            <a:ext cx="45720" cy="4023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896112"/>
            <a:ext cx="4892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ROTATIONS: U(1) AND SU(2)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11480" y="1133856"/>
            <a:ext cx="4892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spin-1/2 particles, rotations by angle θ around axis n̂ are implemented by Û_n(θ) = e^(−iθn̂·σ̂/2) ∈ SU(2). A 2π rotation gives Û = −1̂ (spinor phase flip), while a 4π rotation returns to identity.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1837944"/>
            <a:ext cx="4892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TRANSLATIONS T̂(a)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11480" y="2075688"/>
            <a:ext cx="4892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T̂(a)|x⟩ = |x+a⟩ is a unitary operator implementing spatial translation by a. In momentum basis: T̂(a) = e^(−iap̂/ℏ). Verify: T̂(a)T̂(b) = T̂(a+b), T̂(a)† = T̂(−a). Generator = p̂.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1480" y="2779776"/>
            <a:ext cx="4892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EVOLUTION Û(t) = e^(−iĤt/ℏ)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11480" y="3017520"/>
            <a:ext cx="4892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Schrödinger equation i ℏ ∂|ψ⟩/∂t = Ĥ|ψ⟩ is solved by |ψ(t)⟩ = e^(−iĤt/ℏ)|ψ(0)⟩ = Û(t)|ψ(0)⟩. Since Ĥ = Ĥ†, Û(t) is unitary → probability is conserved.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1480" y="3721608"/>
            <a:ext cx="4892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UNITARY EQUIVALENCE AND REPRESENTATIONS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11480" y="3959352"/>
            <a:ext cx="4892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Hamiltonians Ĥ and Ĥ' = ÛĤÛ† are physically equivalent — they have the same energy spectrum and the same time evolution (up to the unitary basis change). This is the basis of representation theory.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77840" y="822960"/>
            <a:ext cx="3291840" cy="146304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577840" y="822960"/>
            <a:ext cx="45720" cy="14630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42432" y="896112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FORMULA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760720" y="1152144"/>
            <a:ext cx="3017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Û_n(θ) = e^(−iθn̂·Ĵ/ℏ)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T̂(a) = e^(−iap̂/ℏ)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Û(t) = e^(−iĤt/ℏ)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⟨ψ(t)|ψ(t)⟩ = ⟨ψ(0)|ψ(0)⟩ = 1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577840" y="2377440"/>
            <a:ext cx="3291840" cy="246888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577840" y="2377440"/>
            <a:ext cx="45720" cy="246888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42432" y="2450592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760720" y="2706624"/>
            <a:ext cx="301752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Two-level time evolution: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Ĥ = ε σ_z/2, |ψ(0)⟩ = (1,0)ᵀ = |+⟩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Û(t) = diag(e^(−iεt/2ℏ), e^(+iεt/2ℏ))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|ψ(t)⟩ = e^(−iεt/2ℏ)|+⟩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Probability: |⟨+|ψ(t)⟩|² = 1 ✓ (stays in |+⟩)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 If Ĥ = ε σ_x/2: Rabi oscillations appear!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74320" y="48920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I.1 — L02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858000" y="48920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· L02.3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1D2E"/>
          </a:solidFill>
          <a:ln w="12700">
            <a:solidFill>
              <a:srgbClr val="111D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37160"/>
            <a:ext cx="822960" cy="384048"/>
          </a:xfrm>
          <a:prstGeom prst="roundRect">
            <a:avLst>
              <a:gd name="adj" fmla="val 11905"/>
            </a:avLst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37160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34440" y="13716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L02 — High School Track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484632"/>
            <a:ext cx="7589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Unitary Operators and Symmetry Transformations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8600" y="749808"/>
            <a:ext cx="4297680" cy="182880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" y="841248"/>
            <a:ext cx="40782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1097280"/>
            <a:ext cx="4023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rotations as length-preserving maps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Recognise that quantum evolution preserves probabilities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unitary 2×2 matrices by inspection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Û|ψ⟩ for simple states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28600" y="2651760"/>
            <a:ext cx="4297680" cy="2148840"/>
          </a:xfrm>
          <a:prstGeom prst="rect">
            <a:avLst/>
          </a:prstGeom>
          <a:solidFill>
            <a:srgbClr val="0A1628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" y="2743200"/>
            <a:ext cx="40782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2999232"/>
            <a:ext cx="402336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gate: Û = [[1,0],[0,i]]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ÛÛ† = [[1,0],[0,i]]·[[1,0],[0,−i]] = [[1,0],[0,1]] ✓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to |ψ⟩ = (1/√2)(1,1)ᵀ: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Û|ψ⟩ = (1/√2)(1, i)ᵀ  (phase shifted)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63440" y="749808"/>
            <a:ext cx="4251960" cy="182880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73168" y="841248"/>
            <a:ext cx="4032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00600" y="1097280"/>
            <a:ext cx="3977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P1: Is Û = [[0,1],[1,0]] unitary? (Verify ÛÛ† = 1̂)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P2: Show that |⟨φ|Ûψ⟩|² = |⟨Û†φ|ψ⟩|²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P3: What is the eigenvalue of Û = e^(iπσ_z/2)?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63440" y="2651760"/>
            <a:ext cx="4251960" cy="2148840"/>
          </a:xfrm>
          <a:prstGeom prst="rect">
            <a:avLst/>
          </a:prstGeom>
          <a:solidFill>
            <a:srgbClr val="0A1628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73168" y="2743200"/>
            <a:ext cx="4032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EXTENSIONS &amp; DEPTH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00600" y="2999232"/>
            <a:ext cx="397764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interpretation: unitary = no information loss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to quantum error correction: unitaries are reversible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74320" y="48920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I.1 — L02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858000" y="48920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· HS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1D2E"/>
          </a:solidFill>
          <a:ln w="12700">
            <a:solidFill>
              <a:srgbClr val="111D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37160"/>
            <a:ext cx="822960" cy="384048"/>
          </a:xfrm>
          <a:prstGeom prst="roundRect">
            <a:avLst>
              <a:gd name="adj" fmla="val 11905"/>
            </a:avLst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37160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34440" y="13716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L02 — Beg. UG Track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484632"/>
            <a:ext cx="7589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Unitary Operators and Symmetry Transformations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8600" y="749808"/>
            <a:ext cx="4297680" cy="182880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" y="841248"/>
            <a:ext cx="40782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CA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1097280"/>
            <a:ext cx="4023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ÛÛ† = 1̂ for explicit rotation and phase matrices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preservation of inner products from unitarity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e^(iθσ_z) using Taylor series or diagonalisation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generator from a given one-parameter family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28600" y="2651760"/>
            <a:ext cx="4297680" cy="2148840"/>
          </a:xfrm>
          <a:prstGeom prst="rect">
            <a:avLst/>
          </a:prstGeom>
          <a:solidFill>
            <a:srgbClr val="0A1628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" y="2743200"/>
            <a:ext cx="40782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2999232"/>
            <a:ext cx="402336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e^(iθσ_z) is unitary: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σ_z = diag(1,−1), e^(iθσ_z) = diag(e^(iθ), e^(−iθ))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(e^(iθσ_z))† = diag(e^(−iθ), e^(iθ)) = e^(−iθσ_z)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Product: e^(iθσ_z)·e^(−iθσ_z) = 1̂ ✓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63440" y="749808"/>
            <a:ext cx="4251960" cy="182880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73168" y="841248"/>
            <a:ext cx="4032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00600" y="1097280"/>
            <a:ext cx="3977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P1: Compute e^(iφσ_z) using the power series definition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P2: Verify unitarity of Hadamard gate H = (σ_x+σ_z)/√2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P3: Find the generator of the phase group e^(iθ·1̂)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63440" y="2651760"/>
            <a:ext cx="4251960" cy="2148840"/>
          </a:xfrm>
          <a:prstGeom prst="rect">
            <a:avLst/>
          </a:prstGeom>
          <a:solidFill>
            <a:srgbClr val="0A1628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73168" y="2743200"/>
            <a:ext cx="4032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EXTENSIONS &amp; DEPTH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00600" y="2999232"/>
            <a:ext cx="397764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CNOT gate as unitary on ℂ⁴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Bloch sphere picture of SU(2) rotations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74320" y="48920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I.1 — L02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858000" y="48920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· BegUG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1D2E"/>
          </a:solidFill>
          <a:ln w="12700">
            <a:solidFill>
              <a:srgbClr val="111D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37160"/>
            <a:ext cx="822960" cy="384048"/>
          </a:xfrm>
          <a:prstGeom prst="roundRect">
            <a:avLst>
              <a:gd name="adj" fmla="val 11905"/>
            </a:avLst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37160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34440" y="13716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L02 — Adv. UG Track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484632"/>
            <a:ext cx="7589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Unitary Operators and Symmetry Transformations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8600" y="749808"/>
            <a:ext cx="4297680" cy="182880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" y="841248"/>
            <a:ext cx="40782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1097280"/>
            <a:ext cx="4023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unitary ⟹ isometric (norm-preserving)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eigenvalues of unitary operators lie on |λ|=1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spectral invariance under unitary similarity: σ(ÛÂÛ†) = σ(Â)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one-parameter group property Û(s+t) = Û(s)Û(t)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28600" y="2651760"/>
            <a:ext cx="4297680" cy="2148840"/>
          </a:xfrm>
          <a:prstGeom prst="rect">
            <a:avLst/>
          </a:prstGeom>
          <a:solidFill>
            <a:srgbClr val="0A1628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" y="2743200"/>
            <a:ext cx="40782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2999232"/>
            <a:ext cx="402336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spectral invariance: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Â|a⟩ = a|a⟩, let |ã⟩ = Û|a⟩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ÛÂÛ†(Û|a⟩) = ÛÂ|a⟩ = aÛ|a⟩ = a|ã⟩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Û|a⟩ is eigenvector of ÛÂÛ† with same eigenvalue a □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63440" y="749808"/>
            <a:ext cx="4251960" cy="182880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73168" y="841248"/>
            <a:ext cx="4032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00600" y="1097280"/>
            <a:ext cx="3977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P1: Prove unitary ⟹ isometric using ÛÛ† = 1̂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P2: Show σ(Û) ⊆ {z∈ℂ: |z|=1} rigorously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P3: Prove Û(s)Û(t) = Û(s+t) for Û(t) = e^(itĜ)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63440" y="2651760"/>
            <a:ext cx="4251960" cy="2148840"/>
          </a:xfrm>
          <a:prstGeom prst="rect">
            <a:avLst/>
          </a:prstGeom>
          <a:solidFill>
            <a:srgbClr val="0A1628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73168" y="2743200"/>
            <a:ext cx="4032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EXTENSIONS &amp; DEPTH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00600" y="2999232"/>
            <a:ext cx="397764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Schur's lemma and its consequences for unitary representations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 between unitary groups and Lie algebras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74320" y="48920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I.1 — L02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858000" y="48920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· AdvUG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1D2E"/>
          </a:solidFill>
          <a:ln w="12700">
            <a:solidFill>
              <a:srgbClr val="111D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37160"/>
            <a:ext cx="822960" cy="384048"/>
          </a:xfrm>
          <a:prstGeom prst="roundRect">
            <a:avLst>
              <a:gd name="adj" fmla="val 11905"/>
            </a:avLst>
          </a:prstGeom>
          <a:solidFill>
            <a:srgbClr val="9B72CF"/>
          </a:solidFill>
          <a:ln w="12700">
            <a:solidFill>
              <a:srgbClr val="9B72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37160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34440" y="13716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L02 — MSc Track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484632"/>
            <a:ext cx="7589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Unitary Operators and Symmetry Transformations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8600" y="749808"/>
            <a:ext cx="4297680" cy="182880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" y="841248"/>
            <a:ext cx="40782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B7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1097280"/>
            <a:ext cx="4023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Stone's theorem precisely with strong continuity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generator of a given unitary group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unitary groups to Lie algebra via iĜ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spectral invariance to change of basis problems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28600" y="2651760"/>
            <a:ext cx="4297680" cy="2148840"/>
          </a:xfrm>
          <a:prstGeom prst="rect">
            <a:avLst/>
          </a:prstGeom>
          <a:solidFill>
            <a:srgbClr val="0A1628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" y="2743200"/>
            <a:ext cx="40782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2999232"/>
            <a:ext cx="402336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Stone's theorem application: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Û(t) = e^(−it p̂/ℏ) on L²(ℝ)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Generator: Ĝ = p̂/ℏ (self-adjoint ✓)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continuity: ‖Û(t)|ψ⟩ − |ψ⟩‖ → 0 as t → 0 ✓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63440" y="749808"/>
            <a:ext cx="4251960" cy="182880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73168" y="841248"/>
            <a:ext cx="4032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00600" y="1097280"/>
            <a:ext cx="3977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P1: State Stone's theorem; identify generator of Û(t) = e^(−iĤt/ℏ)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P2: Show iĜ (generator) is anti-Hermitian when Ĝ is Hermitian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P3: Prove the Lie algebra u(n) consists of anti-Hermitian matrices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63440" y="2651760"/>
            <a:ext cx="4251960" cy="2148840"/>
          </a:xfrm>
          <a:prstGeom prst="rect">
            <a:avLst/>
          </a:prstGeom>
          <a:solidFill>
            <a:srgbClr val="0A1628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73168" y="2743200"/>
            <a:ext cx="4032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EXTENSIONS &amp; DEPTH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00600" y="2999232"/>
            <a:ext cx="397764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Strongly continuous vs. norm-continuous groups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Hille–Yosida theorem for semigroups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74320" y="48920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I.1 — L02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858000" y="48920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· MSc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1D2E"/>
          </a:solidFill>
          <a:ln w="12700">
            <a:solidFill>
              <a:srgbClr val="111D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37160"/>
            <a:ext cx="822960" cy="384048"/>
          </a:xfrm>
          <a:prstGeom prst="roundRect">
            <a:avLst>
              <a:gd name="adj" fmla="val 11905"/>
            </a:avLst>
          </a:prstGeom>
          <a:solidFill>
            <a:srgbClr val="E07B6A"/>
          </a:solidFill>
          <a:ln w="12700">
            <a:solidFill>
              <a:srgbClr val="E07B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37160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34440" y="13716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L02 — PhD Track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484632"/>
            <a:ext cx="7589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Unitary Operators and Symmetry Transformations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8600" y="749808"/>
            <a:ext cx="4297680" cy="182880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" y="841248"/>
            <a:ext cx="40782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E07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1097280"/>
            <a:ext cx="4023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and apply the Hille–Yosida theorem to unitary groups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domain of the generator in the Stone theorem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unitary representations of compact Lie groups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spectral theory of Û to functional calculus of Ĝ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28600" y="2651760"/>
            <a:ext cx="4297680" cy="2148840"/>
          </a:xfrm>
          <a:prstGeom prst="rect">
            <a:avLst/>
          </a:prstGeom>
          <a:solidFill>
            <a:srgbClr val="0A1628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" y="2743200"/>
            <a:ext cx="40782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2999232"/>
            <a:ext cx="402336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of generator via Stone's theorem: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D(Ĝ) = {|ψ⟩ ∈ H : lim_{t→0} (Û(t)−1̂)|ψ⟩/t exists}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Û(t) = e^(−iĤt/ℏ): D(Ĝ) = D(Ĥ)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derivative: d/dt Û(t)|ψ⟩|_{t=0} = −iĤ|ψ⟩/ℏ ∈ H iff |ψ⟩ ∈ D(Ĥ)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63440" y="749808"/>
            <a:ext cx="4251960" cy="182880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73168" y="841248"/>
            <a:ext cx="4032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00600" y="1097280"/>
            <a:ext cx="3977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P1: Prove domain of generator in Stone's theorem is dense in H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P2: Show unitary groups on H are always strongly continuous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63440" y="2651760"/>
            <a:ext cx="4251960" cy="2148840"/>
          </a:xfrm>
          <a:prstGeom prst="rect">
            <a:avLst/>
          </a:prstGeom>
          <a:solidFill>
            <a:srgbClr val="0A1628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73168" y="2743200"/>
            <a:ext cx="4032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EXTENSIONS &amp; DEPTH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00600" y="2999232"/>
            <a:ext cx="397764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C*-algebra approach to quantum symmetries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Projective unitary representations and central extensions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74320" y="48920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I.1 — L02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858000" y="48920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· PhD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74320" y="13716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L02 — Common Pitfalls &amp; Misconceptions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pitfalls across all tiers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8600" y="841248"/>
            <a:ext cx="4251960" cy="169164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" y="932688"/>
            <a:ext cx="4032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PITFALLS (A)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1188720"/>
            <a:ext cx="39776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Confusing ÛÛ† = 1̂ with Û² = 1̂ — unitarity is NOT the same as involutory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that e^(iθĜ) requires Ĝ to be Hermitian (not just symmetric) for unitarity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Assuming 2π rotation returns a spinor to itself — it gives a minus sign for spin-1/2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841248"/>
            <a:ext cx="4251960" cy="169164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73168" y="932688"/>
            <a:ext cx="4032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PITFALLS (B)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800600" y="1188720"/>
            <a:ext cx="39776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Confusing the generator Ĝ (Hermitian) with the group element e^(iθĜ) (unitary)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Treating spectral invariance as trivial — it requires careful proof for unbounded Â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Mixing up U(n) (unitary group) and SU(n) (special unitary group, det = 1)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2606040"/>
            <a:ext cx="4251960" cy="132588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" y="2697480"/>
            <a:ext cx="4032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ANCHORS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2953512"/>
            <a:ext cx="39776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Wigner (1931): unitary and anti-unitary symmetries in QM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Stone (1932): one-parameter unitary groups and their generators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Noether (1918): symmetry → conservation law (classical)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Weyl (1927): group theory in quantum mechanics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2606040"/>
            <a:ext cx="4251960" cy="132588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73168" y="2697480"/>
            <a:ext cx="4032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QUICK REFERENCE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00600" y="2953512"/>
            <a:ext cx="39776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Unitarity: ÛÛ† = 1̂ ↔ ⟨Ûφ|Ûψ⟩ = ⟨φ|ψ⟩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Generator: Û(t) = e^(itĜ), Ĝ = Ĝ†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Spectral: σ(ÛÂÛ†) = σ(Â)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Eigenvalues: λ ∈ σ(Û) ⟹ |λ| = 1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4005072"/>
            <a:ext cx="8686800" cy="77724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" y="4096512"/>
            <a:ext cx="84673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B7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CONNECTIONS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65760" y="4352544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L03: Spectral theorem applies to Hermitian generators of unitary groups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L05: Wigner's theorem classifies all quantum symmetries as unitary or anti-unitary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L01: Unitary operators are bounded with ‖Û‖ = 1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74320" y="48920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I.1 — L02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858000" y="48920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· Pitfalls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74320" y="13716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L02 — Assessment &amp; Homework Summary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artifact bundle — all tiers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8600" y="822960"/>
            <a:ext cx="1682496" cy="3566160"/>
          </a:xfrm>
          <a:prstGeom prst="rect">
            <a:avLst/>
          </a:prstGeom>
          <a:solidFill>
            <a:srgbClr val="1622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822960"/>
            <a:ext cx="1682496" cy="256032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822960"/>
            <a:ext cx="16824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01752" y="1115568"/>
            <a:ext cx="1536192" cy="3218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 3 simple + 1 advanced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(~1h): Rotation visualiser on Bloch sphere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(adv, ~2h): Unitary matrix randomiser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Research: Why does a 360° spin rotation flip the sign?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956816" y="822960"/>
            <a:ext cx="1682496" cy="3566160"/>
          </a:xfrm>
          <a:prstGeom prst="rect">
            <a:avLst/>
          </a:prstGeom>
          <a:solidFill>
            <a:srgbClr val="1622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56816" y="822960"/>
            <a:ext cx="1682496" cy="256032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56816" y="822960"/>
            <a:ext cx="16824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029968" y="1115568"/>
            <a:ext cx="1536192" cy="3218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 4 simple + 2 advanced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(~2h): e^(iθσₙ) calculator for all axes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(adv, ~4h): Rabi oscillation simulator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Research: Prove that any 2×2 unitary = e^(iφ)Û_n(θ) for some n̂, θ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685032" y="822960"/>
            <a:ext cx="1682496" cy="3566160"/>
          </a:xfrm>
          <a:prstGeom prst="rect">
            <a:avLst/>
          </a:prstGeom>
          <a:solidFill>
            <a:srgbClr val="1622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85032" y="822960"/>
            <a:ext cx="1682496" cy="256032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85032" y="822960"/>
            <a:ext cx="16824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758184" y="1115568"/>
            <a:ext cx="1536192" cy="3218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 3 simple + 3 advanced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(~2h): Spectral invariance demo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(adv, ~6h): Group structure of SU(2) rotations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Research: Derive the BCH formula for SU(2) generators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413248" y="822960"/>
            <a:ext cx="1682496" cy="3566160"/>
          </a:xfrm>
          <a:prstGeom prst="rect">
            <a:avLst/>
          </a:prstGeom>
          <a:solidFill>
            <a:srgbClr val="1622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13248" y="822960"/>
            <a:ext cx="1682496" cy="256032"/>
          </a:xfrm>
          <a:prstGeom prst="rect">
            <a:avLst/>
          </a:prstGeom>
          <a:solidFill>
            <a:srgbClr val="9B72CF"/>
          </a:solidFill>
          <a:ln w="12700">
            <a:solidFill>
              <a:srgbClr val="9B72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13248" y="822960"/>
            <a:ext cx="16824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486400" y="1115568"/>
            <a:ext cx="1536192" cy="3218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 2 simple + 3 advanced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(~3h): Stone's theorem verification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(adv, ~8h): Lie algebra of U(n)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Research: Stone's theorem — statement, proof strategy, physical significance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7141464" y="822960"/>
            <a:ext cx="1682496" cy="3566160"/>
          </a:xfrm>
          <a:prstGeom prst="rect">
            <a:avLst/>
          </a:prstGeom>
          <a:solidFill>
            <a:srgbClr val="1622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41464" y="822960"/>
            <a:ext cx="1682496" cy="256032"/>
          </a:xfrm>
          <a:prstGeom prst="rect">
            <a:avLst/>
          </a:prstGeom>
          <a:solidFill>
            <a:srgbClr val="E07B6A"/>
          </a:solidFill>
          <a:ln w="12700">
            <a:solidFill>
              <a:srgbClr val="E07B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41464" y="822960"/>
            <a:ext cx="16824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214616" y="1115568"/>
            <a:ext cx="1536192" cy="3218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 2 simple + 3 advanced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(~4h): Domain analysis for translation group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(adv, ~15h): Projective representations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Research: Hille–Yosida and quantum dynamics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28600" y="4480560"/>
            <a:ext cx="8686800" cy="59436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8328" y="4572000"/>
            <a:ext cx="84673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ASSIGNMENT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65760" y="4828032"/>
            <a:ext cx="8412480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(all students): Problems from your track's Set A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HONOURS (optional): Set B problems from your track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PROJECT: Choose simple OR advanced track from your tier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RESEARCH: At least one well-defined question; open questions for MSc/PhD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74320" y="48920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I.1 — L02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858000" y="48920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· Assessment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74320" y="13716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L02 — References &amp; Bibliography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Historical, educational, and research-level reading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8600" y="841248"/>
            <a:ext cx="2743200" cy="397764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" y="932688"/>
            <a:ext cx="25237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TEXTBOOKS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1188720"/>
            <a:ext cx="246888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 &amp; Napolitano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Quantum Mechanics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4: Symmetries in Quantum Mechanics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Dirac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Principles of Quantum Mechanics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26: Quantum Conditions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Weinberg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Lectures on Quantum Mechanics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8: Symmetries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108960" y="841248"/>
            <a:ext cx="2788920" cy="397764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18688" y="932688"/>
            <a:ext cx="25694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REFERENCES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246120" y="1188720"/>
            <a:ext cx="251460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Galindo &amp; Pascual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Mechanics II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8: Symmetry Groups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Tung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Theory in Physics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5: Representations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Ballentine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Mechanics: A Modern Development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3: Kinematics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035040" y="841248"/>
            <a:ext cx="2880360" cy="397764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44768" y="932688"/>
            <a:ext cx="26609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&amp; RESEARCH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172200" y="1188720"/>
            <a:ext cx="260604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Stone (1932)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One-Parameter Unitary Groups in Hilbert Space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Annals of Mathematics 33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Original proof of Stone's theorem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Wigner (1931)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Gruppentheorie und ihre Anwendung auf die Quantenmechanik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Wigner's symmetry theorem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Noether (1918)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Invariante Variationsprobleme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Symmetry–conservation correspondence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74320" y="48920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I.1 — L02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858000" y="48920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· References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0"/>
            <a:ext cx="9144000" cy="1143000"/>
          </a:xfrm>
          <a:prstGeom prst="rect">
            <a:avLst/>
          </a:prstGeom>
          <a:solidFill>
            <a:srgbClr val="162236"/>
          </a:solidFill>
          <a:ln w="12700">
            <a:solidFill>
              <a:srgbClr val="16223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0574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Tier-Differentiated Concept Slides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L02: Unitary Operators and Symmetry Transformations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slides — 5 tiers × 4 learning objectives — each with diagram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371600" y="3657600"/>
            <a:ext cx="1097280" cy="329184"/>
          </a:xfrm>
          <a:prstGeom prst="roundRect">
            <a:avLst>
              <a:gd name="adj" fmla="val 13889"/>
            </a:avLst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3657600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70048" y="3657600"/>
            <a:ext cx="1097280" cy="329184"/>
          </a:xfrm>
          <a:prstGeom prst="roundRect">
            <a:avLst>
              <a:gd name="adj" fmla="val 13889"/>
            </a:avLst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70048" y="3657600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968496" y="3657600"/>
            <a:ext cx="1097280" cy="329184"/>
          </a:xfrm>
          <a:prstGeom prst="roundRect">
            <a:avLst>
              <a:gd name="adj" fmla="val 13889"/>
            </a:avLst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68496" y="3657600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266944" y="3657600"/>
            <a:ext cx="1097280" cy="329184"/>
          </a:xfrm>
          <a:prstGeom prst="roundRect">
            <a:avLst>
              <a:gd name="adj" fmla="val 13889"/>
            </a:avLst>
          </a:prstGeom>
          <a:solidFill>
            <a:srgbClr val="9B72CF"/>
          </a:solidFill>
          <a:ln w="12700">
            <a:solidFill>
              <a:srgbClr val="9B72C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66944" y="3657600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565392" y="3657600"/>
            <a:ext cx="1097280" cy="329184"/>
          </a:xfrm>
          <a:prstGeom prst="roundRect">
            <a:avLst>
              <a:gd name="adj" fmla="val 13889"/>
            </a:avLst>
          </a:prstGeom>
          <a:solidFill>
            <a:srgbClr val="E07B6A"/>
          </a:solidFill>
          <a:ln w="12700">
            <a:solidFill>
              <a:srgbClr val="E07B6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65392" y="3657600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28800"/>
            <a:ext cx="9144000" cy="1554480"/>
          </a:xfrm>
          <a:prstGeom prst="rect">
            <a:avLst/>
          </a:prstGeom>
          <a:solidFill>
            <a:srgbClr val="162236"/>
          </a:solidFill>
          <a:ln w="12700">
            <a:solidFill>
              <a:srgbClr val="16223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920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30428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 1: Verifying Unitarity ÛÛ† = 1̂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971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slides — one per tier (HS / BegUG / AdvUG / MSc / PhD)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A1422"/>
          </a:solidFill>
          <a:ln w="12700">
            <a:solidFill>
              <a:srgbClr val="0A14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55448"/>
            <a:ext cx="804672" cy="384048"/>
          </a:xfrm>
          <a:prstGeom prst="roundRect">
            <a:avLst>
              <a:gd name="adj" fmla="val 11905"/>
            </a:avLst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55448"/>
            <a:ext cx="804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70432" y="155448"/>
            <a:ext cx="6949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L02 — LO1: Verifying Unitarity ÛÛ† = 1̂  |  High School Track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70432" y="438912"/>
            <a:ext cx="6949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Unitary Operators and Symmetry Transformations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577072" y="54864"/>
            <a:ext cx="521208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77072" y="54864"/>
            <a:ext cx="521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28600" y="786384"/>
            <a:ext cx="5074920" cy="260604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" y="868680"/>
            <a:ext cx="4892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EXPLANATION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65760" y="1106424"/>
            <a:ext cx="4818888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unitary operator is a rotation or reflection in Hilbert space — it preserves lengths.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condition UU† = 1̂ means: U's inverse equals its conjugate transpose.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eigenvalues of a unitary operator lie on the unit circle |λ| = 1.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Think: rotating a clock hand — the arrow length stays the same, only direction changes.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rotation matrices Rz(θ) = [[cosθ, −sinθ],[sinθ, cosθ]] are unitary.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28600" y="3474720"/>
            <a:ext cx="5074920" cy="658368"/>
          </a:xfrm>
          <a:prstGeom prst="rect">
            <a:avLst/>
          </a:prstGeom>
          <a:solidFill>
            <a:srgbClr val="0A1628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" y="3566160"/>
            <a:ext cx="4818888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8E8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UU† = U†U = 1̂  (both ways!)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8E8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U⁻¹ = U†  (inverse = adjoint)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8E8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|λ| = 1  (eigenvalues on circle)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28600" y="4206240"/>
            <a:ext cx="5074920" cy="86868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" y="4288536"/>
            <a:ext cx="4892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/ SUMMARY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65760" y="4526280"/>
            <a:ext cx="481888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Verify: Rz(θ)·Rz(θ)ᵀ = [[cos²θ+sin²θ, 0],[0, sin²θ+cos²θ]] = 1̂ ✓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0" y="786384"/>
            <a:ext cx="3383280" cy="4288536"/>
          </a:xfrm>
          <a:prstGeom prst="rect">
            <a:avLst/>
          </a:prstGeom>
          <a:solidFill>
            <a:srgbClr val="1622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0" y="841248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 Preserves Length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492240" y="2159081"/>
            <a:ext cx="1371600" cy="1371600"/>
          </a:xfrm>
          <a:prstGeom prst="ellipse">
            <a:avLst/>
          </a:prstGeom>
          <a:solidFill>
            <a:srgbClr val="1A3A5A">
              <a:alpha val="50000"/>
            </a:srgbClr>
          </a:solidFill>
          <a:ln w="19050">
            <a:solidFill>
              <a:srgbClr val="5B9BD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78040" y="2844881"/>
            <a:ext cx="562356" cy="-390906"/>
          </a:xfrm>
          <a:prstGeom prst="line">
            <a:avLst/>
          </a:prstGeom>
          <a:noFill/>
          <a:ln w="31750">
            <a:solidFill>
              <a:srgbClr val="F4A261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7760970" y="2399111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|ψ⟩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555230" y="2954609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‖|ψ⟩‖=1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7178040" y="2844881"/>
            <a:ext cx="295522" cy="-580631"/>
          </a:xfrm>
          <a:prstGeom prst="line">
            <a:avLst/>
          </a:prstGeom>
          <a:noFill/>
          <a:ln w="31750">
            <a:solidFill>
              <a:srgbClr val="00B4D8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7489116" y="2148315"/>
            <a:ext cx="4754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Û|ψ⟩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903720" y="2570561"/>
            <a:ext cx="548640" cy="548640"/>
          </a:xfrm>
          <a:prstGeom prst="arc">
            <a:avLst/>
          </a:prstGeom>
          <a:solidFill>
            <a:srgbClr val="1A3A5A">
              <a:alpha val="40000"/>
            </a:srgbClr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14616" y="2662001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7246620" y="3603833"/>
            <a:ext cx="493776" cy="0"/>
          </a:xfrm>
          <a:prstGeom prst="line">
            <a:avLst/>
          </a:prstGeom>
          <a:noFill/>
          <a:ln w="12700">
            <a:solidFill>
              <a:srgbClr val="F4A261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7164324" y="3603833"/>
            <a:ext cx="307589" cy="0"/>
          </a:xfrm>
          <a:prstGeom prst="line">
            <a:avLst/>
          </a:prstGeom>
          <a:noFill/>
          <a:ln w="12700">
            <a:solidFill>
              <a:srgbClr val="00B4D8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5577840" y="4526280"/>
            <a:ext cx="3200400" cy="457200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14416" y="4544568"/>
            <a:ext cx="31272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8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‖Û|ψ⟩‖ = ‖|ψ⟩‖  (lengths equal!)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74320" y="489204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I.1 — L02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858000" y="489204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· LO1 · HS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A1422"/>
          </a:solidFill>
          <a:ln w="12700">
            <a:solidFill>
              <a:srgbClr val="0A14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55448"/>
            <a:ext cx="804672" cy="384048"/>
          </a:xfrm>
          <a:prstGeom prst="roundRect">
            <a:avLst>
              <a:gd name="adj" fmla="val 11905"/>
            </a:avLst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55448"/>
            <a:ext cx="804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70432" y="155448"/>
            <a:ext cx="6949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L02 — LO1: Verifying Unitarity ÛÛ† = 1̂  |  Beg. Undergraduate Track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70432" y="438912"/>
            <a:ext cx="6949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Unitary Operators and Symmetry Transformations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577072" y="54864"/>
            <a:ext cx="521208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77072" y="54864"/>
            <a:ext cx="521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28600" y="786384"/>
            <a:ext cx="5074920" cy="260604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" y="868680"/>
            <a:ext cx="4892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4CA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EXPLANATION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65760" y="1106424"/>
            <a:ext cx="4818888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Û is unitary iff ÛÛ† = Û†Û = 1̂.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Equivalent formulation: Û preserves inner products ⟨Ûφ|Ûψ⟩ = ⟨φ|ψ⟩.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n×n matrices: check both ÛÛ† = 1̂ AND Û†Û = 1̂ (for infinite-dimensional, both needed).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Pauli matrices σᵢ are Hermitian, not unitary. But e^{iθσᵢ} IS unitary.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Hadamard gate H = (σ₁+σ₃)/√2 satisfies HH† = 1̂ — verify explicitly.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28600" y="3474720"/>
            <a:ext cx="5074920" cy="658368"/>
          </a:xfrm>
          <a:prstGeom prst="rect">
            <a:avLst/>
          </a:prstGeom>
          <a:solidFill>
            <a:srgbClr val="0A1628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" y="3566160"/>
            <a:ext cx="4818888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8E8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ÛÛ† = 1̂  (right inverse)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8E8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Û†Û = 1̂  (left inverse)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8E8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⟨Ûφ|Ûψ⟩ = ⟨φ|U†Uψ⟩ = ⟨φ|ψ⟩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28600" y="4206240"/>
            <a:ext cx="5074920" cy="86868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" y="4288536"/>
            <a:ext cx="4892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/ SUMMARY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65760" y="4526280"/>
            <a:ext cx="481888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Hadamard H = [[1,1],[1,−1]]/√2: H·H† = (1/2)[[1,1],[1,−1]]·[[1,1],[1,−1]] = 1̂ ✓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0" y="786384"/>
            <a:ext cx="3383280" cy="4288536"/>
          </a:xfrm>
          <a:prstGeom prst="rect">
            <a:avLst/>
          </a:prstGeom>
          <a:solidFill>
            <a:srgbClr val="1622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0" y="841248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Verification: U(θ) U†(θ) = 1̂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623560" y="1078992"/>
            <a:ext cx="1005840" cy="457200"/>
          </a:xfrm>
          <a:prstGeom prst="roundRect">
            <a:avLst>
              <a:gd name="adj" fmla="val 12000"/>
            </a:avLst>
          </a:prstGeom>
          <a:solidFill>
            <a:srgbClr val="0A2040"/>
          </a:solidFill>
          <a:ln w="19050">
            <a:solidFill>
              <a:srgbClr val="F4A2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23560" y="1078992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U(θ) =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[[cosθ, −sinθ],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[sinθ,  cosθ]]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675120" y="1188720"/>
            <a:ext cx="2011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922008" y="1078992"/>
            <a:ext cx="1005840" cy="457200"/>
          </a:xfrm>
          <a:prstGeom prst="roundRect">
            <a:avLst>
              <a:gd name="adj" fmla="val 12000"/>
            </a:avLst>
          </a:prstGeom>
          <a:solidFill>
            <a:srgbClr val="0A4020"/>
          </a:solidFill>
          <a:ln w="19050">
            <a:solidFill>
              <a:srgbClr val="2ECC7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22008" y="1078992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U†(θ) =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[[cosθ,  sinθ],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[−sinθ, cosθ]]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7178040" y="1572768"/>
            <a:ext cx="0" cy="9144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7232904" y="157276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5623560" y="1700784"/>
            <a:ext cx="3108960" cy="457200"/>
          </a:xfrm>
          <a:prstGeom prst="roundRect">
            <a:avLst>
              <a:gd name="adj" fmla="val 12000"/>
            </a:avLst>
          </a:prstGeom>
          <a:solidFill>
            <a:srgbClr val="1A3A5A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50992" y="1700784"/>
            <a:ext cx="3054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[[cos²θ+sin²θ,  cosθ·sinθ−sinθ·cosθ],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[sinθ·cosθ−cosθ·sinθ,  sin²θ+cos²θ]]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7178040" y="2194560"/>
            <a:ext cx="0" cy="109728"/>
          </a:xfrm>
          <a:prstGeom prst="line">
            <a:avLst/>
          </a:prstGeom>
          <a:noFill/>
          <a:ln w="19050">
            <a:solidFill>
              <a:srgbClr val="2ECC71"/>
            </a:solidFill>
            <a:prstDash val="solid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6675120" y="2203704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simplify (cos²+sin²=1)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6675120" y="2340864"/>
            <a:ext cx="1005840" cy="457200"/>
          </a:xfrm>
          <a:prstGeom prst="roundRect">
            <a:avLst>
              <a:gd name="adj" fmla="val 12000"/>
            </a:avLst>
          </a:prstGeom>
          <a:solidFill>
            <a:srgbClr val="0A3820"/>
          </a:solidFill>
          <a:ln w="19050">
            <a:solidFill>
              <a:srgbClr val="2ECC7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75120" y="2340864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[[1, 0],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[0, 1]] = 1̂  ✓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74320" y="489204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I.1 — L02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858000" y="489204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· LO1 · BegUG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A1422"/>
          </a:solidFill>
          <a:ln w="12700">
            <a:solidFill>
              <a:srgbClr val="0A14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55448"/>
            <a:ext cx="804672" cy="384048"/>
          </a:xfrm>
          <a:prstGeom prst="roundRect">
            <a:avLst>
              <a:gd name="adj" fmla="val 11905"/>
            </a:avLst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55448"/>
            <a:ext cx="804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70432" y="155448"/>
            <a:ext cx="6949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L02 — LO1: Verifying Unitarity ÛÛ† = 1̂  |  Adv. Undergraduate Track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70432" y="438912"/>
            <a:ext cx="6949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Unitary Operators and Symmetry Transformations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577072" y="54864"/>
            <a:ext cx="521208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77072" y="54864"/>
            <a:ext cx="521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28600" y="786384"/>
            <a:ext cx="5074920" cy="260604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" y="868680"/>
            <a:ext cx="4892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EXPLANATION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65760" y="1106424"/>
            <a:ext cx="4818888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Proof: UU† = 1̂ ⟺ ⟨Ûφ|Ûψ⟩ = ⟨φ|ψ⟩ for all |φ⟩,|ψ⟩.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(⟹): ⟨Ûφ|Ûψ⟩ = ⟨φ|Û†Ûψ⟩ = ⟨φ|ψ⟩. (⟸): set |φ⟩=Û†|χ⟩ to get Û†Û=1̂.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infinite-dimensional spaces: isometry (‖Û|ψ⟩‖=‖|ψ⟩‖) does NOT imply surjectivity.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of isometric non-unitary: right shift on ℓ²: S(x₁,x₂,...)=(0,x₁,x₂,...), ‖S‖=1 but S is not surjective.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unitarity requires ÛÛ† = 1̂ AND Û†Û = 1̂ simultaneously.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28600" y="3474720"/>
            <a:ext cx="5074920" cy="658368"/>
          </a:xfrm>
          <a:prstGeom prst="rect">
            <a:avLst/>
          </a:prstGeom>
          <a:solidFill>
            <a:srgbClr val="0A1628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" y="3566160"/>
            <a:ext cx="4818888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8E8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Isometry: ‖Û|ψ⟩‖=‖|ψ⟩‖  (not enough!)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8E8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Unitary: Û†Û = ÛÛ† = 1̂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8E8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Shift: S†S=1̂ but SS†≠1̂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28600" y="4206240"/>
            <a:ext cx="5074920" cy="86868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" y="4288536"/>
            <a:ext cx="4892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/ SUMMARY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65760" y="4526280"/>
            <a:ext cx="481888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shift S on ℓ²: S†(x₁,x₂,...)=(x₂,x₃,...). S†S=1̂ ✓ but SS†≠1̂ (misses (1,0,0,...) direction). Isometry but NOT unitary.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0" y="786384"/>
            <a:ext cx="3383280" cy="4288536"/>
          </a:xfrm>
          <a:prstGeom prst="rect">
            <a:avLst/>
          </a:prstGeom>
          <a:solidFill>
            <a:srgbClr val="1622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0" y="841248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Equivalent Characterisations of Unitarity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614416" y="1097280"/>
            <a:ext cx="3127248" cy="502920"/>
          </a:xfrm>
          <a:prstGeom prst="roundRect">
            <a:avLst>
              <a:gd name="adj" fmla="val 10909"/>
            </a:avLst>
          </a:prstGeom>
          <a:solidFill>
            <a:srgbClr val="0A1525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14416" y="1097280"/>
            <a:ext cx="31272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UU† = U†U = 1̂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(algebraic)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178040" y="1618488"/>
            <a:ext cx="0" cy="256032"/>
          </a:xfrm>
          <a:prstGeom prst="line">
            <a:avLst/>
          </a:prstGeom>
          <a:noFill/>
          <a:ln w="15240">
            <a:solidFill>
              <a:srgbClr val="5B9BD5"/>
            </a:solidFill>
            <a:prstDash val="solid"/>
            <a:headEnd type="triangle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7214616" y="1636776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⟺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614416" y="1901952"/>
            <a:ext cx="3127248" cy="502920"/>
          </a:xfrm>
          <a:prstGeom prst="roundRect">
            <a:avLst>
              <a:gd name="adj" fmla="val 10909"/>
            </a:avLst>
          </a:prstGeom>
          <a:solidFill>
            <a:srgbClr val="0A1525"/>
          </a:solidFill>
          <a:ln w="19050">
            <a:solidFill>
              <a:srgbClr val="F4A2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14416" y="1901952"/>
            <a:ext cx="31272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‖U|ψ⟩‖ = ‖|ψ⟩‖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(isometry)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178040" y="2423160"/>
            <a:ext cx="0" cy="256032"/>
          </a:xfrm>
          <a:prstGeom prst="line">
            <a:avLst/>
          </a:prstGeom>
          <a:noFill/>
          <a:ln w="15240">
            <a:solidFill>
              <a:srgbClr val="5B9BD5"/>
            </a:solidFill>
            <a:prstDash val="solid"/>
            <a:headEnd type="triangle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7214616" y="2441448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⟺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614416" y="2706624"/>
            <a:ext cx="3127248" cy="502920"/>
          </a:xfrm>
          <a:prstGeom prst="roundRect">
            <a:avLst>
              <a:gd name="adj" fmla="val 10909"/>
            </a:avLst>
          </a:prstGeom>
          <a:solidFill>
            <a:srgbClr val="0A1525"/>
          </a:solidFill>
          <a:ln w="19050">
            <a:solidFill>
              <a:srgbClr val="2ECC7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14416" y="2706624"/>
            <a:ext cx="31272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⟨Uφ|Uψ⟩ = ⟨φ|ψ⟩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(inner product)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178040" y="3227832"/>
            <a:ext cx="0" cy="256032"/>
          </a:xfrm>
          <a:prstGeom prst="line">
            <a:avLst/>
          </a:prstGeom>
          <a:noFill/>
          <a:ln w="15240">
            <a:solidFill>
              <a:srgbClr val="5B9BD5"/>
            </a:solidFill>
            <a:prstDash val="solid"/>
            <a:headEnd type="triangle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7214616" y="3246120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⟺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614416" y="3511296"/>
            <a:ext cx="3127248" cy="502920"/>
          </a:xfrm>
          <a:prstGeom prst="roundRect">
            <a:avLst>
              <a:gd name="adj" fmla="val 10909"/>
            </a:avLst>
          </a:prstGeom>
          <a:solidFill>
            <a:srgbClr val="0A1525"/>
          </a:solidFill>
          <a:ln w="19050">
            <a:solidFill>
              <a:srgbClr val="9B72C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14416" y="3511296"/>
            <a:ext cx="31272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B7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Bijective + bounded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9B7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bounded inverse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614416" y="4599432"/>
            <a:ext cx="3127248" cy="384048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50992" y="4608576"/>
            <a:ext cx="3054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finite-dim spaces, any ONE implies all others.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infinite-dim ℋ, must verify UU† = U†U = 1̂ explicitly.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274320" y="489204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I.1 — L02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858000" y="489204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· LO1 · AdvUG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A1422"/>
          </a:solidFill>
          <a:ln w="12700">
            <a:solidFill>
              <a:srgbClr val="0A14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55448"/>
            <a:ext cx="804672" cy="384048"/>
          </a:xfrm>
          <a:prstGeom prst="roundRect">
            <a:avLst>
              <a:gd name="adj" fmla="val 11905"/>
            </a:avLst>
          </a:prstGeom>
          <a:solidFill>
            <a:srgbClr val="9B72CF"/>
          </a:solidFill>
          <a:ln w="12700">
            <a:solidFill>
              <a:srgbClr val="9B72C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55448"/>
            <a:ext cx="804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70432" y="155448"/>
            <a:ext cx="6949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L02 — LO1: Verifying Unitarity ÛÛ† = 1̂  |  Master's Track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70432" y="438912"/>
            <a:ext cx="6949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Unitary Operators and Symmetry Transformations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577072" y="54864"/>
            <a:ext cx="521208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77072" y="54864"/>
            <a:ext cx="521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28600" y="786384"/>
            <a:ext cx="5074920" cy="260604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" y="868680"/>
            <a:ext cx="4892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9B7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EXPLANATION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65760" y="1106424"/>
            <a:ext cx="4818888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U(n) is a compact connected Lie group of real dimension n².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Topology: U(n) ≅ (S¹ × SU(n)) locally; π₁(U(n)) = ℤ (fundamental group).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U(∞): the infinite-dimensional unitary group on a Hilbert space. Not locally compact.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U on infinite-dimensional ℋ: U is unitary iff it is a surjective isometry.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Unitary group U(ℋ) with norm topology: equivalent to B(ℋ)¹ (closed unit ball intersect unitaries). With strong topology: a topological group but not locally compact.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28600" y="3474720"/>
            <a:ext cx="5074920" cy="658368"/>
          </a:xfrm>
          <a:prstGeom prst="rect">
            <a:avLst/>
          </a:prstGeom>
          <a:solidFill>
            <a:srgbClr val="0A1628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" y="3566160"/>
            <a:ext cx="4818888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8E8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U(n) compact, dim=n²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8E8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π₁(U(n))=ℤ (not simply conn.)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8E8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SU(n)⊂U(n), det=1, dim=n²−1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28600" y="4206240"/>
            <a:ext cx="5074920" cy="86868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" y="4288536"/>
            <a:ext cx="4892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/ SUMMARY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65760" y="4526280"/>
            <a:ext cx="481888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SU(2) ≅ S³ (the 3-sphere): parametrise by U=[[α,−β̄],[β,ᾱ]] with |α|²+|β|²=1 — this is the unit sphere in ℂ²≅ℝ⁴.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0" y="786384"/>
            <a:ext cx="3383280" cy="4288536"/>
          </a:xfrm>
          <a:prstGeom prst="rect">
            <a:avLst/>
          </a:prstGeom>
          <a:solidFill>
            <a:srgbClr val="1622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0" y="841248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U(n) as a Lie Group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614416" y="1106424"/>
            <a:ext cx="1097280" cy="384048"/>
          </a:xfrm>
          <a:prstGeom prst="rect">
            <a:avLst/>
          </a:prstGeom>
          <a:solidFill>
            <a:srgbClr val="0A182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14416" y="1106424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Closure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748272" y="1106424"/>
            <a:ext cx="1993392" cy="384048"/>
          </a:xfrm>
          <a:prstGeom prst="rect">
            <a:avLst/>
          </a:prstGeom>
          <a:solidFill>
            <a:srgbClr val="07111E"/>
          </a:solidFill>
          <a:ln w="9525">
            <a:solidFill>
              <a:srgbClr val="1A3A5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84848" y="1106424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 ∈ U(n) when U,V ∈ U(n)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614416" y="1581912"/>
            <a:ext cx="1097280" cy="384048"/>
          </a:xfrm>
          <a:prstGeom prst="rect">
            <a:avLst/>
          </a:prstGeom>
          <a:solidFill>
            <a:srgbClr val="0A1828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14416" y="1581912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748272" y="1581912"/>
            <a:ext cx="1993392" cy="384048"/>
          </a:xfrm>
          <a:prstGeom prst="rect">
            <a:avLst/>
          </a:prstGeom>
          <a:solidFill>
            <a:srgbClr val="07111E"/>
          </a:solidFill>
          <a:ln w="9525">
            <a:solidFill>
              <a:srgbClr val="1A3A5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84848" y="158191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1̂ ∈ U(n): 1̂·1̂† = 1̂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614416" y="2057400"/>
            <a:ext cx="1097280" cy="384048"/>
          </a:xfrm>
          <a:prstGeom prst="rect">
            <a:avLst/>
          </a:prstGeom>
          <a:solidFill>
            <a:srgbClr val="0A1828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14416" y="205740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748272" y="2057400"/>
            <a:ext cx="1993392" cy="384048"/>
          </a:xfrm>
          <a:prstGeom prst="rect">
            <a:avLst/>
          </a:prstGeom>
          <a:solidFill>
            <a:srgbClr val="07111E"/>
          </a:solidFill>
          <a:ln w="9525">
            <a:solidFill>
              <a:srgbClr val="1A3A5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84848" y="205740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U⁻¹ = U† ∈ U(n)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614416" y="2532888"/>
            <a:ext cx="1097280" cy="384048"/>
          </a:xfrm>
          <a:prstGeom prst="rect">
            <a:avLst/>
          </a:prstGeom>
          <a:solidFill>
            <a:srgbClr val="0A1828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14416" y="2532888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748272" y="2532888"/>
            <a:ext cx="1993392" cy="384048"/>
          </a:xfrm>
          <a:prstGeom prst="rect">
            <a:avLst/>
          </a:prstGeom>
          <a:solidFill>
            <a:srgbClr val="07111E"/>
          </a:solidFill>
          <a:ln w="9525">
            <a:solidFill>
              <a:srgbClr val="1A3A5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84848" y="253288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(UV)W = U(VW) ✓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614416" y="3008376"/>
            <a:ext cx="1097280" cy="384048"/>
          </a:xfrm>
          <a:prstGeom prst="rect">
            <a:avLst/>
          </a:prstGeom>
          <a:solidFill>
            <a:srgbClr val="0A1828"/>
          </a:solidFill>
          <a:ln w="12700">
            <a:solidFill>
              <a:srgbClr val="9B72C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14416" y="3008376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B7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Manifold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748272" y="3008376"/>
            <a:ext cx="1993392" cy="384048"/>
          </a:xfrm>
          <a:prstGeom prst="rect">
            <a:avLst/>
          </a:prstGeom>
          <a:solidFill>
            <a:srgbClr val="07111E"/>
          </a:solidFill>
          <a:ln w="9525">
            <a:solidFill>
              <a:srgbClr val="1A3A5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784848" y="3008376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 U(n) = n²  (real)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614416" y="3483864"/>
            <a:ext cx="1097280" cy="384048"/>
          </a:xfrm>
          <a:prstGeom prst="rect">
            <a:avLst/>
          </a:prstGeom>
          <a:solidFill>
            <a:srgbClr val="0A1828"/>
          </a:solidFill>
          <a:ln w="12700">
            <a:solidFill>
              <a:srgbClr val="E07B6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614416" y="3483864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07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 alg.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748272" y="3483864"/>
            <a:ext cx="1993392" cy="384048"/>
          </a:xfrm>
          <a:prstGeom prst="rect">
            <a:avLst/>
          </a:prstGeom>
          <a:solidFill>
            <a:srgbClr val="07111E"/>
          </a:solidFill>
          <a:ln w="9525">
            <a:solidFill>
              <a:srgbClr val="1A3A5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784848" y="3483864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u(n) = {A : A† = −A}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5614416" y="4434840"/>
            <a:ext cx="3127248" cy="530352"/>
          </a:xfrm>
          <a:prstGeom prst="rect">
            <a:avLst/>
          </a:prstGeom>
          <a:solidFill>
            <a:srgbClr val="0A1628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650992" y="4453128"/>
            <a:ext cx="305409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SU(n) ⊂ U(n):  det(U) = 1  (special unitary)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 SU(n) = n²−1;  SU(2) ≅ S³ (3-sphere)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274320" y="489204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I.1 — L02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858000" y="489204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· LO1 · MSc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A1422"/>
          </a:solidFill>
          <a:ln w="12700">
            <a:solidFill>
              <a:srgbClr val="0A14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55448"/>
            <a:ext cx="804672" cy="384048"/>
          </a:xfrm>
          <a:prstGeom prst="roundRect">
            <a:avLst>
              <a:gd name="adj" fmla="val 11905"/>
            </a:avLst>
          </a:prstGeom>
          <a:solidFill>
            <a:srgbClr val="E07B6A"/>
          </a:solidFill>
          <a:ln w="12700">
            <a:solidFill>
              <a:srgbClr val="E07B6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55448"/>
            <a:ext cx="804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70432" y="155448"/>
            <a:ext cx="6949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L02 — LO1: Verifying Unitarity ÛÛ† = 1̂  |  PhD Track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70432" y="438912"/>
            <a:ext cx="6949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Unitary Operators and Symmetry Transformations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577072" y="54864"/>
            <a:ext cx="521208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77072" y="54864"/>
            <a:ext cx="521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28600" y="786384"/>
            <a:ext cx="5074920" cy="260604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" y="868680"/>
            <a:ext cx="4892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E07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EXPLANATION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65760" y="1106424"/>
            <a:ext cx="4818888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Neumann algebras: unitary group U(M) of a vN algebra M carries the strong operator topology.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Unitary equivalence of representations: two representations π₁,π₂: A→B(ℋ) are unitarily equiv. iff ∃ unitary U with Uπ₁(a)U†=π₂(a) for all a.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Kadison's theorem: any ∗-automorphism of B(ℋ) is of the form A ↦ UAU† for some unitary U.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theorem for unitary U: U = ∫_{S¹} λ dP(λ) where P is a PVM on the unit circle S¹ ⊂ ℂ.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Borel functional calculus: f(U) = ∫f(λ)dP(λ) for bounded Borel f on S¹.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28600" y="3474720"/>
            <a:ext cx="5074920" cy="658368"/>
          </a:xfrm>
          <a:prstGeom prst="rect">
            <a:avLst/>
          </a:prstGeom>
          <a:solidFill>
            <a:srgbClr val="0A1628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" y="3566160"/>
            <a:ext cx="4818888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8E8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U=∫_{S¹}λ dP(λ)  (spectral meas.)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8E8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Kadison: Aut(B(ℋ))=Inn(U(ℋ))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8E8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vN: U(M)={U∈M : UU*=1}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28600" y="4206240"/>
            <a:ext cx="5074920" cy="86868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" y="4288536"/>
            <a:ext cx="4892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/ SUMMARY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65760" y="4526280"/>
            <a:ext cx="481888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theorem for unitary U: the spectral measure P lives on S¹ ⊂ ℂ. For finite dim, P = Σₙ |uₙ⟩⟨uₙ|·δ_{λₙ} with |λₙ|=1.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0" y="786384"/>
            <a:ext cx="3383280" cy="4288536"/>
          </a:xfrm>
          <a:prstGeom prst="rect">
            <a:avLst/>
          </a:prstGeom>
          <a:solidFill>
            <a:srgbClr val="1622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0" y="841248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Theory of Unitary Operators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92978" y="1896100"/>
            <a:ext cx="1828800" cy="1554480"/>
          </a:xfrm>
          <a:prstGeom prst="ellipse">
            <a:avLst/>
          </a:prstGeom>
          <a:solidFill>
            <a:srgbClr val="0A1628">
              <a:alpha val="80000"/>
            </a:srgbClr>
          </a:solidFill>
          <a:ln w="12700">
            <a:solidFill>
              <a:srgbClr val="2A5A7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85586" y="2142988"/>
            <a:ext cx="1243584" cy="1060704"/>
          </a:xfrm>
          <a:prstGeom prst="ellipse">
            <a:avLst/>
          </a:prstGeom>
          <a:solidFill>
            <a:srgbClr val="0D1B2A">
              <a:alpha val="60000"/>
            </a:srgbClr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84418" y="2673340"/>
            <a:ext cx="1645920" cy="0"/>
          </a:xfrm>
          <a:prstGeom prst="line">
            <a:avLst/>
          </a:prstGeom>
          <a:noFill/>
          <a:ln w="12700">
            <a:solidFill>
              <a:srgbClr val="4A7A9A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907378" y="3423148"/>
            <a:ext cx="0" cy="-1499616"/>
          </a:xfrm>
          <a:prstGeom prst="line">
            <a:avLst/>
          </a:prstGeom>
          <a:noFill/>
          <a:ln w="12700">
            <a:solidFill>
              <a:srgbClr val="4A7A9A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7766914" y="2581900"/>
            <a:ext cx="201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779362" y="1740652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7424491" y="2462579"/>
            <a:ext cx="118872" cy="11887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223086" y="2212790"/>
            <a:ext cx="118872" cy="11887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30320" y="2102058"/>
            <a:ext cx="118872" cy="11887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02922" y="2268023"/>
            <a:ext cx="118872" cy="11887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82786" y="2793527"/>
            <a:ext cx="118872" cy="11887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900748" y="3124004"/>
            <a:ext cx="118872" cy="11887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315999" y="2937153"/>
            <a:ext cx="118872" cy="11887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63410" y="2197852"/>
            <a:ext cx="6583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σ(U) ⊆ S¹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7347204" y="1097280"/>
            <a:ext cx="1412748" cy="1298448"/>
          </a:xfrm>
          <a:prstGeom prst="roundRect">
            <a:avLst>
              <a:gd name="adj" fmla="val 4225"/>
            </a:avLst>
          </a:prstGeom>
          <a:solidFill>
            <a:srgbClr val="0A1A2A"/>
          </a:solidFill>
          <a:ln w="19050">
            <a:solidFill>
              <a:srgbClr val="F4A26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02068" y="1133856"/>
            <a:ext cx="1321308" cy="1225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Theorem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Unitary U: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= ∫_{S¹} λ dP(λ)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P is a PVM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unit circle.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Spectrum is arc-like.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614416" y="4114800"/>
            <a:ext cx="3127248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Finite dim: U diagonalisable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614416" y="4334256"/>
            <a:ext cx="3127248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Infinite dim: spectral meas.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614416" y="4553712"/>
            <a:ext cx="3127248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 normal ⟹ spectral thm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614416" y="4773168"/>
            <a:ext cx="3127248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Connected: e^{iA} form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274320" y="489204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I.1 — L02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858000" y="489204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· LO1 · PhD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28800"/>
            <a:ext cx="9144000" cy="1554480"/>
          </a:xfrm>
          <a:prstGeom prst="rect">
            <a:avLst/>
          </a:prstGeom>
          <a:solidFill>
            <a:srgbClr val="162236"/>
          </a:solidFill>
          <a:ln w="12700">
            <a:solidFill>
              <a:srgbClr val="16223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920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30428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 2: Unitaries Preserve Norms &amp; Probabilities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971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slides — one per tier (HS / BegUG / AdvUG / MSc / PhD)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A1422"/>
          </a:solidFill>
          <a:ln w="12700">
            <a:solidFill>
              <a:srgbClr val="0A14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55448"/>
            <a:ext cx="804672" cy="384048"/>
          </a:xfrm>
          <a:prstGeom prst="roundRect">
            <a:avLst>
              <a:gd name="adj" fmla="val 11905"/>
            </a:avLst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55448"/>
            <a:ext cx="804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70432" y="155448"/>
            <a:ext cx="6949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L02 — LO2: Unitaries Preserve Norms &amp; Probabilities  |  High School Track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70432" y="438912"/>
            <a:ext cx="6949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Unitary Operators and Symmetry Transformations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577072" y="54864"/>
            <a:ext cx="521208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77072" y="54864"/>
            <a:ext cx="521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28600" y="786384"/>
            <a:ext cx="5074920" cy="260604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" y="868680"/>
            <a:ext cx="4892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EXPLANATION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65760" y="1106424"/>
            <a:ext cx="4818888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unitary transformation is like rotating a coordinate system — all distances and angles preserved.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⟨φ|ψ⟩ = 0.7 (states have 70% overlap), after applying U: ⟨Uφ|Uψ⟩ = 0.7 still.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 probabilities |⟨aₙ|ψ⟩|² are physical — they must not change under symmetry.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 probability |⟨φ|ψ⟩|² = |⟨Uφ|Uψ⟩|²: this is Wigner's physical requirement.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consequence: doing an experiment before or after a symmetry transformation gives identical statistics.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28600" y="3474720"/>
            <a:ext cx="5074920" cy="658368"/>
          </a:xfrm>
          <a:prstGeom prst="rect">
            <a:avLst/>
          </a:prstGeom>
          <a:solidFill>
            <a:srgbClr val="0A1628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" y="3566160"/>
            <a:ext cx="4818888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8E8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⟨Uφ|Uψ⟩ = ⟨φ|ψ⟩  (inner product)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8E8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|⟨Uφ|Uψ⟩|² = |⟨φ|ψ⟩|²  (prob.)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8E8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‖U|ψ⟩‖ = ‖|ψ⟩‖  (norm = 1)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28600" y="4206240"/>
            <a:ext cx="5074920" cy="86868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" y="4288536"/>
            <a:ext cx="4892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/ SUMMARY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65760" y="4526280"/>
            <a:ext cx="481888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|ψ⟩ = (3/5)|+⟩ + (4i/5)|−⟩, then ‖U|ψ⟩‖² = |3/5|² + |4i/5|² = 9/25+16/25 = 1 ✓ for any unitary U.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0" y="786384"/>
            <a:ext cx="3383280" cy="4288536"/>
          </a:xfrm>
          <a:prstGeom prst="rect">
            <a:avLst/>
          </a:prstGeom>
          <a:solidFill>
            <a:srgbClr val="1622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0" y="841248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Is Physical — Must Be Preserved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650992" y="107899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080760" y="1901952"/>
            <a:ext cx="146304" cy="146304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53912" y="1975104"/>
            <a:ext cx="502920" cy="-411480"/>
          </a:xfrm>
          <a:prstGeom prst="line">
            <a:avLst/>
          </a:prstGeom>
          <a:noFill/>
          <a:ln w="25400">
            <a:solidFill>
              <a:srgbClr val="F4A261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153912" y="1975104"/>
            <a:ext cx="-320040" cy="-502920"/>
          </a:xfrm>
          <a:prstGeom prst="line">
            <a:avLst/>
          </a:prstGeom>
          <a:noFill/>
          <a:ln w="19050">
            <a:solidFill>
              <a:srgbClr val="F4A261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6665976" y="1472184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|ψ⟩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650992" y="2660904"/>
            <a:ext cx="640080" cy="292608"/>
          </a:xfrm>
          <a:prstGeom prst="rect">
            <a:avLst/>
          </a:prstGeom>
          <a:solidFill>
            <a:srgbClr val="F4A261">
              <a:alpha val="70000"/>
            </a:srgbClr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27648" y="2660904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α²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650992" y="3072384"/>
            <a:ext cx="411480" cy="292608"/>
          </a:xfrm>
          <a:prstGeom prst="rect">
            <a:avLst/>
          </a:prstGeom>
          <a:solidFill>
            <a:srgbClr val="F4A261">
              <a:alpha val="70000"/>
            </a:srgbClr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99048" y="3072384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β²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650992" y="3621024"/>
            <a:ext cx="777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P(a₁)=|α|²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5650992" y="3822192"/>
            <a:ext cx="777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P(a₂)=|β|²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7269480" y="107899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U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7699248" y="1901952"/>
            <a:ext cx="146304" cy="14630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772400" y="1975104"/>
            <a:ext cx="502920" cy="-41148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7772400" y="1975104"/>
            <a:ext cx="-320040" cy="-50292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8284464" y="1472184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U|ψ⟩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7269480" y="2660904"/>
            <a:ext cx="640080" cy="292608"/>
          </a:xfrm>
          <a:prstGeom prst="rect">
            <a:avLst/>
          </a:prstGeom>
          <a:solidFill>
            <a:srgbClr val="00B4D8">
              <a:alpha val="7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946136" y="2660904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α²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7269480" y="3072384"/>
            <a:ext cx="411480" cy="292608"/>
          </a:xfrm>
          <a:prstGeom prst="rect">
            <a:avLst/>
          </a:prstGeom>
          <a:solidFill>
            <a:srgbClr val="00B4D8">
              <a:alpha val="7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717536" y="3072384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β²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7269480" y="3621024"/>
            <a:ext cx="777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P(a₁)=|α|²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7269480" y="3822192"/>
            <a:ext cx="777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P(a₂)=|β|²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7068312" y="2706624"/>
            <a:ext cx="2194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5577840" y="4544568"/>
            <a:ext cx="3200400" cy="438912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614416" y="4562856"/>
            <a:ext cx="31272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8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|⟨aₙ|Uψ⟩|² = |⟨U†aₙ|ψ⟩|² = |⟨aₙ|ψ⟩|²  ✓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274320" y="489204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I.1 — L02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858000" y="489204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· LO2 · HS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A1422"/>
          </a:solidFill>
          <a:ln w="12700">
            <a:solidFill>
              <a:srgbClr val="0A14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55448"/>
            <a:ext cx="804672" cy="384048"/>
          </a:xfrm>
          <a:prstGeom prst="roundRect">
            <a:avLst>
              <a:gd name="adj" fmla="val 11905"/>
            </a:avLst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55448"/>
            <a:ext cx="804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70432" y="155448"/>
            <a:ext cx="6949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L02 — LO2: Unitaries Preserve Norms &amp; Probabilities  |  Beg. Undergraduate Track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70432" y="438912"/>
            <a:ext cx="6949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Unitary Operators and Symmetry Transformations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577072" y="54864"/>
            <a:ext cx="521208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77072" y="54864"/>
            <a:ext cx="521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28600" y="786384"/>
            <a:ext cx="5074920" cy="260604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" y="868680"/>
            <a:ext cx="4892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4CA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EXPLANATION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65760" y="1106424"/>
            <a:ext cx="4818888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that UU†=1̂ implies ⟨Uφ|Uψ⟩ = ⟨φ|ψ⟩: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⟨Uφ|Uψ⟩ = ⟨φ|U†Uψ⟩ = ⟨φ|1̂ψ⟩ = ⟨φ|ψ⟩. □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norm preservation: ‖U|ψ⟩‖² = ⟨Uψ|Uψ⟩ = ⟨ψ|ψ⟩ = ‖|ψ⟩‖².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 probability: |⟨Uφ|Uψ⟩|² = |⟨φ|U†Uψ⟩|² = |⟨φ|ψ⟩|².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Born rule: P(aₙ|Uψ⟩) = |⟨aₙ|Uψ⟩|². For unitary U: this equals |⟨U†aₙ|ψ⟩|² — just a change of basis.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28600" y="3474720"/>
            <a:ext cx="5074920" cy="658368"/>
          </a:xfrm>
          <a:prstGeom prst="rect">
            <a:avLst/>
          </a:prstGeom>
          <a:solidFill>
            <a:srgbClr val="0A1628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" y="3566160"/>
            <a:ext cx="4818888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8E8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⟨Uφ|Uψ⟩ = ⟨φ|U†Uψ⟩ = ⟨φ|ψ⟩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8E8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‖Uψ‖² = ⟨ψ|U†U|ψ⟩ = ‖ψ‖²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8E8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|⟨Uφ|Uψ⟩|² = |⟨φ|ψ⟩|²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28600" y="4206240"/>
            <a:ext cx="5074920" cy="86868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" y="4288536"/>
            <a:ext cx="4892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/ SUMMARY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65760" y="4526280"/>
            <a:ext cx="481888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for U=e^{iπσ_z/4}=diag(e^{iπ/4},e^{−iπ/4}): ⟨U+|U+⟩ = e^{−iπ/4}·e^{iπ/4}·⟨+|+⟩ = 1 ✓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0" y="786384"/>
            <a:ext cx="3383280" cy="4288536"/>
          </a:xfrm>
          <a:prstGeom prst="rect">
            <a:avLst/>
          </a:prstGeom>
          <a:solidFill>
            <a:srgbClr val="1622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0" y="841248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Chain: Unitarity → Probability Preservation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614416" y="1097280"/>
            <a:ext cx="3127248" cy="713232"/>
          </a:xfrm>
          <a:prstGeom prst="roundRect">
            <a:avLst>
              <a:gd name="adj" fmla="val 7692"/>
            </a:avLst>
          </a:prstGeom>
          <a:solidFill>
            <a:srgbClr val="0A1525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87568" y="1133856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687568" y="1335024"/>
            <a:ext cx="296265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UU† = 1̂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7178040" y="1819656"/>
            <a:ext cx="0" cy="137160"/>
          </a:xfrm>
          <a:prstGeom prst="line">
            <a:avLst/>
          </a:prstGeom>
          <a:noFill/>
          <a:ln w="15240">
            <a:solidFill>
              <a:srgbClr val="00B4D8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614416" y="1965960"/>
            <a:ext cx="3127248" cy="713232"/>
          </a:xfrm>
          <a:prstGeom prst="roundRect">
            <a:avLst>
              <a:gd name="adj" fmla="val 7692"/>
            </a:avLst>
          </a:prstGeom>
          <a:solidFill>
            <a:srgbClr val="0A1525"/>
          </a:solidFill>
          <a:ln w="19050">
            <a:solidFill>
              <a:srgbClr val="F4A2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87568" y="2002536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687568" y="2203704"/>
            <a:ext cx="296265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⟨Uφ|Uψ⟩ = ⟨φ|U†Uψ⟩ = ⟨φ|ψ⟩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7178040" y="2688336"/>
            <a:ext cx="0" cy="137160"/>
          </a:xfrm>
          <a:prstGeom prst="line">
            <a:avLst/>
          </a:prstGeom>
          <a:noFill/>
          <a:ln w="15240">
            <a:solidFill>
              <a:srgbClr val="F4A261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5614416" y="2834640"/>
            <a:ext cx="3127248" cy="713232"/>
          </a:xfrm>
          <a:prstGeom prst="roundRect">
            <a:avLst>
              <a:gd name="adj" fmla="val 7692"/>
            </a:avLst>
          </a:prstGeom>
          <a:solidFill>
            <a:srgbClr val="0A1525"/>
          </a:solidFill>
          <a:ln w="19050">
            <a:solidFill>
              <a:srgbClr val="2ECC7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87568" y="2871216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687568" y="3072384"/>
            <a:ext cx="296265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‖U|ψ⟩‖² = ⟨Uψ|Uψ⟩ = ⟨ψ|ψ⟩ = ‖|ψ⟩‖²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7178040" y="3557016"/>
            <a:ext cx="0" cy="137160"/>
          </a:xfrm>
          <a:prstGeom prst="line">
            <a:avLst/>
          </a:prstGeom>
          <a:noFill/>
          <a:ln w="15240">
            <a:solidFill>
              <a:srgbClr val="2ECC71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5614416" y="3703320"/>
            <a:ext cx="3127248" cy="713232"/>
          </a:xfrm>
          <a:prstGeom prst="roundRect">
            <a:avLst>
              <a:gd name="adj" fmla="val 7692"/>
            </a:avLst>
          </a:prstGeom>
          <a:solidFill>
            <a:srgbClr val="0A1525"/>
          </a:solidFill>
          <a:ln w="19050">
            <a:solidFill>
              <a:srgbClr val="9B72C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87568" y="3739896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B7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687568" y="3941064"/>
            <a:ext cx="296265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|⟨Uφ|Uψ⟩|² = |⟨φ|ψ⟩|²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(transition probabilities equal)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274320" y="489204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I.1 — L02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858000" y="489204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· LO2 · BegUG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A1422"/>
          </a:solidFill>
          <a:ln w="12700">
            <a:solidFill>
              <a:srgbClr val="0A14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55448"/>
            <a:ext cx="804672" cy="384048"/>
          </a:xfrm>
          <a:prstGeom prst="roundRect">
            <a:avLst>
              <a:gd name="adj" fmla="val 11905"/>
            </a:avLst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55448"/>
            <a:ext cx="804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70432" y="155448"/>
            <a:ext cx="6949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L02 — LO2: Unitaries Preserve Norms &amp; Probabilities  |  Adv. Undergraduate Track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70432" y="438912"/>
            <a:ext cx="6949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Unitary Operators and Symmetry Transformations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577072" y="54864"/>
            <a:ext cx="521208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77072" y="54864"/>
            <a:ext cx="521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28600" y="786384"/>
            <a:ext cx="5074920" cy="260604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" y="868680"/>
            <a:ext cx="4892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EXPLANATION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65760" y="1106424"/>
            <a:ext cx="4818888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invariance proof: Û|aₙ⟩ is an eigenvector of ÛÂÛ† with eigenvalue aₙ.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ÛÂÛ†(Û|aₙ⟩) = ÛÂ(Û†Û)|aₙ⟩ = ÛÂ|aₙ⟩ = aₙÛ|aₙ⟩. □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Tr(ÛÂÛ†) = Tr(Â): cyclic property of trace.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det(ÛÂÛ†) = det(Û)det(Â)det(Û†) = det(Â): |det(Û)|=1.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Corollary: any unitary equivalent pair (Â, ÛÂÛ†) describe identical physics — all observables, entropies, correlators agree.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28600" y="3474720"/>
            <a:ext cx="5074920" cy="658368"/>
          </a:xfrm>
          <a:prstGeom prst="rect">
            <a:avLst/>
          </a:prstGeom>
          <a:solidFill>
            <a:srgbClr val="0A1628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" y="3566160"/>
            <a:ext cx="4818888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8E8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σ(ÛÂÛ†) = σ(Â)  (same spectrum)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8E8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Tr(ÛÂÛ†) = Tr(Â)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8E8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det(ÛÂÛ†) = det(Â)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28600" y="4206240"/>
            <a:ext cx="5074920" cy="86868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" y="4288536"/>
            <a:ext cx="4892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/ SUMMARY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65760" y="4526280"/>
            <a:ext cx="481888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σ(Û σ_z Û†) for Û=H (Hadamard): H σ_z H† = σ_x. Spectrum of σ_x = {±1} = spectrum of σ_z ✓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0" y="786384"/>
            <a:ext cx="3383280" cy="4288536"/>
          </a:xfrm>
          <a:prstGeom prst="rect">
            <a:avLst/>
          </a:prstGeom>
          <a:solidFill>
            <a:srgbClr val="1622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0" y="841248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Invariance Under Unitary Conjugation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614416" y="1097280"/>
            <a:ext cx="3127248" cy="457200"/>
          </a:xfrm>
          <a:prstGeom prst="roundRect">
            <a:avLst>
              <a:gd name="adj" fmla="val 12000"/>
            </a:avLst>
          </a:prstGeom>
          <a:solidFill>
            <a:srgbClr val="0A2040"/>
          </a:solidFill>
          <a:ln w="19050">
            <a:solidFill>
              <a:srgbClr val="F4A2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14416" y="1097280"/>
            <a:ext cx="31272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Â  with  Â|aₙ⟩ = aₙ|aₙ⟩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178040" y="1554480"/>
            <a:ext cx="0" cy="256032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7232904" y="1563624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conjugate by U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5614416" y="1837944"/>
            <a:ext cx="3127248" cy="457200"/>
          </a:xfrm>
          <a:prstGeom prst="roundRect">
            <a:avLst>
              <a:gd name="adj" fmla="val 12000"/>
            </a:avLst>
          </a:prstGeom>
          <a:solidFill>
            <a:srgbClr val="0A2040"/>
          </a:solidFill>
          <a:ln w="19050">
            <a:solidFill>
              <a:srgbClr val="2ECC7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14416" y="1837944"/>
            <a:ext cx="31272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Â' = ÛÂÛ†  with eigenvectors Û|aₙ⟩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178040" y="2295144"/>
            <a:ext cx="0" cy="256032"/>
          </a:xfrm>
          <a:prstGeom prst="line">
            <a:avLst/>
          </a:prstGeom>
          <a:noFill/>
          <a:ln w="19050">
            <a:solidFill>
              <a:srgbClr val="2ECC71"/>
            </a:solidFill>
            <a:prstDash val="solid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7232904" y="230428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eigenvalues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5614416" y="2578608"/>
            <a:ext cx="3127248" cy="475488"/>
          </a:xfrm>
          <a:prstGeom prst="rect">
            <a:avLst/>
          </a:prstGeom>
          <a:solidFill>
            <a:srgbClr val="0A3020"/>
          </a:solidFill>
          <a:ln w="19050">
            <a:solidFill>
              <a:srgbClr val="2ECC7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50992" y="2596896"/>
            <a:ext cx="305409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σ(ÛÂÛ†) = σ(Â)  [eigenvalues unchanged]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ÛÂÛ†(Û|aₙ⟩) = aₙ(Û|aₙ⟩)  [eigenvectors rotated]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614416" y="3182112"/>
            <a:ext cx="3127248" cy="566928"/>
          </a:xfrm>
          <a:prstGeom prst="rect">
            <a:avLst/>
          </a:prstGeom>
          <a:solidFill>
            <a:srgbClr val="0A1820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50992" y="3200400"/>
            <a:ext cx="305409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meaning: measurement outcomes (eigenvalues)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same in any unitarily equivalent basis.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is representation-independent!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614416" y="4453128"/>
            <a:ext cx="1527048" cy="493776"/>
          </a:xfrm>
          <a:prstGeom prst="roundRect">
            <a:avLst>
              <a:gd name="adj" fmla="val 11111"/>
            </a:avLst>
          </a:prstGeom>
          <a:solidFill>
            <a:srgbClr val="0A1020"/>
          </a:solidFill>
          <a:ln w="19050">
            <a:solidFill>
              <a:srgbClr val="5B9BD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14416" y="4453128"/>
            <a:ext cx="15270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Tr(UAU†)=Tr(A)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7214616" y="4453128"/>
            <a:ext cx="1527048" cy="493776"/>
          </a:xfrm>
          <a:prstGeom prst="roundRect">
            <a:avLst>
              <a:gd name="adj" fmla="val 11111"/>
            </a:avLst>
          </a:prstGeom>
          <a:solidFill>
            <a:srgbClr val="0A1020"/>
          </a:solidFill>
          <a:ln w="19050">
            <a:solidFill>
              <a:srgbClr val="9B72C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214616" y="4453128"/>
            <a:ext cx="15270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B7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det(UAU†)=det(A)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274320" y="489204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I.1 — L02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858000" y="489204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· LO2 · AdvUG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A1422"/>
          </a:solidFill>
          <a:ln w="12700">
            <a:solidFill>
              <a:srgbClr val="0A14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55448"/>
            <a:ext cx="804672" cy="384048"/>
          </a:xfrm>
          <a:prstGeom prst="roundRect">
            <a:avLst>
              <a:gd name="adj" fmla="val 11905"/>
            </a:avLst>
          </a:prstGeom>
          <a:solidFill>
            <a:srgbClr val="9B72CF"/>
          </a:solidFill>
          <a:ln w="12700">
            <a:solidFill>
              <a:srgbClr val="9B72C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55448"/>
            <a:ext cx="804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70432" y="155448"/>
            <a:ext cx="6949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L02 — LO2: Unitaries Preserve Norms &amp; Probabilities  |  Master's Track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70432" y="438912"/>
            <a:ext cx="6949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Unitary Operators and Symmetry Transformations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577072" y="54864"/>
            <a:ext cx="521208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77072" y="54864"/>
            <a:ext cx="521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28600" y="786384"/>
            <a:ext cx="5074920" cy="260604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" y="868680"/>
            <a:ext cx="4892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9B7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EXPLANATION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65760" y="1106424"/>
            <a:ext cx="4818888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Unitary equivalence as an equivalence relation: Â ~ B̂ iff ∃ unitary Û with B̂=ÛÂÛ†.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Preserves: spectrum σ(Â), trace Tr(Â), determinant det(Â), von Neumann entropy S(ρ̂)=-Tr(ρ̂ log ρ̂).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Unitary invariants: any quantity invariant under Â ↦ ÛÂÛ† is a physical observable.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Schur's lemma: if [Â,Û]=0 for all Û in an irreducible representation, then Â = λ1̂.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Stone–von Neumann theorem: all irreducible representations of [x̂,p̂]=iℏ on a separable Hilbert space are unitarily equivalent.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28600" y="3474720"/>
            <a:ext cx="5074920" cy="658368"/>
          </a:xfrm>
          <a:prstGeom prst="rect">
            <a:avLst/>
          </a:prstGeom>
          <a:solidFill>
            <a:srgbClr val="0A1628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" y="3566160"/>
            <a:ext cx="4818888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8E8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Â~B̂ iff ∃U: B̂=ÛÂÛ†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8E8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S(Ûρ̂Û†) = S(ρ̂)  (entropy)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8E8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Stone-vN: CCR reps equiv.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28600" y="4206240"/>
            <a:ext cx="5074920" cy="86868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" y="4288536"/>
            <a:ext cx="4892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/ SUMMARY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65760" y="4526280"/>
            <a:ext cx="481888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Stone–von Neumann: the Schrödinger rep ψ(x) and momentum rep ψ̃(p) of [x̂,p̂]=iℏ are unitarily related by the Fourier transform — a unitary operator on L²(ℝ).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0" y="786384"/>
            <a:ext cx="3383280" cy="4288536"/>
          </a:xfrm>
          <a:prstGeom prst="rect">
            <a:avLst/>
          </a:prstGeom>
          <a:solidFill>
            <a:srgbClr val="1622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0" y="841248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Unitary Equivalence &amp; Representation Independence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614416" y="1133856"/>
            <a:ext cx="1371600" cy="548640"/>
          </a:xfrm>
          <a:prstGeom prst="roundRect">
            <a:avLst>
              <a:gd name="adj" fmla="val 10000"/>
            </a:avLst>
          </a:prstGeom>
          <a:solidFill>
            <a:srgbClr val="0A2040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14416" y="1133856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 {|eₙ⟩}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= ΣEₙ|eₙ⟩⟨eₙ|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7370064" y="1133856"/>
            <a:ext cx="1371600" cy="548640"/>
          </a:xfrm>
          <a:prstGeom prst="roundRect">
            <a:avLst>
              <a:gd name="adj" fmla="val 10000"/>
            </a:avLst>
          </a:prstGeom>
          <a:solidFill>
            <a:srgbClr val="0A4020"/>
          </a:solidFill>
          <a:ln w="19050">
            <a:solidFill>
              <a:srgbClr val="2ECC7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70064" y="1133856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 {|fₙ⟩=U|eₙ⟩}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H'= UHU†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7022592" y="1408176"/>
            <a:ext cx="310896" cy="0"/>
          </a:xfrm>
          <a:prstGeom prst="line">
            <a:avLst/>
          </a:prstGeom>
          <a:noFill/>
          <a:ln w="22860">
            <a:solidFill>
              <a:srgbClr val="F4A261"/>
            </a:solidFill>
            <a:prstDash val="solid"/>
            <a:headEnd type="triangle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7040880" y="1225296"/>
            <a:ext cx="2926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(unitary)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614416" y="1865376"/>
            <a:ext cx="3127248" cy="457200"/>
          </a:xfrm>
          <a:prstGeom prst="rect">
            <a:avLst/>
          </a:prstGeom>
          <a:solidFill>
            <a:srgbClr val="0A1628"/>
          </a:solidFill>
          <a:ln w="19050">
            <a:solidFill>
              <a:srgbClr val="F4A2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50992" y="1883664"/>
            <a:ext cx="30540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C8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Unitarily equivalent: σ(H) = σ(H')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8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Tr(e^{-βH}) = Tr(e^{-βH'})  [partition function the same]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614416" y="2478024"/>
            <a:ext cx="3127248" cy="274320"/>
          </a:xfrm>
          <a:prstGeom prst="rect">
            <a:avLst/>
          </a:prstGeom>
          <a:solidFill>
            <a:srgbClr val="0A122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87568" y="2478024"/>
            <a:ext cx="3035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Same energy spectrum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614416" y="2816352"/>
            <a:ext cx="3127248" cy="274320"/>
          </a:xfrm>
          <a:prstGeom prst="rect">
            <a:avLst/>
          </a:prstGeom>
          <a:solidFill>
            <a:srgbClr val="0A1220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87568" y="2816352"/>
            <a:ext cx="3035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Same time evolution dynamics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614416" y="3154680"/>
            <a:ext cx="3127248" cy="274320"/>
          </a:xfrm>
          <a:prstGeom prst="rect">
            <a:avLst/>
          </a:prstGeom>
          <a:solidFill>
            <a:srgbClr val="0A1220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87568" y="3154680"/>
            <a:ext cx="3035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Different matrix form — same physics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614416" y="3493008"/>
            <a:ext cx="3127248" cy="274320"/>
          </a:xfrm>
          <a:prstGeom prst="rect">
            <a:avLst/>
          </a:prstGeom>
          <a:solidFill>
            <a:srgbClr val="0A1220"/>
          </a:solidFill>
          <a:ln w="12700">
            <a:solidFill>
              <a:srgbClr val="9B72C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87568" y="3493008"/>
            <a:ext cx="3035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B7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All unitary reps of same algebra are equiv.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274320" y="489204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I.1 — L02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858000" y="489204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· LO2 · MSc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A1422"/>
          </a:solidFill>
          <a:ln w="12700">
            <a:solidFill>
              <a:srgbClr val="0A14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55448"/>
            <a:ext cx="804672" cy="384048"/>
          </a:xfrm>
          <a:prstGeom prst="roundRect">
            <a:avLst>
              <a:gd name="adj" fmla="val 11905"/>
            </a:avLst>
          </a:prstGeom>
          <a:solidFill>
            <a:srgbClr val="E07B6A"/>
          </a:solidFill>
          <a:ln w="12700">
            <a:solidFill>
              <a:srgbClr val="E07B6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55448"/>
            <a:ext cx="804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70432" y="155448"/>
            <a:ext cx="6949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L02 — LO2: Unitaries Preserve Norms &amp; Probabilities  |  PhD Track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70432" y="438912"/>
            <a:ext cx="6949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Unitary Operators and Symmetry Transformations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577072" y="54864"/>
            <a:ext cx="521208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77072" y="54864"/>
            <a:ext cx="521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28600" y="786384"/>
            <a:ext cx="5074920" cy="260604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" y="868680"/>
            <a:ext cx="4892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E07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EXPLANATION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65760" y="1106424"/>
            <a:ext cx="4818888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vs. norm topology on U(ℋ): norm topology makes U(ℋ) a topological group; strong topology is more physically relevant.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Fell topology on representations: controls continuity of induced representations.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Connes' theorem: any two separable hyperfinite II₁ factors are isomorphic — implies uniqueness up to unitary equivalence.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Ultraweakly continuous functionals on B(ℋ): characterise normal states ρ = Tr(ρ̂·) — preserved by unitary equivalence.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theory: for a vN algebra M with cyclic vector |Ω⟩, the modular operator Δ and modular conjugation J satisfy JMJ = M'.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28600" y="3474720"/>
            <a:ext cx="5074920" cy="658368"/>
          </a:xfrm>
          <a:prstGeom prst="rect">
            <a:avLst/>
          </a:prstGeom>
          <a:solidFill>
            <a:srgbClr val="0A1628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" y="3566160"/>
            <a:ext cx="4818888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8E8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Strong top.: Uₙ→U iff ‖Uₙψ−Uψ‖→0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8E8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Modular: ΔitMΔ−it=M (KMS)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8E8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Connes: hyperfinite II₁ unique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28600" y="4206240"/>
            <a:ext cx="5074920" cy="86868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" y="4288536"/>
            <a:ext cx="4892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/ SUMMARY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65760" y="4526280"/>
            <a:ext cx="481888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Tomita–Takesaki modular group {σ_t(·) = Δ^{it}·Δ^{−it}} is a one-parameter unitary group on the vN algebra — an instance of Stone's theorem in the algebraic setting.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0" y="786384"/>
            <a:ext cx="3383280" cy="4288536"/>
          </a:xfrm>
          <a:prstGeom prst="rect">
            <a:avLst/>
          </a:prstGeom>
          <a:solidFill>
            <a:srgbClr val="1622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0" y="841248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Topologies on U(ℋ) and Their Physical Roles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614416" y="1106424"/>
            <a:ext cx="3127248" cy="1024128"/>
          </a:xfrm>
          <a:prstGeom prst="roundRect">
            <a:avLst>
              <a:gd name="adj" fmla="val 5357"/>
            </a:avLst>
          </a:prstGeom>
          <a:solidFill>
            <a:srgbClr val="0A1020"/>
          </a:solidFill>
          <a:ln w="19050">
            <a:solidFill>
              <a:srgbClr val="E07B6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87568" y="1143000"/>
            <a:ext cx="29809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07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 topology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687568" y="1362456"/>
            <a:ext cx="29809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Uₙ→U iff ‖Uₙ−U‖→0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687568" y="1600200"/>
            <a:ext cx="29809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Strongest; rarely physically relevant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5687568" y="1819656"/>
            <a:ext cx="2907792" cy="0"/>
          </a:xfrm>
          <a:prstGeom prst="line">
            <a:avLst/>
          </a:prstGeom>
          <a:noFill/>
          <a:ln w="6350">
            <a:solidFill>
              <a:srgbClr val="1A3A5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87568" y="1856232"/>
            <a:ext cx="29809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7AB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Finite-dimensional U(n)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5614416" y="2295144"/>
            <a:ext cx="3127248" cy="1024128"/>
          </a:xfrm>
          <a:prstGeom prst="roundRect">
            <a:avLst>
              <a:gd name="adj" fmla="val 5357"/>
            </a:avLst>
          </a:prstGeom>
          <a:solidFill>
            <a:srgbClr val="0A1020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87568" y="2331720"/>
            <a:ext cx="29809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topology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687568" y="2551176"/>
            <a:ext cx="29809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Uₙ→U iff ‖Uₙ|ψ⟩−U|ψ⟩‖→0 ∀|ψ⟩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687568" y="2788920"/>
            <a:ext cx="29809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Stone's thm uses this; Schrödinger evo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5687568" y="3008376"/>
            <a:ext cx="2907792" cy="0"/>
          </a:xfrm>
          <a:prstGeom prst="line">
            <a:avLst/>
          </a:prstGeom>
          <a:noFill/>
          <a:ln w="6350">
            <a:solidFill>
              <a:srgbClr val="1A3A5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87568" y="3044952"/>
            <a:ext cx="29809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7AB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e^{−iHt} as t→t₀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5614416" y="3483864"/>
            <a:ext cx="3127248" cy="1024128"/>
          </a:xfrm>
          <a:prstGeom prst="roundRect">
            <a:avLst>
              <a:gd name="adj" fmla="val 5357"/>
            </a:avLst>
          </a:prstGeom>
          <a:solidFill>
            <a:srgbClr val="0A1020"/>
          </a:solidFill>
          <a:ln w="19050">
            <a:solidFill>
              <a:srgbClr val="F4A26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87568" y="3520440"/>
            <a:ext cx="29809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topology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687568" y="3739896"/>
            <a:ext cx="29809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Uₙ→U iff ⟨φ|Uₙψ⟩→⟨φ|Uψ⟩ ∀|φ⟩,|ψ⟩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687568" y="3977640"/>
            <a:ext cx="29809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Weakest; used in vN algebra theory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5687568" y="4197096"/>
            <a:ext cx="2907792" cy="0"/>
          </a:xfrm>
          <a:prstGeom prst="line">
            <a:avLst/>
          </a:prstGeom>
          <a:noFill/>
          <a:ln w="6350">
            <a:solidFill>
              <a:srgbClr val="1A3A5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87568" y="4233672"/>
            <a:ext cx="29809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7AB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Infinite tensor products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274320" y="489204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I.1 — L02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858000" y="489204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· LO2 · PhD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28800"/>
            <a:ext cx="9144000" cy="1554480"/>
          </a:xfrm>
          <a:prstGeom prst="rect">
            <a:avLst/>
          </a:prstGeom>
          <a:solidFill>
            <a:srgbClr val="162236"/>
          </a:solidFill>
          <a:ln w="12700">
            <a:solidFill>
              <a:srgbClr val="16223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920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30428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 3: Physical Symmetries as Unitary Operators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971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slides — one per tier (HS / BegUG / AdvUG / MSc / PhD)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A1422"/>
          </a:solidFill>
          <a:ln w="12700">
            <a:solidFill>
              <a:srgbClr val="0A14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55448"/>
            <a:ext cx="804672" cy="384048"/>
          </a:xfrm>
          <a:prstGeom prst="roundRect">
            <a:avLst>
              <a:gd name="adj" fmla="val 11905"/>
            </a:avLst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55448"/>
            <a:ext cx="804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70432" y="155448"/>
            <a:ext cx="6949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L02 — LO3: Physical Symmetries as Unitary Operators  |  High School Track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70432" y="438912"/>
            <a:ext cx="6949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Unitary Operators and Symmetry Transformations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577072" y="54864"/>
            <a:ext cx="521208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77072" y="54864"/>
            <a:ext cx="521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28600" y="786384"/>
            <a:ext cx="5074920" cy="260604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" y="868680"/>
            <a:ext cx="4892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EXPLANATION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65760" y="1106424"/>
            <a:ext cx="4818888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physical symmetry — rotating, translating, shifting time — is implemented by a unitary operator.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ROTATION: Û_z(θ) rotates a spin state by angle θ around the z-axis on the Bloch sphere.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TRANSLATION: T̂(a) shifts a quantum particle's position by a: T̂(a)|x⟩ = |x+a⟩.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EVOLUTION: Û(t) = e^{−iĤt/ℏ} evolves the state forward in time.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are unitary because they must preserve probabilities (physical outcomes unchanged).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28600" y="3474720"/>
            <a:ext cx="5074920" cy="658368"/>
          </a:xfrm>
          <a:prstGeom prst="rect">
            <a:avLst/>
          </a:prstGeom>
          <a:solidFill>
            <a:srgbClr val="0A1628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" y="3566160"/>
            <a:ext cx="4818888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8E8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Û_z(θ) = e^{−iθŜ_z/ℏ}  (rotation)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8E8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T̂(a) = e^{−iap̂/ℏ}  (translation)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8E8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Û(t) = e^{−iĤt/ℏ}  (time evo.)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28600" y="4206240"/>
            <a:ext cx="5074920" cy="86868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" y="4288536"/>
            <a:ext cx="4892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/ SUMMARY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65760" y="4526280"/>
            <a:ext cx="481888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spin-½: Û_z(π)|+⟩ = e^{−iπ/2}|+⟩. But Û_z(2π)|+⟩ = e^{−iπ}|+⟩ = −|+⟩ (spinor phase flip!).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0" y="786384"/>
            <a:ext cx="3383280" cy="4288536"/>
          </a:xfrm>
          <a:prstGeom prst="rect">
            <a:avLst/>
          </a:prstGeom>
          <a:solidFill>
            <a:srgbClr val="1622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0" y="841248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Rotations on the Bloch Sphere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172200" y="2075688"/>
            <a:ext cx="2011680" cy="1709928"/>
          </a:xfrm>
          <a:prstGeom prst="ellipse">
            <a:avLst/>
          </a:prstGeom>
          <a:solidFill>
            <a:srgbClr val="0D1B2A"/>
          </a:solidFill>
          <a:ln w="19050">
            <a:solidFill>
              <a:srgbClr val="2A5A7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72200" y="2649017"/>
            <a:ext cx="2011680" cy="56327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1A3A5A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7178040" y="3755441"/>
            <a:ext cx="0" cy="-1649578"/>
          </a:xfrm>
          <a:prstGeom prst="line">
            <a:avLst/>
          </a:prstGeom>
          <a:noFill/>
          <a:ln w="22860">
            <a:solidFill>
              <a:srgbClr val="00B4D8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7214616" y="2045513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(Ŝz)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252667" y="2930652"/>
            <a:ext cx="1850746" cy="0"/>
          </a:xfrm>
          <a:prstGeom prst="line">
            <a:avLst/>
          </a:prstGeom>
          <a:noFill/>
          <a:ln w="19050">
            <a:solidFill>
              <a:srgbClr val="F4A261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8083296" y="2820924"/>
            <a:ext cx="3840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(Ŝx)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7434072" y="3282696"/>
            <a:ext cx="-512064" cy="-704088"/>
          </a:xfrm>
          <a:prstGeom prst="line">
            <a:avLst/>
          </a:prstGeom>
          <a:noFill/>
          <a:ln w="19050">
            <a:solidFill>
              <a:srgbClr val="2ECC71"/>
            </a:solidFill>
            <a:prstDash val="solid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6592824" y="2508199"/>
            <a:ext cx="3840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(Ŝy)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7598664" y="2244852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178040" y="2930652"/>
            <a:ext cx="502920" cy="-603504"/>
          </a:xfrm>
          <a:prstGeom prst="line">
            <a:avLst/>
          </a:prstGeom>
          <a:noFill/>
          <a:ln w="15240">
            <a:solidFill>
              <a:srgbClr val="FFFFFF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7772400" y="2162556"/>
            <a:ext cx="2926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|ψ⟩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577840" y="4434840"/>
            <a:ext cx="3200400" cy="548640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14416" y="4453128"/>
            <a:ext cx="312724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8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Uz(θ) = e^{−iθŜz/ℏ}  (z-rotation, cyan)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C8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Ux(φ) = e^{−iφŜx/ℏ}  (x-rotation, gold)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274320" y="489204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I.1 — L02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858000" y="489204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· LO3 · HS</a:t>
            </a:r>
            <a:endParaRPr lang="en-US" sz="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A1422"/>
          </a:solidFill>
          <a:ln w="12700">
            <a:solidFill>
              <a:srgbClr val="0A14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55448"/>
            <a:ext cx="804672" cy="384048"/>
          </a:xfrm>
          <a:prstGeom prst="roundRect">
            <a:avLst>
              <a:gd name="adj" fmla="val 11905"/>
            </a:avLst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55448"/>
            <a:ext cx="804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70432" y="155448"/>
            <a:ext cx="6949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L02 — LO3: Physical Symmetries as Unitary Operators  |  Beg. Undergraduate Track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70432" y="438912"/>
            <a:ext cx="6949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Unitary Operators and Symmetry Transformations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577072" y="54864"/>
            <a:ext cx="521208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77072" y="54864"/>
            <a:ext cx="521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28600" y="786384"/>
            <a:ext cx="5074920" cy="260604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" y="868680"/>
            <a:ext cx="4892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4CA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EXPLANATION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65760" y="1106424"/>
            <a:ext cx="4818888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continuous symmetry has a Hermitian generator Ĝ via Û(θ) = e^{iθĜ}.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e^{iθσ_z} is unitary: (e^{iθσ_z})† = e^{−iθσ_z} = (e^{iθσ_z})⁻¹. ✓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 T̂(a)=e^{−iap̂/ℏ}: acts as T̂(a)ψ(x) = ψ(x−a). Generator = p̂.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evolution Û(t)=e^{−iĤt/ℏ}: Schrödinger equation is iℏ∂_t|ψ⟩ = Ĥ|ψ⟩.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phase e^{iφ}: trivial symmetry, generator = 1̂. Observable: nothing changes.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28600" y="3474720"/>
            <a:ext cx="5074920" cy="658368"/>
          </a:xfrm>
          <a:prstGeom prst="rect">
            <a:avLst/>
          </a:prstGeom>
          <a:solidFill>
            <a:srgbClr val="0A1628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" y="3566160"/>
            <a:ext cx="4818888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8E8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e^{iθσ_z} = diag(e^{iθ}, e^{−iθ})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8E8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T̂(a)ψ(x) = ψ(x−a)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8E8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iℏ∂_t|ψ⟩ = Ĥ|ψ⟩  (Schrödinger)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28600" y="4206240"/>
            <a:ext cx="5074920" cy="86868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" y="4288536"/>
            <a:ext cx="4892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/ SUMMARY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65760" y="4526280"/>
            <a:ext cx="481888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Û_x(π/2)|+⟩: e^{−iπσ_x/4} = cos(π/4)1̂ − i sin(π/4)σ_x = (1̂ − iσ_x)/√2. Apply to |+⟩=(1,0)ᵀ → (1,−i)ᵀ/√2.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0" y="786384"/>
            <a:ext cx="3383280" cy="4288536"/>
          </a:xfrm>
          <a:prstGeom prst="rect">
            <a:avLst/>
          </a:prstGeom>
          <a:solidFill>
            <a:srgbClr val="1622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0" y="841248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Fundamental Physical Symmetries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596128" y="1078992"/>
            <a:ext cx="1011936" cy="3621024"/>
          </a:xfrm>
          <a:prstGeom prst="roundRect">
            <a:avLst>
              <a:gd name="adj" fmla="val 5422"/>
            </a:avLst>
          </a:prstGeom>
          <a:solidFill>
            <a:srgbClr val="0A1525"/>
          </a:solidFill>
          <a:ln w="19050">
            <a:solidFill>
              <a:srgbClr val="5B9BD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96128" y="1106424"/>
            <a:ext cx="10119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650992" y="1362456"/>
            <a:ext cx="902208" cy="0"/>
          </a:xfrm>
          <a:prstGeom prst="line">
            <a:avLst/>
          </a:prstGeom>
          <a:noFill/>
          <a:ln w="9525">
            <a:solidFill>
              <a:srgbClr val="2A4A6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50992" y="1399032"/>
            <a:ext cx="902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8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Û_φ = e^{iφ}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650992" y="1636776"/>
            <a:ext cx="9022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Generator: 1̂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650992" y="1856232"/>
            <a:ext cx="902208" cy="0"/>
          </a:xfrm>
          <a:prstGeom prst="line">
            <a:avLst/>
          </a:prstGeom>
          <a:noFill/>
          <a:ln w="9525">
            <a:solidFill>
              <a:srgbClr val="2A4A6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50992" y="1892808"/>
            <a:ext cx="9022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phase e^{iφ}|ψ⟩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observable unchanged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5650992" y="4096512"/>
            <a:ext cx="902208" cy="274320"/>
          </a:xfrm>
          <a:prstGeom prst="rect">
            <a:avLst/>
          </a:prstGeom>
          <a:solidFill>
            <a:srgbClr val="5B9BD5">
              <a:alpha val="30000"/>
            </a:srgbClr>
          </a:solidFill>
          <a:ln w="9525">
            <a:solidFill>
              <a:srgbClr val="5B9BD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50992" y="4096512"/>
            <a:ext cx="902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Conserves: probability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6672072" y="1078992"/>
            <a:ext cx="1011936" cy="3621024"/>
          </a:xfrm>
          <a:prstGeom prst="roundRect">
            <a:avLst>
              <a:gd name="adj" fmla="val 5422"/>
            </a:avLst>
          </a:prstGeom>
          <a:solidFill>
            <a:srgbClr val="0A1525"/>
          </a:solidFill>
          <a:ln w="19050">
            <a:solidFill>
              <a:srgbClr val="F4A2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72072" y="1106424"/>
            <a:ext cx="10119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726936" y="1362456"/>
            <a:ext cx="902208" cy="0"/>
          </a:xfrm>
          <a:prstGeom prst="line">
            <a:avLst/>
          </a:prstGeom>
          <a:noFill/>
          <a:ln w="9525">
            <a:solidFill>
              <a:srgbClr val="2A4A6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26936" y="1399032"/>
            <a:ext cx="902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8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Û(θ) = e^{−iθJ/ℏ}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726936" y="1636776"/>
            <a:ext cx="9022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Generator: Ĵ (angular mom.)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6726936" y="1856232"/>
            <a:ext cx="902208" cy="0"/>
          </a:xfrm>
          <a:prstGeom prst="line">
            <a:avLst/>
          </a:prstGeom>
          <a:noFill/>
          <a:ln w="9525">
            <a:solidFill>
              <a:srgbClr val="2A4A6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26936" y="1892808"/>
            <a:ext cx="9022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 rotation on Bloch sphere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Uz(θ)|+⟩ = e^{−iθ/2}|+⟩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6726936" y="4096512"/>
            <a:ext cx="902208" cy="274320"/>
          </a:xfrm>
          <a:prstGeom prst="rect">
            <a:avLst/>
          </a:prstGeom>
          <a:solidFill>
            <a:srgbClr val="F4A261">
              <a:alpha val="30000"/>
            </a:srgbClr>
          </a:solidFill>
          <a:ln w="9525">
            <a:solidFill>
              <a:srgbClr val="F4A26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26936" y="4096512"/>
            <a:ext cx="902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Conserves: angular momentum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7748016" y="1078992"/>
            <a:ext cx="1011936" cy="3621024"/>
          </a:xfrm>
          <a:prstGeom prst="roundRect">
            <a:avLst>
              <a:gd name="adj" fmla="val 5422"/>
            </a:avLst>
          </a:prstGeom>
          <a:solidFill>
            <a:srgbClr val="0A1525"/>
          </a:solidFill>
          <a:ln w="19050">
            <a:solidFill>
              <a:srgbClr val="2ECC7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748016" y="1106424"/>
            <a:ext cx="10119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802880" y="1362456"/>
            <a:ext cx="902208" cy="0"/>
          </a:xfrm>
          <a:prstGeom prst="line">
            <a:avLst/>
          </a:prstGeom>
          <a:noFill/>
          <a:ln w="9525">
            <a:solidFill>
              <a:srgbClr val="2A4A6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802880" y="1399032"/>
            <a:ext cx="902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8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T̂(a) = e^{−iap̂/ℏ}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802880" y="1636776"/>
            <a:ext cx="9022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Generator: p̂ (momentum)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7802880" y="1856232"/>
            <a:ext cx="902208" cy="0"/>
          </a:xfrm>
          <a:prstGeom prst="line">
            <a:avLst/>
          </a:prstGeom>
          <a:noFill/>
          <a:ln w="9525">
            <a:solidFill>
              <a:srgbClr val="2A4A6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802880" y="1892808"/>
            <a:ext cx="9022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T̂(a)ψ(x) = ψ(x−a)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shifts wavefunction by a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7802880" y="4096512"/>
            <a:ext cx="902208" cy="274320"/>
          </a:xfrm>
          <a:prstGeom prst="rect">
            <a:avLst/>
          </a:prstGeom>
          <a:solidFill>
            <a:srgbClr val="2ECC71">
              <a:alpha val="30000"/>
            </a:srgbClr>
          </a:solidFill>
          <a:ln w="9525">
            <a:solidFill>
              <a:srgbClr val="2ECC7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802880" y="4096512"/>
            <a:ext cx="902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Conserves: momentum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274320" y="489204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I.1 — L02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858000" y="489204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· LO3 · BegUG</a:t>
            </a:r>
            <a:endParaRPr lang="en-US" sz="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A1422"/>
          </a:solidFill>
          <a:ln w="12700">
            <a:solidFill>
              <a:srgbClr val="0A14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55448"/>
            <a:ext cx="804672" cy="384048"/>
          </a:xfrm>
          <a:prstGeom prst="roundRect">
            <a:avLst>
              <a:gd name="adj" fmla="val 11905"/>
            </a:avLst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55448"/>
            <a:ext cx="804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70432" y="155448"/>
            <a:ext cx="6949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L02 — LO3: Physical Symmetries as Unitary Operators  |  Adv. Undergraduate Track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70432" y="438912"/>
            <a:ext cx="6949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Unitary Operators and Symmetry Transformations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577072" y="54864"/>
            <a:ext cx="521208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77072" y="54864"/>
            <a:ext cx="521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28600" y="786384"/>
            <a:ext cx="5074920" cy="260604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" y="868680"/>
            <a:ext cx="4892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EXPLANATION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65760" y="1106424"/>
            <a:ext cx="4818888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Symmetry of Ĥ: Û(θ)ĤÛ†(θ) = Ĥ for all θ iff [Ĝ,Ĥ] = 0.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Proof: differentiate Û(θ)ĤÛ†(θ)=Ĥ at θ=0: iĜĤ − iĤĜ = 0, i.e., [Ĝ,Ĥ]=0.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Noether: [Ĝ,Ĥ]=0 ⟹ d⟨Ĝ⟩/dt = (i/ℏ)⟨[Ĥ,Ĝ]⟩ = 0.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SU(2) and SO(3): Û_n(θ) = e^{−iθn̂·Ĵ/ℏ} generates rotations in the Hilbert space.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2π vs 4π: Û_z(2π)|integer spin⟩ = +|...⟩, but Û_z(2π)|half-integer spin⟩ = −|...⟩.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28600" y="3474720"/>
            <a:ext cx="5074920" cy="658368"/>
          </a:xfrm>
          <a:prstGeom prst="rect">
            <a:avLst/>
          </a:prstGeom>
          <a:solidFill>
            <a:srgbClr val="0A1628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" y="3566160"/>
            <a:ext cx="4818888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8E8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Û(θ)ĤÛ†(θ)=Ĥ ↔ [Ĝ,Ĥ]=0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8E8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d⟨Ĝ⟩/dt=(i/ℏ)⟨[Ĥ,Ĝ]⟩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8E8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Û_z(2π)=±1̂ (half/int spin)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28600" y="4206240"/>
            <a:ext cx="5074920" cy="86868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" y="4288536"/>
            <a:ext cx="4892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/ SUMMARY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65760" y="4526280"/>
            <a:ext cx="481888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Prove: if [Ĝ,Ĥ]=0 then ⟨Ĝ⟩ is time-independent. d/dt⟨ψ(t)|Ĝ|ψ(t)⟩ = ⟨ψ|[Ĝ,Ĥ]/iℏ|ψ⟩ = 0 □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0" y="786384"/>
            <a:ext cx="3383280" cy="4288536"/>
          </a:xfrm>
          <a:prstGeom prst="rect">
            <a:avLst/>
          </a:prstGeom>
          <a:solidFill>
            <a:srgbClr val="1622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0" y="841248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Noether Correspondence: Symmetry ↔ Conservation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178040" y="1097280"/>
            <a:ext cx="-1508760" cy="2776850"/>
          </a:xfrm>
          <a:prstGeom prst="line">
            <a:avLst/>
          </a:prstGeom>
          <a:noFill/>
          <a:ln w="12700">
            <a:solidFill>
              <a:srgbClr val="2A5A7A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5669280" y="3874130"/>
            <a:ext cx="3017520" cy="0"/>
          </a:xfrm>
          <a:prstGeom prst="line">
            <a:avLst/>
          </a:prstGeom>
          <a:noFill/>
          <a:ln w="12700">
            <a:solidFill>
              <a:srgbClr val="2A5A7A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8686800" y="3874130"/>
            <a:ext cx="-1508760" cy="-2776850"/>
          </a:xfrm>
          <a:prstGeom prst="line">
            <a:avLst/>
          </a:prstGeom>
          <a:noFill/>
          <a:ln w="12700">
            <a:solidFill>
              <a:srgbClr val="2A5A7A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6492240" y="1042416"/>
            <a:ext cx="1371600" cy="475488"/>
          </a:xfrm>
          <a:prstGeom prst="roundRect">
            <a:avLst>
              <a:gd name="adj" fmla="val 11538"/>
            </a:avLst>
          </a:prstGeom>
          <a:solidFill>
            <a:srgbClr val="0A2040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1042416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Symmetry Û(θ)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577840" y="3874130"/>
            <a:ext cx="1508760" cy="475488"/>
          </a:xfrm>
          <a:prstGeom prst="roundRect">
            <a:avLst>
              <a:gd name="adj" fmla="val 11538"/>
            </a:avLst>
          </a:prstGeom>
          <a:solidFill>
            <a:srgbClr val="0A3020"/>
          </a:solidFill>
          <a:ln w="19050">
            <a:solidFill>
              <a:srgbClr val="2ECC7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77840" y="3874130"/>
            <a:ext cx="1508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Hermitian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 Ĝ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269480" y="3874130"/>
            <a:ext cx="1417320" cy="475488"/>
          </a:xfrm>
          <a:prstGeom prst="roundRect">
            <a:avLst>
              <a:gd name="adj" fmla="val 11538"/>
            </a:avLst>
          </a:prstGeom>
          <a:solidFill>
            <a:srgbClr val="2A2000"/>
          </a:solidFill>
          <a:ln w="19050">
            <a:solidFill>
              <a:srgbClr val="F4A2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69480" y="3874130"/>
            <a:ext cx="1417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Conserved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 ⟨Ĝ⟩=const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7086600" y="1517904"/>
            <a:ext cx="-850392" cy="2319650"/>
          </a:xfrm>
          <a:prstGeom prst="line">
            <a:avLst/>
          </a:prstGeom>
          <a:noFill/>
          <a:ln w="15240">
            <a:solidFill>
              <a:srgbClr val="00B4D8"/>
            </a:solidFill>
            <a:prstDash val="solid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5669280" y="267334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Stone: Û=e^{iθĜ}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7086600" y="4111874"/>
            <a:ext cx="173736" cy="0"/>
          </a:xfrm>
          <a:prstGeom prst="line">
            <a:avLst/>
          </a:prstGeom>
          <a:noFill/>
          <a:ln w="15240">
            <a:solidFill>
              <a:srgbClr val="F4A261"/>
            </a:solidFill>
            <a:prstDash val="solid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7132320" y="394728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[Ĥ,Ĝ]=0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7242048" y="3874130"/>
            <a:ext cx="118872" cy="-2356226"/>
          </a:xfrm>
          <a:prstGeom prst="line">
            <a:avLst/>
          </a:prstGeom>
          <a:noFill/>
          <a:ln w="15240">
            <a:solidFill>
              <a:srgbClr val="2ECC71"/>
            </a:solidFill>
            <a:prstDash val="solid"/>
            <a:tailEnd type="triangle"/>
          </a:ln>
        </p:spPr>
      </p:sp>
      <p:sp>
        <p:nvSpPr>
          <p:cNvPr id="33" name="Text 31"/>
          <p:cNvSpPr/>
          <p:nvPr/>
        </p:nvSpPr>
        <p:spPr>
          <a:xfrm>
            <a:off x="7680960" y="26733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d⟨Ĝ⟩/dt=0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5614416" y="4233672"/>
            <a:ext cx="3127248" cy="731520"/>
          </a:xfrm>
          <a:prstGeom prst="rect">
            <a:avLst/>
          </a:prstGeom>
          <a:solidFill>
            <a:srgbClr val="0A1628"/>
          </a:solidFill>
          <a:ln w="12700">
            <a:solidFill>
              <a:srgbClr val="2A5A7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50992" y="4251960"/>
            <a:ext cx="11521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 U(θ)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6839712" y="4251960"/>
            <a:ext cx="4663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Ĵ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7342632" y="4251960"/>
            <a:ext cx="8778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[Ĥ,Ĵ]=0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8257032" y="4251960"/>
            <a:ext cx="14264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momentum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5650992" y="4480560"/>
            <a:ext cx="11521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 T(a)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6839712" y="4480560"/>
            <a:ext cx="4663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p̂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7342632" y="4480560"/>
            <a:ext cx="8778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[Ĥ,p̂]=0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8257032" y="4480560"/>
            <a:ext cx="14264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5650992" y="4709160"/>
            <a:ext cx="11521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evolution U(t)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6839712" y="4709160"/>
            <a:ext cx="4663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Ĥ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7342632" y="4709160"/>
            <a:ext cx="8778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[Ĥ,Ĥ]=0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8257032" y="4709160"/>
            <a:ext cx="14264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274320" y="489204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I.1 — L02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858000" y="489204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· LO3 · AdvUG</a:t>
            </a:r>
            <a:endParaRPr lang="en-US" sz="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A1422"/>
          </a:solidFill>
          <a:ln w="12700">
            <a:solidFill>
              <a:srgbClr val="0A14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55448"/>
            <a:ext cx="804672" cy="384048"/>
          </a:xfrm>
          <a:prstGeom prst="roundRect">
            <a:avLst>
              <a:gd name="adj" fmla="val 11905"/>
            </a:avLst>
          </a:prstGeom>
          <a:solidFill>
            <a:srgbClr val="9B72CF"/>
          </a:solidFill>
          <a:ln w="12700">
            <a:solidFill>
              <a:srgbClr val="9B72C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55448"/>
            <a:ext cx="804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70432" y="155448"/>
            <a:ext cx="6949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L02 — LO3: Physical Symmetries as Unitary Operators  |  Master's Track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70432" y="438912"/>
            <a:ext cx="6949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Unitary Operators and Symmetry Transformations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577072" y="54864"/>
            <a:ext cx="521208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77072" y="54864"/>
            <a:ext cx="521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28600" y="786384"/>
            <a:ext cx="5074920" cy="260604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" y="868680"/>
            <a:ext cx="4892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9B7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EXPLANATION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65760" y="1106424"/>
            <a:ext cx="4818888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Wigner's classification: particle types labelled by irreducible representations of the Poincaré group U_P.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 particles: labelled by (m,s) = (mass, spin); U_P restricted to little group SO(3) ≅ SU(2)/Z₂.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Massless particles: labelled by helicity h ∈ ℤ/2; little group ISO(2) → U(1).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SU(3) in strong force: flavour symmetry group of QCD (approximate); colour symmetry (exact gauge).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Gauge symmetries: local unitary transformations U(x) = e^{iα(x)Ĝ} — give rise to gauge fields (photon, gluon, W/Z).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28600" y="3474720"/>
            <a:ext cx="5074920" cy="658368"/>
          </a:xfrm>
          <a:prstGeom prst="rect">
            <a:avLst/>
          </a:prstGeom>
          <a:solidFill>
            <a:srgbClr val="0A1628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" y="3566160"/>
            <a:ext cx="4818888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8E8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Poincaré group: ISO(3,1)⋊SL(2,ℂ)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8E8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Massive: little grp = SU(2)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8E8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Massless: helicity h=±s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28600" y="4206240"/>
            <a:ext cx="5074920" cy="86868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" y="4288536"/>
            <a:ext cx="4892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/ SUMMARY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65760" y="4526280"/>
            <a:ext cx="481888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Wigner's mass-spin classification: all fundamental particles are irreps of the Poincaré group. Spin-½ electron: massive, spin-½ rep of SU(2) little group.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0" y="786384"/>
            <a:ext cx="3383280" cy="4288536"/>
          </a:xfrm>
          <a:prstGeom prst="rect">
            <a:avLst/>
          </a:prstGeom>
          <a:solidFill>
            <a:srgbClr val="1622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0" y="841248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SU(2) → SO(3): The Double Cover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15584" y="2038929"/>
            <a:ext cx="1371600" cy="1097280"/>
          </a:xfrm>
          <a:prstGeom prst="ellipse">
            <a:avLst/>
          </a:prstGeom>
          <a:solidFill>
            <a:srgbClr val="1A2A4A">
              <a:alpha val="60000"/>
            </a:srgbClr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17336" y="2313249"/>
            <a:ext cx="7680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SU(2)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dim=3, S³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520940" y="2185233"/>
            <a:ext cx="1005840" cy="804672"/>
          </a:xfrm>
          <a:prstGeom prst="ellipse">
            <a:avLst/>
          </a:prstGeom>
          <a:solidFill>
            <a:srgbClr val="1A4A2A">
              <a:alpha val="60000"/>
            </a:srgbClr>
          </a:solidFill>
          <a:ln w="25400">
            <a:solidFill>
              <a:srgbClr val="2ECC7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39812" y="2313249"/>
            <a:ext cx="7680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SO(3)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dim=3, RP³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223760" y="2587569"/>
            <a:ext cx="260604" cy="0"/>
          </a:xfrm>
          <a:prstGeom prst="line">
            <a:avLst/>
          </a:prstGeom>
          <a:noFill/>
          <a:ln w="25400">
            <a:solidFill>
              <a:srgbClr val="F4A261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7242048" y="2294961"/>
            <a:ext cx="6583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2:1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homomorphism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528816" y="3095061"/>
            <a:ext cx="7498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07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 = {+1̂, −1̂}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614416" y="3630168"/>
            <a:ext cx="3127248" cy="1353312"/>
          </a:xfrm>
          <a:prstGeom prst="rect">
            <a:avLst/>
          </a:prstGeom>
          <a:solidFill>
            <a:srgbClr val="0A1025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50992" y="3648456"/>
            <a:ext cx="30540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Spinor Double Cover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650992" y="3886200"/>
            <a:ext cx="30540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2π rotation in SO(3): physical body returns to start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650992" y="4087368"/>
            <a:ext cx="30540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2π rotation in SU(2): spinor gains phase −1̂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650992" y="4288536"/>
            <a:ext cx="30540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4π rotation: spinor returns to +1̂ (original)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650992" y="4489704"/>
            <a:ext cx="30540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R_z(2π) = e^{−iπσ_z} = −1̂  (not +1̂ !)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650992" y="4690872"/>
            <a:ext cx="30540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Detectable via neutron interference experiments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274320" y="489204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I.1 — L02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858000" y="489204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· LO3 · MSc</a:t>
            </a:r>
            <a:endParaRPr lang="en-US" sz="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A1422"/>
          </a:solidFill>
          <a:ln w="12700">
            <a:solidFill>
              <a:srgbClr val="0A14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55448"/>
            <a:ext cx="804672" cy="384048"/>
          </a:xfrm>
          <a:prstGeom prst="roundRect">
            <a:avLst>
              <a:gd name="adj" fmla="val 11905"/>
            </a:avLst>
          </a:prstGeom>
          <a:solidFill>
            <a:srgbClr val="E07B6A"/>
          </a:solidFill>
          <a:ln w="12700">
            <a:solidFill>
              <a:srgbClr val="E07B6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55448"/>
            <a:ext cx="804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70432" y="155448"/>
            <a:ext cx="6949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L02 — LO3: Physical Symmetries as Unitary Operators  |  PhD Track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70432" y="438912"/>
            <a:ext cx="6949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Unitary Operators and Symmetry Transformations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577072" y="54864"/>
            <a:ext cx="521208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77072" y="54864"/>
            <a:ext cx="521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28600" y="786384"/>
            <a:ext cx="5074920" cy="260604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" y="868680"/>
            <a:ext cx="4892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E07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EXPLANATION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65760" y="1106424"/>
            <a:ext cx="4818888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Mackey's imprimitivity theorem: a unitary representation of G on L²(X) (X a G-space) decomposes via induced representations from stabiliser subgroups.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Projective representations: spin-½ carries projective rep of SO(3); lifted to true rep of SU(2) via central extension.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Bogoliubov transformations: canonical unitaries on Fock space relating different vacua (used in QFT and quantum optics).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Super-selection rules: not all unitary operators are physical. Superselection sectors (charge, baryon number) restrict observable algebra.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Gauge theory: local gauge symmetry G(x) = Map(M, G) → connections on principal bundles → gauge fields.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28600" y="3474720"/>
            <a:ext cx="5074920" cy="658368"/>
          </a:xfrm>
          <a:prstGeom prst="rect">
            <a:avLst/>
          </a:prstGeom>
          <a:solidFill>
            <a:srgbClr val="0A1628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" y="3566160"/>
            <a:ext cx="4818888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8E8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Mackey: Ind_H^G(ρ)  (induced rep)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8E8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Bogoliubov: Û_B a Û_B† = αâ+βâ†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8E8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Gauge: ∂_μ → D_μ=∂_μ+igA_μ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28600" y="4206240"/>
            <a:ext cx="5074920" cy="86868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" y="4288536"/>
            <a:ext cx="4892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/ SUMMARY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65760" y="4526280"/>
            <a:ext cx="481888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Bogoliubov transformation on Fock space: û_B = e^{iΘ} where Θ = ∫(f(k)â†â†−h.c.)dk/2. Maps vacuum to squeezed state — a unitary but 'non-trivial' symmetry of the CCR algebra.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0" y="786384"/>
            <a:ext cx="3383280" cy="4288536"/>
          </a:xfrm>
          <a:prstGeom prst="rect">
            <a:avLst/>
          </a:prstGeom>
          <a:solidFill>
            <a:srgbClr val="1622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0" y="841248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Projective Representations and Central Extensions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614416" y="1097280"/>
            <a:ext cx="3127248" cy="777240"/>
          </a:xfrm>
          <a:prstGeom prst="roundRect">
            <a:avLst>
              <a:gd name="adj" fmla="val 7059"/>
            </a:avLst>
          </a:prstGeom>
          <a:solidFill>
            <a:srgbClr val="0A1020"/>
          </a:solidFill>
          <a:ln w="19050">
            <a:solidFill>
              <a:srgbClr val="2ECC7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87568" y="1133856"/>
            <a:ext cx="29809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Representation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687568" y="1353312"/>
            <a:ext cx="29809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π: G → U(ℋ)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π(g₁g₂) = π(g₁)π(g₂)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(strict homomorphism)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5614416" y="2011680"/>
            <a:ext cx="3127248" cy="777240"/>
          </a:xfrm>
          <a:prstGeom prst="roundRect">
            <a:avLst>
              <a:gd name="adj" fmla="val 7059"/>
            </a:avLst>
          </a:prstGeom>
          <a:solidFill>
            <a:srgbClr val="0A1020"/>
          </a:solidFill>
          <a:ln w="19050">
            <a:solidFill>
              <a:srgbClr val="F4A2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87568" y="2048256"/>
            <a:ext cx="29809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Projective Repr.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687568" y="2267712"/>
            <a:ext cx="29809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π: G → U(ℋ)/U(1)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π(g₁)π(g₂) = ω(g₁,g₂)π(g₁g₂)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ω: G×G → U(1) (cocycle)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5614416" y="2926080"/>
            <a:ext cx="3127248" cy="777240"/>
          </a:xfrm>
          <a:prstGeom prst="roundRect">
            <a:avLst>
              <a:gd name="adj" fmla="val 7059"/>
            </a:avLst>
          </a:prstGeom>
          <a:solidFill>
            <a:srgbClr val="0A1020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87568" y="2962656"/>
            <a:ext cx="29809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Extension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687568" y="3182112"/>
            <a:ext cx="29809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→ U(1) → Ĝ → G → 1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projective repr. to true repr. of Ĝ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SU(2) is central ext. of SO(3)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5614416" y="3840480"/>
            <a:ext cx="3127248" cy="777240"/>
          </a:xfrm>
          <a:prstGeom prst="roundRect">
            <a:avLst>
              <a:gd name="adj" fmla="val 7059"/>
            </a:avLst>
          </a:prstGeom>
          <a:solidFill>
            <a:srgbClr val="0A1020"/>
          </a:solidFill>
          <a:ln w="19050">
            <a:solidFill>
              <a:srgbClr val="5B9BD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87568" y="3877056"/>
            <a:ext cx="29809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consequence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687568" y="4096512"/>
            <a:ext cx="29809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Spin-½ particles carry projective rep. of SO(3)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SO(3) has no faithful spin-½ true repr.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use its cover SU(2)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274320" y="489204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I.1 — L02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858000" y="489204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· LO3 · PhD</a:t>
            </a:r>
            <a:endParaRPr lang="en-US" sz="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28800"/>
            <a:ext cx="9144000" cy="1554480"/>
          </a:xfrm>
          <a:prstGeom prst="rect">
            <a:avLst/>
          </a:prstGeom>
          <a:solidFill>
            <a:srgbClr val="162236"/>
          </a:solidFill>
          <a:ln w="12700">
            <a:solidFill>
              <a:srgbClr val="16223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920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30428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 4: Û = e^{iĜ} and Stone's Theorem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971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slides — one per tier (HS / BegUG / AdvUG / MSc / PhD)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A1422"/>
          </a:solidFill>
          <a:ln w="12700">
            <a:solidFill>
              <a:srgbClr val="0A14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55448"/>
            <a:ext cx="804672" cy="384048"/>
          </a:xfrm>
          <a:prstGeom prst="roundRect">
            <a:avLst>
              <a:gd name="adj" fmla="val 11905"/>
            </a:avLst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55448"/>
            <a:ext cx="804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70432" y="155448"/>
            <a:ext cx="6949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L02 — LO4: Û = e^{iĜ} and Stone's Theorem  |  High School Track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70432" y="438912"/>
            <a:ext cx="6949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Unitary Operators and Symmetry Transformations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577072" y="54864"/>
            <a:ext cx="521208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77072" y="54864"/>
            <a:ext cx="521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28600" y="786384"/>
            <a:ext cx="5074920" cy="260604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" y="868680"/>
            <a:ext cx="4892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EXPLANATION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65760" y="1106424"/>
            <a:ext cx="4818888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matrix exponential e^A is defined by the infinite sum: e^A = 1̂ + A + A²/2! + A³/3! + ...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Hermitian operator Ĝ, e^{iθĜ} is a rotation-like transformation (unitary).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parameter θ is like an 'angle' — θ=0 gives e⁰=1̂ (no rotation); θ=2π gives e^{2πiĜ}.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example: e^{−iĤt/ℏ} evolves the quantum state — Ĥ is the 'generator' of time evolution.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Euler identity: e^{iθ} = cosθ + i sinθ is the simplest case (1×1 'matrix').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28600" y="3474720"/>
            <a:ext cx="5074920" cy="658368"/>
          </a:xfrm>
          <a:prstGeom prst="rect">
            <a:avLst/>
          </a:prstGeom>
          <a:solidFill>
            <a:srgbClr val="0A1628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" y="3566160"/>
            <a:ext cx="4818888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8E8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e^A = 1̂ + A + A²/2! + ...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8E8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e^{iθĜ} unitary when Ĝ=Ĝ†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8E8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e^{iθ} = cosθ + i sinθ  (Euler)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28600" y="4206240"/>
            <a:ext cx="5074920" cy="86868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" y="4288536"/>
            <a:ext cx="4892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/ SUMMARY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65760" y="4526280"/>
            <a:ext cx="481888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e^{iπσ_z/2}: σ_z = diag(1,−1), so e^{iπσ_z/2} = diag(e^{iπ/2}, e^{−iπ/2}) = diag(i, −i) = iσ_z.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0" y="786384"/>
            <a:ext cx="3383280" cy="4288536"/>
          </a:xfrm>
          <a:prstGeom prst="rect">
            <a:avLst/>
          </a:prstGeom>
          <a:solidFill>
            <a:srgbClr val="1622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0" y="841248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e^{iθ} as an Infinite Sum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569964" y="2160910"/>
            <a:ext cx="1554480" cy="1367942"/>
          </a:xfrm>
          <a:prstGeom prst="ellipse">
            <a:avLst/>
          </a:prstGeom>
          <a:solidFill>
            <a:srgbClr val="0A1628"/>
          </a:solidFill>
          <a:ln w="19050">
            <a:solidFill>
              <a:srgbClr val="5B9BD5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7693762" y="2305385"/>
            <a:ext cx="146304" cy="146304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13548" y="2316358"/>
            <a:ext cx="347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e^{iθ}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347204" y="2844881"/>
            <a:ext cx="582930" cy="0"/>
          </a:xfrm>
          <a:prstGeom prst="line">
            <a:avLst/>
          </a:prstGeom>
          <a:noFill/>
          <a:ln w="22860">
            <a:solidFill>
              <a:srgbClr val="F4A261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930134" y="2844881"/>
            <a:ext cx="0" cy="-408051"/>
          </a:xfrm>
          <a:prstGeom prst="line">
            <a:avLst/>
          </a:prstGeom>
          <a:noFill/>
          <a:ln w="22860">
            <a:solidFill>
              <a:srgbClr val="00B4D8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930134" y="2436830"/>
            <a:ext cx="-139903" cy="0"/>
          </a:xfrm>
          <a:prstGeom prst="line">
            <a:avLst/>
          </a:prstGeom>
          <a:noFill/>
          <a:ln w="22860">
            <a:solidFill>
              <a:srgbClr val="E07B6A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790231" y="2436830"/>
            <a:ext cx="0" cy="-46634"/>
          </a:xfrm>
          <a:prstGeom prst="line">
            <a:avLst/>
          </a:prstGeom>
          <a:noFill/>
          <a:ln w="22860">
            <a:solidFill>
              <a:srgbClr val="2ECC71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596128" y="1078992"/>
            <a:ext cx="1285646" cy="1645920"/>
          </a:xfrm>
          <a:prstGeom prst="rect">
            <a:avLst/>
          </a:prstGeom>
          <a:solidFill>
            <a:srgbClr val="0A1020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650992" y="1152144"/>
            <a:ext cx="109728" cy="10972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797296" y="1133856"/>
            <a:ext cx="104790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 (n=0)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650992" y="1536192"/>
            <a:ext cx="109728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797296" y="1517904"/>
            <a:ext cx="104790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iθ   (n=1)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650992" y="1920240"/>
            <a:ext cx="109728" cy="109728"/>
          </a:xfrm>
          <a:prstGeom prst="rect">
            <a:avLst/>
          </a:prstGeom>
          <a:solidFill>
            <a:srgbClr val="E07B6A"/>
          </a:solidFill>
          <a:ln w="12700">
            <a:solidFill>
              <a:srgbClr val="E07B6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97296" y="1901952"/>
            <a:ext cx="104790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07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(iθ)²/2!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650992" y="2304288"/>
            <a:ext cx="109728" cy="10972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797296" y="2286000"/>
            <a:ext cx="104790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(iθ)³/3!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623560" y="2670048"/>
            <a:ext cx="119420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these</a:t>
            </a:r>
            <a:endParaRPr lang="en-US" sz="750" dirty="0"/>
          </a:p>
          <a:p>
            <a:pPr algn="ctr" indent="0" marL="0">
              <a:buNone/>
            </a:pPr>
            <a:r>
              <a:rPr lang="en-US" sz="750" i="1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vectors head</a:t>
            </a:r>
            <a:endParaRPr lang="en-US" sz="750" dirty="0"/>
          </a:p>
          <a:p>
            <a:pPr algn="ctr" indent="0" marL="0">
              <a:buNone/>
            </a:pPr>
            <a:r>
              <a:rPr lang="en-US" sz="750" i="1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tail →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5596128" y="4544568"/>
            <a:ext cx="3163824" cy="438912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32704" y="4562856"/>
            <a:ext cx="30906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8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e^{iθ} = 1 + iθ + (iθ)²/2! + (iθ)³/3! + ...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8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cos θ + i sin θ  ← Euler's formula!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274320" y="489204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I.1 — L02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858000" y="489204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· LO4 · HS</a:t>
            </a:r>
            <a:endParaRPr lang="en-US" sz="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A1422"/>
          </a:solidFill>
          <a:ln w="12700">
            <a:solidFill>
              <a:srgbClr val="0A14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55448"/>
            <a:ext cx="804672" cy="384048"/>
          </a:xfrm>
          <a:prstGeom prst="roundRect">
            <a:avLst>
              <a:gd name="adj" fmla="val 11905"/>
            </a:avLst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55448"/>
            <a:ext cx="804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70432" y="155448"/>
            <a:ext cx="6949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L02 — LO4: Û = e^{iĜ} and Stone's Theorem  |  Beg. Undergraduate Track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70432" y="438912"/>
            <a:ext cx="6949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Unitary Operators and Symmetry Transformations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577072" y="54864"/>
            <a:ext cx="521208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77072" y="54864"/>
            <a:ext cx="521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28600" y="786384"/>
            <a:ext cx="5074920" cy="260604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" y="868680"/>
            <a:ext cx="4892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4CA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EXPLANATION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65760" y="1106424"/>
            <a:ext cx="4818888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Step-by-step: e^{iθĜ} for Ĝ = Hermitian n×n matrix.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(1) Diagonalise: Ĝ = Σₙ gₙ|gₙ⟩⟨gₙ| (spectral decomposition).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(2) Apply function: e^{iθĜ} = Σₙ e^{iθgₙ}|gₙ⟩⟨gₙ|.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(3) Verify unitary: each e^{iθgₙ} has |e^{iθgₙ}| = 1 (since gₙ ∈ ℝ). □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Pauli matrices: σₙ² = 1̂ ⟹ e^{iθσₙ} = cosθ·1̂ + i sinθ·σₙ (use Taylor series).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28600" y="3474720"/>
            <a:ext cx="5074920" cy="658368"/>
          </a:xfrm>
          <a:prstGeom prst="rect">
            <a:avLst/>
          </a:prstGeom>
          <a:solidFill>
            <a:srgbClr val="0A1628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" y="3566160"/>
            <a:ext cx="4818888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8E8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Ĝ=ΣgₙPₙ ⟹ e^{iθĜ}=Σe^{iθgₙ}Pₙ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8E8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e^{iθσₙ} = cosθ 1̂ + i sinθ σₙ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8E8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|e^{iθg}|=1 when g∈ℝ  (unitary ✓)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28600" y="4206240"/>
            <a:ext cx="5074920" cy="86868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" y="4288536"/>
            <a:ext cx="4892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/ SUMMARY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65760" y="4526280"/>
            <a:ext cx="481888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e^{iθσ_y}: σ_y eigenvalues ±1 with eigenvectors |±y⟩. e^{iθσ_y} = e^{iθ}|+y⟩⟨+y| + e^{−iθ}|−y⟩⟨−y| = cos θ 1̂ + i sinθ σ_y.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0" y="786384"/>
            <a:ext cx="3383280" cy="4288536"/>
          </a:xfrm>
          <a:prstGeom prst="rect">
            <a:avLst/>
          </a:prstGeom>
          <a:solidFill>
            <a:srgbClr val="1622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0" y="841248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Computing e^{iθσ_z} Step by Step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614416" y="1078992"/>
            <a:ext cx="3127248" cy="640080"/>
          </a:xfrm>
          <a:prstGeom prst="rect">
            <a:avLst/>
          </a:prstGeom>
          <a:solidFill>
            <a:srgbClr val="0A1020"/>
          </a:solidFill>
          <a:ln w="1524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87568" y="1106424"/>
            <a:ext cx="298094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Eigendecompose σ_z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687568" y="1316736"/>
            <a:ext cx="29809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σ_z = [[1,0],[0,−1]]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Eigenvalues: +1 (|+⟩), −1 (|−⟩)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614416" y="1828800"/>
            <a:ext cx="3127248" cy="640080"/>
          </a:xfrm>
          <a:prstGeom prst="rect">
            <a:avLst/>
          </a:prstGeom>
          <a:solidFill>
            <a:srgbClr val="0A1020"/>
          </a:solidFill>
          <a:ln w="15240">
            <a:solidFill>
              <a:srgbClr val="F4A2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87568" y="1856232"/>
            <a:ext cx="298094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Apply e to eigenvalues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687568" y="2066544"/>
            <a:ext cx="29809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e^{iθσ_z} = e^{iθ}|+⟩⟨+| + e^{−iθ}|−⟩⟨−|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614416" y="2578608"/>
            <a:ext cx="3127248" cy="640080"/>
          </a:xfrm>
          <a:prstGeom prst="rect">
            <a:avLst/>
          </a:prstGeom>
          <a:solidFill>
            <a:srgbClr val="0A1020"/>
          </a:solidFill>
          <a:ln w="15240">
            <a:solidFill>
              <a:srgbClr val="2ECC7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87568" y="2606040"/>
            <a:ext cx="298094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Write as matrix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687568" y="2816352"/>
            <a:ext cx="29809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e^{iθσ_z} = diag(e^{iθ}, e^{−iθ})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614416" y="3328416"/>
            <a:ext cx="3127248" cy="640080"/>
          </a:xfrm>
          <a:prstGeom prst="rect">
            <a:avLst/>
          </a:prstGeom>
          <a:solidFill>
            <a:srgbClr val="0A1020"/>
          </a:solidFill>
          <a:ln w="15240">
            <a:solidFill>
              <a:srgbClr val="9B72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87568" y="3355848"/>
            <a:ext cx="298094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9B7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Verify unitarity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687568" y="3566160"/>
            <a:ext cx="29809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diag(e^{iθ},e^{−iθ})·diag(e^{−iθ},e^{iθ}) = 1̂  ✓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614416" y="4078224"/>
            <a:ext cx="3127248" cy="640080"/>
          </a:xfrm>
          <a:prstGeom prst="rect">
            <a:avLst/>
          </a:prstGeom>
          <a:solidFill>
            <a:srgbClr val="0A1020"/>
          </a:solidFill>
          <a:ln w="15240">
            <a:solidFill>
              <a:srgbClr val="5B9BD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87568" y="4105656"/>
            <a:ext cx="298094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5: Physical meaning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687568" y="4315968"/>
            <a:ext cx="29809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 by 2θ around z-axis on Bloch sphere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274320" y="489204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I.1 — L02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858000" y="489204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· LO4 · BegUG</a:t>
            </a:r>
            <a:endParaRPr lang="en-US" sz="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A1422"/>
          </a:solidFill>
          <a:ln w="12700">
            <a:solidFill>
              <a:srgbClr val="0A14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55448"/>
            <a:ext cx="804672" cy="384048"/>
          </a:xfrm>
          <a:prstGeom prst="roundRect">
            <a:avLst>
              <a:gd name="adj" fmla="val 11905"/>
            </a:avLst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55448"/>
            <a:ext cx="804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70432" y="155448"/>
            <a:ext cx="6949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L02 — LO4: Û = e^{iĜ} and Stone's Theorem  |  Adv. Undergraduate Track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70432" y="438912"/>
            <a:ext cx="6949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Unitary Operators and Symmetry Transformations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577072" y="54864"/>
            <a:ext cx="521208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77072" y="54864"/>
            <a:ext cx="521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28600" y="786384"/>
            <a:ext cx="5074920" cy="260604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" y="868680"/>
            <a:ext cx="4892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EXPLANATION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65760" y="1106424"/>
            <a:ext cx="4818888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One-parameter group property: U(s+t) = U(s)U(t) for U(t) = e^{itĜ}.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Proof: e^{isĜ}e^{itĜ} = e^{i(s+t)Ĝ} — valid because isĜ and itĜ commute (both ∝ Ĝ).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generator extracted from the group: Ĝ = −i·d/dt U(t)|_{t=0}.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Stone's theorem: U(t) = e^{−itĜ} iff Ĝ is self-adjoint (not just Hermitian!) on D(Ĝ).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Differentiation: d/dt U(t)|ψ⟩ = −iĜU(t)|ψ⟩ for |ψ⟩ ∈ D(Ĝ) — the Schrödinger equation.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28600" y="3474720"/>
            <a:ext cx="5074920" cy="658368"/>
          </a:xfrm>
          <a:prstGeom prst="rect">
            <a:avLst/>
          </a:prstGeom>
          <a:solidFill>
            <a:srgbClr val="0A1628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" y="3566160"/>
            <a:ext cx="4818888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8E8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U(s)U(t) = U(s+t)  [commuting exps]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8E8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Ĝ = i·d/dt e^{−itĜ}|_{t=0}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8E8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d/dt U(t)|ψ⟩ = −iĜU(t)|ψ⟩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28600" y="4206240"/>
            <a:ext cx="5074920" cy="86868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" y="4288536"/>
            <a:ext cx="4892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/ SUMMARY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65760" y="4526280"/>
            <a:ext cx="481888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U(s+t)=U(s)U(t): e^{−isĜ}e^{−itĜ} = e^{−isĜ−itĜ} (using [−isĜ,−itĜ]=0) = e^{−i(s+t)Ĝ} = U(s+t) □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0" y="786384"/>
            <a:ext cx="3383280" cy="4288536"/>
          </a:xfrm>
          <a:prstGeom prst="rect">
            <a:avLst/>
          </a:prstGeom>
          <a:solidFill>
            <a:srgbClr val="1622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0" y="841248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One-Parameter Unitary Groups &amp; Stone's Theorem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614416" y="1097280"/>
            <a:ext cx="1371600" cy="402336"/>
          </a:xfrm>
          <a:prstGeom prst="rect">
            <a:avLst/>
          </a:prstGeom>
          <a:solidFill>
            <a:srgbClr val="0A182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14416" y="1097280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property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7022592" y="1097280"/>
            <a:ext cx="1719072" cy="402336"/>
          </a:xfrm>
          <a:prstGeom prst="rect">
            <a:avLst/>
          </a:prstGeom>
          <a:solidFill>
            <a:srgbClr val="07111E"/>
          </a:solidFill>
          <a:ln w="9525">
            <a:solidFill>
              <a:srgbClr val="1A3A5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59168" y="1097280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U(s+t) = U(s)U(t)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614416" y="1591056"/>
            <a:ext cx="1371600" cy="402336"/>
          </a:xfrm>
          <a:prstGeom prst="rect">
            <a:avLst/>
          </a:prstGeom>
          <a:solidFill>
            <a:srgbClr val="0A1828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14416" y="1591056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7022592" y="1591056"/>
            <a:ext cx="1719072" cy="402336"/>
          </a:xfrm>
          <a:prstGeom prst="rect">
            <a:avLst/>
          </a:prstGeom>
          <a:solidFill>
            <a:srgbClr val="07111E"/>
          </a:solidFill>
          <a:ln w="9525">
            <a:solidFill>
              <a:srgbClr val="1A3A5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59168" y="1591056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U(0) = 1̂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614416" y="2084832"/>
            <a:ext cx="1371600" cy="402336"/>
          </a:xfrm>
          <a:prstGeom prst="rect">
            <a:avLst/>
          </a:prstGeom>
          <a:solidFill>
            <a:srgbClr val="0A1828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14416" y="2084832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Inverse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7022592" y="2084832"/>
            <a:ext cx="1719072" cy="402336"/>
          </a:xfrm>
          <a:prstGeom prst="rect">
            <a:avLst/>
          </a:prstGeom>
          <a:solidFill>
            <a:srgbClr val="07111E"/>
          </a:solidFill>
          <a:ln w="9525">
            <a:solidFill>
              <a:srgbClr val="1A3A5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59168" y="2084832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U(−t) = U(t)† = U(t)⁻¹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614416" y="2578608"/>
            <a:ext cx="1371600" cy="402336"/>
          </a:xfrm>
          <a:prstGeom prst="rect">
            <a:avLst/>
          </a:prstGeom>
          <a:solidFill>
            <a:srgbClr val="0A1828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14416" y="2578608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cont.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7022592" y="2578608"/>
            <a:ext cx="1719072" cy="402336"/>
          </a:xfrm>
          <a:prstGeom prst="rect">
            <a:avLst/>
          </a:prstGeom>
          <a:solidFill>
            <a:srgbClr val="07111E"/>
          </a:solidFill>
          <a:ln w="9525">
            <a:solidFill>
              <a:srgbClr val="1A3A5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059168" y="2578608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‖U(t)|ψ⟩−|ψ⟩‖→0 as t→0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614416" y="3127248"/>
            <a:ext cx="3127248" cy="621792"/>
          </a:xfrm>
          <a:prstGeom prst="rect">
            <a:avLst/>
          </a:prstGeom>
          <a:solidFill>
            <a:srgbClr val="0A2A40"/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50992" y="3145536"/>
            <a:ext cx="30540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Stone's Theorem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650992" y="3364992"/>
            <a:ext cx="30540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C8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{U(t)} strongly cont. one-param. unitary group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8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⟺  ∃! self-adjoint Ĝ s.t. U(t) = e^{−itĜ}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614416" y="3849624"/>
            <a:ext cx="1527048" cy="475488"/>
          </a:xfrm>
          <a:prstGeom prst="roundRect">
            <a:avLst>
              <a:gd name="adj" fmla="val 11538"/>
            </a:avLst>
          </a:prstGeom>
          <a:solidFill>
            <a:srgbClr val="0A1020"/>
          </a:solidFill>
          <a:ln w="19050">
            <a:solidFill>
              <a:srgbClr val="F4A26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14416" y="3849624"/>
            <a:ext cx="15270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d/dt U(t)|ψ⟩|_{t=0}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−iĜ|ψ⟩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7214616" y="3849624"/>
            <a:ext cx="1527048" cy="475488"/>
          </a:xfrm>
          <a:prstGeom prst="roundRect">
            <a:avLst>
              <a:gd name="adj" fmla="val 11538"/>
            </a:avLst>
          </a:prstGeom>
          <a:solidFill>
            <a:srgbClr val="0A1020"/>
          </a:solidFill>
          <a:ln w="19050">
            <a:solidFill>
              <a:srgbClr val="2ECC7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214616" y="3849624"/>
            <a:ext cx="15270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|ψ⟩ ∈ D(Ĝ) iff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exists in ℋ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614416" y="4416552"/>
            <a:ext cx="3127248" cy="548640"/>
          </a:xfrm>
          <a:prstGeom prst="rect">
            <a:avLst/>
          </a:prstGeom>
          <a:solidFill>
            <a:srgbClr val="0A1628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650992" y="4434840"/>
            <a:ext cx="305409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U(t)=e^{−iĤt/ℏ}: generator=Ĥ (energy) | T(a)=e^{−iap̂/ℏ}: generator=p̂ (momentum)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274320" y="489204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I.1 — L02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858000" y="489204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· LO4 · AdvUG</a:t>
            </a:r>
            <a:endParaRPr lang="en-US" sz="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A1422"/>
          </a:solidFill>
          <a:ln w="12700">
            <a:solidFill>
              <a:srgbClr val="0A14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55448"/>
            <a:ext cx="804672" cy="384048"/>
          </a:xfrm>
          <a:prstGeom prst="roundRect">
            <a:avLst>
              <a:gd name="adj" fmla="val 11905"/>
            </a:avLst>
          </a:prstGeom>
          <a:solidFill>
            <a:srgbClr val="9B72CF"/>
          </a:solidFill>
          <a:ln w="12700">
            <a:solidFill>
              <a:srgbClr val="9B72C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55448"/>
            <a:ext cx="804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70432" y="155448"/>
            <a:ext cx="6949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L02 — LO4: Û = e^{iĜ} and Stone's Theorem  |  Master's Track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70432" y="438912"/>
            <a:ext cx="6949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Unitary Operators and Symmetry Transformations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577072" y="54864"/>
            <a:ext cx="521208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77072" y="54864"/>
            <a:ext cx="521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28600" y="786384"/>
            <a:ext cx="5074920" cy="260604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" y="868680"/>
            <a:ext cx="4892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9B7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EXPLANATION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65760" y="1106424"/>
            <a:ext cx="4818888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Stone's theorem (precise): {U(t)} is a strongly continuous one-parameter unitary group iff ∃ unique self-adjoint Ĝ with U(t) = e^{−itĜ}.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 domain: D(Ĝ) = {|ψ⟩ : lim_{t→0}(U(t)−1̂)|ψ⟩/t exists}. Dense subspace of ℋ.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 algebra connection: iĜ ∈ u(n) (anti-Hermitian); the map Ĝ ↦ e^{−itĜ} is the exponential map u(n) → U(n).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BCH formula: e^{−itĜ₁}e^{−itĜ₂} = e^{−it(Ĝ₁+Ĝ₂)+t²[Ĝ₁,Ĝ₂]/2+O(t³)}.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Magnus expansion: for time-dependent Ĥ(t), U(T)=e^{Ω₁+Ω₂+...} where Ω₁=∫₀ᵀĤ(t)dt.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28600" y="3474720"/>
            <a:ext cx="5074920" cy="658368"/>
          </a:xfrm>
          <a:prstGeom prst="rect">
            <a:avLst/>
          </a:prstGeom>
          <a:solidFill>
            <a:srgbClr val="0A1628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" y="3566160"/>
            <a:ext cx="4818888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8E8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D(Ĝ)={|ψ⟩: limit exists} (dense)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8E8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Stone: {U(t)} ↔ Ĝ self-adjoint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8E8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BCH: e^Ae^B=e^{A+B+[A,B]/2+...}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28600" y="4206240"/>
            <a:ext cx="5074920" cy="86868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" y="4288536"/>
            <a:ext cx="4892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/ SUMMARY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65760" y="4526280"/>
            <a:ext cx="481888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U(t)=e^{−iĤt/ℏ} with Ĥ=ℏω(N̂+½): D(Ĥ)={|ψ⟩=Σcₙ|n⟩: Σn²|cₙ|²&lt;∞}. The generator Ĥ is self-adjoint on this dense domain.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0" y="786384"/>
            <a:ext cx="3383280" cy="4288536"/>
          </a:xfrm>
          <a:prstGeom prst="rect">
            <a:avLst/>
          </a:prstGeom>
          <a:solidFill>
            <a:srgbClr val="1622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0" y="841248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 Algebra u(n) ↔ Lie Group U(n)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614416" y="1097280"/>
            <a:ext cx="1517904" cy="640080"/>
          </a:xfrm>
          <a:prstGeom prst="roundRect">
            <a:avLst>
              <a:gd name="adj" fmla="val 8571"/>
            </a:avLst>
          </a:prstGeom>
          <a:solidFill>
            <a:srgbClr val="0A2040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14416" y="1133856"/>
            <a:ext cx="15179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u(n)  (Lie algebra)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669280" y="1353312"/>
            <a:ext cx="14264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{A ∈ M_n(ℂ) : A†=−A}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anti-Hermitian matrices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dim = n²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7245706" y="1097280"/>
            <a:ext cx="1517904" cy="640080"/>
          </a:xfrm>
          <a:prstGeom prst="roundRect">
            <a:avLst>
              <a:gd name="adj" fmla="val 8571"/>
            </a:avLst>
          </a:prstGeom>
          <a:solidFill>
            <a:srgbClr val="0A4020"/>
          </a:solidFill>
          <a:ln w="19050">
            <a:solidFill>
              <a:srgbClr val="2ECC7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45706" y="1133856"/>
            <a:ext cx="15179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U(n)  (Lie group)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300570" y="1353312"/>
            <a:ext cx="14264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{U ∈ M_n(ℂ) : UU†=1}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unitary matrices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dim = n²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7168896" y="1417320"/>
            <a:ext cx="40234" cy="0"/>
          </a:xfrm>
          <a:prstGeom prst="line">
            <a:avLst/>
          </a:prstGeom>
          <a:noFill/>
          <a:ln w="25400">
            <a:solidFill>
              <a:srgbClr val="F4A261"/>
            </a:solidFill>
            <a:prstDash val="solid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7187184" y="1234440"/>
            <a:ext cx="2194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exp: A ↦ e^A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7209130" y="1472184"/>
            <a:ext cx="-40234" cy="0"/>
          </a:xfrm>
          <a:prstGeom prst="line">
            <a:avLst/>
          </a:prstGeom>
          <a:noFill/>
          <a:ln w="15240">
            <a:solidFill>
              <a:srgbClr val="5B9BD5"/>
            </a:solidFill>
            <a:prstDash val="solid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7187184" y="1490472"/>
            <a:ext cx="2194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(local)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5614416" y="1920240"/>
            <a:ext cx="3127248" cy="548640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50992" y="1938528"/>
            <a:ext cx="305409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u(n) = T₁U(n): the tangent space to U(n) at the identity.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 bracket [A,B]=AB−BA (commutator) makes u(n) a Lie algebra.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614416" y="2578608"/>
            <a:ext cx="1234440" cy="402336"/>
          </a:xfrm>
          <a:prstGeom prst="rect">
            <a:avLst/>
          </a:prstGeom>
          <a:solidFill>
            <a:srgbClr val="0A102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14416" y="2578608"/>
            <a:ext cx="1234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∈ u(n)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885432" y="2578608"/>
            <a:ext cx="1856232" cy="402336"/>
          </a:xfrm>
          <a:prstGeom prst="rect">
            <a:avLst/>
          </a:prstGeom>
          <a:solidFill>
            <a:srgbClr val="07111E"/>
          </a:solidFill>
          <a:ln w="9525">
            <a:solidFill>
              <a:srgbClr val="1A3A5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22008" y="2578608"/>
            <a:ext cx="1783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e^{tA} ∈ U(n) for all t ∈ ℝ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614416" y="3072384"/>
            <a:ext cx="1234440" cy="402336"/>
          </a:xfrm>
          <a:prstGeom prst="rect">
            <a:avLst/>
          </a:prstGeom>
          <a:solidFill>
            <a:srgbClr val="0A1020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14416" y="3072384"/>
            <a:ext cx="1234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iĜ ∈ u(n)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885432" y="3072384"/>
            <a:ext cx="1856232" cy="402336"/>
          </a:xfrm>
          <a:prstGeom prst="rect">
            <a:avLst/>
          </a:prstGeom>
          <a:solidFill>
            <a:srgbClr val="07111E"/>
          </a:solidFill>
          <a:ln w="9525">
            <a:solidFill>
              <a:srgbClr val="1A3A5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22008" y="3072384"/>
            <a:ext cx="1783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U(t)=e^{itĜ}: one-param. group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614416" y="3566160"/>
            <a:ext cx="1234440" cy="402336"/>
          </a:xfrm>
          <a:prstGeom prst="rect">
            <a:avLst/>
          </a:prstGeom>
          <a:solidFill>
            <a:srgbClr val="0A1020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614416" y="3566160"/>
            <a:ext cx="1234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[A,B]→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885432" y="3566160"/>
            <a:ext cx="1856232" cy="402336"/>
          </a:xfrm>
          <a:prstGeom prst="rect">
            <a:avLst/>
          </a:prstGeom>
          <a:solidFill>
            <a:srgbClr val="07111E"/>
          </a:solidFill>
          <a:ln w="9525">
            <a:solidFill>
              <a:srgbClr val="1A3A5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922008" y="3566160"/>
            <a:ext cx="1783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BCH: e^A e^B = e^{A+B+[A,B]/2+...}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274320" y="489204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I.1 — L02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858000" y="489204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· LO4 · MSc</a:t>
            </a:r>
            <a:endParaRPr lang="en-US" sz="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A1422"/>
          </a:solidFill>
          <a:ln w="12700">
            <a:solidFill>
              <a:srgbClr val="0A14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55448"/>
            <a:ext cx="804672" cy="384048"/>
          </a:xfrm>
          <a:prstGeom prst="roundRect">
            <a:avLst>
              <a:gd name="adj" fmla="val 11905"/>
            </a:avLst>
          </a:prstGeom>
          <a:solidFill>
            <a:srgbClr val="E07B6A"/>
          </a:solidFill>
          <a:ln w="12700">
            <a:solidFill>
              <a:srgbClr val="E07B6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55448"/>
            <a:ext cx="804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70432" y="155448"/>
            <a:ext cx="6949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L02 — LO4: Û = e^{iĜ} and Stone's Theorem  |  PhD Track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70432" y="438912"/>
            <a:ext cx="6949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Unitary Operators and Symmetry Transformations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577072" y="54864"/>
            <a:ext cx="521208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77072" y="54864"/>
            <a:ext cx="521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28600" y="786384"/>
            <a:ext cx="5074920" cy="260604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" y="868680"/>
            <a:ext cx="4892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E07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EXPLANATION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65760" y="1106424"/>
            <a:ext cx="4818888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Hille–Yosida: a densely-defined closed Â generates a C₀-semigroup iff ‖(λ−Â)⁻ⁿ‖≤M(λ−ω)⁻ⁿ for λ&gt;ω.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self-adjoint Ĝ: M=1, ω=0 (contractive unitary group) — Hille–Yosida trivially satisfied.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self-adjointness: Ĝ is essentially s.a. on D₀ iff its closure is self-adjoint. Then e^{−itĜ} is well-defined.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field theory: e^{−iĤt/ℏ} with Ĥ = ∫ω(k)â†(k)â(k)dk requires Fock space and normal ordering to define Ĥ as s.a.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Trotter product formula: e^{−it(Ĝ₁+Ĝ₂)} = lim_{N→∞}(e^{−itĜ₁/N}e^{−itĜ₂/N})^N (for s.a. Ĝ₁, Ĝ₂).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28600" y="3474720"/>
            <a:ext cx="5074920" cy="658368"/>
          </a:xfrm>
          <a:prstGeom prst="rect">
            <a:avLst/>
          </a:prstGeom>
          <a:solidFill>
            <a:srgbClr val="0A1628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" y="3566160"/>
            <a:ext cx="4818888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8E8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H-Y: ‖(λ−Â)⁻ⁿ‖≤(λ−ω)⁻ⁿ (M=1)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8E8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Ess. s.a.: closure is s.a.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8E8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Trotter: e^{−it(G₁+G₂)}=lim(...)^N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28600" y="4206240"/>
            <a:ext cx="5074920" cy="86868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" y="4288536"/>
            <a:ext cx="4892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/ SUMMARY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65760" y="4526280"/>
            <a:ext cx="481888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Trotter formula applied to Ĥ=Ĥ₀+V̂: approximate e^{−iĤt/ℏ} ≈ (e^{−iĤ₀ε/ℏ}e^{−iV̂ε/ℏ})^N for ε=t/N. Error O(ε²[Ĥ₀,V̂]). Used in quantum simulation.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0" y="786384"/>
            <a:ext cx="3383280" cy="4288536"/>
          </a:xfrm>
          <a:prstGeom prst="rect">
            <a:avLst/>
          </a:prstGeom>
          <a:solidFill>
            <a:srgbClr val="1622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0" y="841248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Hille–Yosida and the Domain of the Generator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614416" y="1078992"/>
            <a:ext cx="3127248" cy="841248"/>
          </a:xfrm>
          <a:prstGeom prst="roundRect">
            <a:avLst>
              <a:gd name="adj" fmla="val 6522"/>
            </a:avLst>
          </a:prstGeom>
          <a:solidFill>
            <a:srgbClr val="0A1020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87568" y="1115568"/>
            <a:ext cx="29809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Stone's Theorem (precise)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687568" y="1335024"/>
            <a:ext cx="29809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{U(t)}_{t∈ℝ} is a strongly cts.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one-param. unitary group on ℋ,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∃! self-adjoint Ĝ with D(Ĝ) dense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s.t. U(t) = e^{−itĜ}  (C₀-group).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5614416" y="2048256"/>
            <a:ext cx="3127248" cy="841248"/>
          </a:xfrm>
          <a:prstGeom prst="roundRect">
            <a:avLst>
              <a:gd name="adj" fmla="val 6522"/>
            </a:avLst>
          </a:prstGeom>
          <a:solidFill>
            <a:srgbClr val="0A1020"/>
          </a:solidFill>
          <a:ln w="19050">
            <a:solidFill>
              <a:srgbClr val="F4A2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87568" y="2084832"/>
            <a:ext cx="29809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 domain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687568" y="2304288"/>
            <a:ext cx="29809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D(Ĝ) = {|ψ⟩ : lim_{t→0} (U(t)−1̂)|ψ⟩/t exists}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dense linear subspace of ℋ.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all of ℋ! (unless Ĝ is bounded)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5614416" y="3017520"/>
            <a:ext cx="3127248" cy="841248"/>
          </a:xfrm>
          <a:prstGeom prst="roundRect">
            <a:avLst>
              <a:gd name="adj" fmla="val 6522"/>
            </a:avLst>
          </a:prstGeom>
          <a:solidFill>
            <a:srgbClr val="0A1020"/>
          </a:solidFill>
          <a:ln w="19050">
            <a:solidFill>
              <a:srgbClr val="2ECC7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87568" y="3054096"/>
            <a:ext cx="29809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Hille–Yosida theorem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687568" y="3273552"/>
            <a:ext cx="29809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closed densely-defined operator Â is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generator of a C₀-semigroup iff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‖(λ−Â)⁻ⁿ‖ ≤ M/(λ−ω)ⁿ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all λ&gt;ω and n∈ℕ.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5614416" y="3986784"/>
            <a:ext cx="3127248" cy="841248"/>
          </a:xfrm>
          <a:prstGeom prst="roundRect">
            <a:avLst>
              <a:gd name="adj" fmla="val 6522"/>
            </a:avLst>
          </a:prstGeom>
          <a:solidFill>
            <a:srgbClr val="0A1020"/>
          </a:solidFill>
          <a:ln w="19050">
            <a:solidFill>
              <a:srgbClr val="5B9BD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87568" y="4023360"/>
            <a:ext cx="29809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consequence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687568" y="4242816"/>
            <a:ext cx="29809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Self-adjoint Ĝ ⟹ Hille–Yosida satisfied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M=1, ω=0 (unitary group!)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self-adjoint operator generates dynamics.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274320" y="489204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I.1 — L02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858000" y="489204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· LO4 · PhD</a:t>
            </a:r>
            <a:endParaRPr lang="en-US" sz="8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0"/>
            <a:ext cx="9144000" cy="1143000"/>
          </a:xfrm>
          <a:prstGeom prst="rect">
            <a:avLst/>
          </a:prstGeom>
          <a:solidFill>
            <a:srgbClr val="162236"/>
          </a:solidFill>
          <a:ln w="12700">
            <a:solidFill>
              <a:srgbClr val="16223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B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0574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Special Topic Slides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L02: Advanced Mathematical Foundations — each with diagram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 Groups U(n) &amp; SU(2)  ·  Stone's Theorem  ·  Noether's Theorem</a:t>
            </a:r>
            <a:endParaRPr lang="en-US" sz="11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0972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L02 — The Lie Groups U(n) and SU(2)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74320" y="521208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unitary matrices to manifolds, Lie algebras, and the exponential map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8577072" y="54864"/>
            <a:ext cx="521208" cy="256032"/>
          </a:xfrm>
          <a:prstGeom prst="rect">
            <a:avLst/>
          </a:prstGeom>
          <a:solidFill>
            <a:srgbClr val="E8F0F8"/>
          </a:solidFill>
          <a:ln w="12700">
            <a:solidFill>
              <a:srgbClr val="E8F0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77072" y="54864"/>
            <a:ext cx="521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I.1 — L02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858000" y="489204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· Lie Groups U(n) &amp; SU(2)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28600" y="804672"/>
            <a:ext cx="4846320" cy="2121408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" y="804672"/>
            <a:ext cx="45720" cy="21214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3192" y="877824"/>
            <a:ext cx="46177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 GROUP DEFINITION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1480" y="1124712"/>
            <a:ext cx="4572000" cy="1709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Lie group is a group that is also a smooth manifold, where group multiplication and inversion are smooth maps.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U(n): the set of n×n complex unitary matrices under multiplication. Compact, connected Lie group. dim = n².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SU(n): the subgroup with det(U) = 1 (special unitary). dim = n²−1. For n=2: SU(2) ≅ S³ (3-sphere).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U(1) = {e^{iθ} : θ ∈ ℝ}: the circle group. Generator: i (or i·1̂). Parametrises global phase.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28600" y="3017520"/>
            <a:ext cx="4846320" cy="2176272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3017520"/>
            <a:ext cx="45720" cy="217627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3192" y="3090672"/>
            <a:ext cx="46177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 ALGEBRA AND EXPONENTIAL MAP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11480" y="3337560"/>
            <a:ext cx="4572000" cy="1764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 algebra u(n) = {A ∈ M_n(ℂ) : A† = −A} (anti-Hermitian n×n matrices).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Exponential map: exp: u(n) → U(n), A ↦ e^A. Local diffeomorphism near 0.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unitary can be written locally as e^A for A ∈ u(n). Globally: U(n) is connected, exp is surjective.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generators: Ĝ Hermitian ⟹ iĜ ∈ u(n) ⟹ e^{iθĜ} ∈ U(n).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 bracket: [A,B] = AB − BA (commutator). Makes u(n) into a Lie algebra.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28600" y="5266944"/>
            <a:ext cx="4846320" cy="82296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" y="5266944"/>
            <a:ext cx="45720" cy="82296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3192" y="5340096"/>
            <a:ext cx="46177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SU(2) IN QUANTUM MECHANICS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11480" y="5586984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SU(2) acts on spin-½ particles: Û_n(θ) = cos(θ/2)·1̂ − i sin(θ/2) n̂·σ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SU(2) is the universal cover of SO(3): every rotation in 3D lifts to ±U in SU(2)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Pauli matrices {iσ₁/2, iσ₂/2, iσ₃/2} form the Lie algebra su(2) basis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257800" y="804672"/>
            <a:ext cx="3611880" cy="5285232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57800" y="86868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 Group Hierarchy and Structure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458968" y="1152144"/>
            <a:ext cx="1005840" cy="640080"/>
          </a:xfrm>
          <a:prstGeom prst="roundRect">
            <a:avLst>
              <a:gd name="adj" fmla="val 8571"/>
            </a:avLst>
          </a:prstGeom>
          <a:solidFill>
            <a:srgbClr val="0A1828"/>
          </a:solidFill>
          <a:ln w="19050">
            <a:solidFill>
              <a:srgbClr val="5B9BD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58968" y="11887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U(1)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58968" y="1444752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dim=1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6556248" y="1152144"/>
            <a:ext cx="1188720" cy="640080"/>
          </a:xfrm>
          <a:prstGeom prst="roundRect">
            <a:avLst>
              <a:gd name="adj" fmla="val 8571"/>
            </a:avLst>
          </a:prstGeom>
          <a:solidFill>
            <a:srgbClr val="0A1020"/>
          </a:solidFill>
          <a:ln w="19050">
            <a:solidFill>
              <a:srgbClr val="2A4A6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92824" y="1188720"/>
            <a:ext cx="1115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7AB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u(1)={iθ}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6592824" y="1463040"/>
            <a:ext cx="11155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e^{iθ}: global phase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generator: 1̂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7781544" y="1261872"/>
            <a:ext cx="713232" cy="460858"/>
          </a:xfrm>
          <a:prstGeom prst="roundRect">
            <a:avLst>
              <a:gd name="adj" fmla="val 11905"/>
            </a:avLst>
          </a:prstGeom>
          <a:solidFill>
            <a:srgbClr val="0A1628"/>
          </a:solidFill>
          <a:ln w="19050">
            <a:solidFill>
              <a:srgbClr val="F4A2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81544" y="1261872"/>
            <a:ext cx="713232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A↦e^A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5458968" y="2231136"/>
            <a:ext cx="1005840" cy="640080"/>
          </a:xfrm>
          <a:prstGeom prst="roundRect">
            <a:avLst>
              <a:gd name="adj" fmla="val 8571"/>
            </a:avLst>
          </a:prstGeom>
          <a:solidFill>
            <a:srgbClr val="0A1828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58968" y="226771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SU(2)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458968" y="2523744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dim=3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6556248" y="2231136"/>
            <a:ext cx="1188720" cy="640080"/>
          </a:xfrm>
          <a:prstGeom prst="roundRect">
            <a:avLst>
              <a:gd name="adj" fmla="val 8571"/>
            </a:avLst>
          </a:prstGeom>
          <a:solidFill>
            <a:srgbClr val="0A1020"/>
          </a:solidFill>
          <a:ln w="19050">
            <a:solidFill>
              <a:srgbClr val="2A4A6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92824" y="2267712"/>
            <a:ext cx="1115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7AB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su(2)=span{iσᵢ/2}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6592824" y="2542032"/>
            <a:ext cx="11155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e^{iθn̂·σ/2}: spin rot.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generators: σᵢ/2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7781544" y="2340864"/>
            <a:ext cx="713232" cy="460858"/>
          </a:xfrm>
          <a:prstGeom prst="roundRect">
            <a:avLst>
              <a:gd name="adj" fmla="val 11905"/>
            </a:avLst>
          </a:prstGeom>
          <a:solidFill>
            <a:srgbClr val="0A1628"/>
          </a:solidFill>
          <a:ln w="19050">
            <a:solidFill>
              <a:srgbClr val="F4A26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781544" y="2340864"/>
            <a:ext cx="713232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A↦e^A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5458968" y="3310128"/>
            <a:ext cx="1005840" cy="640080"/>
          </a:xfrm>
          <a:prstGeom prst="roundRect">
            <a:avLst>
              <a:gd name="adj" fmla="val 8571"/>
            </a:avLst>
          </a:prstGeom>
          <a:solidFill>
            <a:srgbClr val="0A1828"/>
          </a:solidFill>
          <a:ln w="19050">
            <a:solidFill>
              <a:srgbClr val="2ECC7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58968" y="3346704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U(n)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458968" y="3602736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dim=n²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6556248" y="3310128"/>
            <a:ext cx="1188720" cy="640080"/>
          </a:xfrm>
          <a:prstGeom prst="roundRect">
            <a:avLst>
              <a:gd name="adj" fmla="val 8571"/>
            </a:avLst>
          </a:prstGeom>
          <a:solidFill>
            <a:srgbClr val="0A1020"/>
          </a:solidFill>
          <a:ln w="19050">
            <a:solidFill>
              <a:srgbClr val="2A4A6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92824" y="3346704"/>
            <a:ext cx="1115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7AB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u(n)={A:A†=−A}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6592824" y="3621024"/>
            <a:ext cx="11155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unitary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generators: Hermitian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7781544" y="3419856"/>
            <a:ext cx="713232" cy="460858"/>
          </a:xfrm>
          <a:prstGeom prst="roundRect">
            <a:avLst>
              <a:gd name="adj" fmla="val 11905"/>
            </a:avLst>
          </a:prstGeom>
          <a:solidFill>
            <a:srgbClr val="0A1628"/>
          </a:solidFill>
          <a:ln w="19050">
            <a:solidFill>
              <a:srgbClr val="F4A26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781544" y="3419856"/>
            <a:ext cx="713232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A↦e^A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5394960" y="4443984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SU(2) Double Cover of SO(3)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5458968" y="4681728"/>
            <a:ext cx="1261872" cy="512064"/>
          </a:xfrm>
          <a:prstGeom prst="roundRect">
            <a:avLst>
              <a:gd name="adj" fmla="val 10714"/>
            </a:avLst>
          </a:prstGeom>
          <a:solidFill>
            <a:srgbClr val="0A2040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458968" y="4681728"/>
            <a:ext cx="12618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SU(2)  S³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dim=3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7406640" y="4681728"/>
            <a:ext cx="1261872" cy="512064"/>
          </a:xfrm>
          <a:prstGeom prst="roundRect">
            <a:avLst>
              <a:gd name="adj" fmla="val 10714"/>
            </a:avLst>
          </a:prstGeom>
          <a:solidFill>
            <a:srgbClr val="0A4020"/>
          </a:solidFill>
          <a:ln w="19050">
            <a:solidFill>
              <a:srgbClr val="2ECC7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406640" y="4681728"/>
            <a:ext cx="12618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SO(3)  RP³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dim=3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6757416" y="4937760"/>
            <a:ext cx="612648" cy="0"/>
          </a:xfrm>
          <a:prstGeom prst="line">
            <a:avLst/>
          </a:prstGeom>
          <a:noFill/>
          <a:ln w="22860">
            <a:solidFill>
              <a:srgbClr val="F4A261"/>
            </a:solidFill>
            <a:prstDash val="solid"/>
            <a:tailEnd type="triangle"/>
          </a:ln>
        </p:spPr>
      </p:sp>
      <p:sp>
        <p:nvSpPr>
          <p:cNvPr id="52" name="Text 50"/>
          <p:cNvSpPr/>
          <p:nvPr/>
        </p:nvSpPr>
        <p:spPr>
          <a:xfrm>
            <a:off x="6775704" y="4736592"/>
            <a:ext cx="594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2:1  homo.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6775704" y="4956048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07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= {±1̂}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5394960" y="5285232"/>
            <a:ext cx="3337560" cy="804672"/>
          </a:xfrm>
          <a:prstGeom prst="rect">
            <a:avLst/>
          </a:prstGeom>
          <a:solidFill>
            <a:srgbClr val="0A1628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440680" y="5303520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su(2) Lie algebra basis: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5440680" y="5522976"/>
            <a:ext cx="6035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Xᵢ = iσᵢ/2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6062472" y="5522976"/>
            <a:ext cx="6035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i=1,2,3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6684264" y="5522976"/>
            <a:ext cx="6035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[X₁,X₂]=X₃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7306056" y="5522976"/>
            <a:ext cx="6035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[X₂,X₃]=X₁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7927848" y="5522976"/>
            <a:ext cx="6035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[X₃,X₁]=X₂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5440680" y="5742432"/>
            <a:ext cx="3246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constants εᵢⱼₖ (Levi-Civita): [Xᵢ,Xⱼ] = εᵢⱼₖXₖ</a:t>
            </a:r>
            <a:endParaRPr lang="en-US" sz="7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0972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L02 — Stone's Theorem: Rigorous Statement and Proof Sketch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74320" y="521208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fundamental link between self-adjoint operators and unitary dynamics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8577072" y="54864"/>
            <a:ext cx="521208" cy="256032"/>
          </a:xfrm>
          <a:prstGeom prst="rect">
            <a:avLst/>
          </a:prstGeom>
          <a:solidFill>
            <a:srgbClr val="E8F0F8"/>
          </a:solidFill>
          <a:ln w="12700">
            <a:solidFill>
              <a:srgbClr val="E8F0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77072" y="54864"/>
            <a:ext cx="521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I.1 — L02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858000" y="489204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· Stone's Theorem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28600" y="804672"/>
            <a:ext cx="4846320" cy="2633472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" y="804672"/>
            <a:ext cx="45720" cy="2633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3192" y="877824"/>
            <a:ext cx="46177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STONE'S THEOREM — PRECISE STATEMENT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1480" y="1124712"/>
            <a:ext cx="4572000" cy="2221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ℋ be a Hilbert space. The following are in bijection: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Strongly continuous one-parameter unitary groups: families {U(t)}_{t∈ℝ} of unitary operators on ℋ with (i) U(s+t)=U(s)U(t); (ii) U(0)=1̂; (iii) ‖U(t)|ψ⟩−|ψ⟩‖→0 as t→0 for all |ψ⟩∈ℋ.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Self-adjoint operators Ĝ on ℋ (with dense domain D(Ĝ)).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bijection is: U(t) = e^{−itĜ}. The generator Ĝ is recovered as Ĝ|ψ⟩ = i·lim_{t→0}(U(t)−1̂)|ψ⟩/t for |ψ⟩∈D(Ĝ).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28600" y="3529584"/>
            <a:ext cx="4846320" cy="1755648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3529584"/>
            <a:ext cx="45720" cy="175564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3192" y="3602736"/>
            <a:ext cx="46177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STRONG (NOT NORM) CONTINUITY?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11480" y="3849624"/>
            <a:ext cx="4572000" cy="1344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 continuity: ‖U(t)−1̂‖→0 as t→0 is too strong — it forces Ĝ to be bounded (finite-dimensional-like).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continuity: only ‖U(t)|ψ⟩−|ψ⟩‖→0 for each fixed |ψ⟩. This is satisfied by e^{−iĤt/ℏ} even when Ĥ is unbounded (e.g., harmonic oscillator, free particle).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Schrödinger equation i ℏ ∂_t|ψ⟩ = Ĥ|ψ⟩ is exactly the strong-continuity condition differentiated at t=0.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28600" y="5358384"/>
            <a:ext cx="4846320" cy="73152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" y="5358384"/>
            <a:ext cx="45720" cy="73152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3192" y="5431536"/>
            <a:ext cx="46177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CONTENT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11480" y="567842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Hermitian observable generates a one-parameter symmetry (e.g., Ĥ→time, p̂→translation, Ĵ→rotation)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Conversely, every continuous quantum symmetry has a conserved Hermitian generator → Noether's theorem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Stone's theorem is the mathematical backbone of the Heisenberg picture of QM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257800" y="804672"/>
            <a:ext cx="3611880" cy="5285232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57800" y="86868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Stone's Theorem — Proof Sketch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440680" y="1115568"/>
            <a:ext cx="3246120" cy="1042416"/>
          </a:xfrm>
          <a:prstGeom prst="roundRect">
            <a:avLst>
              <a:gd name="adj" fmla="val 5263"/>
            </a:avLst>
          </a:prstGeom>
          <a:solidFill>
            <a:srgbClr val="0A1020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58968" y="1152144"/>
            <a:ext cx="347472" cy="347472"/>
          </a:xfrm>
          <a:prstGeom prst="roundRect">
            <a:avLst>
              <a:gd name="adj" fmla="val 10526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58968" y="115214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861304" y="1170432"/>
            <a:ext cx="2788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→ Generator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513832" y="1426464"/>
            <a:ext cx="313639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Ĝ|ψ⟩ = i·(d/dt)U(t)|ψ⟩|_{t=0}.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Ĝ is symmetric: ⟨φ|Ĝψ⟩ = ⟨Ĝφ|ψ⟩.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Ĝ is self-adjoint (Cayley transform).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440680" y="2304288"/>
            <a:ext cx="3246120" cy="1042416"/>
          </a:xfrm>
          <a:prstGeom prst="roundRect">
            <a:avLst>
              <a:gd name="adj" fmla="val 5263"/>
            </a:avLst>
          </a:prstGeom>
          <a:solidFill>
            <a:srgbClr val="0A1020"/>
          </a:solidFill>
          <a:ln w="19050">
            <a:solidFill>
              <a:srgbClr val="F4A26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58968" y="2340864"/>
            <a:ext cx="347472" cy="347472"/>
          </a:xfrm>
          <a:prstGeom prst="roundRect">
            <a:avLst>
              <a:gd name="adj" fmla="val 10526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58968" y="234086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861304" y="2359152"/>
            <a:ext cx="2788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 → Group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513832" y="2615184"/>
            <a:ext cx="313639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self-adjoint Ĝ, define U(t)=e^{−itĜ}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functional calculus (spectral theorem).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group property: U(s)U(t)=U(s+t).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440680" y="3493008"/>
            <a:ext cx="3246120" cy="1042416"/>
          </a:xfrm>
          <a:prstGeom prst="roundRect">
            <a:avLst>
              <a:gd name="adj" fmla="val 5263"/>
            </a:avLst>
          </a:prstGeom>
          <a:solidFill>
            <a:srgbClr val="0A1020"/>
          </a:solidFill>
          <a:ln w="19050">
            <a:solidFill>
              <a:srgbClr val="2ECC7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458968" y="3529584"/>
            <a:ext cx="347472" cy="347472"/>
          </a:xfrm>
          <a:prstGeom prst="roundRect">
            <a:avLst>
              <a:gd name="adj" fmla="val 10526"/>
            </a:avLst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58968" y="352958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861304" y="3547872"/>
            <a:ext cx="2788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Continuity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513832" y="3803904"/>
            <a:ext cx="313639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‖(e^{−itĜ}−1̂)|ψ⟩‖→0 as t→0.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|ψ⟩∈D(Ĝ): ‖(U(t)−1̂)|ψ⟩‖≤|t|·‖Ĝ|ψ⟩‖→0.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general |ψ⟩: density argument.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440680" y="4681728"/>
            <a:ext cx="3246120" cy="1042416"/>
          </a:xfrm>
          <a:prstGeom prst="roundRect">
            <a:avLst>
              <a:gd name="adj" fmla="val 5263"/>
            </a:avLst>
          </a:prstGeom>
          <a:solidFill>
            <a:srgbClr val="0A1020"/>
          </a:solidFill>
          <a:ln w="19050">
            <a:solidFill>
              <a:srgbClr val="9B72C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458968" y="4718304"/>
            <a:ext cx="347472" cy="347472"/>
          </a:xfrm>
          <a:prstGeom prst="roundRect">
            <a:avLst>
              <a:gd name="adj" fmla="val 10526"/>
            </a:avLst>
          </a:prstGeom>
          <a:solidFill>
            <a:srgbClr val="9B72CF"/>
          </a:solidFill>
          <a:ln w="12700">
            <a:solidFill>
              <a:srgbClr val="9B72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58968" y="471830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861304" y="4736592"/>
            <a:ext cx="2788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9B7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Uniqueness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5513832" y="4992624"/>
            <a:ext cx="313639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U(t)=e^{−itĜ}=e^{−itĜ'}, then Ĝ=Ĝ'.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Proof: differentiate and use self-adjointness.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generator is uniquely determined by the group.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440680" y="5431536"/>
            <a:ext cx="3246120" cy="566928"/>
          </a:xfrm>
          <a:prstGeom prst="rect">
            <a:avLst/>
          </a:prstGeom>
          <a:solidFill>
            <a:srgbClr val="0A1628"/>
          </a:solidFill>
          <a:ln w="19050">
            <a:solidFill>
              <a:srgbClr val="F4A26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477256" y="5449824"/>
            <a:ext cx="31729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C8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{U(t)} ↔ Ĝ  via  U(t) = e^{−itĜ}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8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Ĝ = i·d/dt U(t)|_{t=0}  (on D(Ĝ))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8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Stone (1932): Ann. of Math.</a:t>
            </a:r>
            <a:endParaRPr lang="en-US" sz="8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0972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L02 — Noether's Theorem in Quantum Mechanics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74320" y="521208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symmetry ↔ conserved observable: the quantum Noether correspondence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8577072" y="54864"/>
            <a:ext cx="521208" cy="256032"/>
          </a:xfrm>
          <a:prstGeom prst="rect">
            <a:avLst/>
          </a:prstGeom>
          <a:solidFill>
            <a:srgbClr val="E8F0F8"/>
          </a:solidFill>
          <a:ln w="12700">
            <a:solidFill>
              <a:srgbClr val="E8F0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77072" y="54864"/>
            <a:ext cx="521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I.1 — L02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858000" y="489204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· Noether's Theorem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28600" y="804672"/>
            <a:ext cx="4846320" cy="201168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" y="804672"/>
            <a:ext cx="45720" cy="20116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3192" y="877824"/>
            <a:ext cx="46177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NOETHER THEOREM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1480" y="1124712"/>
            <a:ext cx="457200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Hamiltonian Ĥ is invariant under a continuous symmetry generated by Hermitian Ĝ, then ⟨Ĝ⟩ is conserved in time.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 form: [Ĥ, Ĝ] = 0 ↔ d⟨Ĝ⟩/dt = 0 for all states.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Proof: d⟨Ĝ⟩/dt = (i/ℏ)⟨[Ĥ,Ĝ]⟩ = 0 (Heisenberg equation of motion with [Ĥ,Ĝ]=0).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Equivalent: Ĥ commutes with the unitary group e^{iθĜ} iff [Ĥ,Ĝ]=0 iff ⟨Ĝ⟩ conserved.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28600" y="2907792"/>
            <a:ext cx="4846320" cy="237744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2907792"/>
            <a:ext cx="45720" cy="23774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3192" y="2980944"/>
            <a:ext cx="46177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CONSERVATION TABLE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11480" y="3227832"/>
            <a:ext cx="457200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Symmetry              Generator Ĝ       Conserved quantity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translation      Ĥ (Hamiltonian)   energy ⟨Ĥ⟩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translation   p̂ (momentum)      momentum ⟨p̂⟩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              Ĵ (ang. mom.)     angular momentum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U(1)            1̂ (identity)      probability (norm)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Gauge transform       Q̂ (charge)        electric charge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row: [Ĥ, Ĝ] = 0 iff Ĥ is unchanged by the corresponding symmetry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28600" y="5376672"/>
            <a:ext cx="4846320" cy="713232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" y="5376672"/>
            <a:ext cx="45720" cy="71323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3192" y="5449824"/>
            <a:ext cx="46177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HEISENBERG EQUATION OF MOTION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11480" y="5696712"/>
            <a:ext cx="457200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d/dt Ô_H = (i/ℏ)[Ĥ, Ô_H] + ∂Ô/∂t  (Heisenberg picture)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[Ĥ,Ô]=0 and ∂Ô/∂t=0: d/dt⟨Ô⟩ = 0  (conserved!)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quantum analogue of Poisson brackets {H,O}=0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257800" y="804672"/>
            <a:ext cx="3611880" cy="5285232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57800" y="86868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Noether Correspondence Diagram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440680" y="1133856"/>
            <a:ext cx="3246120" cy="713232"/>
          </a:xfrm>
          <a:prstGeom prst="roundRect">
            <a:avLst>
              <a:gd name="adj" fmla="val 7692"/>
            </a:avLst>
          </a:prstGeom>
          <a:solidFill>
            <a:srgbClr val="0A1020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13832" y="1170432"/>
            <a:ext cx="30998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Symmetry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513832" y="1408176"/>
            <a:ext cx="30998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e^{iθĜ}: smooth family of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unitary transformations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7063740" y="1856232"/>
            <a:ext cx="0" cy="192024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7100316" y="1865376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⟺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40680" y="2048256"/>
            <a:ext cx="3246120" cy="713232"/>
          </a:xfrm>
          <a:prstGeom prst="roundRect">
            <a:avLst>
              <a:gd name="adj" fmla="val 7692"/>
            </a:avLst>
          </a:prstGeom>
          <a:solidFill>
            <a:srgbClr val="0A1020"/>
          </a:solidFill>
          <a:ln w="19050">
            <a:solidFill>
              <a:srgbClr val="F4A2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13832" y="2084832"/>
            <a:ext cx="30998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Ĥ Invariant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513832" y="2322576"/>
            <a:ext cx="30998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e^{iθĜ} Ĥ e^{−iθĜ} = Ĥ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all θ ∈ ℝ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7063740" y="2770632"/>
            <a:ext cx="0" cy="192024"/>
          </a:xfrm>
          <a:prstGeom prst="line">
            <a:avLst/>
          </a:prstGeom>
          <a:noFill/>
          <a:ln w="19050">
            <a:solidFill>
              <a:srgbClr val="F4A261"/>
            </a:solidFill>
            <a:prstDash val="solid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7100316" y="2779776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⟺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440680" y="2962656"/>
            <a:ext cx="3246120" cy="713232"/>
          </a:xfrm>
          <a:prstGeom prst="roundRect">
            <a:avLst>
              <a:gd name="adj" fmla="val 7692"/>
            </a:avLst>
          </a:prstGeom>
          <a:solidFill>
            <a:srgbClr val="0A1020"/>
          </a:solidFill>
          <a:ln w="19050">
            <a:solidFill>
              <a:srgbClr val="2ECC7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13832" y="2999232"/>
            <a:ext cx="30998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Commutation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513832" y="3236976"/>
            <a:ext cx="30998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 at θ=0: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[Ĝ, Ĥ] = 0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7063740" y="3685032"/>
            <a:ext cx="0" cy="192024"/>
          </a:xfrm>
          <a:prstGeom prst="line">
            <a:avLst/>
          </a:prstGeom>
          <a:noFill/>
          <a:ln w="19050">
            <a:solidFill>
              <a:srgbClr val="2ECC71"/>
            </a:solidFill>
            <a:prstDash val="solid"/>
            <a:tailEnd type="triangle"/>
          </a:ln>
        </p:spPr>
      </p:sp>
      <p:sp>
        <p:nvSpPr>
          <p:cNvPr id="36" name="Text 34"/>
          <p:cNvSpPr/>
          <p:nvPr/>
        </p:nvSpPr>
        <p:spPr>
          <a:xfrm>
            <a:off x="7100316" y="3694176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⟺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440680" y="3877056"/>
            <a:ext cx="3246120" cy="713232"/>
          </a:xfrm>
          <a:prstGeom prst="roundRect">
            <a:avLst>
              <a:gd name="adj" fmla="val 7692"/>
            </a:avLst>
          </a:prstGeom>
          <a:solidFill>
            <a:srgbClr val="0A1020"/>
          </a:solidFill>
          <a:ln w="19050">
            <a:solidFill>
              <a:srgbClr val="9B72C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13832" y="3913632"/>
            <a:ext cx="30998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B7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Conservation Law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513832" y="4151376"/>
            <a:ext cx="30998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d⟨Ĝ⟩/dt = (i/ℏ)⟨[Ĥ,Ĝ]⟩ = 0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⟨Ĝ⟩ = const for all t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440680" y="5184648"/>
            <a:ext cx="3246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440680" y="5404104"/>
            <a:ext cx="1051560" cy="594360"/>
          </a:xfrm>
          <a:prstGeom prst="roundRect">
            <a:avLst>
              <a:gd name="adj" fmla="val 9231"/>
            </a:avLst>
          </a:prstGeom>
          <a:solidFill>
            <a:srgbClr val="0A1020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40680" y="5404104"/>
            <a:ext cx="1051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[Ĥ,p̂]=0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free particle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6537960" y="5404104"/>
            <a:ext cx="1051560" cy="594360"/>
          </a:xfrm>
          <a:prstGeom prst="roundRect">
            <a:avLst>
              <a:gd name="adj" fmla="val 9231"/>
            </a:avLst>
          </a:prstGeom>
          <a:solidFill>
            <a:srgbClr val="0A1020"/>
          </a:solidFill>
          <a:ln w="19050">
            <a:solidFill>
              <a:srgbClr val="F4A26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37960" y="5404104"/>
            <a:ext cx="1051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[Ĥ,Ĵ]=0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central force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7635240" y="5404104"/>
            <a:ext cx="1051560" cy="594360"/>
          </a:xfrm>
          <a:prstGeom prst="roundRect">
            <a:avLst>
              <a:gd name="adj" fmla="val 9231"/>
            </a:avLst>
          </a:prstGeom>
          <a:solidFill>
            <a:srgbClr val="0A1020"/>
          </a:solidFill>
          <a:ln w="19050">
            <a:solidFill>
              <a:srgbClr val="2ECC7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635240" y="5404104"/>
            <a:ext cx="1051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[Ĥ,Q̂]=0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EM field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QM Module I.1 — L02: Unitary Operators and Symmetry Transformations</dc:title>
  <dc:subject>PptxGenJS Presentation</dc:subject>
  <dc:creator>QM/QC Programme — Module I.1</dc:creator>
  <cp:lastModifiedBy>QM/QC Programme — Module I.1</cp:lastModifiedBy>
  <cp:revision>1</cp:revision>
  <dcterms:created xsi:type="dcterms:W3CDTF">2026-04-26T13:21:40Z</dcterms:created>
  <dcterms:modified xsi:type="dcterms:W3CDTF">2026-04-26T13:21:40Z</dcterms:modified>
</cp:coreProperties>
</file>