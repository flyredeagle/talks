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Observables, Hermitian Operators, and the Spectral Theorem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 and Spectral Decomposition — Module I.1, Lecture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The measurement postulate — observables ↔ Hermitian operators; real outcomes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Key properties: real eigenvalues, orthogonality, completeness of eigenbasis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Spectral theorem (discrete): Â = Σₐ a|a⟩⟨a|; functions f(Â) of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Degenerate eigenvalues; continuous spectrum preview; physical examples x̂, p̂, 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measurement postulate linking observables to Hermitian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Hermitian operators have real eigenvalues and orthogonal eigenvectors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spectral decomposition Â = Σₐ a|a⟩⟨a| and compute f(Â) for simple functions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degenerate eigenvalues using Gram–Schmidt orthogonalisation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 observable always gives one of its eigenvalues — Stern–Gerlach story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eigenvalues/vectors of 2×2 Hermitian matrices; write spectral 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real eigenvalues and orthogonality; handle degenerate case with Gram–Schmidt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in full generality; functions of operators; self-adjoint vs. Hermitian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 and projection-valued measure (PVM); Borel functional calculus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diagonalise Hermitian matrices; compute e^(iÂ) via spectral decomposition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spectral theorem for n×n Hermitian matrices; degenerate subspace orthogonalisation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eigenvalue/eigenvector visualiser for 2×2 observables (simple); spectral resolution of harmonic oscillator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TRACK — Sakurai: Measurement and Stern–Gerlach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observable Â is measured on state |ψ⟩, the outcome is always one of the eigenvalues {aₙ} of Â. The probability of obtaining aₙ is P(aₙ) = |⟨aₙ|ψ⟩|². After measurement, state collapses to |aₙ⟩.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STERN–GERLACH PARADIGM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atoms pass through inhomogeneous B-field: deflected into discrete spots corresponding to eigenvalues of Ŝ_z = {+ℏ/2, −ℏ/2}. This directly demonstrates the eigenvalue postulate — no in-between values observed.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vs. MEASUREMENT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Preparation: select only atoms deflected upward → state |+z⟩. Measurement: apply another SG apparatus → probability distribution. The state |+z⟩ encodes all measurement statistics.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EXAMPLES OF OBSERVABLES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x̂: eigenvalues x ∈ ℝ (continuous), eigenstates |x⟩ (not normalisable). Momentum p̂ = −iℏ∂_x: eigenvalues p ∈ ℝ. Hamiltonian Ĥ (particle in box): discrete eigenvalues Eₙ = n²π²ℏ²/(2mL²).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TRACK — Dirac: Spectral Theorem and Resolution of Identity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(DISCRETE CASE)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 is a Hermitian operator with discrete spectrum {aₙ} and orthonormal eigenstates {|aₙ⟩}, then: Â = Σₙ aₙ |aₙ⟩⟨aₙ| (spectral decomposition). The projectors P̂ₙ = |aₙ⟩⟨aₙ| satisfy Σₙ P̂ₙ = 1̂.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1̂ = Σₙ |aₙ⟩⟨aₙ| (discrete case) or 1̂ = ∫da |a⟩⟨a| (continuous case). Inserting this anywhere is the fundamental trick of QM calculations: ⟨φ|ψ⟩ = Σₙ ⟨φ|aₙ⟩⟨aₙ|ψ⟩.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 OPERATORS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f: ℝ → ℂ, define f(Â) := Σₙ f(aₙ)|aₙ⟩⟨aₙ|. Examples: e^(iÂ) = Σₙ e^(iaₙ)|aₙ⟩⟨aₙ| (unitary when Â = Â†); Â² = Σₙ aₙ²|aₙ⟩⟨aₙ|; √Â for aₙ ≥ 0.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PROJECTION-VALUED MEASURE (PVM)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{P̂ₙ = |aₙ⟩⟨aₙ|} satisfies: P̂ₙ² = P̂ₙ, P̂ₙP̂ₘ = δₙₘP̂ₙ, Σₙ P̂ₙ = 1̂. This is a projection-valued measure. ⟨Â⟩ = Σₙ aₙP(aₙ) with P(aₙ) = ⟨ψ|P̂ₙ|ψ⟩.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L03.1: The Measurement Postulate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observables and Hermitian operators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POSTULATE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Postulate: Every physical observable corresponds to a Hermitian operator Â = Â† on H. When Â is measured: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(M1) The only possible outcomes are the eigenvalues {aₙ} of Â.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(M2) If system is in state |ψ⟩, the probability of obtaining aₙ is P(aₙ) = |⟨aₙ|ψ⟩|².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(M3) Immediately after measurement, the state collapses to the eigenstate |aₙ⟩.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HERMITIAN? — THREE REQUIREMENTS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Real eigenvalues: physical measurement outcomes must be real numbers ⟹ Â = Â†. (ii) Orthogonal eigenstates: distinct outcomes are mutually exclusive. (iii) Completeness of eigenbasis: all possible states can be expressed as superpositions of measurement outcomes.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⟨Â⟩ = ⟨ψ|Â|ψ⟩ = Σₙ aₙ|⟨aₙ|ψ⟩|² = Σₙ aₙ P(aₙ). This is the weighted average of eigenvalues with probabilities as weights — exactly the classical mean.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3133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AND UNCERTAINTY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69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(ΔÂ)² = ⟨Â²⟩ − ⟨Â⟩². If |ψ⟩ = |aₙ⟩ (eigenstate), then ΔÂ = 0 (definite value). If |ψ⟩ is a superposition, ΔÂ &gt; 0 (genuine quantum uncertainty, not ignorance).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P(aₙ) = |⟨aₙ|ψ⟩|²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⟨Â⟩ = ⟨ψ|Â|ψ⟩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(ΔÂ)² = ⟨Â²⟩ − ⟨Â⟩²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Collapse: |ψ⟩ → |aₙ⟩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Stern–Gerlach: Ŝ_z = (ℏ/2)σ_z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+ℏ/2 (spin-up), −ℏ/2 (spin-down)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α|+⟩ + β|−⟩, |α|²+|β|² = 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P(+ℏ/2) = |α|², P(−ℏ/2) = |β|²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⟨Ŝ_z⟩ = (ℏ/2)(|α|² − |β|²)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If |ψ⟩ = |+x⟩ = (|+⟩+|−⟩)/√2: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P(+ℏ/2) = P(−ℏ/2) = 1/2, ⟨Ŝ_z⟩ = 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L03.1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L03.2: Properties of Hermitian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eigenvalues, orthogonality, and completeness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REAL EIGENVALUES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Let Â|aₙ⟩ = aₙ|aₙ⟩ with |aₙ⟩ ≠ 0. Then: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aₙ⟨aₙ|aₙ⟩ = ⟨aₙ|Â|aₙ⟩ = ⟨Â†aₙ|aₙ⟩ = ⟨Âaₙ|aₙ⟩ = aₙ*⟨aₙ|aₙ⟩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⟨aₙ|aₙ⟩ &gt; 0: aₙ = aₙ* ⟹ aₙ ∈ ℝ. 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ORTHOGONALITY OF EIGENSTATES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Let Â|aₙ⟩ = aₙ|aₙ⟩, Â|aₘ⟩ = aₘ|aₘ⟩ with aₙ ≠ aₘ.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⟨aₘ|Â|aₙ⟩ = aₙ⟨aₘ|aₙ⟩  [from right]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⟨aₘ|Â|aₙ⟩ = aₘ⟨aₘ|aₙ⟩  [from left, using Â=Â†]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(aₙ − aₘ)⟨aₘ|aₙ⟩ = 0. Since aₙ ≠ aₘ: ⟨aₘ|aₙ⟩ = 0. 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3522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(FINITE DIMENSION)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7296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n×n Hermitian matrix Â has n real eigenvalues a₁,...,aₙ (with repetition for degeneracy) and n orthonormal eigenvectors |a₁⟩,...,|aₙ⟩ forming a complete basis. Hence Â = ΣΣₙ aₙ|aₙ⟩⟨aₙ|.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CASE — GRAM–SCHMIDT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114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aₙ = aₘ for n ≠ m (degeneracy), eigenvectors in the degenerate subspace are not uniquely determined but can be chosen orthonormal via Gram–Schmidt. Any orthonormal basis of the degenerate subspace works.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Â†  ⟹  aₙ ∈ 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aₙ ≠ aₘ  ⟹  ⟨aₘ|aₙ⟩ =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Σₙ aₙ|aₙ⟩⟨aₙ|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1̂ = Σₙ|aₙ⟩⟨aₙ|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Diagonalise Â = [[2,1],[1,2]] (Hermitian):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eqn: (2−λ)² − 1 =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= 3: |a₁⟩ = (1,1)ᵀ/√2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λ₂ = 1: |a₂⟩ = (1,−1)ᵀ/√2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⟨a₁|a₂⟩ = (1·1 + 1·(−1))/(2) = 0 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form: Â = 3|a₁⟩⟨a₁| + 1|a₂⟩⟨a₂|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L03.2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L03.3: Functions of Operators and the Spectral Decomposition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f(Â) and the resolution of identity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 HERMITIAN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spectral decomposition Â = Σₙ aₙ|aₙ⟩⟨aₙ|, define: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f(Â) := Σₙ f(aₙ)|aₙ⟩⟨aₙ|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for any function f: ℝ → ℂ. The result is an operator on H with eigenvectors {|aₙ⟩} and eigenvalues {f(aₙ)}.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e^(iÂ): eigenvalues → e^(iaₙ), unitary when Â = Â† (since |e^(iaₙ)| = 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Â² = Σₙ aₙ²|aₙ⟩⟨aₙ|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Â⁻¹ = Σₙ aₙ⁻¹|aₙ⟩⟨aₙ| (exists iff 0 ∉ spectrum)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|Â|² = Â†Â = Σₙ |aₙ|²|aₙ⟩⟨aₙ| = Â² for Hermitian 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projectors P̂ₙ = |aₙ⟩⟨aₙ| satisfy: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P̂ₙ† = P̂ₙ (Hermitian)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P̂ₙ² = P̂ₙ (idempotent)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P̂ₙP̂ₘ = δₙₘP̂ₙ (orthogonal)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Σₙ P̂ₙ = 1̂ (completeness)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projection-valued measure (PVM) — the mathematical backbone of quantum measurement.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90448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SPECTRUM PREVIEW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14223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x̂ and p̂: eigenvalues form a continuous set. Resolution of identity becomes an integral: 1̂ = ∫dx|x⟩⟨x|. Functions: f(x̂)|ψ⟩ = ∫dx f(x)⟨x|ψ⟩|x⟩ = f(x)ψ(x) (multiplication operator in position basis).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f(Â) = Σₙ f(aₙ)|aₙ⟩⟨aₙ|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e^(iÂ) = Σₙ e^(iaₙ)|aₙ⟩⟨aₙ|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P̂ₙ = 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Σₙ P̂ₙ = 1̂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e^(iÂ) for Â = [[π,0],[0,0]]: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π (eigenvec. e₁), 0 (eigenvec. e₂)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e^(iÂ) = e^(iπ)|e₁⟩⟨e₁| + e^(0)|e₂⟩⟨e₂|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(−1)·diag(1,0) + 1·diag(0,1)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diag(−1, 1) = −σ_z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Check directly: (e^(iπσ_z/...))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L03.3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measurement outcome to eigenvalue of observable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Stern–Gerlach experiment conceptually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P(aₙ) = |⟨aₙ|ψ⟩|² for simple 2-level systems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⟨Â⟩ as the average measurement outcome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Spin-1/2 measurement: Ŝ_z has eigenvalues ±ℏ/2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(3|+⟩ + 4|−⟩)/5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P(+ℏ/2) = (3/5)² = 9/25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P(−ℏ/2) = (4/5)² = 16/25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⟨Ŝ_z⟩ = (ℏ/2)(9/25) + (−ℏ/2)(16/25) = −7ℏ/50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Find P(+) and P(−) for |ψ⟩ = (|+⟩+i|−⟩)/√2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What is ⟨σ_x⟩ for the state |+z⟩?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After measuring Ŝ_z and getting +ℏ/2, what is the new state?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precession in magnetic field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classical probability for eigenstate case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eigenvalues and eigenvectors of 2×2 Hermitian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spectral decomposition Â = Σaₙ|aₙ⟩⟨aₙ|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resolution of identity to simplify ⟨φ|Â|ψ⟩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f(Â) = Σf(aₙ)|aₙ⟩⟨aₙ| for polynomial and exponential 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σ_x = [[0,1],[1,0]]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+1 (|+x⟩=(|+⟩+|−⟩)/√2), −1 (|−x⟩=(|+⟩−|−⟩)/√2)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form: σ_x = |+x⟩⟨+x| − |−x⟩⟨−x|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e^(iθσ_x) = e^(iθ)|+x⟩⟨+x| + e^(−iθ)|−x⟩⟨−x|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Diagonalise Â = [[3,1−i],[1+i,2]]; verify real eigenvalues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e^(iπσ_y/2) using spectral decomposition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Verify Σₙ|aₙ⟩⟨aₙ| = 1̂ for σ_z eigenstates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eigenstates of commuting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(Complete Set of Commuting Observables)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real eigenvalues and eigenvector orthogonality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Gram–Schmidt to degenerate eigenspaces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full spectral projector decomposition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variance formula from the spectral decomposition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⟨aₘ|aₙ⟩ = 0 for aₘ ≠ aₙ (Hermitian Â):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aₙ⟨aₘ|aₙ⟩ = ⟨aₘ|Â|aₙ⟩ = ⟨Â†aₘ|aₙ⟩ = aₘ*⟨aₘ|aₙ⟩ = aₘ⟨aₘ|aₙ⟩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(aₙ − aₘ)⟨aₘ|aₙ⟩ = 0, aₙ ≠ aₘ ⟹ ⟨aₘ|aₙ⟩ = 0 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spectral theorem for 2×2 Hermitian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Handle 2-fold degenerate eigenspace via Gram–Schmidt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Show (ΔÂ)² ≥ 0 using spectral decomposition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calculus via Cauchy integral formula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CSCO: n commuting Hermitian operators with joint eigenbasis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spectral theorem in its general form (bounded self-adjoint)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Borel functional calculus f(Â)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self-adjoint from merely Hermitian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projection-valued measures to compute ⟨Â⟩ and ΔÂ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for harmonic oscillator Ĥ = ℏω(N̂+1/2):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Eₙ = ℏω(n+1/2), n = 0,1,2,...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P̂ₙ = |n⟩⟨n| (projector onto n-th Fock state)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⟨E⟩ = Σₙ Eₙ|cₙ|² where cₙ = ⟨n|ψ⟩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State spectral theorem for bounded self-adjoint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f(N̂) for f(n) = e^(−βℏωn) (partition function)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Distinguish Hermitian vs. self-adjoint for p̂ on L²([0,1])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Borel functional calculus — spectral measures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for unbounded self-adjoint operators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Observables, Hermitian Operators, and the Spectral Theorem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projection-valued measures (PVM)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Borel functional calculus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spectrum: point, continuous, residual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continuous spectrum of x̂ and p̂ via PVM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for x̂ on L²(ℝ):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Borel set E ⊆ ℝ: P̂_E = ∫_E |x⟩⟨x|dx (multiplication by χ_E)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⟨ψ|P̂_E|ψ⟩ = ∫_E |ψ(x)|²dx = P(x ∈ E)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1̂ = ∫_{-∞}^{∞} |x⟩⟨x|dx (resolution of identity)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Define PVM axioms; verify they hold for x̂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the spectral measure for p̂ via Fourier transform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 for continuous spectrum eigenstates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H ⊂ Φ' for |x⟩, |p⟩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a measurement gives ⟨Â⟩ as the result — it always gives an eigenvalue, not the expectation value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orthogonality of eigenvectors (inner product = 0) with independence of events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degenerate eigenvectors are automatically orthogonal — they must be orthogonalised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spectral decomposition Â = Σaₙ|aₙ⟩⟨aₙ| with a matrix representation (it is operator identity)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f(Â) via Taylor series without verifying convergence — use spectral decomposition instead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'Hermitian' and 'self-adjoint' as identical — they differ for unbounded operators (MSc/PhD)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(1925): matrix mechanics — observables as matrices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 (1926): wave mechanics — observables as differential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(1926): probability interpretation of |ψ|²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(1932): spectral theorem and measurement theory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Spectral: Â = Σₙ aₙ|aₙ⟩⟨aₙ|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P(aₙ) = |⟨aₙ|ψ⟩|² = ⟨ψ|P̂ₙ|ψ⟩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f(Â) = Σₙ f(aₙ)|aₙ⟩⟨aₙ|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1̂ = Σₙ |aₙ⟩⟨aₙ| (completeness)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L04: Functions of operators e^(iÂ) use spectral decomposition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L05: Projectors P̂ = |φ⟩⟨φ| are rank-1 spectral projectors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L01: Hermitian operators are the observables; adjoint structure is essential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(~1h): Stern–Gerlach probability simulator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~2h): Spin expectation value plotter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Why are measurement outcomes always eigenvalues?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5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Eigenvalue solver for 2×2 Hermitian matrices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Spectral decomposition visualiser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the spectral theorem for 2×2 Hermitian matrices from scratch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4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Gram–Schmidt in degenerate eigenspaces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f(Â) calculator via spectral decomposition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completeness of eigenbasis for n×n Hermitian matrices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PVM for spin-1/2 observables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Borel functional calculus for H₀ (harmonic oscillator)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Borel functional calculus — construction and applications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(~4h): Spectral measure for x̂ on L²(ℝ)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PVM for continuous spectrum operators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Spectral theorem for unbounded self-adjoint operators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L03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Fundamental Concepts (§1.3–1.5)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10: Observables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Cohen-Tannoudji, Diu &amp; Laloë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Vol. 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Postulates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Shankar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Mathematical Introduction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Ballentine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Mechanics: A Modern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The Formulation of QM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on Quantum Theory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5: The Spectral Theorem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of QM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2–3: Spectral Theory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rigorous spectral theorem for QM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(1925)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quantentheoretische Umdeutung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Phys. 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Matrix mechanics birthplace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(1926)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 Quantenmechanik der Stossvorgänge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Probabilistic interpretation of 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L03: Observables, Hermitian Operators, and the Spectral Theorem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