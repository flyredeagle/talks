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75120" y="-914400"/>
            <a:ext cx="4114800" cy="4114800"/>
          </a:xfrm>
          <a:prstGeom prst="ellipse">
            <a:avLst/>
          </a:prstGeom>
          <a:solidFill>
            <a:srgbClr val="1B3055">
              <a:alpha val="60000"/>
            </a:srgbClr>
          </a:solidFill>
          <a:ln w="12700">
            <a:solidFill>
              <a:srgbClr val="1B305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132320" y="-182880"/>
            <a:ext cx="320040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0" b="1" dirty="0">
                <a:solidFill>
                  <a:srgbClr val="1E3A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Ψ</a:t>
            </a:r>
            <a:endParaRPr lang="en-US" sz="12000" dirty="0"/>
          </a:p>
        </p:txBody>
      </p:sp>
      <p:sp>
        <p:nvSpPr>
          <p:cNvPr id="4" name="Text 2"/>
          <p:cNvSpPr/>
          <p:nvPr/>
        </p:nvSpPr>
        <p:spPr>
          <a:xfrm>
            <a:off x="457200" y="82296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spc="300" kern="0" dirty="0">
                <a:solidFill>
                  <a:srgbClr val="7B8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QUANTUM MECHANICS  —  MODULE I.1  —  HILBERT SPACE &amp; OPERATORS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457200" y="1188720"/>
            <a:ext cx="914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B4D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L05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457200" y="1691640"/>
            <a:ext cx="62179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Types of Symmetry Operators and Wigner's Theorem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457200" y="3200400"/>
            <a:ext cx="5943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Linear/Anti-linear Symmetries and Projectors — Module I.1, Lecture 5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3657600"/>
            <a:ext cx="685800" cy="246888"/>
          </a:xfrm>
          <a:prstGeom prst="roundRect">
            <a:avLst>
              <a:gd name="adj" fmla="val 18519"/>
            </a:avLst>
          </a:prstGeom>
          <a:solidFill>
            <a:srgbClr val="F4C430"/>
          </a:solidFill>
          <a:ln w="12700">
            <a:solidFill>
              <a:srgbClr val="F4C43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3657600"/>
            <a:ext cx="6858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HS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1234440" y="3657600"/>
            <a:ext cx="685800" cy="246888"/>
          </a:xfrm>
          <a:prstGeom prst="roundRect">
            <a:avLst>
              <a:gd name="adj" fmla="val 18519"/>
            </a:avLst>
          </a:prstGeom>
          <a:solidFill>
            <a:srgbClr val="4CAF7D"/>
          </a:solidFill>
          <a:ln w="12700">
            <a:solidFill>
              <a:srgbClr val="4CAF7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234440" y="3657600"/>
            <a:ext cx="6858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BegUG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2011680" y="3657600"/>
            <a:ext cx="685800" cy="246888"/>
          </a:xfrm>
          <a:prstGeom prst="roundRect">
            <a:avLst>
              <a:gd name="adj" fmla="val 18519"/>
            </a:avLst>
          </a:prstGeom>
          <a:solidFill>
            <a:srgbClr val="5B9BD5"/>
          </a:solidFill>
          <a:ln w="12700">
            <a:solidFill>
              <a:srgbClr val="5B9BD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011680" y="3657600"/>
            <a:ext cx="6858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AdvUG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2788920" y="3657600"/>
            <a:ext cx="685800" cy="246888"/>
          </a:xfrm>
          <a:prstGeom prst="roundRect">
            <a:avLst>
              <a:gd name="adj" fmla="val 18519"/>
            </a:avLst>
          </a:prstGeom>
          <a:solidFill>
            <a:srgbClr val="9B72CF"/>
          </a:solidFill>
          <a:ln w="12700">
            <a:solidFill>
              <a:srgbClr val="9B72C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788920" y="3657600"/>
            <a:ext cx="6858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MSc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3566160" y="3657600"/>
            <a:ext cx="685800" cy="246888"/>
          </a:xfrm>
          <a:prstGeom prst="roundRect">
            <a:avLst>
              <a:gd name="adj" fmla="val 18519"/>
            </a:avLst>
          </a:prstGeom>
          <a:solidFill>
            <a:srgbClr val="E07B6A"/>
          </a:solidFill>
          <a:ln w="12700">
            <a:solidFill>
              <a:srgbClr val="E07B6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566160" y="3657600"/>
            <a:ext cx="6858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PhD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57200" y="4069080"/>
            <a:ext cx="6400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B8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expanded deck  ·  5 tiers  ·  Worked examples  ·  Complete problem sets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274320" y="489204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Module I.1 — L05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6858000" y="4892040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L05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595360" y="45720"/>
            <a:ext cx="502920" cy="274320"/>
          </a:xfrm>
          <a:prstGeom prst="rect">
            <a:avLst/>
          </a:prstGeom>
          <a:solidFill>
            <a:srgbClr val="E8F0F8"/>
          </a:solidFill>
          <a:ln w="12700">
            <a:solidFill>
              <a:srgbClr val="E8F0F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595360" y="45720"/>
            <a:ext cx="502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3A6E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L05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274320" y="137160"/>
            <a:ext cx="8229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2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L05 — Lecture Overview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274320" y="54864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B7A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Types of Symmetry Operators and Wigner's Theorem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28600" y="868680"/>
            <a:ext cx="4206240" cy="1691640"/>
          </a:xfrm>
          <a:prstGeom prst="rect">
            <a:avLst/>
          </a:prstGeom>
          <a:solidFill>
            <a:srgbClr val="F0F4F8"/>
          </a:solidFill>
          <a:ln w="12700">
            <a:solidFill>
              <a:srgbClr val="D0DCE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28600" y="868680"/>
            <a:ext cx="45720" cy="169164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93192" y="941832"/>
            <a:ext cx="39776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90-MIN PACING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411480" y="1197864"/>
            <a:ext cx="393192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0–20 min: Taxonomy — linear vs. anti-linear; unitary vs. anti-unitary; time-reversal motivation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20–50 min: Wigner's theorem — every quantum symmetry is unitary or anti-unitary; statement and significance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50–70 min: Projectors P̂ = |φ⟩⟨φ|: idempotency P̂² = P̂, Hermiticity, eigenvalues {0,1}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70–90 min: Time-reversal Θ̂ as anti-unitary; Kramers' theorem preview; degeneracy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526280" y="868680"/>
            <a:ext cx="4343400" cy="1691640"/>
          </a:xfrm>
          <a:prstGeom prst="rect">
            <a:avLst/>
          </a:prstGeom>
          <a:solidFill>
            <a:srgbClr val="F0F4F8"/>
          </a:solidFill>
          <a:ln w="12700">
            <a:solidFill>
              <a:srgbClr val="D0DCE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526280" y="868680"/>
            <a:ext cx="45720" cy="1691640"/>
          </a:xfrm>
          <a:prstGeom prst="rect">
            <a:avLst/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690872" y="941832"/>
            <a:ext cx="4114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LEARNING OUTCOMES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4709160" y="1197864"/>
            <a:ext cx="406908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Distinguish linear/unitary from anti-linear/anti-unitary operators with examples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Wigner's theorem and explain its physical necessity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Construct rank-1 projectors P̂ = |φ⟩⟨φ| and verify P̂² = P̂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 how time-reversal is modelled by an anti-unitary operator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28600" y="2633472"/>
            <a:ext cx="1664208" cy="1325880"/>
          </a:xfrm>
          <a:prstGeom prst="rect">
            <a:avLst/>
          </a:prstGeom>
          <a:solidFill>
            <a:srgbClr val="F0F4F8"/>
          </a:solidFill>
          <a:ln w="12700">
            <a:solidFill>
              <a:srgbClr val="D0DCE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28600" y="2633472"/>
            <a:ext cx="1664208" cy="256032"/>
          </a:xfrm>
          <a:prstGeom prst="rect">
            <a:avLst/>
          </a:prstGeom>
          <a:solidFill>
            <a:srgbClr val="F4C430"/>
          </a:solidFill>
          <a:ln w="12700">
            <a:solidFill>
              <a:srgbClr val="F4C43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28600" y="2633472"/>
            <a:ext cx="166420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HS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320040" y="2926080"/>
            <a:ext cx="1481328" cy="9875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Symmetry as 'physics looks the same'; time-reversal intuitively running the film backwards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1956816" y="2633472"/>
            <a:ext cx="1664208" cy="1325880"/>
          </a:xfrm>
          <a:prstGeom prst="rect">
            <a:avLst/>
          </a:prstGeom>
          <a:solidFill>
            <a:srgbClr val="F0F4F8"/>
          </a:solidFill>
          <a:ln w="12700">
            <a:solidFill>
              <a:srgbClr val="D0DCE8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956816" y="2633472"/>
            <a:ext cx="1664208" cy="256032"/>
          </a:xfrm>
          <a:prstGeom prst="rect">
            <a:avLst/>
          </a:prstGeom>
          <a:solidFill>
            <a:srgbClr val="4CAF7D"/>
          </a:solidFill>
          <a:ln w="12700">
            <a:solidFill>
              <a:srgbClr val="4CAF7D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956816" y="2633472"/>
            <a:ext cx="166420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BegUG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2048256" y="2926080"/>
            <a:ext cx="1481328" cy="9875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 P̂² for rank-1 projectors; verify P̂ is Hermitian; classify operators as unitary/anti-unitary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85032" y="2633472"/>
            <a:ext cx="1664208" cy="1325880"/>
          </a:xfrm>
          <a:prstGeom prst="rect">
            <a:avLst/>
          </a:prstGeom>
          <a:solidFill>
            <a:srgbClr val="F0F4F8"/>
          </a:solidFill>
          <a:ln w="12700">
            <a:solidFill>
              <a:srgbClr val="D0DCE8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685032" y="2633472"/>
            <a:ext cx="1664208" cy="256032"/>
          </a:xfrm>
          <a:prstGeom prst="rect">
            <a:avLst/>
          </a:prstGeom>
          <a:solidFill>
            <a:srgbClr val="5B9BD5"/>
          </a:solidFill>
          <a:ln w="12700">
            <a:solidFill>
              <a:srgbClr val="5B9BD5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685032" y="2633472"/>
            <a:ext cx="166420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AdvUG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3776472" y="2926080"/>
            <a:ext cx="1481328" cy="9875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Prove eigenvalues of P̂ are 0 and 1; orthogonal projector resolution of identity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5413248" y="2633472"/>
            <a:ext cx="1664208" cy="1325880"/>
          </a:xfrm>
          <a:prstGeom prst="rect">
            <a:avLst/>
          </a:prstGeom>
          <a:solidFill>
            <a:srgbClr val="F0F4F8"/>
          </a:solidFill>
          <a:ln w="12700">
            <a:solidFill>
              <a:srgbClr val="D0DCE8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413248" y="2633472"/>
            <a:ext cx="1664208" cy="256032"/>
          </a:xfrm>
          <a:prstGeom prst="rect">
            <a:avLst/>
          </a:prstGeom>
          <a:solidFill>
            <a:srgbClr val="9B72CF"/>
          </a:solidFill>
          <a:ln w="12700">
            <a:solidFill>
              <a:srgbClr val="9B72C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413248" y="2633472"/>
            <a:ext cx="166420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MSc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5504688" y="2926080"/>
            <a:ext cx="1481328" cy="9875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Wigner's theorem proof sketch; complex conjugation as anti-unitary; Kramers' theorem statement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7141464" y="2633472"/>
            <a:ext cx="1664208" cy="1325880"/>
          </a:xfrm>
          <a:prstGeom prst="rect">
            <a:avLst/>
          </a:prstGeom>
          <a:solidFill>
            <a:srgbClr val="F0F4F8"/>
          </a:solidFill>
          <a:ln w="12700">
            <a:solidFill>
              <a:srgbClr val="D0DCE8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7141464" y="2633472"/>
            <a:ext cx="1664208" cy="256032"/>
          </a:xfrm>
          <a:prstGeom prst="rect">
            <a:avLst/>
          </a:prstGeom>
          <a:solidFill>
            <a:srgbClr val="E07B6A"/>
          </a:solidFill>
          <a:ln w="12700">
            <a:solidFill>
              <a:srgbClr val="E07B6A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141464" y="2633472"/>
            <a:ext cx="166420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PhD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7232904" y="2926080"/>
            <a:ext cx="1481328" cy="9875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proof of Wigner's theorem via Uhlhorn's theorem; anti-unitary representations; spin-statistics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228600" y="4023360"/>
            <a:ext cx="8641080" cy="822960"/>
          </a:xfrm>
          <a:prstGeom prst="rect">
            <a:avLst/>
          </a:prstGeom>
          <a:solidFill>
            <a:srgbClr val="F0F4F8"/>
          </a:solidFill>
          <a:ln w="12700">
            <a:solidFill>
              <a:srgbClr val="D0DCE8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228600" y="4023360"/>
            <a:ext cx="45720" cy="822960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93192" y="4096512"/>
            <a:ext cx="84124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ASSESSMENT BUNDLE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411480" y="4352544"/>
            <a:ext cx="836676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A — verify P̂² = P̂ for explicit projectors; identify unitary vs. anti-unitary from basis action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B — prove eigenvalues of a projector are {0,1}; show time-reversal squares to ±1 for integer/half-integer spin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Projects: symmetry classification quiz for common operators (simple); Kramers degeneracy verification (complex)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274320" y="489204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AAA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Module I.1 — L05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6858000" y="4892040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AAA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L05 · Overview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595360" y="45720"/>
            <a:ext cx="502920" cy="274320"/>
          </a:xfrm>
          <a:prstGeom prst="rect">
            <a:avLst/>
          </a:prstGeom>
          <a:solidFill>
            <a:srgbClr val="E8F0F8"/>
          </a:solidFill>
          <a:ln w="12700">
            <a:solidFill>
              <a:srgbClr val="E8F0F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595360" y="45720"/>
            <a:ext cx="502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3A6E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L05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274320" y="137160"/>
            <a:ext cx="8229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2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L05 — Dual-Track Content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274320" y="54864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B7A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parallel perspectives: Geometric/Physical  ↔  Algebraic/Axiomatic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28600" y="841248"/>
            <a:ext cx="4251960" cy="3977640"/>
          </a:xfrm>
          <a:prstGeom prst="rect">
            <a:avLst/>
          </a:prstGeom>
          <a:solidFill>
            <a:srgbClr val="F0F4F8"/>
          </a:solidFill>
          <a:ln w="12700">
            <a:solidFill>
              <a:srgbClr val="D0DCE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28600" y="841248"/>
            <a:ext cx="4251960" cy="29260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0040" y="841248"/>
            <a:ext cx="4069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PHYSICAL TRACK — Symmetries, Time-Reversal, and Kramers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365760" y="1188720"/>
            <a:ext cx="3977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SYMMETRY IN QUANTUM MECHANICS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365760" y="1399032"/>
            <a:ext cx="397764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quantum symmetry is a bijection on pure states (rays) that preserves transition probabilities: |⟨φ'|ψ'⟩|² = |⟨φ|ψ⟩|². By Wigner's theorem, such maps must be implemented by either a unitary or anti-unitary operator on H.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365760" y="2057400"/>
            <a:ext cx="3977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TIME-REVERSAL: RUNNING THE FILM BACKWARDS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365760" y="2267712"/>
            <a:ext cx="397764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 time-reversal t → −t: position x → +x, momentum p → −p, angular momentum L → −L, spin S → −S. This motivates Θ̂p̂Θ̂⁻¹ = −p̂ and Θ̂Ĵ Θ̂⁻¹ = −Ĵ. Complex conjugation K satisfies these for orbital angular momentum.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365760" y="2926080"/>
            <a:ext cx="3977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KRAMERS' THEOREM PREVIEW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365760" y="3136392"/>
            <a:ext cx="397764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a spin-1/2 system with Θ̂² = −1̂ (half-integer spin): every energy eigenstate is at least two-fold degenerate (Kramers pair). This is a symmetry-protected degeneracy — it cannot be lifted by any Θ̂-invariant perturbation.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365760" y="3794760"/>
            <a:ext cx="3977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ANTI-UNITARY IN CONDENSED MATTER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365760" y="4005072"/>
            <a:ext cx="397764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Time-reversal symmetry (TRS) is central to topological classification of materials. TRS with Θ̂² = +1 (bosons) vs. Θ̂² = −1 (fermions) gives different topological classes — the 10-fold way.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4663440" y="841248"/>
            <a:ext cx="4251960" cy="3977640"/>
          </a:xfrm>
          <a:prstGeom prst="rect">
            <a:avLst/>
          </a:prstGeom>
          <a:solidFill>
            <a:srgbClr val="F0F4F8"/>
          </a:solidFill>
          <a:ln w="12700">
            <a:solidFill>
              <a:srgbClr val="D0DCE8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663440" y="841248"/>
            <a:ext cx="4251960" cy="292608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754880" y="841248"/>
            <a:ext cx="4069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MATHEMATICAL TRACK — Anti-linear Maps and Projector Algebra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754880" y="1188720"/>
            <a:ext cx="4069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089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ANTI-LINEAR MAPS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4754880" y="1399032"/>
            <a:ext cx="406908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operator Θ̂: H → H is anti-linear if Θ̂(α|φ⟩ + β|ψ⟩) = α*Θ̂|φ⟩ + β*Θ̂|ψ⟩ (complex conjugation of coefficients). This differs from linearity where Θ̂(α|φ⟩) = αΘ̂|φ⟩.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4754880" y="2057400"/>
            <a:ext cx="4069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089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ANTI-UNITARY OPERATORS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4754880" y="2267712"/>
            <a:ext cx="406908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Θ̂ is anti-unitary if it is anti-linear and satisfies ⟨Θ̂φ|Θ̂ψ⟩ = ⟨ψ|φ⟩ = ⟨φ|ψ⟩* (conjugated inner product). Note the reversal: ⟨Θ̂φ|Θ̂ψ⟩ = ⟨ψ|φ⟩, not ⟨φ|ψ⟩. This is compatible with probability preservation since |⟨Θ̂φ|Θ̂ψ⟩| = |⟨φ|ψ⟩|.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4754880" y="2926080"/>
            <a:ext cx="4069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089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RANK-1 PROJECTORS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4754880" y="3136392"/>
            <a:ext cx="406908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P̂_φ = |φ⟩⟨φ| for ‖|φ⟩‖ = 1. Properties: P̂² = P̂ (idempotent), P̂† = P̂ (Hermitian), eigenvalues {0,1} (0 for ⟨φ|ψ⟩=0, 1 for |ψ⟩ ∝ |φ⟩). Orthogonal projectors: P̂₁P̂₂ = 0 iff ⟨φ₁|φ₂⟩ = 0.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4754880" y="3794760"/>
            <a:ext cx="4069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089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WIGNER'S THEOREM (STATEMENT)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4754880" y="4005072"/>
            <a:ext cx="406908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bijection T: PH → PH on projective Hilbert space that preserves transition probabilities |⟨φ|ψ⟩|² is implemented by either a unitary or anti-unitary operator Û on H, unique up to a phase.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274320" y="489204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AAA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Module I.1 — L05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6858000" y="4892040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AAA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L05 · Dual Track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595360" y="45720"/>
            <a:ext cx="502920" cy="274320"/>
          </a:xfrm>
          <a:prstGeom prst="rect">
            <a:avLst/>
          </a:prstGeom>
          <a:solidFill>
            <a:srgbClr val="E8F0F8"/>
          </a:solidFill>
          <a:ln w="12700">
            <a:solidFill>
              <a:srgbClr val="E8F0F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595360" y="45720"/>
            <a:ext cx="502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3A6E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L05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274320" y="137160"/>
            <a:ext cx="8321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A2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L05 — L05.1: Linear vs. Anti-Linear Operators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274320" y="54864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B7A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Taxonomy of maps on Hilbert space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228600" y="822960"/>
            <a:ext cx="5212080" cy="4023360"/>
          </a:xfrm>
          <a:prstGeom prst="rect">
            <a:avLst/>
          </a:prstGeom>
          <a:solidFill>
            <a:srgbClr val="F0F4F8"/>
          </a:solidFill>
          <a:ln w="12700">
            <a:solidFill>
              <a:srgbClr val="D0DCE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28600" y="822960"/>
            <a:ext cx="45720" cy="402336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11480" y="896112"/>
            <a:ext cx="48920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 AND ANTI-LINEAR OPERATORS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411480" y="1133856"/>
            <a:ext cx="48920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Linear: Â(α|φ⟩+β|ψ⟩) = αÂ|φ⟩+βÂ|ψ⟩. All operators studied so far.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Anti-linear: Θ̂(α|φ⟩+β|ψ⟩) = α*Θ̂|φ⟩+β*Θ̂|ψ⟩.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key difference: anti-linear maps conjugate complex coefficients. Complex conjugation K itself is the prototype: K(ψ(x)) = ψ*(x).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411480" y="1883664"/>
            <a:ext cx="48920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UNITARY AND ANTI-UNITARY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411480" y="2121408"/>
            <a:ext cx="48920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Unitary Û: linear + ⟨Ûφ|Ûψ⟩ = ⟨φ|ψ⟩.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Anti-unitary Θ̂: anti-linear + ⟨Θ̂φ|Θ̂ψ⟩ = ⟨ψ|φ⟩ = ⟨φ|ψ⟩*.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preserve transition probabilities: |⟨Θ̂φ|Θ̂ψ⟩| = |⟨ψ|φ⟩| = |⟨φ|ψ⟩|. Only anti-unitary operators can implement discrete symmetries like time-reversal.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411480" y="2871216"/>
            <a:ext cx="48920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CANONICAL ANTI-UNITARY: COMPLEX CONJUGATION K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411480" y="3108960"/>
            <a:ext cx="48920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K: L²(ℝ) → L²(ℝ), ψ(x) ↦ ψ*(x).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 is anti-linear: K(αψ) = α*ψ*.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 is anti-unitary: ⟨Kφ|Kψ⟩ = ∫φ(x)ψ*(x)dx = ⟨ψ|φ⟩. ✓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K² = 1̂. For time-reversal of spin-1/2: Θ̂ = iσ_y K (gives Θ̂² = −1̂).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411480" y="3858768"/>
            <a:ext cx="48920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ANTI-UNITARY FOR TIME-REVERSAL?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411480" y="4096512"/>
            <a:ext cx="48920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 t → −t: Schrödinger equation iℏ∂_t|ψ⟩ = Ĥ|ψ⟩ becomes −iℏ∂_t|ψ(-t)⟩ = Ĥ|ψ(−t)⟩, i.e. iℏ∂_t|ψ'⟩ = Ĥ|ψ'⟩ where |ψ'(t)⟩ = |ψ(−t)⟩*. The complex conjugation is necessary — a linear unitary cannot implement time-reversal while preserving the Schrödinger equation.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5577840" y="822960"/>
            <a:ext cx="3291840" cy="1463040"/>
          </a:xfrm>
          <a:prstGeom prst="rect">
            <a:avLst/>
          </a:prstGeom>
          <a:solidFill>
            <a:srgbClr val="F0F4F8"/>
          </a:solidFill>
          <a:ln w="12700">
            <a:solidFill>
              <a:srgbClr val="D0DCE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577840" y="822960"/>
            <a:ext cx="45720" cy="1463040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742432" y="896112"/>
            <a:ext cx="30632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FORMULA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5760720" y="1152144"/>
            <a:ext cx="301752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Linear: Â(α|φ⟩) = αÂ|φ⟩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Anti-linear: Θ̂(α|φ⟩) = α*Θ̂|φ⟩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Anti-unitary: ⟨Θ̂φ|Θ̂ψ⟩ = ⟨ψ|φ⟩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K: ψ(x) ↦ ψ*(x)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5577840" y="2377440"/>
            <a:ext cx="3291840" cy="2468880"/>
          </a:xfrm>
          <a:prstGeom prst="rect">
            <a:avLst/>
          </a:prstGeom>
          <a:solidFill>
            <a:srgbClr val="F0F4F8"/>
          </a:solidFill>
          <a:ln w="12700">
            <a:solidFill>
              <a:srgbClr val="D0DCE8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577840" y="2377440"/>
            <a:ext cx="45720" cy="2468880"/>
          </a:xfrm>
          <a:prstGeom prst="rect">
            <a:avLst/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742432" y="2450592"/>
            <a:ext cx="30632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WORKED EXAMPLE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5760720" y="2706624"/>
            <a:ext cx="3017520" cy="2057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Time-reversal for spin-1/2: Θ̂ = iσ_yK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 on |+⟩ = (1,0)ᵀ: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K|+⟩ = |+⟩ (real vector), then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iσ_y|+⟩ = i·[[0,−i],[i,0]]·(1,0)ᵀ = (0,1)ᵀ = |−⟩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Θ̂|+⟩ = |−⟩, Θ̂|−⟩ = −|+⟩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Θ̂²|+⟩ = Θ̂|−⟩ = −|+⟩ ⟹ Θ̂² = −1̂ ✓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274320" y="489204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AAA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Module I.1 — L05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6858000" y="4892040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AAA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L05 · L05.1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595360" y="45720"/>
            <a:ext cx="502920" cy="274320"/>
          </a:xfrm>
          <a:prstGeom prst="rect">
            <a:avLst/>
          </a:prstGeom>
          <a:solidFill>
            <a:srgbClr val="E8F0F8"/>
          </a:solidFill>
          <a:ln w="12700">
            <a:solidFill>
              <a:srgbClr val="E8F0F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595360" y="45720"/>
            <a:ext cx="502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3A6E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L05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274320" y="137160"/>
            <a:ext cx="8321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A2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L05 — L05.2: Wigner's Theorem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274320" y="54864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B7A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quantum symmetry is unitary or anti-unitary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228600" y="822960"/>
            <a:ext cx="5212080" cy="4023360"/>
          </a:xfrm>
          <a:prstGeom prst="rect">
            <a:avLst/>
          </a:prstGeom>
          <a:solidFill>
            <a:srgbClr val="F0F4F8"/>
          </a:solidFill>
          <a:ln w="12700">
            <a:solidFill>
              <a:srgbClr val="D0DCE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28600" y="822960"/>
            <a:ext cx="45720" cy="402336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11480" y="896112"/>
            <a:ext cx="48920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STATEMENT OF WIGNER'S THEOREM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411480" y="1133856"/>
            <a:ext cx="489204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 T: PH → PH be a bijection on projective Hilbert space (the space of rays) that preserves transition probabilities: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|⟨φ|ψ⟩|² → |⟨Tφ|Tψ⟩|² = |⟨φ|ψ⟩|².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Then T is implemented by an operator on H that is either unitary or anti-unitary, uniquely up to a global phase.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411480" y="1929384"/>
            <a:ext cx="48920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IS THIS THEOREM NEEDED?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411480" y="2167128"/>
            <a:ext cx="48920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priori, a symmetry is defined on the space of rays PH = H/U(1), not on H itself. Wigner's theorem 'lifts' the symmetry from PH back to H, showing that all quantum symmetries fit neatly into two categories: unitary (for continuous symmetries) and anti-unitary (for certain discrete symmetries like time-reversal).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411480" y="2916936"/>
            <a:ext cx="48920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PROOF STRATEGY (SKETCH)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411480" y="3154680"/>
            <a:ext cx="4892040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1: Fix an orthonormal basis {|eₙ⟩} and its image {|e'ₙ⟩ = T|eₙ⟩}.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2: Use probability preservation to show T is either linear or anti-linear on the basis.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3: Show the action on the basis extends consistently to all of H by linearity/anti-linearity.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4: Inner product preservation follows from probability preservation.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411480" y="3922776"/>
            <a:ext cx="48920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PHYSICAL SIGNIFICANCE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411480" y="4160520"/>
            <a:ext cx="48920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Wigner's theorem guarantees that the mathematical framework (unitary/anti-unitary operators) is complete — no exotic symmetries can exist outside this classification. This underpins all of representation theory in QM and the classification of particles by symmetry groups.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5577840" y="822960"/>
            <a:ext cx="3291840" cy="1463040"/>
          </a:xfrm>
          <a:prstGeom prst="rect">
            <a:avLst/>
          </a:prstGeom>
          <a:solidFill>
            <a:srgbClr val="F0F4F8"/>
          </a:solidFill>
          <a:ln w="12700">
            <a:solidFill>
              <a:srgbClr val="D0DCE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577840" y="822960"/>
            <a:ext cx="45720" cy="1463040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742432" y="896112"/>
            <a:ext cx="30632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FORMULA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5760720" y="1152144"/>
            <a:ext cx="301752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|⟨Tφ|Tψ⟩|² = |⟨φ|ψ⟩|²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 = Û (unitary) OR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 = Θ̂ (anti-unitary)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Unique up to global phase e^(iα)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5577840" y="2377440"/>
            <a:ext cx="3291840" cy="2468880"/>
          </a:xfrm>
          <a:prstGeom prst="rect">
            <a:avLst/>
          </a:prstGeom>
          <a:solidFill>
            <a:srgbClr val="F0F4F8"/>
          </a:solidFill>
          <a:ln w="12700">
            <a:solidFill>
              <a:srgbClr val="D0DCE8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577840" y="2377440"/>
            <a:ext cx="45720" cy="2468880"/>
          </a:xfrm>
          <a:prstGeom prst="rect">
            <a:avLst/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742432" y="2450592"/>
            <a:ext cx="30632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WORKED EXAMPLE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5760720" y="2706624"/>
            <a:ext cx="3017520" cy="2057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 parity P̂ is unitary: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P̂: ψ(x) ↦ ψ(−x) on L²(ℝ)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P̂ is linear (no conjugation) ✓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⟨P̂φ|P̂ψ⟩ = ∫φ*(−x)ψ(−x)dx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∫φ*(y)ψ(y)dy = ⟨φ|ψ⟩ ✓ (unitary)</a:t>
            </a:r>
            <a:endParaRPr lang="en-US" sz="1000" dirty="0"/>
          </a:p>
          <a:p>
            <a:pPr indent="0" marL="0">
              <a:buNone/>
            </a:pPr>
            <a:r>
              <a:rPr lang="en-US" sz="85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─ Time-reversal Θ̂: anti-linear ⟹ anti-unitary ✓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274320" y="489204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AAA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Module I.1 — L05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6858000" y="4892040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AAA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L05 · L05.2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595360" y="45720"/>
            <a:ext cx="502920" cy="274320"/>
          </a:xfrm>
          <a:prstGeom prst="rect">
            <a:avLst/>
          </a:prstGeom>
          <a:solidFill>
            <a:srgbClr val="E8F0F8"/>
          </a:solidFill>
          <a:ln w="12700">
            <a:solidFill>
              <a:srgbClr val="E8F0F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595360" y="45720"/>
            <a:ext cx="502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3A6E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L05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274320" y="137160"/>
            <a:ext cx="8321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A2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L05 — L05.3: Projectors and Projection Operators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274320" y="54864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B7A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Rank-1 projectors, idempotency, and the identity decomposition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228600" y="822960"/>
            <a:ext cx="5212080" cy="4023360"/>
          </a:xfrm>
          <a:prstGeom prst="rect">
            <a:avLst/>
          </a:prstGeom>
          <a:solidFill>
            <a:srgbClr val="F0F4F8"/>
          </a:solidFill>
          <a:ln w="12700">
            <a:solidFill>
              <a:srgbClr val="D0DCE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28600" y="822960"/>
            <a:ext cx="45720" cy="402336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11480" y="896112"/>
            <a:ext cx="48920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DEFINITION: PROJECTOR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411480" y="1133856"/>
            <a:ext cx="489204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P̂ is a projector (or projection operator) if P̂² = P̂ (idempotent) and P̂† = P̂ (Hermitian). The rank of P̂ is the dimension of its range (image space). Rank-1 projector: P̂ = |φ⟩⟨φ| for normalised |φ⟩.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411480" y="1837944"/>
            <a:ext cx="48920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PROPERTIES OF RANK-1 PROJECTORS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411480" y="2075688"/>
            <a:ext cx="48920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P̂² = (|φ⟩⟨φ|)(|φ⟩⟨φ|) = |φ⟩⟨φ|φ⟩⟨φ| = |φ⟩·1·⟨φ| = P̂ ✓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P̂† = (|φ⟩⟨φ|)† = |φ⟩⟨φ| = P̂ ✓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Eigenvalues: P̂|φ⟩ = |φ⟩ (eigenvalue 1); P̂|ψ⊥⟩ = 0 (eigenvalue 0 for ⟨φ|ψ⊥⟩=0).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411480" y="2825496"/>
            <a:ext cx="48920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PHYSICAL INTERPRETATION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411480" y="3063240"/>
            <a:ext cx="489204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P̂_φ = |φ⟩⟨φ| projects any state |ψ⟩ onto the subspace spanned by |φ⟩: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P̂|ψ⟩ = |φ⟩⟨φ|ψ⟩ = ⟨φ|ψ⟩|φ⟩.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probability of finding state |φ⟩ when measuring: ⟨ψ|P̂|ψ⟩ = |⟨φ|ψ⟩|² = P(outcome = φ).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411480" y="3767328"/>
            <a:ext cx="48920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ORTHOGONAL PROJECTORS AND COMPLETENESS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411480" y="4005072"/>
            <a:ext cx="489204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{|aₙ⟩} is an orthonormal basis: P̂ₙ = |aₙ⟩⟨aₙ| form orthogonal projectors: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P̂ₙP̂ₘ = δₙₘP̂ₙ, Σₙ P̂ₙ = 1̂.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Hermitian operator decomposes as Â = ΣaₙP̂ₙ — this is the spectral theorem in projector language.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5577840" y="822960"/>
            <a:ext cx="3291840" cy="1463040"/>
          </a:xfrm>
          <a:prstGeom prst="rect">
            <a:avLst/>
          </a:prstGeom>
          <a:solidFill>
            <a:srgbClr val="F0F4F8"/>
          </a:solidFill>
          <a:ln w="12700">
            <a:solidFill>
              <a:srgbClr val="D0DCE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577840" y="822960"/>
            <a:ext cx="45720" cy="1463040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742432" y="896112"/>
            <a:ext cx="30632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FORMULA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5760720" y="1152144"/>
            <a:ext cx="301752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P̂ = |φ⟩⟨φ|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P̂² = P̂ (idempotent)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P̂† = P̂ (Hermitian)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σ(P̂) = {0, 1}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⟨ψ|P̂|ψ⟩ = |⟨φ|ψ⟩|²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5577840" y="2377440"/>
            <a:ext cx="3291840" cy="2468880"/>
          </a:xfrm>
          <a:prstGeom prst="rect">
            <a:avLst/>
          </a:prstGeom>
          <a:solidFill>
            <a:srgbClr val="F0F4F8"/>
          </a:solidFill>
          <a:ln w="12700">
            <a:solidFill>
              <a:srgbClr val="D0DCE8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577840" y="2377440"/>
            <a:ext cx="45720" cy="2468880"/>
          </a:xfrm>
          <a:prstGeom prst="rect">
            <a:avLst/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742432" y="2450592"/>
            <a:ext cx="30632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WORKED EXAMPLE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5760720" y="2706624"/>
            <a:ext cx="3017520" cy="2057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P̂ = |+x⟩⟨+x| where |+x⟩ = (|+⟩+|−⟩)/√2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matrix form: P̂ = [[1/2, 1/2],[1/2, 1/2]]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P̂² = [[1/2,1/2],[1/2,1/2]]² = [[1/2,1/2],[1/2,1/2]] = P̂ ✓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P̂† = (P̂*)ᵀ = [[1/2,1/2],[1/2,1/2]] = P̂ ✓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Eigenvalues: char. poly λ(λ−1)=0 → {0,1} ✓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274320" y="489204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AAA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Module I.1 — L05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6858000" y="4892040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AAA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L05 · L05.3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595360" y="45720"/>
            <a:ext cx="502920" cy="274320"/>
          </a:xfrm>
          <a:prstGeom prst="rect">
            <a:avLst/>
          </a:prstGeom>
          <a:solidFill>
            <a:srgbClr val="E8F0F8"/>
          </a:solidFill>
          <a:ln w="12700">
            <a:solidFill>
              <a:srgbClr val="E8F0F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595360" y="45720"/>
            <a:ext cx="502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3A6E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L05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274320" y="137160"/>
            <a:ext cx="8321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A2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L05 — L05.4: Time-Reversal and Kramers' Theorem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274320" y="54864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B7A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Anti-unitary symmetries and symmetry-protected degeneracy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228600" y="822960"/>
            <a:ext cx="5212080" cy="4023360"/>
          </a:xfrm>
          <a:prstGeom prst="rect">
            <a:avLst/>
          </a:prstGeom>
          <a:solidFill>
            <a:srgbClr val="F0F4F8"/>
          </a:solidFill>
          <a:ln w="12700">
            <a:solidFill>
              <a:srgbClr val="D0DCE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28600" y="822960"/>
            <a:ext cx="45720" cy="402336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11480" y="896112"/>
            <a:ext cx="48920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TIME-REVERSAL OPERATOR Θ̂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411480" y="1133856"/>
            <a:ext cx="489204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Time-reversal implements t → −t. For orbital (spinless) systems: Θ̂ = K (complex conjugation). For spin-1/2: Θ̂ = iσ_y K. Properties: Θ̂p̂Θ̂⁻¹ = −p̂, Θ̂x̂Θ̂⁻¹ = +x̂, Θ̂Ĵ Θ̂⁻¹ = −Ĵ.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411480" y="1837944"/>
            <a:ext cx="48920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Θ̂²: INTEGER VS. HALF-INTEGER SPIN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411480" y="2075688"/>
            <a:ext cx="489204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integer spin (bosons, orbital only): Θ̂² = +1̂.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half-integer spin (fermions, spin-1/2): Θ̂² = −1̂.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Proof for spin-1/2: Θ̂² = (iσ_yK)² = iσ_y(iσ_y)* = iσ_y·(−iσ_y) = σ_y² = ... = −1̂.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411480" y="2779776"/>
            <a:ext cx="48920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KRAMERS' THEOREM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411480" y="3017520"/>
            <a:ext cx="489204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Ĥ commutes with Θ̂ and Θ̂² = −1̂, then every energy eigenvalue is at least doubly degenerate (Kramers pair). Proof: Suppose Ĥ|E⟩ = E|E⟩. Then ĤΘ̂|E⟩ = Θ̂Ĥ|E⟩ = EΘ̂|E⟩. So Θ̂|E⟩ is also an eigenstate with energy E. Crucially ⟨E|Θ̂|E⟩ = 0 (Θ̂|E⟩ ≠ |E⟩) since Θ̂² = −1̂.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411480" y="3813048"/>
            <a:ext cx="48920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PHYSICAL CONSEQUENCES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411480" y="4050792"/>
            <a:ext cx="48920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Kramers degeneracy in atoms: spin-orbit coupled states are doubly degenerate for odd-electron systems. In condensed matter: topological insulators protected by TRS with Θ̂² = −1. Splitting Kramers pairs requires TRS-breaking (magnetic field, magnetic impurities).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5577840" y="822960"/>
            <a:ext cx="3291840" cy="1463040"/>
          </a:xfrm>
          <a:prstGeom prst="rect">
            <a:avLst/>
          </a:prstGeom>
          <a:solidFill>
            <a:srgbClr val="F0F4F8"/>
          </a:solidFill>
          <a:ln w="12700">
            <a:solidFill>
              <a:srgbClr val="D0DCE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577840" y="822960"/>
            <a:ext cx="45720" cy="1463040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742432" y="896112"/>
            <a:ext cx="30632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FORMULA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5760720" y="1152144"/>
            <a:ext cx="301752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Θ̂ = iσ_yK (spin-1/2)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Θ̂²= +1̂ (integer spin)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Θ̂² = −1̂ (half-integer spin)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⟨E|Θ̂|E⟩ = 0 (Kramers)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5577840" y="2377440"/>
            <a:ext cx="3291840" cy="2468880"/>
          </a:xfrm>
          <a:prstGeom prst="rect">
            <a:avLst/>
          </a:prstGeom>
          <a:solidFill>
            <a:srgbClr val="F0F4F8"/>
          </a:solidFill>
          <a:ln w="12700">
            <a:solidFill>
              <a:srgbClr val="D0DCE8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577840" y="2377440"/>
            <a:ext cx="45720" cy="2468880"/>
          </a:xfrm>
          <a:prstGeom prst="rect">
            <a:avLst/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742432" y="2450592"/>
            <a:ext cx="30632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WORKED EXAMPLE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5760720" y="2706624"/>
            <a:ext cx="3017520" cy="2057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Kramers pair verification for H₂ molecule (2 electrons):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Time-reversal: Θ̂ = iσ_y⊗iσ_y K (both spins)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Θ̂² = (−1̂)⊗(−1̂) = +1̂ (even electron count!)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⟹ No Kramers degeneracy for H₂ (integer total spin)</a:t>
            </a:r>
            <a:endParaRPr lang="en-US" sz="1000" dirty="0"/>
          </a:p>
          <a:p>
            <a:pPr indent="0" marL="0">
              <a:buNone/>
            </a:pPr>
            <a:r>
              <a:rPr lang="en-US" sz="85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─ But H₂⁺ (1 electron): Θ̂² = −1̂ → Kramers pairs!</a:t>
            </a:r>
            <a:endParaRPr lang="en-US" sz="1000" dirty="0"/>
          </a:p>
          <a:p>
            <a:pPr indent="0" marL="0">
              <a:buNone/>
            </a:pPr>
            <a:r>
              <a:rPr lang="en-US" sz="85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─ Spin-1/2 energy levels always doubly degenerate if [Ĥ,Θ̂]=0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274320" y="489204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AAA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Module I.1 — L05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6858000" y="4892040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AAA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L05 · L05.4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595360" y="45720"/>
            <a:ext cx="502920" cy="27432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595360" y="45720"/>
            <a:ext cx="502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5B9B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L05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11D2E"/>
          </a:solidFill>
          <a:ln w="12700">
            <a:solidFill>
              <a:srgbClr val="111D2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" y="137160"/>
            <a:ext cx="822960" cy="384048"/>
          </a:xfrm>
          <a:prstGeom prst="roundRect">
            <a:avLst>
              <a:gd name="adj" fmla="val 11905"/>
            </a:avLst>
          </a:prstGeom>
          <a:solidFill>
            <a:srgbClr val="F4C430"/>
          </a:solidFill>
          <a:ln w="12700">
            <a:solidFill>
              <a:srgbClr val="F4C43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137160"/>
            <a:ext cx="822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234440" y="137160"/>
            <a:ext cx="5486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L05 — High School Track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234440" y="484632"/>
            <a:ext cx="7589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7B8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Types of Symmetry Operators and Wigner's Theorem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228600" y="749808"/>
            <a:ext cx="4297680" cy="1828800"/>
          </a:xfrm>
          <a:prstGeom prst="rect">
            <a:avLst/>
          </a:prstGeom>
          <a:solidFill>
            <a:srgbClr val="162236"/>
          </a:solidFill>
          <a:ln w="19050">
            <a:solidFill>
              <a:srgbClr val="1E3A5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38328" y="841248"/>
            <a:ext cx="4078224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F4C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OBJECTIVES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365760" y="1097280"/>
            <a:ext cx="402336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 symmetry as 'physics looks the same'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Describe time-reversal as running a film backwards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which operations are unitary (rotations, translations) vs. anti-unitary (time-reversal)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 P̂² for a given projector matrix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228600" y="2651760"/>
            <a:ext cx="4297680" cy="2148840"/>
          </a:xfrm>
          <a:prstGeom prst="rect">
            <a:avLst/>
          </a:prstGeom>
          <a:solidFill>
            <a:srgbClr val="0A1628"/>
          </a:solidFill>
          <a:ln w="19050">
            <a:solidFill>
              <a:srgbClr val="1E3A5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38328" y="2743200"/>
            <a:ext cx="4078224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WORKED EXAMPLE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365760" y="2999232"/>
            <a:ext cx="4023360" cy="1691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B8D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P̂ = |+⟩⟨+| = [[1,0],[0,0]]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B8D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P̂² = [[1,0],[0,0]]² = [[1,0],[0,0]] = P̂ ✓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B8D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P̂ projects onto the |+⟩ state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B8D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Action: P̂|+⟩ = |+⟩, P̂|−⟩ = 0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4663440" y="749808"/>
            <a:ext cx="4251960" cy="1828800"/>
          </a:xfrm>
          <a:prstGeom prst="rect">
            <a:avLst/>
          </a:prstGeom>
          <a:solidFill>
            <a:srgbClr val="162236"/>
          </a:solidFill>
          <a:ln w="19050">
            <a:solidFill>
              <a:srgbClr val="1E3A5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773168" y="841248"/>
            <a:ext cx="4032504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SET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4800600" y="1097280"/>
            <a:ext cx="397764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P1: Verify P̂² = P̂ for P̂ = |−x⟩⟨−x|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P2: Is rotation unitary or anti-unitary? Explain.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P3: What does time-reversal do to a particle moving rightward?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4663440" y="2651760"/>
            <a:ext cx="4251960" cy="2148840"/>
          </a:xfrm>
          <a:prstGeom prst="rect">
            <a:avLst/>
          </a:prstGeom>
          <a:solidFill>
            <a:srgbClr val="0A1628"/>
          </a:solidFill>
          <a:ln w="19050">
            <a:solidFill>
              <a:srgbClr val="1E3A5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773168" y="2743200"/>
            <a:ext cx="4032504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EXTENSIONS &amp; DEPTH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4800600" y="2999232"/>
            <a:ext cx="3977640" cy="1691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B8D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Connection to measurement: projectors implement quantum measurements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B8D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Physical role of Kramers pairs in electron spin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274320" y="489204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Module I.1 — L05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6858000" y="4892040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L05 · HS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595360" y="45720"/>
            <a:ext cx="502920" cy="27432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595360" y="45720"/>
            <a:ext cx="502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5B9B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L05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11D2E"/>
          </a:solidFill>
          <a:ln w="12700">
            <a:solidFill>
              <a:srgbClr val="111D2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" y="137160"/>
            <a:ext cx="822960" cy="384048"/>
          </a:xfrm>
          <a:prstGeom prst="roundRect">
            <a:avLst>
              <a:gd name="adj" fmla="val 11905"/>
            </a:avLst>
          </a:prstGeom>
          <a:solidFill>
            <a:srgbClr val="4CAF7D"/>
          </a:solidFill>
          <a:ln w="12700">
            <a:solidFill>
              <a:srgbClr val="4CAF7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137160"/>
            <a:ext cx="822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BegUG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234440" y="137160"/>
            <a:ext cx="5486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L05 — Beg. UG Track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234440" y="484632"/>
            <a:ext cx="7589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7B8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Types of Symmetry Operators and Wigner's Theorem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228600" y="749808"/>
            <a:ext cx="4297680" cy="1828800"/>
          </a:xfrm>
          <a:prstGeom prst="rect">
            <a:avLst/>
          </a:prstGeom>
          <a:solidFill>
            <a:srgbClr val="162236"/>
          </a:solidFill>
          <a:ln w="19050">
            <a:solidFill>
              <a:srgbClr val="1E3A5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38328" y="841248"/>
            <a:ext cx="4078224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4CAF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OBJECTIVES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365760" y="1097280"/>
            <a:ext cx="402336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 P̂² = P̂ for rank-1 projectors explicitly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 P̂ is Hermitian for given ket vectors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Classify common operators as linear/unitary vs. anti-linear/anti-unitary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Θ̂² from integer/half-integer spin classification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228600" y="2651760"/>
            <a:ext cx="4297680" cy="2148840"/>
          </a:xfrm>
          <a:prstGeom prst="rect">
            <a:avLst/>
          </a:prstGeom>
          <a:solidFill>
            <a:srgbClr val="0A1628"/>
          </a:solidFill>
          <a:ln w="19050">
            <a:solidFill>
              <a:srgbClr val="1E3A5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38328" y="2743200"/>
            <a:ext cx="4078224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WORKED EXAMPLE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365760" y="2999232"/>
            <a:ext cx="4023360" cy="1691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B8D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P̂ = |ψ⟩⟨ψ| where |ψ⟩ = (α,β)ᵀ, |α|²+|β|²=1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B8D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P̂ = [[|α|², αβ*],[α*β, |β|²]]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B8D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P̂² = P̂ (use |α|²+|β|²=1 to verify)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B8D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P̂† = P̂ (matrix is Hermitian by construction)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4663440" y="749808"/>
            <a:ext cx="4251960" cy="1828800"/>
          </a:xfrm>
          <a:prstGeom prst="rect">
            <a:avLst/>
          </a:prstGeom>
          <a:solidFill>
            <a:srgbClr val="162236"/>
          </a:solidFill>
          <a:ln w="19050">
            <a:solidFill>
              <a:srgbClr val="1E3A5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773168" y="841248"/>
            <a:ext cx="4032504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SET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4800600" y="1097280"/>
            <a:ext cx="397764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P1: Verify P̂² = P̂ for |ψ⟩ = (3|+⟩+4i|−⟩)/5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P2: Show P̂₊ + P̂₋ = 1̂ where P̂± = |±⟩⟨±|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P3: Classify: K (conjugation), Û(θ) (rotation), e^(iĤt) — unitary or anti-unitary?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4663440" y="2651760"/>
            <a:ext cx="4251960" cy="2148840"/>
          </a:xfrm>
          <a:prstGeom prst="rect">
            <a:avLst/>
          </a:prstGeom>
          <a:solidFill>
            <a:srgbClr val="0A1628"/>
          </a:solidFill>
          <a:ln w="19050">
            <a:solidFill>
              <a:srgbClr val="1E3A5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773168" y="2743200"/>
            <a:ext cx="4032504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EXTENSIONS &amp; DEPTH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4800600" y="2999232"/>
            <a:ext cx="3977640" cy="1691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B8D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Completeness: Σₙ P̂ₙ = 1̂ from orthonormal basis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B8D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Connection to density matrices: ρ̂ = Σₙ pₙP̂ₙ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274320" y="489204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Module I.1 — L05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6858000" y="4892040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L05 · BegUG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595360" y="45720"/>
            <a:ext cx="502920" cy="27432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595360" y="45720"/>
            <a:ext cx="502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5B9B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L05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11D2E"/>
          </a:solidFill>
          <a:ln w="12700">
            <a:solidFill>
              <a:srgbClr val="111D2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" y="137160"/>
            <a:ext cx="822960" cy="384048"/>
          </a:xfrm>
          <a:prstGeom prst="roundRect">
            <a:avLst>
              <a:gd name="adj" fmla="val 11905"/>
            </a:avLst>
          </a:prstGeom>
          <a:solidFill>
            <a:srgbClr val="5B9BD5"/>
          </a:solidFill>
          <a:ln w="12700">
            <a:solidFill>
              <a:srgbClr val="5B9BD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137160"/>
            <a:ext cx="822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AdvUG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234440" y="137160"/>
            <a:ext cx="5486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L05 — Adv. UG Track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234440" y="484632"/>
            <a:ext cx="7589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7B8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Types of Symmetry Operators and Wigner's Theorem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228600" y="749808"/>
            <a:ext cx="4297680" cy="1828800"/>
          </a:xfrm>
          <a:prstGeom prst="rect">
            <a:avLst/>
          </a:prstGeom>
          <a:solidFill>
            <a:srgbClr val="162236"/>
          </a:solidFill>
          <a:ln w="19050">
            <a:solidFill>
              <a:srgbClr val="1E3A5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38328" y="841248"/>
            <a:ext cx="4078224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5B9B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OBJECTIVES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365760" y="1097280"/>
            <a:ext cx="402336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Prove eigenvalues of any projector are exactly {0,1}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Construct orthogonal projector decomposition of identity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Derive ⟨ψ|P̂_φ|ψ⟩ = |⟨φ|ψ⟩|² and interpret as Born rule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Prove Θ̂|E⟩ is orthogonal to |E⟩ when Θ̂² = −1̂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228600" y="2651760"/>
            <a:ext cx="4297680" cy="2148840"/>
          </a:xfrm>
          <a:prstGeom prst="rect">
            <a:avLst/>
          </a:prstGeom>
          <a:solidFill>
            <a:srgbClr val="0A1628"/>
          </a:solidFill>
          <a:ln w="19050">
            <a:solidFill>
              <a:srgbClr val="1E3A5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38328" y="2743200"/>
            <a:ext cx="4078224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WORKED EXAMPLE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365760" y="2999232"/>
            <a:ext cx="4023360" cy="1691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B8D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Prove eigenvalues of P̂ are 0 and 1: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B8D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P̂² = P̂ ⟹ P̂²|v⟩ = P̂|v⟩ ⟹ λ²|v⟩ = λ|v⟩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B8D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λ(λ−1) = 0 ⟹ λ = 0 or λ = 1 □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B8D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Eigenvectors: P̂|φ⟩ = |φ⟩ (eigenvalue 1), P̂|ψ⟩ = 0 if ⟨φ|ψ⟩=0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4663440" y="749808"/>
            <a:ext cx="4251960" cy="1828800"/>
          </a:xfrm>
          <a:prstGeom prst="rect">
            <a:avLst/>
          </a:prstGeom>
          <a:solidFill>
            <a:srgbClr val="162236"/>
          </a:solidFill>
          <a:ln w="19050">
            <a:solidFill>
              <a:srgbClr val="1E3A5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773168" y="841248"/>
            <a:ext cx="4032504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SET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4800600" y="1097280"/>
            <a:ext cx="397764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P1: Prove eigenvalues of any projector are {0,1}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P2: Show ⟨ψ|P̂_φ|ψ⟩ = |⟨φ|ψ⟩|² ≥ 0 for all |ψ⟩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P3: Prove ⟨E|Θ̂|E⟩ = 0 when Θ̂² = −1̂ (Kramers)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4663440" y="2651760"/>
            <a:ext cx="4251960" cy="2148840"/>
          </a:xfrm>
          <a:prstGeom prst="rect">
            <a:avLst/>
          </a:prstGeom>
          <a:solidFill>
            <a:srgbClr val="0A1628"/>
          </a:solidFill>
          <a:ln w="19050">
            <a:solidFill>
              <a:srgbClr val="1E3A5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773168" y="2743200"/>
            <a:ext cx="4032504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EXTENSIONS &amp; DEPTH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4800600" y="2999232"/>
            <a:ext cx="3977640" cy="1691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B8D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Gleason's theorem: Born rule from projector algebra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B8D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Density matrices as mixed-state extensions of pure projectors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274320" y="489204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Module I.1 — L05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6858000" y="4892040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L05 · AdvUG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595360" y="45720"/>
            <a:ext cx="502920" cy="27432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595360" y="45720"/>
            <a:ext cx="502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5B9B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L05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11D2E"/>
          </a:solidFill>
          <a:ln w="12700">
            <a:solidFill>
              <a:srgbClr val="111D2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" y="137160"/>
            <a:ext cx="822960" cy="384048"/>
          </a:xfrm>
          <a:prstGeom prst="roundRect">
            <a:avLst>
              <a:gd name="adj" fmla="val 11905"/>
            </a:avLst>
          </a:prstGeom>
          <a:solidFill>
            <a:srgbClr val="9B72CF"/>
          </a:solidFill>
          <a:ln w="12700">
            <a:solidFill>
              <a:srgbClr val="9B72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137160"/>
            <a:ext cx="822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MSc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234440" y="137160"/>
            <a:ext cx="5486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L05 — MSc Track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234440" y="484632"/>
            <a:ext cx="7589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7B8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Types of Symmetry Operators and Wigner's Theorem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228600" y="749808"/>
            <a:ext cx="4297680" cy="1828800"/>
          </a:xfrm>
          <a:prstGeom prst="rect">
            <a:avLst/>
          </a:prstGeom>
          <a:solidFill>
            <a:srgbClr val="162236"/>
          </a:solidFill>
          <a:ln w="19050">
            <a:solidFill>
              <a:srgbClr val="1E3A5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38328" y="841248"/>
            <a:ext cx="4078224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9B72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OBJECTIVES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365760" y="1097280"/>
            <a:ext cx="402336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Wigner's theorem with precise hypotheses and conclusion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Prove that Θ̂² = ±1̂ for time-reversal depending on spin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projector algebra to compute spectral measures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Kramers' theorem and identify protected degeneracies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228600" y="2651760"/>
            <a:ext cx="4297680" cy="2148840"/>
          </a:xfrm>
          <a:prstGeom prst="rect">
            <a:avLst/>
          </a:prstGeom>
          <a:solidFill>
            <a:srgbClr val="0A1628"/>
          </a:solidFill>
          <a:ln w="19050">
            <a:solidFill>
              <a:srgbClr val="1E3A5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38328" y="2743200"/>
            <a:ext cx="4078224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WORKED EXAMPLE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365760" y="2999232"/>
            <a:ext cx="4023360" cy="1691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B8D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Prove Θ̂² = −1̂ for spin-1/2: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B8D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Θ̂ = iσ_y K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B8D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Θ̂² = (iσ_yK)(iσ_yK) = iσ_y·(iσ_yK)K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B8D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iσ_y·i(σ_yK)K = i²σ_y·σ_y·K² = −σ_y² = −1̂ □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4663440" y="749808"/>
            <a:ext cx="4251960" cy="1828800"/>
          </a:xfrm>
          <a:prstGeom prst="rect">
            <a:avLst/>
          </a:prstGeom>
          <a:solidFill>
            <a:srgbClr val="162236"/>
          </a:solidFill>
          <a:ln w="19050">
            <a:solidFill>
              <a:srgbClr val="1E3A5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773168" y="841248"/>
            <a:ext cx="4032504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SET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4800600" y="1097280"/>
            <a:ext cx="397764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P1: State Wigner's theorem; identify its hypotheses and conclusion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P2: Prove Θ̂² = +1̂ for spinless particles using Θ̂ = K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P3: Prove Kramers' theorem: Θ̂² = −1̂ ⟹ ⟨E|Θ̂|E⟩ = 0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4663440" y="2651760"/>
            <a:ext cx="4251960" cy="2148840"/>
          </a:xfrm>
          <a:prstGeom prst="rect">
            <a:avLst/>
          </a:prstGeom>
          <a:solidFill>
            <a:srgbClr val="0A1628"/>
          </a:solidFill>
          <a:ln w="19050">
            <a:solidFill>
              <a:srgbClr val="1E3A5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773168" y="2743200"/>
            <a:ext cx="4032504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EXTENSIONS &amp; DEPTH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4800600" y="2999232"/>
            <a:ext cx="3977640" cy="1691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B8D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Wigner's theorem and projective representations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B8D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Berry phase and its relation to time-reversal symmetry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274320" y="489204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Module I.1 — L05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6858000" y="4892040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L05 · MSc</a:t>
            </a:r>
            <a:endParaRPr lang="en-US" sz="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595360" y="45720"/>
            <a:ext cx="502920" cy="27432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595360" y="45720"/>
            <a:ext cx="502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5B9B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L05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11D2E"/>
          </a:solidFill>
          <a:ln w="12700">
            <a:solidFill>
              <a:srgbClr val="111D2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" y="137160"/>
            <a:ext cx="822960" cy="384048"/>
          </a:xfrm>
          <a:prstGeom prst="roundRect">
            <a:avLst>
              <a:gd name="adj" fmla="val 11905"/>
            </a:avLst>
          </a:prstGeom>
          <a:solidFill>
            <a:srgbClr val="E07B6A"/>
          </a:solidFill>
          <a:ln w="12700">
            <a:solidFill>
              <a:srgbClr val="E07B6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137160"/>
            <a:ext cx="822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PhD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234440" y="137160"/>
            <a:ext cx="5486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L05 — PhD Track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234440" y="484632"/>
            <a:ext cx="7589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7B8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Types of Symmetry Operators and Wigner's Theorem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228600" y="749808"/>
            <a:ext cx="4297680" cy="1828800"/>
          </a:xfrm>
          <a:prstGeom prst="rect">
            <a:avLst/>
          </a:prstGeom>
          <a:solidFill>
            <a:srgbClr val="162236"/>
          </a:solidFill>
          <a:ln w="19050">
            <a:solidFill>
              <a:srgbClr val="1E3A5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38328" y="841248"/>
            <a:ext cx="4078224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E07B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OBJECTIVES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365760" y="1097280"/>
            <a:ext cx="402336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Outline the full proof of Wigner's theorem via Uhlhorn's approach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Classify anti-unitary representations of discrete groups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Analyse the 10-fold way classification using TRS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 Kramers pairs to topological protection in condensed matter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228600" y="2651760"/>
            <a:ext cx="4297680" cy="2148840"/>
          </a:xfrm>
          <a:prstGeom prst="rect">
            <a:avLst/>
          </a:prstGeom>
          <a:solidFill>
            <a:srgbClr val="0A1628"/>
          </a:solidFill>
          <a:ln w="19050">
            <a:solidFill>
              <a:srgbClr val="1E3A5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38328" y="2743200"/>
            <a:ext cx="4078224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WORKED EXAMPLE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365760" y="2999232"/>
            <a:ext cx="4023360" cy="1691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B8D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Uhlhorn's theorem approach: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B8D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 preserves |⟨φ|ψ⟩|² = 0 (orthogonality)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B8D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⟹ T maps ONB to ONB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B8D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freedom used to construct Û or Θ̂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B8D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Key: T on basis → T on all H by linearity/anti-linearity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4663440" y="749808"/>
            <a:ext cx="4251960" cy="1828800"/>
          </a:xfrm>
          <a:prstGeom prst="rect">
            <a:avLst/>
          </a:prstGeom>
          <a:solidFill>
            <a:srgbClr val="162236"/>
          </a:solidFill>
          <a:ln w="19050">
            <a:solidFill>
              <a:srgbClr val="1E3A5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773168" y="841248"/>
            <a:ext cx="4032504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SET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4800600" y="1097280"/>
            <a:ext cx="397764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P1: Outline Uhlhorn's theorem and its role in Wigner's proof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P2: Classify symmetry classes in the 10-fold way using Θ̂², Ĉ²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4663440" y="2651760"/>
            <a:ext cx="4251960" cy="2148840"/>
          </a:xfrm>
          <a:prstGeom prst="rect">
            <a:avLst/>
          </a:prstGeom>
          <a:solidFill>
            <a:srgbClr val="0A1628"/>
          </a:solidFill>
          <a:ln w="19050">
            <a:solidFill>
              <a:srgbClr val="1E3A5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773168" y="2743200"/>
            <a:ext cx="4032504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EXTENSIONS &amp; DEPTH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4800600" y="2999232"/>
            <a:ext cx="3977640" cy="1691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B8D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K-theory classification of topological insulators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B8D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Spin-statistics theorem and its relation to time-reversal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274320" y="489204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Module I.1 — L05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6858000" y="4892040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L05 · PhD</a:t>
            </a:r>
            <a:endParaRPr lang="en-US" sz="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595360" y="45720"/>
            <a:ext cx="502920" cy="27432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595360" y="45720"/>
            <a:ext cx="502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5B9B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L05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274320" y="137160"/>
            <a:ext cx="8229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L05 — Common Pitfalls &amp; Misconceptions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274320" y="54864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7B8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Consolidated pitfalls across all tiers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228600" y="841248"/>
            <a:ext cx="4251960" cy="1691640"/>
          </a:xfrm>
          <a:prstGeom prst="rect">
            <a:avLst/>
          </a:prstGeom>
          <a:solidFill>
            <a:srgbClr val="162236"/>
          </a:solidFill>
          <a:ln w="19050">
            <a:solidFill>
              <a:srgbClr val="1E3A5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38328" y="932688"/>
            <a:ext cx="4032504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PITFALLS (A)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365760" y="1188720"/>
            <a:ext cx="3977640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Confusing anti-linear with non-linear — anti-linear maps are still additive, just with conjugated scalar multiplication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Assuming time-reversal is unitary — it cannot be: a unitary T with T Ĵ T⁻¹ = −Ĵ would require iT = −Ti, which is impossible for linear T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Confusing P̂² = P̂ (projector) with P̂² = 1̂ (involutory/Hermitian reflections)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663440" y="841248"/>
            <a:ext cx="4251960" cy="1691640"/>
          </a:xfrm>
          <a:prstGeom prst="rect">
            <a:avLst/>
          </a:prstGeom>
          <a:solidFill>
            <a:srgbClr val="162236"/>
          </a:solidFill>
          <a:ln w="19050">
            <a:solidFill>
              <a:srgbClr val="1E3A5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773168" y="932688"/>
            <a:ext cx="4032504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PITFALLS (B)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4800600" y="1188720"/>
            <a:ext cx="3977640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Forgetting that Θ̂² = +1̂ for integer spin and Θ̂² = −1̂ for half-integer spin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Applying Kramers' theorem for bosons (Θ̂² = +1̂) where it does NOT guarantee degeneracy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Confusing the rank of a projector (dimension of range) with its trace (sum of eigenvalues)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28600" y="2606040"/>
            <a:ext cx="4251960" cy="1325880"/>
          </a:xfrm>
          <a:prstGeom prst="rect">
            <a:avLst/>
          </a:prstGeom>
          <a:solidFill>
            <a:srgbClr val="162236"/>
          </a:solidFill>
          <a:ln w="19050">
            <a:solidFill>
              <a:srgbClr val="1E3A5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38328" y="2697480"/>
            <a:ext cx="4032504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HISTORICAL ANCHORS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365760" y="2953512"/>
            <a:ext cx="397764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Wigner (1931): Gruppentheorie — symmetry theorem and proof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Kramers (1930): double degeneracy for half-integer spin in time-reversal invariant systems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Uhlhorn (1963): simplified proof of Wigner's theorem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Kane &amp; Mele (2005): TRS-protected topological insulators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663440" y="2606040"/>
            <a:ext cx="4251960" cy="1325880"/>
          </a:xfrm>
          <a:prstGeom prst="rect">
            <a:avLst/>
          </a:prstGeom>
          <a:solidFill>
            <a:srgbClr val="162236"/>
          </a:solidFill>
          <a:ln w="19050">
            <a:solidFill>
              <a:srgbClr val="1E3A5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773168" y="2697480"/>
            <a:ext cx="4032504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FORMULA QUICK REFERENCE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4800600" y="2953512"/>
            <a:ext cx="397764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Anti-linear: Θ̂(α|φ⟩) = α*Θ̂|φ⟩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Anti-unitary: ⟨Θ̂φ|Θ̂ψ⟩ = ⟨ψ|φ⟩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Projector: P̂² = P̂, P̂† = P̂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Kramers: Θ̂²=−1̂, [Ĥ,Θ̂]=0 ⟹ 2-fold deg.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228600" y="4005072"/>
            <a:ext cx="8686800" cy="777240"/>
          </a:xfrm>
          <a:prstGeom prst="rect">
            <a:avLst/>
          </a:prstGeom>
          <a:solidFill>
            <a:srgbClr val="162236"/>
          </a:solidFill>
          <a:ln w="19050">
            <a:solidFill>
              <a:srgbClr val="1E3A5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38328" y="4096512"/>
            <a:ext cx="8467344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9B72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FORWARD CONNECTIONS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365760" y="4352544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← L01: Projectors P̂ₙ = |aₙ⟩⟨aₙ| appear in spectral decomposition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← L02: Unitary operators form one half of Wigner's classification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Future: anti-unitary symmetries in topological phases; CPT theorem in QFT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274320" y="489204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Module I.1 — L05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6858000" y="4892040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L05 · Pitfalls</a:t>
            </a:r>
            <a:endParaRPr lang="en-US" sz="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595360" y="45720"/>
            <a:ext cx="502920" cy="27432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595360" y="45720"/>
            <a:ext cx="502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5B9B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L05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274320" y="137160"/>
            <a:ext cx="8229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L05 — Assessment &amp; Homework Summary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274320" y="54864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7B8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Assessment artifact bundle — all tiers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228600" y="822960"/>
            <a:ext cx="1682496" cy="3566160"/>
          </a:xfrm>
          <a:prstGeom prst="rect">
            <a:avLst/>
          </a:prstGeom>
          <a:solidFill>
            <a:srgbClr val="162236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28600" y="822960"/>
            <a:ext cx="1682496" cy="256032"/>
          </a:xfrm>
          <a:prstGeom prst="rect">
            <a:avLst/>
          </a:prstGeom>
          <a:solidFill>
            <a:srgbClr val="F4C430"/>
          </a:solidFill>
          <a:ln w="12700">
            <a:solidFill>
              <a:srgbClr val="F4C43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28600" y="822960"/>
            <a:ext cx="168249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HS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301752" y="1115568"/>
            <a:ext cx="1536192" cy="32186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Problems: 3 simple + 1 advanced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(~1h): Projector matrix visualiser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(adv, ~2h): Time-reversal symmetry demo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Research: Why can time-reversal not be represented by a unitary operator?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1956816" y="822960"/>
            <a:ext cx="1682496" cy="3566160"/>
          </a:xfrm>
          <a:prstGeom prst="rect">
            <a:avLst/>
          </a:prstGeom>
          <a:solidFill>
            <a:srgbClr val="162236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956816" y="822960"/>
            <a:ext cx="1682496" cy="256032"/>
          </a:xfrm>
          <a:prstGeom prst="rect">
            <a:avLst/>
          </a:prstGeom>
          <a:solidFill>
            <a:srgbClr val="4CAF7D"/>
          </a:solidFill>
          <a:ln w="12700">
            <a:solidFill>
              <a:srgbClr val="4CAF7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956816" y="822960"/>
            <a:ext cx="168249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BegUG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2029968" y="1115568"/>
            <a:ext cx="1536192" cy="32186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Problems: 4 simple + 2 advanced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(~2h): Symmetry classifier for 2×2 matrices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(adv, ~3h): Kramers pair finder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Research: Verify that Θ̂ = iσ_yK satisfies Θ̂² = −1̂ and anti-unitarity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3685032" y="822960"/>
            <a:ext cx="1682496" cy="3566160"/>
          </a:xfrm>
          <a:prstGeom prst="rect">
            <a:avLst/>
          </a:prstGeom>
          <a:solidFill>
            <a:srgbClr val="162236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685032" y="822960"/>
            <a:ext cx="1682496" cy="256032"/>
          </a:xfrm>
          <a:prstGeom prst="rect">
            <a:avLst/>
          </a:prstGeom>
          <a:solidFill>
            <a:srgbClr val="5B9BD5"/>
          </a:solidFill>
          <a:ln w="12700">
            <a:solidFill>
              <a:srgbClr val="5B9BD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85032" y="822960"/>
            <a:ext cx="168249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AdvUG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3758184" y="1115568"/>
            <a:ext cx="1536192" cy="32186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Problems: 3 simple + 3 advanced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(~3h): Projector orthogonality verifier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(adv, ~6h): Kramers degeneracy for spin-orbit Hamiltonian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Research: Prove Kramers' theorem from Θ̂² = −1̂ and time-reversal invariance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5413248" y="822960"/>
            <a:ext cx="1682496" cy="3566160"/>
          </a:xfrm>
          <a:prstGeom prst="rect">
            <a:avLst/>
          </a:prstGeom>
          <a:solidFill>
            <a:srgbClr val="162236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413248" y="822960"/>
            <a:ext cx="1682496" cy="256032"/>
          </a:xfrm>
          <a:prstGeom prst="rect">
            <a:avLst/>
          </a:prstGeom>
          <a:solidFill>
            <a:srgbClr val="9B72CF"/>
          </a:solidFill>
          <a:ln w="12700">
            <a:solidFill>
              <a:srgbClr val="9B72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413248" y="822960"/>
            <a:ext cx="168249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MSc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5486400" y="1115568"/>
            <a:ext cx="1536192" cy="32186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Problems: 2 simple + 3 advanced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(~3h): Wigner's theorem classification checker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(adv, ~8h): TRS classification for the 10-fold way (simple cases)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Research: Wigner's theorem — statement, strategy of proof, and physical significance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7141464" y="822960"/>
            <a:ext cx="1682496" cy="3566160"/>
          </a:xfrm>
          <a:prstGeom prst="rect">
            <a:avLst/>
          </a:prstGeom>
          <a:solidFill>
            <a:srgbClr val="162236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141464" y="822960"/>
            <a:ext cx="1682496" cy="256032"/>
          </a:xfrm>
          <a:prstGeom prst="rect">
            <a:avLst/>
          </a:prstGeom>
          <a:solidFill>
            <a:srgbClr val="E07B6A"/>
          </a:solidFill>
          <a:ln w="12700">
            <a:solidFill>
              <a:srgbClr val="E07B6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141464" y="822960"/>
            <a:ext cx="168249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PhD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7214616" y="1115568"/>
            <a:ext cx="1536192" cy="32186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Problems: 2 simple + 3 advanced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(~4h): Uhlhorn's theorem study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(adv, ~15h): K-theory and topological classification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Research: Full proof of Wigner's theorem; connection to spin-statistics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228600" y="4480560"/>
            <a:ext cx="8686800" cy="594360"/>
          </a:xfrm>
          <a:prstGeom prst="rect">
            <a:avLst/>
          </a:prstGeom>
          <a:solidFill>
            <a:srgbClr val="162236"/>
          </a:solidFill>
          <a:ln w="19050">
            <a:solidFill>
              <a:srgbClr val="1E3A5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38328" y="4572000"/>
            <a:ext cx="8467344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HOMEWORK ASSIGNMENT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365760" y="4828032"/>
            <a:ext cx="8412480" cy="137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REQUIRED (all students): Problems from your track's Set A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HONOURS (optional): Set B problems from your track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PROJECT: Choose simple OR advanced track from your tier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RESEARCH: At least one well-defined question; open questions for MSc/PhD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274320" y="489204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Module I.1 — L05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6858000" y="4892040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L05 · Assessment</a:t>
            </a:r>
            <a:endParaRPr lang="en-US" sz="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595360" y="45720"/>
            <a:ext cx="502920" cy="27432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595360" y="45720"/>
            <a:ext cx="502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5B9B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L05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274320" y="137160"/>
            <a:ext cx="8229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L05 — References &amp; Bibliography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274320" y="54864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7B8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Historical, educational, and research-level reading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228600" y="841248"/>
            <a:ext cx="2743200" cy="3977640"/>
          </a:xfrm>
          <a:prstGeom prst="rect">
            <a:avLst/>
          </a:prstGeom>
          <a:solidFill>
            <a:srgbClr val="162236"/>
          </a:solidFill>
          <a:ln w="19050">
            <a:solidFill>
              <a:srgbClr val="1E3A5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38328" y="932688"/>
            <a:ext cx="2523744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TEXTBOOKS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365760" y="1188720"/>
            <a:ext cx="2468880" cy="3520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Sakurai &amp; Napolitano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Modern Quantum Mechanics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Ch. 4: Symmetries (§4.4 Time-Reversal)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─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Dirac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Principles of Quantum Mechanics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Ch. 29–30: Quantum Conditions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─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Weinberg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Quantum Theory of Fields, Vol. 1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Ch. 2: Relativistic Quantum Mechanics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108960" y="841248"/>
            <a:ext cx="2788920" cy="3977640"/>
          </a:xfrm>
          <a:prstGeom prst="rect">
            <a:avLst/>
          </a:prstGeom>
          <a:solidFill>
            <a:srgbClr val="162236"/>
          </a:solidFill>
          <a:ln w="19050">
            <a:solidFill>
              <a:srgbClr val="1E3A5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18688" y="932688"/>
            <a:ext cx="2569464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EDUCATIONAL REFERENCES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3246120" y="1188720"/>
            <a:ext cx="2514600" cy="3520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Ballentine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Quantum Mechanics: A Modern Development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Ch. 3: Kinematics and Dynamics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─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Tung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Theory in Physics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Ch. 8: Anti-linear representations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─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Altland &amp; Simons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Condensed Matter Field Theory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Ch. 9: Topological materials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035040" y="841248"/>
            <a:ext cx="2880360" cy="3977640"/>
          </a:xfrm>
          <a:prstGeom prst="rect">
            <a:avLst/>
          </a:prstGeom>
          <a:solidFill>
            <a:srgbClr val="162236"/>
          </a:solidFill>
          <a:ln w="19050">
            <a:solidFill>
              <a:srgbClr val="1E3A5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144768" y="932688"/>
            <a:ext cx="2660904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HISTORICAL &amp; RESEARCH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6172200" y="1188720"/>
            <a:ext cx="2606040" cy="3520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Wigner (1931)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Gruppentheorie und ihre Anwendung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↳ Original Wigner symmetry theorem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─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Kramers (1930)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General Theory of Paramagnetic Rotation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↳ First statement of Kramers' theorem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─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Uhlhorn (1963)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Darstellung der symmetrietransformationen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Arkiv för Fysik 23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↳ Simplified Wigner theorem proof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274320" y="489204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Module I.1 — L05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6858000" y="4892040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L05 · References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QM Module I.1 — L05: Types of Symmetry Operators and Wigner's Theorem</dc:title>
  <dc:subject>PptxGenJS Presentation</dc:subject>
  <dc:creator>QM/QC Programme — Module I.1</dc:creator>
  <cp:lastModifiedBy>QM/QC Programme — Module I.1</cp:lastModifiedBy>
  <cp:revision>1</cp:revision>
  <dcterms:created xsi:type="dcterms:W3CDTF">2026-04-26T13:21:40Z</dcterms:created>
  <dcterms:modified xsi:type="dcterms:W3CDTF">2026-04-26T13:21:40Z</dcterms:modified>
</cp:coreProperties>
</file>