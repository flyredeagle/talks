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914400"/>
            <a:ext cx="4114800" cy="4114800"/>
          </a:xfrm>
          <a:prstGeom prst="ellipse">
            <a:avLst/>
          </a:prstGeom>
          <a:solidFill>
            <a:srgbClr val="1B3055">
              <a:alpha val="60000"/>
            </a:srgbClr>
          </a:solidFill>
          <a:ln w="12700">
            <a:solidFill>
              <a:srgbClr val="1B3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-182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 —  MODULE I.1  —  HILBERT SPACE &amp; OPERATORS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Algebra and the Exponential Map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Non-commutativity, Matrix Exponentials, and BCH — Module I.1, Lecture 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3657600"/>
            <a:ext cx="685800" cy="246888"/>
          </a:xfrm>
          <a:prstGeom prst="roundRect">
            <a:avLst>
              <a:gd name="adj" fmla="val 18519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6576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Lecture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Algebra and the Exponential Map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20624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68680"/>
            <a:ext cx="4572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94183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97864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min: Operator arithmetic — sums, products, scalar multiples; non-commutativity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min: Functions of operators via power series and spectral decomposition; matrix exponential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 min: The map e^(iθÂ) for Hermitian Â: unitarity proof; one-parameter families; applications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Baker–Campbell–Hausdorff (BCH): e^Âe^B̂ = e^(Â+B̂+[Â,B̂]/2+...); applications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868680"/>
            <a:ext cx="434340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868680"/>
            <a:ext cx="45720" cy="1691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9418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1197864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operator arithmetic and recognise non-commutativity [Â,B̂] ≠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matrix exponentials via diagonalisation and power series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Û = e^(iθÂ) is unitary when Â is Hermitian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BCH lemma and apply it to first order in the commutator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of a matrix as infinite sum; rotation by small angles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56816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6816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48256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e^(iθσ_z); verify unitarity numerically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85032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76472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unitarity of e^(iθÂ) rigorously; derive BCH to first order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13248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04688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BCH series; Zassenhaus formula; group algebra correspondence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41464" y="2633472"/>
            <a:ext cx="1664208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2633472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32904" y="2926080"/>
            <a:ext cx="148132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of BCH in Banach algebras; Magnus expansion; quantum control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4023360"/>
            <a:ext cx="86410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4023360"/>
            <a:ext cx="45720" cy="822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409651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352544"/>
            <a:ext cx="8366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— compute e^(iθσ_z), e^(iφσ_y); verify unitarity; simple BCH applications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 — prove BCH to second order; derive Hadamard identity e^Â B̂ e^(−Â)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Projects: matrix exponential calculator with visualisation (simple); BCH vs. exact product comparison (complex)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Dual-Track Content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perspectives: Geometric/Physical  ↔  Algebraic/Axiomatic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41248"/>
            <a:ext cx="42519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TRACK — Step-by-Step Matrix Exponentials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e^A VIA DIAGONALISATION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39903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Â = UDU† with D = diag(λ₁,...,λₙ), then e^Â = U·diag(e^λ₁,...,e^λₙ)·U†. For 2×2 Pauli matrices: σₙ² = 1̂, so e^(iθσₙ) = cos(θ)1̂ + i sin(θ)σₙ — a rotation matrix!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574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e^(iθσ_z) — WORKED IN DETAIL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26771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σ_z = diag(1,−1): e^(iθσ_z) = diag(e^(iθ), e^(−iθ)). Verify: (e^(iθσ_z))(e^(iθσ_z))† = diag(e^(iθ),e^(−iθ))·diag(e^(−iθ),e^(iθ)) = 1̂. ✓ Unitary.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e^(iφσ_x) AND e^(iφσ_y)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3639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e^(iφσ_x) = [[cos φ, i sin φ],[i sin φ, cos φ]] — rotation by 2φ around x-axis. e^(iφσ_y) = [[cos φ, sin φ],[−sin φ, cos φ]] — rotation by 2φ around y-axis. The 2 arises because spin = ½.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APPLICATION: RABI OSCILLATIONS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00507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atom: Ĥ = (ℏΩ/2)σ_x. Evolution: Û(t) = e^(−iΩtσ_x/2) = cos(Ωt/2)1̂ − i sin(Ωt/2)σ_x. Starting in |↑⟩: P(|↓⟩) = sin²(Ωt/2) — Rabi oscillations.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841248"/>
            <a:ext cx="4251960" cy="39776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841248"/>
            <a:ext cx="42519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8412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 TRACK — Lie Brackets, BCH, and Operator Algebras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18872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ALGEBRA AND LIE BRACKET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39903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bounded operators B(H) forms an associative algebra under composition. The commutator [Â,B̂] = ÂB̂ − B̂Â is the Lie bracket, satisfying antisymmetry and Jacobi identity [[Â,B̂],Ĉ] + [[B̂,Ĉ],Â] + [[Ĉ,Â],B̂] = 0.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05740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BAKER–CAMPBELL–HAUSDORFF FORMULA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226771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e^Â e^B̂ = e^(Â+B̂+[Â,B̂]/2+([Â,[Â,B̂]]−[B̂,[Â,B̂]])/12+...). First-order BCH: if [Â,B̂] commutes with Â and B̂, then e^Â e^B̂ = e^(Â+B̂+[Â,B̂]/2).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HADAMARD IDENTITY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13639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e^Â B̂ e^(−Â) = B̂ + [Â,B̂] + [Â,[Â,B̂]]/2! + [Â,[Â,[Â,B̂]]]/3! +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'adjoint action' of e^Â on B̂. For finite-dimensional matrices, this series terminates (nilpotent case) or converges rapidly.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ZASSENHAUS FORMULA (DUAL)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400507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e^(Â+B̂) = e^Â e^B̂ e^(−[Â,B̂]/2) e^... . This is the 'reverse BCH'. First-order: e^(Â+B̂) ≈ e^Â e^B̂ e^(−[Â,B̂]/2). Used in Trotter product formula for quantum simulation.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Dual Track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L04.1: Operator Arithmetic and Non-Commutativity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algebra of quantum operators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ALGEBRA OPERATIONS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form a vector space under addition: (Â+B̂)|ψ⟩ = Â|ψ⟩ + B̂|ψ⟩. Multiplication (composition): (ÂB̂)|ψ⟩ = Â(B̂|ψ⟩). Scalar multiplication: (λÂ)|ψ⟩ = λ(Â|ψ⟩). Together: operators form an associative algebra.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3794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NON-COMMUTATIVITY AND THE COMMUTATOR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general ÂB̂ ≠ B̂Â. The commutator [Â,B̂] := ÂB̂ − B̂Â measures the failure of commutativity. Fundamental QM: [x̂,p̂] = iℏ — this single equation encodes Heisenberg uncertainty! [Ŝ_x,Ŝ_y] = iℏŜ_z for angular momentum.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2549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 ALGEBRA RULES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63240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[Â,B̂] = −[B̂,Â]  [antisymmetry]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[Â,B̂+Ĉ] = [Â,B̂] + [Â,Ĉ]  [linearity]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[Â,B̂Ĉ] = [Â,B̂]Ĉ + B̂[Â,Ĉ]  [Leibniz rule]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[Â,[B̂,Ĉ]] + [B̂,[Ĉ,Â]] + [Ĉ,[Â,B̂]] = 0  [Jacobi]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83133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ANTI-COMMUTATOR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690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anti-commutator {Â,B̂} := ÂB̂ + B̂Â satisfies {Â,B̂} = {B̂,Â}. Every product can be decomposed: ÂB̂ = ([Â,B̂] + {Â,B̂})/2. For Pauli matrices: {σᵢ,σⱼ} = 2δᵢⱼ1̂ and [σᵢ,σⱼ] = 2iεᵢⱼₖσₖ.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[Â,B̂] = ÂB̂ − B̂Â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{Â,B̂} = ÂB̂ + B̂Â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[x̂,p̂] = iℏ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[Ŝᵢ,Ŝⱼ] = iℏεᵢⱼₖŜₖ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[σ_x, σ_y] = 2iσ_z: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σ_xσ_y = [[0,1],[1,0]]·[[0,−i],[i,0]]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[[i,0],[0,−i]] = iσ_z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σ_yσ_x = [[0,−i],[i,0]]·[[0,1],[1,0]]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[[−i,0],[0,i]] = −iσ_z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[σ_x,σ_y] = iσ_z − (−iσ_z) = 2iσ_z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L04.1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L04.2: The Matrix Exponential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series, diagonalisation, and convergence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VIA POWER SERIES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e^Â := Σₙ₌₀^∞ Âⁿ/n! = 1̂ + Â + Â²/2! + Â³/3! +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series converges in operator norm for any bounded operator Â. For Hermitian Â = Σₙ aₙ|aₙ⟩⟨aₙ|, it reproduces e^Â = Σₙ e^(aₙ)|aₙ⟩⟨aₙ| consistently.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8366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VIA DIAGONALISATION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(1) Find eigensystem Â = ΣᵢλᵢP̂ᵢ. (2) Apply: e^Â = Σᵢe^(λᵢ)P̂ᵢ. For 2×2 Pauli: σₙ² = 1̂ ⟹ e^(iθσₙ) = (Σₖ(iθ)^(2k)/(2k)!)1̂ + (Σₖ(iθ)^(2k+1)/(2k+1)!)σₙ = cos θ 1̂ + i sin θ σₙ.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87121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 OF e^Â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10896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(e^Â)† = e^(Â†): takes adjoint of exponent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Â = Â†: e^(iÂ) is unitary since (e^(iÂ))† = e^(−iÂ) = (e^(iÂ))⁻¹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det(e^Â) = e^(Tr Â)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[Â,B̂] = 0: e^(Â+B̂) = e^Â e^B̂ (commutative case)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81304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UNITARITY PROOF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5079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Â = Â† (Hermitian), then: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(e^(iÂ))† = e^(−iÂ†) = e^(−iÂ)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e^(iÂ)(e^(iÂ))† = e^(iÂ)e^(−iÂ) = e^(iÂ−iÂ) = e^0 = 1̂ [using [Â,−Â]=0]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 e^(iÂ) is unitary whenever Â is Hermitian. 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e^Â = Σₙ Âⁿ/n!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e^(iθσₙ) = cos θ 1̂ + i sin θ σₙ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(e^Â)† = e^(Â†)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det(e^Â) = e^(Tr Â)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e^(iπσ_x/2):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e^(iθσ_x) = cos θ 1̂ + i sin θ σ_x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θ = π/2: cos(π/2)=0, sin(π/2)=1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e^(iπσ_x/2) = i σ_x = [[0,i],[i,0]]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unitary: (iσ_x)(iσ_x)† = (iσ_x)(−iσ_x)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σ_x² = 1̂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L04.2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L04.3: Baker–Campbell–Hausdorff Formula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non-commuting exponentials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521208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5720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BCH FORMULA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133856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[Â,B̂] ≠ 0, e^Â e^B̂ ≠ e^(Â+B̂). The correct result is: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e^Â e^B̂ = e^(Â+B̂+C̃)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C̃ = [Â,B̂]/2 + ([Â,[Â,B̂]] − [B̂,[Â,B̂]])/12 +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Baker–Campbell–Hausdorff formula.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83664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BCH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commutators of commutators vanish (e.g., [Â,B̂] = cŜ central):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e^Â e^B̂ = e^(Â+B̂+[Â,B̂]/2)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‖Â‖, ‖B̂‖ ≪ 1 as first-order approximation in small parameters.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779776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HADAMARD LEMMA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e^Â B̂ e^(−Â) = B̂ + [Â,B̂] + [Â,[Â,B̂]]/2! +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Σₙ (ad_Â)ⁿ(B̂)/n!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ad_Â(B̂) = [Â,B̂] is the adjoint action. For nilpotent commutators, this terminates.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675888"/>
            <a:ext cx="4892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 PRODUCT FORMULA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91363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e^(Â+B̂) = lim_{N→∞} (e^(Â/N)e^(B̂/N))^N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Trotter: e^(ε(Â+B̂)) ≈ e^(εÂ)e^(εB̂) + O(ε²[Â,B̂]).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quantum simulation (Trotterisation of time-evolution operators).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822960"/>
            <a:ext cx="329184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822960"/>
            <a:ext cx="45720" cy="1463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89611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52144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e^Âe^B̂ = e^(Â+B̂+[Â,B̂]/2+...)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e^ÂB̂e^(−Â) = Σₙ (adÂ)ⁿ(B̂)/n!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[Â,B̂]/2 (first order BCH)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Trotter: (e^(Â/N)e^(B̂/N))^N → e^(Â+B̂)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77440"/>
            <a:ext cx="3291840" cy="2468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2377440"/>
            <a:ext cx="45720" cy="2468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45059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2706624"/>
            <a:ext cx="30175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BCH for spin operators: Â = iθσ_x, B̂ = iφσ_y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[iθσ_x, iφσ_y] = −θφ[σ_x,σ_y] = −2iθφσ_z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BCH: e^(iθσ_x)e^(iφσ_y) ≈ e^(i(θσ_x+φσ_y−θφσ_z))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Valid when θ, φ ≪ 1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 Compare to exact product (numerical verification)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L04.3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High School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Algebra and the Exponential Map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matrix exponential as an infinite sum analogy with e^x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e^(iθσ_z) by recognising the diagonal structure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non-commutativity through a concrete 2×2 example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BCH conceptually: 'extra correction term from non-commutativity'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e^x = 1 + x + x²/2! + ... (scalar)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e^Â = 1̂ + Â + Â²/2! + ... (matrix version)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σ_z = diag(1,−1): Â² = 1̂, Â³ = Â, ...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e^(iθσ_z) = diag(e^(iθ), e^(−iθ))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Compute e^(iπσ_z) using the diagonal structure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Show [σ_x, σ_z] ≠ 0 by explicit multiplication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What would go wrong if x̂ and p̂ commuted?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meaning of BCH: combining two rotations gives a third rotation + correction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Euler angles for rotations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HS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Beg.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Algebra and the Exponential Map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e^(iθσ_z) and e^(iφσ_x) using diagonalisation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unitarity numerically for computed exponentials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Leibniz rule for commutators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BCH first-order and identify when it applies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e^(iθσ_x):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of σ_x: ±1; eigenvecs |±x⟩ = (|+⟩±|−⟩)/√2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e^(iθσ_x) = e^(iθ)|+x⟩⟨+x| + e^(−iθ)|−x⟩⟨−x|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cos θ·1̂ + i sin θ·σ_x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(e^(iθσ_x))†(e^(iθσ_x)) = 1̂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Compute e^(iφσ_y) and verify unitarity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Compute [σ_z, e^(iθσ_x)] using Hadamard lemma first-order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Apply first-order BCH to e^(εσ_x)e^(εσ_y)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group SU(2): all elements = e^(iθn̂·σ/2)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decomposition e^(iασ_z)e^(iβσ_y)e^(iγσ_z)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BegUG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Adv. UG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Algebra and the Exponential Map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unitarity of e^(iÂ) rigorously when Â is Hermitian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BCH to first order from the power series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prove the Hadamard identity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BCH to relate products of rotation operators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e^(iÂ) is unitary if Â = Â†: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(e^(iÂ))† = Σₙ(iÂ)ⁿ†/n! = Σₙ(−iÂ†)ⁿ/n! = e^(−iÂ)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e^(iÂ)e^(−iÂ) = e^(iÂ−iÂ) = e^0 = 1̂ [Â commutes with itself]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∴ e^(iÂ) is unitary 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Prove unitarity of e^(iÂ) using power series and Â = Â†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Derive Hadamard identity e^ÂB̂e^(−Â) to second order in Â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Use BCH to combine e^(iθσ_z)e^(iφσ_x) to first order in θ,φ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Zassenhaus formula: e^(Â+B̂) = e^Âe^B̂e^(−[Â,B̂]/2)...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 for time-ordered exponentials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AdvUG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MSc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Algebra and the Exponential Map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full BCH formula with all relevant terms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Zassenhaus formula as the dual of BCH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BCH to the structure of Lie algebras and Lie groups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convergence of BCH for small operators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BCH for translation and boost operators: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[x̂, p̂] = iℏ (central)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e^(iap̂/ℏ)e^(ibx̂/ℏ) = e^(i(ap̂+bx̂)/ℏ + [iap̂/ℏ, ibx̂/ℏ]/2)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e^(i(ap̂+bx̂)/ℏ) · e^(−ab/2) (Weyl relation!)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Derive BCH to second order using Campbell's formula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Verify Weyl relation e^(iap̂/ℏ)e^(ibx̂/ℏ) = e^(−iab/ℏ)e^(ibx̂/ℏ)e^(iap̂/ℏ)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BCH and the exponential map in Lie group theory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radius of BCH series in Banach algebras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MSc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"/>
            <a:ext cx="822960" cy="384048"/>
          </a:xfrm>
          <a:prstGeom prst="roundRect">
            <a:avLst>
              <a:gd name="adj" fmla="val 11905"/>
            </a:avLst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PhD 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48463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Algebra and the Exponential Map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9768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41248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convergence of BCH series in Banach algebras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BCH to the exponential map in Lie theory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Magnus expansion for time-dependent Hamiltonians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BCH to quantum control — combining pulse sequences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429768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743200"/>
            <a:ext cx="4078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 for time-dep. H: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Û(T) = e^(Ω₁+Ω₂+...) where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Ω₁ = ∫₀ᵀ H(t)dt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Ω₂ = (1/2)∫₀ᵀ∫₀^t [H(t),H(t')]dt'dt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when ∫₀ᵀ‖H(t)‖dt &lt; π 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749808"/>
            <a:ext cx="425196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84124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Prove BCH convergence for ‖Â‖, ‖B̂‖ &lt; ln2/2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Compute Ω₁, Ω₂ for H(t) = Ω₀(cos(ωt)σ_x + sin(ωt)σ_y)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425196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74320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&amp; DEPTH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299923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Floquet theory and the effective Hamiltonian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 decoupling via BCH pulse sequences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PhD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Common Pitfalls &amp; Misconceptions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e^(Â+B̂) ≠ e^Âe^B̂ when [Â,B̂] ≠ 0 — BCH correction term is mandatory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Pauli identity e^(iθσₙ) = cos θ 1̂ + i sin θ σₙ requires σₙ² = 1̂ — check this first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between the commutator [Â,B̂] and the Lie bracket — they are the same thing!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51960" cy="1691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932688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18872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det(e^Â) = e^(Tr Â), not det(Â)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BCH terminates — it only does when sufficiently many commutators vanish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Misapplying Trotter formula: the error is O(ε²[Â,B̂]), not O(ε²)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 (1905); Campbell (1897); Hausdorff (1906): BCH formula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Zassenhaus (1961): dual formula to BCH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(1954): Magnus expansion for time-ordered evolution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 (1959): Trotter product formula for semigroups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4251960" cy="132588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697480"/>
            <a:ext cx="4032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95351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e^Âe^B̂ = e^(Â+B̂+[Â,B̂]/2+...)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e^(iθσₙ) = cos θ 1̂ + i sin θ σₙ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e^ÂB̂e^(−Â) = Σₙ(adÂ)ⁿ(B̂)/n!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det(e^Â) = e^(Tr Â)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4005072"/>
            <a:ext cx="8686800" cy="7772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4096512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CONNECTIONS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3525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L05: BCH appears in combining anti-unitary symmetries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L03: Spectral decomposition is used to compute e^(iÂ)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L02: e^(iθĜ) generates all unitary operators from Hermitian 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Pitfalls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Assessment &amp; Homework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artifact bundle — all 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+ 1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(~1h): Visualise e^(iθσₙ) as Bloch sphere rotation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~2h): BCH error plotter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Why does [x̂,p̂] = iℏ prevent simultaneous exact measurement?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56816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29968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4 simple + 2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(~2h): Matrix exponential calculator for 2×2 Pauli matrices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~4h): Rabi oscillation simulator using e^(−iĤt)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Derive e^(iθσₙ) = cos θ 1̂ + i sin θ σₙ from power series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85032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58184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3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(~3h): BCH first-order vs. exact product comparison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~6h): Hadamard identity for spin operators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Prove BCH formula to second order from power series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13248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(~3h): Weyl relations via BCH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~8h): Magnus expansion for sinusoidal drive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BCH and the exponential map in Lie group theory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41464" y="822960"/>
            <a:ext cx="1682496" cy="35661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solidFill>
            <a:srgbClr val="E07B6A"/>
          </a:solidFill>
          <a:ln w="12700">
            <a:solidFill>
              <a:srgbClr val="E07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41464" y="8229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14616" y="1115568"/>
            <a:ext cx="1536192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+ 3 advanced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(~4h): BCH convergence verification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(adv, ~15h): Magnus expansion and Floquet theory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Dynamical decoupling via BCH pulse sequences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4480560"/>
            <a:ext cx="8686800" cy="59436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4572000"/>
            <a:ext cx="84673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Assessment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45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L04 — References &amp; Bibliography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274320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9326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4688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&amp; Napolitano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Quantum Mechanics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2: Quantum Dynamics (§2.2)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&amp; Chuang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Computation &amp; QI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4: Quantum Gates and Circuits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Messiah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Vol. 1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8: Symmetry and Conservation Laws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841248"/>
            <a:ext cx="278892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932688"/>
            <a:ext cx="2569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REFERENCES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2514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Groups, Lie Algebras, and Representations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2: The Matrix Exponential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Rossmann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Groups: An Introduction Through Linear Groups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1: BCH Formula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Barnett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Information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2: Operators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841248"/>
            <a:ext cx="2880360" cy="3977640"/>
          </a:xfrm>
          <a:prstGeom prst="rect">
            <a:avLst/>
          </a:prstGeom>
          <a:solidFill>
            <a:srgbClr val="162236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932688"/>
            <a:ext cx="2660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&amp; RESEARCH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188720"/>
            <a:ext cx="26060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Hausdorff (1906)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symbolische Exponentialformel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 der sächsischen Akademie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Original BCH formula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(1954)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exponential solution of ODE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 Pure Appl. Math.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Magnus expansion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 (1959)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product of semi-groups of operators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 AMS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Trotter product formula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I.1 — L04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4892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References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Module I.1 — L04: Operator Algebra and the Exponential Map</dc:title>
  <dc:subject>PptxGenJS Presentation</dc:subject>
  <dc:creator>QM/QC Programme — Module I.1</dc:creator>
  <cp:lastModifiedBy>QM/QC Programme — Module I.1</cp:lastModifiedBy>
  <cp:revision>1</cp:revision>
  <dcterms:created xsi:type="dcterms:W3CDTF">2026-04-26T13:21:40Z</dcterms:created>
  <dcterms:modified xsi:type="dcterms:W3CDTF">2026-04-26T13:21:40Z</dcterms:modified>
</cp:coreProperties>
</file>