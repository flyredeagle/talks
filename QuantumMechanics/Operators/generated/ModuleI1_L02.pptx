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914400"/>
            <a:ext cx="4114800" cy="4114800"/>
          </a:xfrm>
          <a:prstGeom prst="ellipse">
            <a:avLst/>
          </a:prstGeom>
          <a:solidFill>
            <a:srgbClr val="1B3055">
              <a:alpha val="60000"/>
            </a:srgbClr>
          </a:solidFill>
          <a:ln w="12700">
            <a:solidFill>
              <a:srgbClr val="1B3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-1828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 —  MODULE I.1  —  HILBERT SPACE &amp; OPERATORS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Unitary Operators and Symmetry Transformations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Preservation of Structure — Module I.1, Lecture 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3444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Lecture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20624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68680"/>
            <a:ext cx="45720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94183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97864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 min: Recap — inner products and adjoint from L01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15–40 min: Definition of unitary: ÛÛ† = Û†Û = 1̂; inner product preservation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40–65 min: Physical incarnations: rotations Û(θ), translations T̂(a), time evolution e^(−iĤt/ℏ)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Unitary equivalence of operators; spectral invariance; Stone's theorem preview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868680"/>
            <a:ext cx="434340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868680"/>
            <a:ext cx="45720" cy="1691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94183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09160" y="1197864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unitarity ÛÛ† = 1̂ from definition and examples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that unitary maps preserve norms and transition probabilities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unitary operators from physical symmetries (rotation, translation, phase)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Û = e^(iĜ) for Hermitian generator Ĝ (Stone's theorem preview)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633472"/>
            <a:ext cx="1664208" cy="25603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Rotations as length-preserving maps; rotating a quantum state without losing information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56816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56816" y="2633472"/>
            <a:ext cx="1664208" cy="25603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56816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48256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ÛÛ† = 1̂ for rotation matrices; compute Û|ψ⟩ for explicit states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85032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85032" y="2633472"/>
            <a:ext cx="1664208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5032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76472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eigenvalues of unitary operators lie on unit circle; prove spectral invariance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13248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13248" y="2633472"/>
            <a:ext cx="1664208" cy="25603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04688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One-parameter groups; Stone's theorem; generator Ĝ and Lie algebra connection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41464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41464" y="2633472"/>
            <a:ext cx="1664208" cy="256032"/>
          </a:xfrm>
          <a:prstGeom prst="rect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41464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32904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continuous unitary groups on Banach spaces; Hille–Yosida theorem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4023360"/>
            <a:ext cx="864108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4023360"/>
            <a:ext cx="4572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409651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4352544"/>
            <a:ext cx="8366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— verify unitarity for 2×2 rotation and phase matrices; compute Û|ψ⟩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 — prove unitary ⟹ isometric; show spectrum of Û lies on |z| = 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Projects: animate unitary evolution of two-level state (simple); matrix exponential e^(iθĜ) (complex)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Dual-Track Content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perspectives: Geometric/Physical  ↔  Algebraic/Axiomatic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41248"/>
            <a:ext cx="42519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412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TRACK — Symmetry and Conservation Laws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AS STRUCTURE PRESERVATION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39903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symmetry is a transformation that leaves the physics unchanged. In QM, this means preserving transition probabilities |⟨φ|ψ⟩|² → invariant. By Wigner's theorem (L05), every such symmetry is implemented by a unitary or anti-unitary operator.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ROTATIONS Û(θ)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26771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rotation by angle θ around axis n̂ is implemented by Û(θ) = e^(−iθn̂·Ĵ/ℏ) where Ĵ is the angular momentum operator. Unitarity guarantees ‖Û(θ)|ψ⟩‖ = ‖|ψ⟩‖ — rotation doesn't change normalisation.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 AND TIME EVOLUTION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13639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translation by a: T̂(a) = e^(−iap̂/ℏ). Time evolution: Û(t) = e^(−iĤt/ℏ). Both are unitary (Ĥ and p̂ Hermitian), ensuring probability conservation. These are one-parameter unitary groups.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79476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NOETHER'S THEOREM PREVIEW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00507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continuous symmetry → conserved quantity. Rotational invariance → [Ĥ, Ĵ] = 0 → angular momentum conserved. Translational invariance → [Ĥ, p̂] = 0 → momentum conserved.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841248"/>
            <a:ext cx="425196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841248"/>
            <a:ext cx="425196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412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TRACK — Unitary Groups and Stone's Theorem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1887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 DEFINITION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139903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 is unitary iff ÛÛ† = Û†Û = 1̂. Equivalent conditions: (1) Û is a bijective isometry, (2) Û preserves the inner product ⟨Ûφ|Ûψ⟩ = ⟨φ|ψ⟩, (3) Û has a bounded inverse Û⁻¹ = Û†.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05740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OF UNITARY OPERATORS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226771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eigenvalues λ of a unitary operator Û lie on the unit circle |λ| = 1. Proof: Û|u⟩ = λ|u⟩ ⟹ ‖Û|u⟩‖² = |λ|²‖|u⟩‖² = ‖|u⟩‖² ⟹ |λ| = 1. So λ = e^(iφ) for some φ ∈ ℝ.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92608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(STATEMENT)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313639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{Û(t)}_{t∈ℝ} is a strongly continuous one-parameter unitary group on H, then there exists a unique self-adjoint operator Ĝ (the generator) such that Û(t) = e^(−itĜ). Conversely, any self-adjoint Ĝ generates a unitary group.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79476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EQUIVALENCE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400507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Â and B̂ = ÛÂÛ† are unitarily equivalent. They have identical spectra: σ(B̂) = σ(Â). Physically: physics is representation-independent — unitarily equivalent H's describe the same physics.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Dual Track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L02.1: Unitary Operators: Definition and Properties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Structure-preserving maps on Hilbert space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UNITARY OPERATOR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Û: H → H is unitary if ÛÛ† = Û†Û = 1̂. This means: (1) Û is surjective (onto), (2) Û preserves inner products ⟨Ûφ|Ûψ⟩ = ⟨φ|ψ⟩, (3) Û has a bounded inverse Û⁻¹ = Û†.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PRESERVATION OF TRANSITION PROBABILITIES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|φ⟩, |ψ⟩ ∈ 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|⟨Ûφ|Ûψ⟩|² = |⟨φ|Û†Ûψ⟩|² = |⟨φ|ψ⟩|²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precisely what is needed for physical symmetries — measuring outcomes doesn't change under unitary transformation.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ON THE UNIT CIRCLE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6324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Û|u⟩ = λ|u⟩ then ‖λ|u⟩‖ = ‖Û|u⟩‖ = ‖|u⟩‖ ⟹ |λ| = 1. All eigenvalues take the form λ = e^(iφ) for φ ∈ ℝ. The spectrum of Û is a subset of the unit circle in ℂ.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21608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GROUP U(H)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95935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all unitary operators on H forms a group U(H) under composition. Closure: ÛV̂ unitary; identity: 1̂; inverse: Û† = Û⁻¹; associativity: operator composition. For dim H = n, this is the Lie group U(n).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ÛÛ† = Û†Û = 1̂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⟨Ûφ|Ûψ⟩ = ⟨φ|ψ⟩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|λ| = 1 for eigenvalue λ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Û⁻¹ = Û†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rotation matrix: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Û(θ) = [[cos θ, −sin θ],[sin θ, cos θ]]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Û†(θ) = Û(−θ) = Û(θ)ᵀ (real matrix)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Û(θ)Û†(θ) = 1̂  ✓ (cos²θ+sin²θ = 1)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gate: Û = [[1,0],[0,e^(iφ)]]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ÛÛ† = diag(1,1) = 1̂  ✓ unitary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L02.1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L02.2: Û = e^(iĜ): The Exponential Map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from Hermitian generators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UNITARIES FROM HERMITIAN OPERATORS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Ĝ is Hermitian (Ĝ = Ĝ†), then Û(θ) = e^(iθĜ) is unitary for all θ ∈ ℝ. Proof: Û†(θ) = (e^(iθĜ))† = e^(−iθĜ†) = e^(−iθĜ) = Û(−θ) = Û⁻¹(θ). So ÛÛ† = 1̂. □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90195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(PREVIEW)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Conversely, every strongly continuous one-parameter unitary group {Û(t)}_{t∈ℝ} arises from a unique self-adjoint generator Ĝ via Û(t) = e^(−itĜ). This makes Hermitian operators fundamental: they generate all continuous symmetries.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4378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EXAMPLES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81528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Phase: Û(θ) = e^(iθ) (global phase, trivial generator 1̂)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Rotation: Û_z(θ) = e^(−iθŜ_z/ℏ) (Ŝ_z = spin generator)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 evolution: Û(t) = e^(−iĤt/ℏ) (Ĥ = Hamiltonian)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Translations: T̂(a) = e^(−iap̂/ℏ) (p̂ = momentum)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84962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INVARIANCE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8736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Â|aₙ⟩ = aₙ|aₙ⟩ and B̂ = ÛÂÛ†, then B̂(Û|aₙ⟩) = aₙ(Û|aₙ⟩). The eigenvalues are identical; only the eigenvectors are rotated. Physics is representation-independent.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 = e^(iθĜ), Ĝ = Ĝ†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Û† = e^(−iθĜ)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ÛÛ† = e^(iθĜ)e^(−iθĜ) = 1̂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σ(ÛÂÛ†) = σ(Â)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Û_z(θ) = e^(−iθσ_z/2) for spin-1/2: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σ_z = diag(1,−1), so: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e^(−iθσ_z/2) = diag(e^(−iθ/2), e^(iθ/2))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Eigenvalues: e^(±iθ/2) — on unit circle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Ûσ_xÛ† = cos(θ)σ_x + sin(θ)σ_y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Spectrum of σ_x unchanged: {+1, −1}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L02.2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L02.3: Physical Symmetries as Unitary Operators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Rotations, translations, and time evolution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ROTATIONS: U(1) AND SU(2)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spin-1/2 particles, rotations by angle θ around axis n̂ are implemented by Û_n(θ) = e^(−iθn̂·σ̂/2) ∈ SU(2). A 2π rotation gives Û = −1̂ (spinor phase flip), while a 4π rotation returns to identity.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TRANSLATIONS T̂(a)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T̂(a)|x⟩ = |x+a⟩ is a unitary operator implementing spatial translation by a. In momentum basis: T̂(a) = e^(−iap̂/ℏ). Verify: T̂(a)T̂(b) = T̂(a+b), T̂(a)† = T̂(−a). Generator = p̂.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77977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Û(t) = e^(−iĤt/ℏ)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Schrödinger equation i ℏ ∂|ψ⟩/∂t = Ĥ|ψ⟩ is solved by |ψ(t)⟩ = e^(−iĤt/ℏ)|ψ(0)⟩ = Û(t)|ψ(0)⟩. Since Ĥ = Ĥ†, Û(t) is unitary → probability is conserved.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21608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EQUIVALENCE AND REPRESENTATIONS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95935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Hamiltonians Ĥ and Ĥ' = ÛĤÛ† are physically equivalent — they have the same energy spectrum and the same time evolution (up to the unitary basis change). This is the basis of representation theory.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Û_n(θ) = e^(−iθn̂·Ĵ/ℏ)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T̂(a) = e^(−iap̂/ℏ)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Û(t) = e^(−iĤt/ℏ)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⟨ψ(t)|ψ(t)⟩ = ⟨ψ(0)|ψ(0)⟩ = 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time evolution: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 = ε σ_z/2, |ψ(0)⟩ = (1,0)ᵀ = |+⟩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Û(t) = diag(e^(−iεt/2ℏ), e^(+iεt/2ℏ))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|ψ(t)⟩ = e^(−iεt/2ℏ)|+⟩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|⟨+|ψ(t)⟩|² = 1 ✓ (stays in |+⟩)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If Ĥ = ε σ_x/2: Rabi oscillations appear!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L02.3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High School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rotations as length-preserving maps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that quantum evolution preserves probabilities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unitary 2×2 matrices by inspection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Û|ψ⟩ for simple states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gate: Û = [[1,0],[0,i]]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ÛÛ† = [[1,0],[0,i]]·[[1,0],[0,−i]] = [[1,0],[0,1]] ✓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|ψ⟩ = (1/√2)(1,1)ᵀ: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Û|ψ⟩ = (1/√2)(1, i)ᵀ  (phase shifted)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Is Û = [[0,1],[1,0]] unitary? (Verify ÛÛ† = 1̂)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Show that |⟨φ|Ûψ⟩|² = |⟨Û†φ|ψ⟩|²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What is the eigenvalue of Û = e^(iπσ_z/2)?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interpretation: unitary = no information loss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quantum error correction: unitaries are reversible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Beg. UG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ÛÛ† = 1̂ for explicit rotation and phase matrices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preservation of inner products from unitarity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e^(iθσ_z) using Taylor series or diagonalisation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generator from a given one-parameter family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e^(iθσ_z) is unitary: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σ_z = diag(1,−1), e^(iθσ_z) = diag(e^(iθ), e^(−iθ))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(e^(iθσ_z))† = diag(e^(−iθ), e^(iθ)) = e^(−iθσ_z)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e^(iθσ_z)·e^(−iθσ_z) = 1̂ 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Compute e^(iφσ_z) using the power series definition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Verify unitarity of Hadamard gate H = (σ_x+σ_z)/√2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Find the generator of the phase group e^(iθ·1̂)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CNOT gate as unitary on ℂ⁴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sphere picture of SU(2) rotations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Adv. UG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unitary ⟹ isometric (norm-preserving)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eigenvalues of unitary operators lie on |λ|=1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spectral invariance under unitary similarity: σ(ÛÂÛ†) = σ(Â)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one-parameter group property Û(s+t) = Û(s)Û(t)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spectral invariance: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Â|a⟩ = a|a⟩, let |ã⟩ = Û|a⟩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ÛÂÛ†(Û|a⟩) = ÛÂ|a⟩ = aÛ|a⟩ = a|ã⟩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Û|a⟩ is eigenvector of ÛÂÛ† with same eigenvalue a 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Prove unitary ⟹ isometric using ÛÛ† = 1̂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Show σ(Û) ⊆ {z∈ℂ: |z|=1} rigorously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Prove Û(s)Û(t) = Û(s+t) for Û(t) = e^(itĜ)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Schur's lemma and its consequences for unitary representations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between unitary groups and Lie algebras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MSc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Stone's theorem precisely with strong continuity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generator of a given unitary group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unitary groups to Lie algebra via iĜ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spectral invariance to change of basis problems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application: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Û(t) = e^(−it p̂/ℏ) on L²(ℝ)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Generator: Ĝ = p̂/ℏ (self-adjoint ✓)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continuity: ‖Û(t)|ψ⟩ − |ψ⟩‖ → 0 as t → 0 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State Stone's theorem; identify generator of Û(t) = e^(−iĤt/ℏ)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Show iĜ (generator) is anti-Hermitian when Ĝ is Hermitian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Prove the Lie algebra u(n) consists of anti-Hermitian matrices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continuous vs. norm-continuous groups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Hille–Yosida theorem for semigroups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PhD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apply the Hille–Yosida theorem to unitary groups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domain of the generator in the Stone theorem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unitary representations of compact Lie groups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spectral theory of Û to functional calculus of Ĝ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of generator via Stone's theorem: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D(Ĝ) = {|ψ⟩ ∈ H : lim_{t→0} (Û(t)−1̂)|ψ⟩/t exists}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Û(t) = e^(−iĤt/ℏ): D(Ĝ) = D(Ĥ)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derivative: d/dt Û(t)|ψ⟩|_{t=0} = −iĤ|ψ⟩/ℏ ∈ H iff |ψ⟩ ∈ D(Ĥ)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Prove domain of generator in Stone's theorem is dense in 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Show unitary groups on H are always strongly continuous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C*-algebra approach to quantum symmetries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unitary representations and central extensions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Common Pitfalls &amp; Misconceptions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1691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3268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ÛÛ† = 1̂ with Û² = 1̂ — unitarity is NOT the same as involutory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that e^(iθĜ) requires Ĝ to be Hermitian (not just symmetric) for unitarity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2π rotation returns a spinor to itself — it gives a minus sign for spin-1/2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251960" cy="1691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93268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11887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the generator Ĝ (Hermitian) with the group element e^(iθĜ) (unitary)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spectral invariance as trivial — it requires careful proof for unbounded 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up U(n) (unitary group) and SU(n) (special unitary group, det = 1)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606040"/>
            <a:ext cx="4251960" cy="13258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69748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5351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 (1931): unitary and anti-unitary symmetries in QM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(1932): one-parameter unitary groups and their generators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Noether (1918): symmetry → conservation law (classical)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Weyl (1927): group theory in quantum mechanics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606040"/>
            <a:ext cx="4251960" cy="13258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69748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95351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Unitarity: ÛÛ† = 1̂ ↔ ⟨Ûφ|Ûψ⟩ = ⟨φ|ψ⟩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Generator: Û(t) = e^(itĜ), Ĝ = Ĝ†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Spectral: σ(ÛÂÛ†) = σ(Â)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Eigenvalues: λ ∈ σ(Û) ⟹ |λ| = 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4005072"/>
            <a:ext cx="8686800" cy="7772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4096512"/>
            <a:ext cx="8467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CONNECTIONS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3525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L03: Spectral theorem applies to Hermitian generators of unitary groups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L05: Wigner's theorem classifies all quantum symmetries as unitary or anti-unitary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L01: Unitary operators are bounded with ‖Û‖ =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Pitfalls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Assessment &amp; Homework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artifact bundle — all tiers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1682496" cy="25603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+ 1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(~1h): Rotation visualiser on Bloch sphere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~2h): Unitary matrix randomiser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Why does a 360° spin rotation flip the sign?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56816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6816" y="822960"/>
            <a:ext cx="1682496" cy="25603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29968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4 simple + 2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(~2h): e^(iθσₙ) calculator for all axes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~4h): Rabi oscillation simulator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Prove that any 2×2 unitary = e^(iφ)Û_n(θ) for some n̂, θ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85032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85032" y="822960"/>
            <a:ext cx="1682496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58184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(~2h): Spectral invariance demo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~6h): Group structure of SU(2) rotations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Derive the BCH formula for SU(2) generators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13248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13248" y="822960"/>
            <a:ext cx="1682496" cy="25603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(~3h): Stone's theorem verification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~8h): Lie algebra of U(n)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Stone's theorem — statement, proof strategy, physical significance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41464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41464" y="822960"/>
            <a:ext cx="1682496" cy="256032"/>
          </a:xfrm>
          <a:prstGeom prst="rect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41464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14616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(~4h): Domain analysis for translation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~15h): Projective representations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Hille–Yosida and quantum dynamics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4480560"/>
            <a:ext cx="8686800" cy="59436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4572000"/>
            <a:ext cx="8467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4124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Assessment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References &amp; Bibliography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274320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3268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TEXTBOOKS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24688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&amp; Napolitano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Quantum Mechanics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4: Symmetries in Quantum Mechanics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Quantum Mechanics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26: Quantum Conditions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Weinberg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on Quantum Mechanics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8: Symmetries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841248"/>
            <a:ext cx="278892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932688"/>
            <a:ext cx="2569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REFERENCES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46120" y="1188720"/>
            <a:ext cx="2514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Galindo &amp; Pascual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II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8: Symmetry Groups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Theory in Physics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5: Representations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Ballentine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Mechanics: A Modern Development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3: Kinematics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841248"/>
            <a:ext cx="288036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932688"/>
            <a:ext cx="2660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&amp; RESEARCH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72200" y="1188720"/>
            <a:ext cx="26060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(1932)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One-Parameter Unitary Groups in Hilbert Space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Annals of Mathematics 33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Original proof of Stone's theorem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 (1931)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Gruppentheorie und ihre Anwendung auf die Quantenmechanik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Wigner's symmetry theorem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Noether (1918)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 Variationsprobleme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Symmetry–conservation correspondence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References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Module I.1 — L02: Unitary Operators and Symmetry Transformations</dc:title>
  <dc:subject>PptxGenJS Presentation</dc:subject>
  <dc:creator>QM/QC Programme — Module I.1</dc:creator>
  <cp:lastModifiedBy>QM/QC Programme — Module I.1</cp:lastModifiedBy>
  <cp:revision>1</cp:revision>
  <dcterms:created xsi:type="dcterms:W3CDTF">2026-04-26T13:21:40Z</dcterms:created>
  <dcterms:modified xsi:type="dcterms:W3CDTF">2026-04-26T13:21:40Z</dcterms:modified>
</cp:coreProperties>
</file>