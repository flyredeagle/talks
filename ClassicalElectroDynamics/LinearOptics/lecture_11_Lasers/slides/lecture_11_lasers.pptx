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06D6A0">
              <a:alpha val="22000"/>
            </a:srgbClr>
          </a:solidFill>
          <a:ln w="12700">
            <a:solidFill>
              <a:srgbClr val="06D6A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06D6A0">
              <a:alpha val="16000"/>
            </a:srgbClr>
          </a:solidFill>
          <a:ln w="12700">
            <a:solidFill>
              <a:srgbClr val="06D6A0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Lasers &amp; Coherent Light Sources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Inversion · Stimulated Emission · Resonators · Coherence · Laser Types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Einstein Coefficients: Absorption, Spontaneous &amp; Stimulated Emission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(1917) showed that an electromagnetic field interacting with a two-level atom produces three processes. The ratio of their rates is fixed by thermodynamics — and stimulated emission is the key to laser amplification.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88920" cy="2057400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27632"/>
            <a:ext cx="278892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63677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2596896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Rate: W_abs = B₁₂ ρ(ν) N₁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 in ground state |1⟩ absorbs photon hν → excited state |2⟩.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proportional to radiation density ρ(ν) and population N₁.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627632"/>
            <a:ext cx="2788920" cy="205740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627632"/>
            <a:ext cx="27889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63677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Emission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2596896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Rate: W_sp = A₂₁ N₂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Excited atom decays randomly to |1⟩, emitting photon in random direction and phase.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Lifetime τ = 1/A₂₁. This is noise in a laser.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627632"/>
            <a:ext cx="2788920" cy="205740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27632"/>
            <a:ext cx="27889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63677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Stimulated Emission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1901952"/>
            <a:ext cx="2596896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Rate: W_st = B₂₁ ρ(ν) N₂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Incoming photon triggers |2⟩ → |1⟩ + identical photon.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frequency, phase, polarization, direction — coherent amplification!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85039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49040"/>
            <a:ext cx="85039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75818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relations and the condition for gain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3192" y="4023360"/>
            <a:ext cx="8321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B₁₂ = B₂₁ (absorption and stimulated emission coefficients are equal — symmetry)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A₂₁ = 8πhν³/c³ · B₂₁ (spontaneous emission increases steeply with frequency)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gain requires N₂ &gt; N₁ (population inversion) — impossible in thermal equilibrium (Boltzmann: N₂/N₁=exp(−hν/kT) &lt; 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inversion requires a pumping mechanism — 3-level or 4-level system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Population Inversion: 3-Level and 4-Level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equilibrium always has more atoms in lower levels (Boltzmann). Pumping drives the system away from equilibrium. The key requirement: upper laser level lifetime τ₂ ≫ lower level lifetime τ₁.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60520" cy="33101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609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system (e.g. Ruby, 694nm)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822192"/>
            <a:ext cx="3611880" cy="0"/>
          </a:xfrm>
          <a:prstGeom prst="line">
            <a:avLst/>
          </a:prstGeom>
          <a:noFill/>
          <a:ln w="3175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56616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pump band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4727448"/>
            <a:ext cx="3611880" cy="0"/>
          </a:xfrm>
          <a:prstGeom prst="line">
            <a:avLst/>
          </a:prstGeom>
          <a:noFill/>
          <a:ln w="3175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447141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upper laser level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 lifetime τ~3ms)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5622646"/>
            <a:ext cx="36118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536661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ground state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1560" y="3822192"/>
            <a:ext cx="0" cy="50292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6791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65960" y="4727448"/>
            <a:ext cx="0" cy="895198"/>
          </a:xfrm>
          <a:prstGeom prst="line">
            <a:avLst/>
          </a:prstGeom>
          <a:noFill/>
          <a:ln w="3175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694nm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3192" y="4251960"/>
            <a:ext cx="3813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level = ground state → needs &gt;50% inversion → hard to achieve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strong pumping (flashlamp)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laser (Maiman 1960): pulsed ruby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600200"/>
            <a:ext cx="4160520" cy="331012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60020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609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system (e.g. Nd:YAG, 1064nm)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4014216"/>
            <a:ext cx="3611880" cy="0"/>
          </a:xfrm>
          <a:prstGeom prst="line">
            <a:avLst/>
          </a:prstGeom>
          <a:noFill/>
          <a:ln w="317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376732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pump band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4917643"/>
            <a:ext cx="3611880" cy="0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670755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upper laser level (τ~230μs)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0" y="5678424"/>
            <a:ext cx="36118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543153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lower laser level (fast decay)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37760" y="6153912"/>
            <a:ext cx="3611880" cy="0"/>
          </a:xfrm>
          <a:prstGeom prst="line">
            <a:avLst/>
          </a:prstGeom>
          <a:noFill/>
          <a:ln w="31750">
            <a:solidFill>
              <a:srgbClr val="E8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590702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ground state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94960" y="4014216"/>
            <a:ext cx="0" cy="475488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40507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09360" y="4917643"/>
            <a:ext cx="0" cy="760781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5202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1064nm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90872" y="425196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level depleted rapidly → easy inversion even at low pump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operation straightforward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practical solid-state and gas lasers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Optical Resonator: Modes and Threshold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mirrors form a Fabry-Pérot resonator. The gain medium inside provides amplification; the mirrors provide feedback. Lasing starts when the round-trip gain equals the round-trip loss.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00200"/>
            <a:ext cx="845820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64208"/>
            <a:ext cx="8311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Fabry-Pérot laser cavity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2064" y="2491740"/>
            <a:ext cx="8129016" cy="0"/>
          </a:xfrm>
          <a:prstGeom prst="line">
            <a:avLst/>
          </a:prstGeom>
          <a:noFill/>
          <a:ln w="10160">
            <a:solidFill>
              <a:srgbClr val="8DB0C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2064" y="1961388"/>
            <a:ext cx="201168" cy="1060704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9912" y="1961388"/>
            <a:ext cx="201168" cy="1060704"/>
          </a:xfrm>
          <a:prstGeom prst="rect">
            <a:avLst/>
          </a:prstGeom>
          <a:solidFill>
            <a:srgbClr val="00B4D8">
              <a:alpha val="6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35708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R=100%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394192" y="2235708"/>
            <a:ext cx="438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R&lt;100%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59152" y="2080260"/>
            <a:ext cx="4389120" cy="822960"/>
          </a:xfrm>
          <a:prstGeom prst="rect">
            <a:avLst/>
          </a:prstGeom>
          <a:solidFill>
            <a:srgbClr val="06D6A0">
              <a:alpha val="18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3088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medium  (stimulated emission)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327148"/>
            <a:ext cx="7690104" cy="0"/>
          </a:xfrm>
          <a:prstGeom prst="line">
            <a:avLst/>
          </a:prstGeom>
          <a:noFill/>
          <a:ln w="10160">
            <a:solidFill>
              <a:srgbClr val="00B4D8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491740"/>
            <a:ext cx="7690104" cy="0"/>
          </a:xfrm>
          <a:prstGeom prst="line">
            <a:avLst/>
          </a:prstGeom>
          <a:noFill/>
          <a:ln w="10160">
            <a:solidFill>
              <a:srgbClr val="00B4D8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656332"/>
            <a:ext cx="7690104" cy="0"/>
          </a:xfrm>
          <a:prstGeom prst="line">
            <a:avLst/>
          </a:prstGeom>
          <a:noFill/>
          <a:ln w="1016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1080" y="2290572"/>
            <a:ext cx="502920" cy="0"/>
          </a:xfrm>
          <a:prstGeom prst="line">
            <a:avLst/>
          </a:prstGeom>
          <a:noFill/>
          <a:ln w="31750">
            <a:solidFill>
              <a:srgbClr val="FFB70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2692908"/>
            <a:ext cx="502920" cy="0"/>
          </a:xfrm>
          <a:prstGeom prst="line">
            <a:avLst/>
          </a:prstGeom>
          <a:noFill/>
          <a:ln w="3175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29057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9412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B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456432"/>
            <a:ext cx="4160520" cy="14813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456432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46557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modes &amp; threshold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" y="3730752"/>
            <a:ext cx="399592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Resonance: round-trip phase = 2πm → ν_m = mc/(2nL)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spacing: Δν = c/(2nL) (FSR — free spectral range)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round-trip gain G = R₁R₂exp(2gL) ≥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threshold: gain clamps to threshold; power grows in cavity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456432"/>
            <a:ext cx="4160520" cy="148132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456432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46557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modes (TEM)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6592" y="3730752"/>
            <a:ext cx="399592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TEM₀₀ (fundamental Gaussian): lowest loss, best beam quality, M²=1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TEM₁₀, TEM₀₁ (Hermite-Gaussian): higher-order spatial modes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Ring/unstable cavities: different mode structure and output coupling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aperture inside cavity kills higher-order modes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 · COHERENCE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 Coherence: Temporal and Spatial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laser's coherence properties follow directly from its spectral purity and the spatial quality of its mode. Both far exceed any thermal light source.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160520" cy="336499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72768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8191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coherence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847088"/>
            <a:ext cx="399592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time: τc = 1/Δν  (inverse of linewidth)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length: Lc = c·τc = c/Δν = λ²/Δλ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 HeNe (Δν~1MHz): Lc ≈ 300m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Multimode laser (Δν~1GHz): Lc ≈ 30cm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lamp (Δλ~1nm at 590nm): Lc ≈ 0.35mm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fringes visible only for path difference &lt; Lc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Holography requires Lc larger than depth of object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160520" cy="336499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41605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58191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coherence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36592" y="1847088"/>
            <a:ext cx="399592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coherence: correlation of E-field across the beam wavefront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transverse mode (TEM₀₀): fully spatially coherent across beam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coherence radius: rc ≈ λ/(2θ_div)  (van Cittert–Zernike)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coherent beam: can be focused to a diffraction-limited spot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= 1: ideal Gaussian. Real beams M²&gt;1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Sun: spatially coherent over only ~0.1mm (small angular diameter)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laser cutting, holography, coherent LiDAR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5001768"/>
            <a:ext cx="8503920" cy="13716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20056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Schawlow-Townes linewidth: Δν_min = 2πhν(Δν_cavity)²/P_out — quantum limit. Single-mode semiconductor lasers approach this.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 · TYPES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 Types: A Gallery of Coherent 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164592" cy="8961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0789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He-Ne (gas)  —  λ = 632.8 nm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" y="1371600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discharge tube; 4-level; cw; M²≈1.05. Holography, metrology. Δν&lt;1MHz possible.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24128"/>
            <a:ext cx="164592" cy="89611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0789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Nd:YAG (solid state)  —  λ = 1064 nm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92624" y="1371600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Flashlamp or diode-pumped; Q-switch → ns pulses; SHG→532nm. Material processing, ranging.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11680"/>
            <a:ext cx="164592" cy="89611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206654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Ti:Sapphire (tunable)  —  λ = 700–1000 nm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" y="2359152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ultrabroadband; mode-locked → &lt;10 fs pulses; pumped by 532nm. Ultrafast science.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011680"/>
            <a:ext cx="164592" cy="89611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206654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CO₂ (gas)  —  λ = 10.6 μm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92624" y="2359152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IR; kW average power possible; cutting/welding steel. Gas flow cooling required.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99232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99232"/>
            <a:ext cx="164592" cy="8961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305409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Diode (semiconductor)  —  λ = 375–2000 nm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7784" y="3346704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Electrically pumped p-n junction; tiny, efficient, cheap; M²~2–10. Telecom, pumping, LiDAR.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99232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99232"/>
            <a:ext cx="164592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305409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Fibre (Er:fibre)  —  λ = 1550 nm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92624" y="3346704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Er³⁺ doped SiO₂ fibre; cw or pulsed; excellent beam quality; used in telecom amplifiers (EDFA).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986784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FF6B9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986784"/>
            <a:ext cx="164592" cy="89611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" y="40416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Excimer (UV)  —  λ = 193–351 nm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7784" y="4334256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KrF 248nm, ArF 193nm; pulsed; UV lithography (chip manufacture), eye surgery (LASIK).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986784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986784"/>
            <a:ext cx="164592" cy="8961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40416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Free-Electron Laser  —  λ = tunable, X-ray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92624" y="4334256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Relativistic electrons wiggling in undulator → coherent X-rays. Brightest X-ray source; large facility.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Lasers &amp; Coherence: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Optics, 5th ed. — Ch. 13: lasers. Clear undergraduate treatment.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— Ch. 14–15: laser amplifiers and oscillators.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Yariv &amp; Yeh, Photonics (2006) — Ch. 5–6: laser oscillation, coherence.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Svelto, Principles of Lasers, 5th ed. (2010): comprehensive from Einstein coefficients to ultrafast.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Siegman, Lasers (1986) — University Science Books. The definitive graduate text.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— Ch. 11: Coherence theory (temporal and spatial).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Mandel &amp; Wolf, Optical Coherence and Quantum Optics (1995): rigorous coherence theory.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Diels &amp; Rudolph, Ultrashort Laser Pulse Phenomena (2006): mode-locking, fs pulses.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Schawlow &amp; Townes (1958) Phys. Rev. 112, 1940: original laser proposal paper.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For a 1m long HeNe laser cavity (n≈1), find the FSR and the approximate number of cavity modes under the 1.5 GHz gain bandwidth.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for a 4-level system, the threshold inversion density is N_th = α_loss/(B₂₁ · hν · τ_rt). Explain each symbol.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Calculate the coherence length of (a) a single-mode HeNe laser with Δν=1 MHz, (b) a multimode diode laser with Δλ=3nm at 780nm.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Derive the Schawlow-Townes linewidth formula from the spontaneous-emission noise model. What limits real lasers above this?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 Project] Model a Gaussian-beam resonator using ABCD matrices. Find the eigenmode waist for a plano-concave cavity (L=300mm, R=500mm) at 1064nm.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03c: Lasers &amp; Coherent Sources</dc:title>
  <dc:subject>Lecture 03c</dc:subject>
  <dc:creator>Linear Optics Course</dc:creator>
  <cp:lastModifiedBy>Linear Optics Course</cp:lastModifiedBy>
  <cp:revision>1</cp:revision>
  <dcterms:created xsi:type="dcterms:W3CDTF">2026-04-18T06:11:00Z</dcterms:created>
  <dcterms:modified xsi:type="dcterms:W3CDTF">2026-04-18T06:11:00Z</dcterms:modified>
</cp:coreProperties>
</file>