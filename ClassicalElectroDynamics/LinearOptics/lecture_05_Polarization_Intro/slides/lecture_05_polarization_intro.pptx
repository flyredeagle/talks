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-274320"/>
            <a:ext cx="3657600" cy="41148"/>
          </a:xfrm>
          <a:prstGeom prst="ellipse">
            <a:avLst/>
          </a:prstGeom>
          <a:solidFill>
            <a:srgbClr val="0096B7">
              <a:alpha val="22000"/>
            </a:srgbClr>
          </a:solidFill>
          <a:ln w="12700">
            <a:solidFill>
              <a:srgbClr val="0096B7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502920"/>
            <a:ext cx="3657600" cy="41148"/>
          </a:xfrm>
          <a:prstGeom prst="ellipse">
            <a:avLst/>
          </a:prstGeom>
          <a:solidFill>
            <a:srgbClr val="0096B7">
              <a:alpha val="20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280160"/>
            <a:ext cx="3657600" cy="41148"/>
          </a:xfrm>
          <a:prstGeom prst="ellipse">
            <a:avLst/>
          </a:prstGeom>
          <a:solidFill>
            <a:srgbClr val="0096B7">
              <a:alpha val="18000"/>
            </a:srgbClr>
          </a:solidFill>
          <a:ln w="12700">
            <a:solidFill>
              <a:srgbClr val="0096B7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2057400"/>
            <a:ext cx="3657600" cy="41148"/>
          </a:xfrm>
          <a:prstGeom prst="ellipse">
            <a:avLst/>
          </a:prstGeom>
          <a:solidFill>
            <a:srgbClr val="0096B7">
              <a:alpha val="16000"/>
            </a:srgbClr>
          </a:solidFill>
          <a:ln w="12700">
            <a:solidFill>
              <a:srgbClr val="0096B7">
                <a:alpha val="1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834640"/>
            <a:ext cx="3657600" cy="41148"/>
          </a:xfrm>
          <a:prstGeom prst="ellipse">
            <a:avLst/>
          </a:prstGeom>
          <a:solidFill>
            <a:srgbClr val="0096B7">
              <a:alpha val="14000"/>
            </a:srgbClr>
          </a:solidFill>
          <a:ln w="12700">
            <a:solidFill>
              <a:srgbClr val="0096B7">
                <a:alpha val="1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01000" y="3611880"/>
            <a:ext cx="3657600" cy="41148"/>
          </a:xfrm>
          <a:prstGeom prst="ellipse">
            <a:avLst/>
          </a:prstGeom>
          <a:solidFill>
            <a:srgbClr val="0096B7">
              <a:alpha val="12000"/>
            </a:srgbClr>
          </a:solidFill>
          <a:ln w="12700">
            <a:solidFill>
              <a:srgbClr val="0096B7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9601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Polarization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02920" y="2377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Decomposition · Linear · Circular · Elliptical · Fresnel Equations · Birefringence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Optics Course  ·  All formulas typeset with LaTeX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INTRO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Polarization?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transverse electromagnetic wave has its E-field oscillating perpendicular to the propagation direction k. The polarization state describes the direction and time-dependence of that E-field oscillation.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859" y="1581912"/>
            <a:ext cx="4836282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359152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8DB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359152"/>
            <a:ext cx="2788920" cy="256032"/>
          </a:xfrm>
          <a:prstGeom prst="rect">
            <a:avLst/>
          </a:prstGeom>
          <a:solidFill>
            <a:srgbClr val="8DB0C8"/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36829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Unpolarized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651760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direction changes randomly on a timescale much shorter than detection. e.g. sunlight, thermal lamps. DOP = 0.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2359152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359152"/>
            <a:ext cx="278892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19272" y="236829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polarized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337560" y="2651760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polarized and unpolarized components. 0 &lt; DOP &lt; 1. e.g. skylight (Rayleigh scattering), reflected light from surfaces.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72200" y="2359152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72200" y="2359152"/>
            <a:ext cx="27889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45352" y="2368296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Linearly polarized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63640" y="2651760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oscillates along a fixed direction (δ=0 or π). Polarizing filters, laser beams, reflections at Brewster's angle.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3657600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3657600"/>
            <a:ext cx="27889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" y="366674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Circularly polarized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3950208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tip traces a circle. Equal amplitudes, δ=±π/2. Optical activity (chiral molecules), quarter-wave plates.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246120" y="3657600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3246120" y="3657600"/>
            <a:ext cx="27889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19272" y="366674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Elliptically polarized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337560" y="3950208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tip traces an ellipse. General case — includes linear and circular as special cases. Arbitrary δ, E₀ₓ≠E₀ᵧ.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72200" y="3657600"/>
            <a:ext cx="2788920" cy="120700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172200" y="3657600"/>
            <a:ext cx="2788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45352" y="3666744"/>
            <a:ext cx="2642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polarization matters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263640" y="3950208"/>
            <a:ext cx="259689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 displays, sunglasses, optical isolators, ellipsometry, astronomy (CMB polarization), LIGO, quantum key distribution.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LINEAR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Polarization: In-Phase Components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x and y components of the E-field are in phase (δ=0) or anti-phase (δ=π), the tip of the E-field vector traces a straight line — linear polarization.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4405" y="1554480"/>
            <a:ext cx="3995190" cy="658368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034" y="2267712"/>
            <a:ext cx="4499932" cy="6217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84048" y="2980944"/>
            <a:ext cx="39776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3044952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polarization states at various angles θ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566928" y="4032504"/>
            <a:ext cx="3611880" cy="0"/>
          </a:xfrm>
          <a:prstGeom prst="line">
            <a:avLst/>
          </a:prstGeom>
          <a:noFill/>
          <a:ln w="10160">
            <a:solidFill>
              <a:srgbClr val="8DB0C8">
                <a:alpha val="60000"/>
              </a:srgbClr>
            </a:solidFill>
            <a:prstDash val="dash"/>
          </a:ln>
        </p:spPr>
      </p:sp>
      <p:sp>
        <p:nvSpPr>
          <p:cNvPr id="12" name="Shape 8"/>
          <p:cNvSpPr/>
          <p:nvPr/>
        </p:nvSpPr>
        <p:spPr>
          <a:xfrm>
            <a:off x="2372868" y="3300984"/>
            <a:ext cx="0" cy="1463040"/>
          </a:xfrm>
          <a:prstGeom prst="line">
            <a:avLst/>
          </a:prstGeom>
          <a:noFill/>
          <a:ln w="10160">
            <a:solidFill>
              <a:srgbClr val="8DB0C8">
                <a:alpha val="60000"/>
              </a:srgbClr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805940" y="4032504"/>
            <a:ext cx="1133856" cy="0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884932" y="3977640"/>
            <a:ext cx="109728" cy="1097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733507" y="390448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(0°)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2372868" y="4599432"/>
            <a:ext cx="0" cy="-1133856"/>
          </a:xfrm>
          <a:prstGeom prst="line">
            <a:avLst/>
          </a:prstGeom>
          <a:noFill/>
          <a:ln w="27940">
            <a:solidFill>
              <a:srgbClr val="0096B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318004" y="3410712"/>
            <a:ext cx="109728" cy="109728"/>
          </a:xfrm>
          <a:prstGeom prst="ellipse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98548" y="3269529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(90°)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1971989" y="4433383"/>
            <a:ext cx="801757" cy="-801757"/>
          </a:xfrm>
          <a:prstGeom prst="line">
            <a:avLst/>
          </a:prstGeom>
          <a:noFill/>
          <a:ln w="27940">
            <a:solidFill>
              <a:srgbClr val="FFB70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718883" y="3576761"/>
            <a:ext cx="109728" cy="109728"/>
          </a:xfrm>
          <a:prstGeom prst="ellips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47532" y="3455504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+45°</a:t>
            </a:r>
            <a:endParaRPr lang="en-US" sz="800" dirty="0"/>
          </a:p>
        </p:txBody>
      </p:sp>
      <p:sp>
        <p:nvSpPr>
          <p:cNvPr id="22" name="Shape 18"/>
          <p:cNvSpPr/>
          <p:nvPr/>
        </p:nvSpPr>
        <p:spPr>
          <a:xfrm>
            <a:off x="1971989" y="3631625"/>
            <a:ext cx="801757" cy="801757"/>
          </a:xfrm>
          <a:prstGeom prst="line">
            <a:avLst/>
          </a:prstGeom>
          <a:noFill/>
          <a:ln w="27940">
            <a:solidFill>
              <a:srgbClr val="06D6A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18883" y="4378519"/>
            <a:ext cx="109728" cy="109728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547532" y="435347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−45°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1881894" y="4315968"/>
            <a:ext cx="981948" cy="-566928"/>
          </a:xfrm>
          <a:prstGeom prst="line">
            <a:avLst/>
          </a:prstGeom>
          <a:noFill/>
          <a:ln w="27940">
            <a:solidFill>
              <a:srgbClr val="FB850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2808978" y="3694176"/>
            <a:ext cx="109728" cy="109728"/>
          </a:xfrm>
          <a:prstGeom prst="ellipse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2648439" y="3587008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4590288" y="2980944"/>
            <a:ext cx="4233672" cy="19202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590288" y="2980944"/>
            <a:ext cx="4233672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663440" y="2990088"/>
            <a:ext cx="4087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Malus's law and polarizer cascades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4663440" y="3273552"/>
            <a:ext cx="4069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polarizer transmits the projection of E onto its transmission axis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intensity: I = I₀cos²θ  (Malus's law, 1809)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crossed polarizers: I = I₀cos²90° = 0 (complete extinction)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polarizers at 0°, 45°, 90°: I = I₀ × cos²45° × cos²45° = I₀/4  (light gets through!)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Extinction ratio (ER): I_max/I_min — sheet: ~10³, Glan-Taylor prism: &gt;10⁵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ELLIPTICAL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Circular and Elliptical Polarization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two components have equal amplitude but a 90° phase difference, the E-field tip traces a circle. Unequal amplitudes or arbitrary phase give an ellipse — the most general polarization state.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531" y="1554480"/>
            <a:ext cx="3726937" cy="62179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65" y="2231136"/>
            <a:ext cx="4186071" cy="74980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518" y="3035808"/>
            <a:ext cx="4228965" cy="7315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858768"/>
            <a:ext cx="4160520" cy="105156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858768"/>
            <a:ext cx="416052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86791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polarization properties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133088"/>
            <a:ext cx="3995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RCP: E₀ₓ=E₀ᵧ=E₀, δ=−π/2. Tip rotates counter-clockwise viewed toward source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LCP: δ=+π/2. Tip rotates clockwise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spin: RCP carries +ℏ, LCP carries −ℏ angular momentum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activity: chiral molecules rotate the plane of linear polarization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858768"/>
            <a:ext cx="4160520" cy="105156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858768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867912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Ellipse parameters ψ and χ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133088"/>
            <a:ext cx="3995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 ∈ [0,π): orientation angle of ellipse major axis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 ∈ [−π/4,π/4]: ellipticity angle. χ=0 → linear, χ=±π/4 → circular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state lives on the Poincaré sphere: (2ψ,2χ) → (azimuth,elevation)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states on equator, circular at poles, elliptical in between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FRESNEL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Fresnel Equations: How Interfaces Create Polarization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any dielectric interface, s- and p-polarizations reflect and transmit differently. This is described by the Fresnel equations — derived from Maxwell's boundary conditions (continuity of tangential E and H).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1297" y="1581912"/>
            <a:ext cx="4301405" cy="713232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1297" y="2350008"/>
            <a:ext cx="4301405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347" y="3118104"/>
            <a:ext cx="5239306" cy="713232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320040" y="3913632"/>
            <a:ext cx="41605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320040" y="3913632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93192" y="392277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s and p polarizations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393192" y="4187952"/>
            <a:ext cx="3995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s-polarization (TE, senkrecht): E-field perpendicular to the plane of incidence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p-polarization (TM): E-field parallel to the plane of incidence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polarization = s + p decomposition at an interface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plane of incidence = plane containing incident ray and surface normal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3440" y="3913632"/>
            <a:ext cx="416052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391363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36592" y="392277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consequences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736592" y="4187952"/>
            <a:ext cx="3995928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incidence (θᵢ=0): Rₛ=Rₚ=(n₁−n₂)²/(n₁+n₂)² — glass~4% per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 incidence: both Rₛ→1 and Rₚ→1 (total reflection at θᵢ→90°)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Brewster's angle: Rₚ=0 — reflected light is purely s-polarized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shift: r&lt;0 means 180° phase flip (e.g. rₛ for n₁&lt;n₂ always negative)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BREWSTER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Brewster's Angle: Zero Reflection for p-Polarization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Brewster's angle θ_B = arctan(n₂/n₁), the reflected and refracted rays are perpendicular. The oscillating dipoles in the glass cannot radiate along their axis — so no p-polarized reflection occurs.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5281" y="1581912"/>
            <a:ext cx="3593439" cy="658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2331720"/>
            <a:ext cx="3977640" cy="2560320"/>
          </a:xfrm>
          <a:prstGeom prst="rect">
            <a:avLst/>
          </a:prstGeom>
          <a:solidFill>
            <a:srgbClr val="0A1628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0624" y="2395728"/>
            <a:ext cx="38313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Brewster angle geometry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438912" y="3721608"/>
            <a:ext cx="3794760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" y="3721608"/>
            <a:ext cx="3794760" cy="1078992"/>
          </a:xfrm>
          <a:prstGeom prst="rect">
            <a:avLst/>
          </a:prstGeom>
          <a:solidFill>
            <a:srgbClr val="0096B7">
              <a:alpha val="10000"/>
            </a:srgbClr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" y="26517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n₁ (air)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4632" y="37947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96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n₂ (glass)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36292" y="2651760"/>
            <a:ext cx="0" cy="2121408"/>
          </a:xfrm>
          <a:prstGeom prst="line">
            <a:avLst/>
          </a:prstGeom>
          <a:noFill/>
          <a:ln w="12700">
            <a:solidFill>
              <a:srgbClr val="8DB0C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578220" y="3210282"/>
            <a:ext cx="758072" cy="511326"/>
          </a:xfrm>
          <a:prstGeom prst="line">
            <a:avLst/>
          </a:prstGeom>
          <a:noFill/>
          <a:ln w="27940">
            <a:solidFill>
              <a:srgbClr val="00B4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36292" y="3721608"/>
            <a:ext cx="758072" cy="-511326"/>
          </a:xfrm>
          <a:prstGeom prst="line">
            <a:avLst/>
          </a:prstGeom>
          <a:noFill/>
          <a:ln w="22860">
            <a:solidFill>
              <a:srgbClr val="48CAE4"/>
            </a:solidFill>
            <a:prstDash val="dash"/>
          </a:ln>
        </p:spPr>
      </p:sp>
      <p:sp>
        <p:nvSpPr>
          <p:cNvPr id="17" name="Text 14"/>
          <p:cNvSpPr/>
          <p:nvPr/>
        </p:nvSpPr>
        <p:spPr>
          <a:xfrm>
            <a:off x="2791135" y="3440379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2336292" y="3721608"/>
            <a:ext cx="511326" cy="758072"/>
          </a:xfrm>
          <a:prstGeom prst="line">
            <a:avLst/>
          </a:prstGeom>
          <a:noFill/>
          <a:ln w="27940">
            <a:solidFill>
              <a:srgbClr val="06D6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769364" y="3218688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θ_B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372868" y="395020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θᵣ=90°-θ_B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84632" y="4544568"/>
            <a:ext cx="3703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θ_B + θᵣ = 90°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531322" y="3363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 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07992" y="2331720"/>
            <a:ext cx="4315968" cy="256032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07992" y="2331720"/>
            <a:ext cx="4315968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81144" y="2340864"/>
            <a:ext cx="4169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Brewster angle — key values and uses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81144" y="2624328"/>
            <a:ext cx="4133088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Air→glass (n₁=1, n₂=1.5): θ_B = arctan(1.5) = 56.3°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Air→water (n₂=1.33): θ_B = 53.1° — glare from wet road is s-polarized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 Brewster windows: tilted glass plates at θ_B give zero reflection loss for p-pol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by reflection: sunlight reflected from non-metallic surfaces is partially s-polarized — sunglasses with vertical-transmission polarizers remove glare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Anti-reflection: Brewster condition used in thin-film design for specific angles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p-pol: oscillating dipoles parallel to reflected direction → cannot radiate back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BIREFRINGENCE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Birefringence: Two Refractive Indices, One Crystal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 anisotropic crystal (e.g. calcite, quartz), the permittivity tensor ε is not scalar — it has different values along different crystal axes. Light polarized along the ordinary and extraordinary axes experiences different refractive indices nₒ and nₑ.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6589" y="1627632"/>
            <a:ext cx="4350822" cy="685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0040" y="2404872"/>
            <a:ext cx="4160520" cy="1572768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" y="2404872"/>
            <a:ext cx="416052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192" y="241401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wave plate works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93192" y="2679192"/>
            <a:ext cx="399592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birefringent plate cut to thickness t has its optic axis in the plane of the surface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ray (⊥ optic axis): travels at c/nₒ — unaffected by crystal direction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Extraordinary ray (‖ optic axis): travels at c/nₑ — different speed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difference (retardance): Γ = (2π/λ)(nₑ−nₒ)t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QWP: Γ=π/2 — converts linear↔circular. HWP: Γ=π — rotates linear by 2θ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663440" y="2404872"/>
            <a:ext cx="4160520" cy="1572768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63440" y="2404872"/>
            <a:ext cx="41605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36592" y="2414016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Birefringent materials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36592" y="2679192"/>
            <a:ext cx="399592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Calcite (CaCO₃): Δn = nₑ−nₒ = −0.172 — largest natural birefringence. Glan prisms.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Quartz (SiO₂ crystal): Δn = +0.009 — UV transparent, stable. Common wave plates.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MgF₂: Δn = +0.011 — UV wave plates to 120nm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YVO₄: Δn = +0.204 — very high birefringence, compact components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LiNbO₃: nₒ=2.286, nₑ=2.200 — EO modulator and wave plate combined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4069080"/>
            <a:ext cx="3977640" cy="896112"/>
          </a:xfrm>
          <a:prstGeom prst="rect">
            <a:avLst/>
          </a:prstGeom>
          <a:solidFill>
            <a:srgbClr val="0A1628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444752" y="4160520"/>
            <a:ext cx="1463040" cy="713232"/>
          </a:xfrm>
          <a:prstGeom prst="rect">
            <a:avLst/>
          </a:prstGeom>
          <a:solidFill>
            <a:srgbClr val="0096B7">
              <a:alpha val="25000"/>
            </a:srgbClr>
          </a:solidFill>
          <a:ln w="19050">
            <a:solidFill>
              <a:srgbClr val="0096B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673352" y="4517136"/>
            <a:ext cx="987552" cy="0"/>
          </a:xfrm>
          <a:prstGeom prst="line">
            <a:avLst/>
          </a:prstGeom>
          <a:noFill/>
          <a:ln w="19050">
            <a:solidFill>
              <a:srgbClr val="FFB70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81912" y="41788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512064" y="4361688"/>
            <a:ext cx="9144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2064" y="4672584"/>
            <a:ext cx="91440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421538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nₑ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530352" y="4727448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nₒ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2926080" y="4361688"/>
            <a:ext cx="100584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926080" y="4672584"/>
            <a:ext cx="100584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63040" y="4754880"/>
            <a:ext cx="142646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Γ = (2π/λ)(nₑ−nₒ)t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663440" y="4069080"/>
            <a:ext cx="4160520" cy="896112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663440" y="406908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407822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Dichroism: polarization by absorption</a:t>
            </a:r>
            <a:endParaRPr lang="en-US" sz="9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575" y="4325112"/>
            <a:ext cx="2825963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NATURAL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Polarization in Nature: Scattering, Optical Activity &amp; Stress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420624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Rayleigh Scattering (Sky)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31673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scattered by air molecules (size ≪ λ). Scattered intensity ∝ 1/λ⁴ (blue sky). At 90° from sun, scattered light is ~70% linearly s-polarized. Polarized sunglasses remove glare from sky, water, roads.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2412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8DB0C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24128"/>
            <a:ext cx="4206240" cy="256032"/>
          </a:xfrm>
          <a:prstGeom prst="rect">
            <a:avLst/>
          </a:prstGeom>
          <a:solidFill>
            <a:srgbClr val="8DB0C8"/>
          </a:solidFill>
          <a:ln w="12700">
            <a:solidFill>
              <a:srgbClr val="8DB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03327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 Scattering (Clouds)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31673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Scattering from particles ~ λ (water droplets). Much less polarization than Rayleigh. Clouds are white because large droplets scatter all wavelengths equally.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5000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50008"/>
            <a:ext cx="42062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35915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Activity (Chirality)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4261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Chiral molecules (sugars, proteins, quartz) rotate the plane of linear polarization. Specific rotation [α]: sugar at 589nm is +66.5°/dm per g/mL. Used in saccharimetry, drug purity testing, molecular biology.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35000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FB8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50008"/>
            <a:ext cx="4206240" cy="25603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35915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Faraday Effect (Magneto-optic)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264261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magnetic field B rotates polarization: θ_F = VBL (Verdet constant V). Non-reciprocal — backwards traversal rotates further, not back. Basis of optical isolators (Lecture 06, Jones).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67588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675888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368503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Photoelastic Stress Birefringence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396849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stress creates birefringence Δn ∝ stress. Stressed glass/plastic between crossed polarizers shows coloured fringe patterns. Used in engineering stress analysis (photoelasticity).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4206240" cy="123444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675888"/>
            <a:ext cx="420624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3685032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in Astronomy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968496"/>
            <a:ext cx="40050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Starlight polarized by aligned interstellar dust grains → maps galactic magnetic fields. CMB polarization (E/B modes) — evidence for primordial gravitational waves from inflation. Pulsar emission is highly polarized.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MEASUREMENT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Polarimetry: Measuring the Polarization State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fully characterise an arbitrary polarization state we need to measure its Stokes parameters S₀–S₃ — four real intensity measurements that capture amplitude, orientation, and handedness.</a:t>
            </a:r>
            <a:endParaRPr lang="en-US" sz="1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583" y="1554480"/>
            <a:ext cx="4015795" cy="1261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66360" y="1554480"/>
            <a:ext cx="3657600" cy="1261872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554480"/>
            <a:ext cx="365760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39512" y="1563624"/>
            <a:ext cx="3511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Four-measurement polarimetry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239512" y="1828800"/>
            <a:ext cx="34930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I₁: no filter → I₁ = S₀  (total power)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I₂: H polarizer → I₂ = (S₀+S₁)/2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I₃: +45° polarizer → I₃ = (S₀+S₂)/2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I₄: QWP + H polarizer → I₄ = (S₀+S₃)/2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Solve: S₁=2I₂−I₁, S₂=2I₃−I₁, S₃=2I₄−I₁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" y="2907792"/>
            <a:ext cx="420624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" y="2907792"/>
            <a:ext cx="4206240" cy="25603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93192" y="291693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Division-of-time (rotating wave plate)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3200400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QWP + fixed polarizer: measure Stokes by fitting intensity vs. angle. Sequential: slow but simple. Standard lab polarimeter.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907792"/>
            <a:ext cx="420624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2907792"/>
            <a:ext cx="420624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28032" y="291693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Division-of-amplitude (simultaneous)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846320" y="3200400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splitters + 4 detectors simultaneously — fast, no moving parts. Used in real-time polarimetry, biomedical imaging.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" y="4005072"/>
            <a:ext cx="420624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0040" y="4005072"/>
            <a:ext cx="420624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93192" y="401421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Polarimetry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11480" y="4297680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Wire-grid or nano-patterned micropolarizer arrays on a sensor. Each 2×2 pixel block has 0°,45°,90°,135° polarizers → full Stokes image at video rate.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4005072"/>
            <a:ext cx="4206240" cy="1005840"/>
          </a:xfrm>
          <a:prstGeom prst="rect">
            <a:avLst/>
          </a:prstGeom>
          <a:solidFill>
            <a:srgbClr val="1A2A3A"/>
          </a:solidFill>
          <a:ln w="10160">
            <a:solidFill>
              <a:srgbClr val="06D6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4005072"/>
            <a:ext cx="4206240" cy="2560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28032" y="401421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Ellipsometry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4846320" y="4297680"/>
            <a:ext cx="4005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Ψ and Δ at various wavelengths and angles → infer film thickness (sub-nm accuracy), optical constants n and k. Semiconductor fabrication, thin film characterization.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SUMMARY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Road Map: From Physics to Algebra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241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seen the physical picture of polarization. The next lectures give us the algebraic tools to calculate with it efficiently: Jones calculus for coherent beams, Mueller calculus for partially polarized light.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22860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16824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06040" y="1664208"/>
            <a:ext cx="228600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2616" y="1682496"/>
            <a:ext cx="2212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origin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92040" y="1664208"/>
            <a:ext cx="256032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682496"/>
            <a:ext cx="2487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tool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52360" y="1664208"/>
            <a:ext cx="1051560" cy="274320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88936" y="1682496"/>
            <a:ext cx="978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38528"/>
            <a:ext cx="2286000" cy="402336"/>
          </a:xfrm>
          <a:prstGeom prst="rect">
            <a:avLst/>
          </a:prstGeom>
          <a:solidFill>
            <a:srgbClr val="00B4D8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" y="197510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state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06040" y="1938528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2616" y="197510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E-field ellipse (Eₓ,Eᵧ,δ)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1938528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197510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Jones 2-vector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1938528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88936" y="197510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Jones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2286000" cy="402336"/>
          </a:xfrm>
          <a:prstGeom prst="rect">
            <a:avLst/>
          </a:prstGeom>
          <a:solidFill>
            <a:srgbClr val="00B4D8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" y="241401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component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606040" y="2377440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42616" y="241401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absorption/reflection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92040" y="2377440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28616" y="241401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Jones 2×2 matrix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452360" y="2377440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88936" y="241401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Jones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2816352"/>
            <a:ext cx="2286000" cy="402336"/>
          </a:xfrm>
          <a:prstGeom prst="rect">
            <a:avLst/>
          </a:prstGeom>
          <a:solidFill>
            <a:srgbClr val="00B4D8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" y="2852928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of elements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606040" y="2816352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42616" y="2852928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of matrices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92040" y="2816352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28616" y="285292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Jₙ···J₁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52360" y="2816352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285292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Jones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255264"/>
            <a:ext cx="2286000" cy="402336"/>
          </a:xfrm>
          <a:prstGeom prst="rect">
            <a:avLst/>
          </a:prstGeom>
          <a:solidFill>
            <a:srgbClr val="9B5DE5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616" y="3291840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polarization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606040" y="3255264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42616" y="3291840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Incoherent superposition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92040" y="3255264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28616" y="3291840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Stokes 4-vector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52360" y="3255264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88936" y="3291840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Mueller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20040" y="3694176"/>
            <a:ext cx="2286000" cy="402336"/>
          </a:xfrm>
          <a:prstGeom prst="rect">
            <a:avLst/>
          </a:prstGeom>
          <a:solidFill>
            <a:srgbClr val="9B5DE5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" y="37307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optical element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606040" y="3694176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42616" y="3730752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+ depolarization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92040" y="3694176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28616" y="3730752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Mueller 4×4 matrix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452360" y="3694176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88936" y="3730752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Mueller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20040" y="4133088"/>
            <a:ext cx="2286000" cy="402336"/>
          </a:xfrm>
          <a:prstGeom prst="rect">
            <a:avLst/>
          </a:prstGeom>
          <a:solidFill>
            <a:srgbClr val="9B5DE5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56616" y="416966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of polarization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606040" y="4133088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42616" y="4169664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coherent + incoherent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892040" y="4133088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28616" y="4169664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 = √(S₁²+S₂²+S₃²)/S₀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52360" y="4133088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88936" y="4169664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Mueller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4572000"/>
            <a:ext cx="2286000" cy="402336"/>
          </a:xfrm>
          <a:prstGeom prst="rect">
            <a:avLst/>
          </a:prstGeom>
          <a:solidFill>
            <a:srgbClr val="0096B7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" y="460857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Birefringence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606040" y="4572000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642616" y="4608576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εᵣ tensor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892040" y="4572000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928616" y="4608576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 plate Jones matrix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452360" y="4572000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88936" y="4608576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Jones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20040" y="5010912"/>
            <a:ext cx="2286000" cy="402336"/>
          </a:xfrm>
          <a:prstGeom prst="rect">
            <a:avLst/>
          </a:prstGeom>
          <a:solidFill>
            <a:srgbClr val="FB8500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56616" y="5047488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Brewster / Fresnel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606040" y="5010912"/>
            <a:ext cx="228600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642616" y="5047488"/>
            <a:ext cx="22128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boundary conditions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4892040" y="5010912"/>
            <a:ext cx="256032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928616" y="5047488"/>
            <a:ext cx="2487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Fresnel rₛ,rₚ → r,t matrices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452360" y="5010912"/>
            <a:ext cx="1051560" cy="402336"/>
          </a:xfrm>
          <a:prstGeom prst="rect">
            <a:avLst/>
          </a:prstGeom>
          <a:solidFill>
            <a:srgbClr val="1A2A3A"/>
          </a:solidFill>
          <a:ln w="5080">
            <a:solidFill>
              <a:srgbClr val="1B2E4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88936" y="504748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B70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Lec 05 (here)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320040" y="5029200"/>
            <a:ext cx="8503920" cy="109728"/>
          </a:xfrm>
          <a:prstGeom prst="rect">
            <a:avLst/>
          </a:prstGeom>
          <a:solidFill>
            <a:srgbClr val="1B2E4A"/>
          </a:solidFill>
          <a:ln w="12700">
            <a:solidFill>
              <a:srgbClr val="1B2E4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5047488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every polarization state is a point on (or inside) the Poincaré sphere. Every optical element moves that point on the sphere. Jones and Mueller calculus make this movement computable.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D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POLARIZATION · REFERENCES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292608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Polarization: References, Problems &amp; Projects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" y="941832"/>
            <a:ext cx="8503920" cy="0"/>
          </a:xfrm>
          <a:prstGeom prst="line">
            <a:avLst/>
          </a:prstGeom>
          <a:noFill/>
          <a:ln w="1905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160520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References &amp; Reading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Hecht, Optics, 5th ed. — Ch. 8: polarization. Excellent intuitive coverage with worked examples.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&amp; Wolf, Principles of Optics — Ch. 1.4–1.5: polarization states; Ch. 1.5: Fresnel equations.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 &amp; White, Fundamentals of Optics — Ch. 24–26: polarization and crystal optics.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Saleh &amp; Teich, Fundamentals of Photonics — Ch. 6.1: polarization and crystal optics.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Pedrotti, Introduction to Optics — Ch. 14–16: polarization, birefringence, Fresnel.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60520" cy="2331720"/>
          </a:xfrm>
          <a:prstGeom prst="rect">
            <a:avLst/>
          </a:prstGeom>
          <a:solidFill>
            <a:srgbClr val="1A2A3A"/>
          </a:solidFill>
          <a:ln w="1016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4160520" cy="25603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014984"/>
            <a:ext cx="4014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/ Advanced References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1298448"/>
            <a:ext cx="3995928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Yariv &amp; Yeh, Optical Waves in Crystals (1984): rigorous tensor treatment of polarization in crystals.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Chipman, Handbook of Optics Vol. II, Ch. 22: polarimetry and measurement of polarization.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Azzam &amp; Bashara, Ellipsometry and Polarized Light (1977) — North-Holland. Definitive.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Collett, Field Guide to Polarization (SPIE 2005): compact graduate reference.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Huard, Polarization of Light (1997) — Wiley. Strong on Poincaré sphere and experiments.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29000"/>
            <a:ext cx="8503920" cy="1508760"/>
          </a:xfrm>
          <a:prstGeom prst="rect">
            <a:avLst/>
          </a:prstGeom>
          <a:solidFill>
            <a:srgbClr val="1A2A3A"/>
          </a:solidFill>
          <a:ln w="10160">
            <a:solidFill>
              <a:srgbClr val="FFB70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429000"/>
            <a:ext cx="8503920" cy="2560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438144"/>
            <a:ext cx="8357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Sets &amp; Projects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93192" y="3721608"/>
            <a:ext cx="832104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Show that for normal incidence on glass (n=1.5), R = ((n−1)/(n+1))² ≈ 4% per surface from the Fresnel equations.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A wave plate has Δn=0.009 (quartz) at λ=633nm. What thickness gives (a) a QWP, (b) a HWP? Compute both in mm.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Light at 45° passes through three polarizers at 0°, 45°, 90°. Compute output intensity as a fraction of input using Malus's law at each step.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[BSc] Find Brewster's angle for an air-glass interface (n=1.5) and for air-water (n=1.33). Verify θ_B + θ_refracted = 90° in each case.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Derive the Fresnel equation for rₛ from Maxwell's boundary conditions (tangential E continuous, tangential H continuous).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[MSc] Starting from the ellipse equation, derive the expressions for ψ (tilt angle) and χ (ellipticity angle) in terms of E₀ₓ, E₀ᵧ, and δ.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 Project] Build a Mueller matrix ellipsometer in simulation: generate synthetic Ψ(λ) and Δ(λ) data for a thin SiO₂ film on Si, then invert to recover film thickness.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Optics — Lecture 05: Introduction to Polarization</dc:title>
  <dc:subject>Lecture 05</dc:subject>
  <dc:creator>Linear Optics Course</dc:creator>
  <cp:lastModifiedBy>Linear Optics Course</cp:lastModifiedBy>
  <cp:revision>1</cp:revision>
  <dcterms:created xsi:type="dcterms:W3CDTF">2026-04-18T06:10:58Z</dcterms:created>
  <dcterms:modified xsi:type="dcterms:W3CDTF">2026-04-18T06:10:58Z</dcterms:modified>
</cp:coreProperties>
</file>