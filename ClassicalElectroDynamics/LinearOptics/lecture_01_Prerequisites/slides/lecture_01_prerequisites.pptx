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274320"/>
            <a:ext cx="3657600" cy="41148"/>
          </a:xfrm>
          <a:prstGeom prst="ellipse">
            <a:avLst/>
          </a:prstGeom>
          <a:solidFill>
            <a:srgbClr val="06D6A0">
              <a:alpha val="22000"/>
            </a:srgbClr>
          </a:solidFill>
          <a:ln w="12700">
            <a:solidFill>
              <a:srgbClr val="06D6A0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502920"/>
            <a:ext cx="3657600" cy="41148"/>
          </a:xfrm>
          <a:prstGeom prst="ellipse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280160"/>
            <a:ext cx="3657600" cy="41148"/>
          </a:xfrm>
          <a:prstGeom prst="ellipse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2057400"/>
            <a:ext cx="3657600" cy="41148"/>
          </a:xfrm>
          <a:prstGeom prst="ellipse">
            <a:avLst/>
          </a:prstGeom>
          <a:solidFill>
            <a:srgbClr val="06D6A0">
              <a:alpha val="16000"/>
            </a:srgbClr>
          </a:solidFill>
          <a:ln w="12700">
            <a:solidFill>
              <a:srgbClr val="06D6A0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834640"/>
            <a:ext cx="3657600" cy="41148"/>
          </a:xfrm>
          <a:prstGeom prst="ellipse">
            <a:avLst/>
          </a:prstGeom>
          <a:solidFill>
            <a:srgbClr val="06D6A0">
              <a:alpha val="14000"/>
            </a:srgbClr>
          </a:solidFill>
          <a:ln w="12700">
            <a:solidFill>
              <a:srgbClr val="06D6A0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3611880"/>
            <a:ext cx="3657600" cy="41148"/>
          </a:xfrm>
          <a:prstGeom prst="ellipse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9601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Prerequisites for Senior High Schoolers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Refraction, Snell's Law, Matrices — Everything You Need Before the Course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Optics Course  ·  All formulas typeset with LaTeX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Light? Waves, Rays &amp; Photons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4069080" cy="3913632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406908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33272"/>
            <a:ext cx="3922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Picture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316736"/>
            <a:ext cx="390448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Electromagnetic wave — oscillating E and B fields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c = 1/√(ε₀μ₀) ≈ 3×10⁸ m/s in vacuum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 λ: crest-to-crest distance (visible: 380–740 nm)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ν: oscillations per second. Relation: c = λν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Polarization: direction of the E-field oscillation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is determined by wavelength: red ~700 nm, blue ~450 nm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3364992"/>
            <a:ext cx="3904488" cy="62343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0" y="1024128"/>
            <a:ext cx="4251960" cy="3913632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1024128"/>
            <a:ext cx="425196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45152" y="1033272"/>
            <a:ext cx="4105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Ray Model &amp; Photons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645152" y="1316736"/>
            <a:ext cx="404164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travels in straight lines (rays) when λ ≪ objects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optics is the basis of lenses, mirrors, telescopes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is quantized into photons: energy E = hν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Wave-particle duality: single photons produce interference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optics: photon number unchanged, only paths &amp; phases altered</a:t>
            </a:r>
            <a:endParaRPr lang="en-US" sz="10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3127248"/>
            <a:ext cx="4041648" cy="6453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Snell's Law: Refraction &amp; Reflection — Detailed Diagram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4572000" cy="1828800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4572000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33272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Reflection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316736"/>
            <a:ext cx="440740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of incidence θᵢ = angle of reflection θᵣ (from normal)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ray, reflected ray, and normal are coplanar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θᵢ = θᵣ  for all smooth (specular) surfaces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944368"/>
            <a:ext cx="4572000" cy="1965960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944368"/>
            <a:ext cx="457200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2953512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Snell's Law of Refraction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3192" y="3236976"/>
            <a:ext cx="4407408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bends when crossing a boundary between two media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n₂ &gt; n₁: beam bends toward normal (e.g. air → glass)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n₂ &lt; n₁: beam bends away (e.g. glass → air)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θ₁ &gt; θc = arcsin(n₂/n₁): Total Internal Reflection (TIR)</a:t>
            </a:r>
            <a:endParaRPr lang="en-US" sz="10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695" y="4663440"/>
            <a:ext cx="3116403" cy="41148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24128"/>
            <a:ext cx="379476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Snell's Law: Numerical Example &amp; Total Internal Reflection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465" y="1024128"/>
            <a:ext cx="4501471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691640"/>
            <a:ext cx="4846320" cy="128016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691640"/>
            <a:ext cx="48463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" y="1700784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air → glass (n₁=1.0, n₂=1.5, θ₁=30°)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93192" y="1984248"/>
            <a:ext cx="4681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Snell's law: n₁ sinθ₁ = n₂ sinθ₂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Substitute: (1.0)×sin(30°) = (1.5)×sinθ₂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sin(30°)=0.5, so sinθ₂ = 0.5/1.5 = 0.333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θ₂ = arcsin(0.333) ≈ 19.5° — beam bends toward normal ✓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3035808"/>
            <a:ext cx="4846320" cy="1298448"/>
          </a:xfrm>
          <a:prstGeom prst="rect">
            <a:avLst/>
          </a:prstGeom>
          <a:solidFill>
            <a:srgbClr val="1A2A3A"/>
          </a:solidFill>
          <a:ln w="1016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3035808"/>
            <a:ext cx="4846320" cy="2560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" y="3044952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Internal Reflection (TIR)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93192" y="3328416"/>
            <a:ext cx="4681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n₁ &gt; n₂ there is a critical angle θc = arcsin(n₂/n₁). For θ₁ &gt; θc, NO refracted ray exists — all light reflects. This is the basis of optical fibers.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578" y="4242816"/>
            <a:ext cx="3296956" cy="5669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349240" y="1024128"/>
            <a:ext cx="3474720" cy="3886200"/>
          </a:xfrm>
          <a:prstGeom prst="rect">
            <a:avLst/>
          </a:prstGeom>
          <a:solidFill>
            <a:srgbClr val="1A2A3A"/>
          </a:solidFill>
          <a:ln w="1016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49240" y="1024128"/>
            <a:ext cx="34747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422392" y="1033272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— Fibre Optic Principle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5422392" y="1316736"/>
            <a:ext cx="331012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core n₁=1.46, cladding n₂=1.44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θc = arcsin(1.44/1.46) = 80.5°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launched within acceptance cone totally internally reflects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Propagates km with &lt;0.2 dB/km loss (single-mode fibre)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of global internet infrastructure</a:t>
            </a:r>
            <a:endParaRPr lang="en-US" sz="10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3822192"/>
            <a:ext cx="3310128" cy="4472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Matrices: From Linear Equations to ABCD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 is a rectangular array of numbers. Multiplying a 2×2 matrix by a 2-vector transforms one vector into another — exactly what an optical element does to a ray.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248" y="1581912"/>
            <a:ext cx="4785904" cy="960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2633472"/>
            <a:ext cx="4846320" cy="160020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2633472"/>
            <a:ext cx="48463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" y="2642616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rule for 2×2 × 2-vector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93192" y="2907792"/>
            <a:ext cx="46817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output:    y₂ = A·y₁ + B·θ₁  (top row dotted with input vector)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output: θ₂ = C·y₁ + D·θ₁  (bottom row dotted with input)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output is a weighted sum — this is a linear map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N elements: multiply matrices right-to-left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082" y="4297680"/>
            <a:ext cx="4030235" cy="5486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349240" y="1024128"/>
            <a:ext cx="3474720" cy="3913632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349240" y="1024128"/>
            <a:ext cx="34747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22392" y="1033272"/>
            <a:ext cx="3328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Air → Glass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422392" y="1316736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n₁=1.0, n₂=1.5, ray: y₁=2mm, θ₁=0.1 rad</a:t>
            </a:r>
            <a:endParaRPr lang="en-US" sz="10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1700784"/>
            <a:ext cx="3337560" cy="6695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22392" y="2578608"/>
            <a:ext cx="331012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y₂ = 1·2.0 + 0·0.1 = 2.0 mm  (height unchanged)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θ₂ = 0·2.0 + 0.667·0.1 = 0.0667 rad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Bends toward normal ✓  (0.1 → 0.067 rad)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sin(0.1)≈0.1, ×(1.0/1.5) = 0.067 ✓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672" y="4041648"/>
            <a:ext cx="3337560" cy="6695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Matrix Multiplication &amp; Cascading Two Elements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638" y="1024128"/>
            <a:ext cx="4558004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2029968"/>
            <a:ext cx="5029200" cy="1536192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2029968"/>
            <a:ext cx="502920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" y="2039112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lens example: f=100mm, y₁=5mm, θ₁=0 rad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93192" y="2304288"/>
            <a:ext cx="4864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matrix: M = [1,0; -1/f, 1] = [1,0; -0.01, 1]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   y₂ = 1×5 + 0×0 = 5.0 mm  (height unchanged)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Bottom: θ₂ = -0.01×5 + 1×0 = -0.05 rad  (tilted toward axis)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100mm free space: y = 5 + (-0.05)×100 = 0 → focused! ✓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3639312"/>
            <a:ext cx="5029200" cy="1481328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3639312"/>
            <a:ext cx="502920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" y="3648456"/>
            <a:ext cx="4882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Cascading: 50mm free space then lens f=100mm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161" y="3931920"/>
            <a:ext cx="3694382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3192" y="44805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M_lens × M_free = [1,0;-0.01,1] × [1,50;0,1] = [1,50;-0.01,0.5]  ← one matrix replaces both elements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0" y="1024128"/>
            <a:ext cx="3337560" cy="4096512"/>
          </a:xfrm>
          <a:prstGeom prst="rect">
            <a:avLst/>
          </a:prstGeom>
          <a:solidFill>
            <a:srgbClr val="1A2A3A"/>
          </a:solidFill>
          <a:ln w="10160">
            <a:solidFill>
              <a:srgbClr val="1A2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0" y="1024128"/>
            <a:ext cx="333756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559552" y="1033272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matrices are powerful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5559552" y="1316736"/>
            <a:ext cx="317296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optical element → one 2×2 matrix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number of elements → one matrix product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ray through a telescope with one multiply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ABCD (Ray Transfer Matrix) method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in full depth in Lecture 2</a:t>
            </a:r>
            <a:endParaRPr lang="en-US" sz="10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3639312"/>
            <a:ext cx="3172968" cy="6365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School Reading List &amp; Resources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850392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24128"/>
            <a:ext cx="201168" cy="89611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69848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Feynman Lectures on Physics, Vol. I — Ch. 26–36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389888"/>
            <a:ext cx="7818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Optics, reflection, refraction, diffraction, interference. Free at feynmanlectures.caltech.edu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850392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011680"/>
            <a:ext cx="201168" cy="8961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057400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Hecht, Optics (5th ed.) — Chapters 1–4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7818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of light, reflection, refraction, basic wave optics. The standard BSc optics text with excellent diagrams.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999232"/>
            <a:ext cx="850392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999232"/>
            <a:ext cx="201168" cy="89611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44952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Jenkins &amp; White, Fundamentals of Optics — Ch. 1–3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64992"/>
            <a:ext cx="7818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clear introduction to ray optics and laws of reflection/refraction.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986784"/>
            <a:ext cx="850392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986784"/>
            <a:ext cx="201168" cy="8961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032504"/>
            <a:ext cx="7818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Halliday, Resnick &amp; Walker, Physics — Ch. 33–36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352544"/>
            <a:ext cx="7818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waves, reflection, refraction, interference, diffraction. Standard pre-university text.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98348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Online: PhET 'Bending Light' &amp; 'Wave Interference' (phet.colorado.edu)  ·  Khan Academy: Geometric Optics unit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Optics — Lecture 0: Prerequisites</dc:title>
  <dc:subject>Lecture 0</dc:subject>
  <dc:creator>Linear Optics Course</dc:creator>
  <cp:lastModifiedBy>Linear Optics Course</cp:lastModifiedBy>
  <cp:revision>1</cp:revision>
  <dcterms:created xsi:type="dcterms:W3CDTF">2026-04-18T06:10:54Z</dcterms:created>
  <dcterms:modified xsi:type="dcterms:W3CDTF">2026-04-18T06:10:54Z</dcterms:modified>
</cp:coreProperties>
</file>