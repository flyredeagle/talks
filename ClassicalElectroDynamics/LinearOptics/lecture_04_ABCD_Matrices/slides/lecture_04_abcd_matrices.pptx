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solidFill>
            <a:srgbClr val="1B2E4A"/>
          </a:solidFill>
          <a:ln w="12700">
            <a:solidFill>
              <a:srgbClr val="1B2E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-274320"/>
            <a:ext cx="3657600" cy="41148"/>
          </a:xfrm>
          <a:prstGeom prst="ellipse">
            <a:avLst/>
          </a:prstGeom>
          <a:solidFill>
            <a:srgbClr val="0096B7">
              <a:alpha val="22000"/>
            </a:srgbClr>
          </a:solidFill>
          <a:ln w="12700">
            <a:solidFill>
              <a:srgbClr val="0096B7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20840" y="502920"/>
            <a:ext cx="3657600" cy="41148"/>
          </a:xfrm>
          <a:prstGeom prst="ellipse">
            <a:avLst/>
          </a:prstGeom>
          <a:solidFill>
            <a:srgbClr val="0096B7">
              <a:alpha val="20000"/>
            </a:srgbClr>
          </a:solidFill>
          <a:ln w="12700">
            <a:solidFill>
              <a:srgbClr val="0096B7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0" y="1280160"/>
            <a:ext cx="3657600" cy="41148"/>
          </a:xfrm>
          <a:prstGeom prst="ellipse">
            <a:avLst/>
          </a:prstGeom>
          <a:solidFill>
            <a:srgbClr val="0096B7">
              <a:alpha val="18000"/>
            </a:srgbClr>
          </a:solidFill>
          <a:ln w="12700">
            <a:solidFill>
              <a:srgbClr val="0096B7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60920" y="2057400"/>
            <a:ext cx="3657600" cy="41148"/>
          </a:xfrm>
          <a:prstGeom prst="ellipse">
            <a:avLst/>
          </a:prstGeom>
          <a:solidFill>
            <a:srgbClr val="0096B7">
              <a:alpha val="16000"/>
            </a:srgbClr>
          </a:solidFill>
          <a:ln w="12700">
            <a:solidFill>
              <a:srgbClr val="0096B7">
                <a:alpha val="1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0" y="2834640"/>
            <a:ext cx="3657600" cy="41148"/>
          </a:xfrm>
          <a:prstGeom prst="ellipse">
            <a:avLst/>
          </a:prstGeom>
          <a:solidFill>
            <a:srgbClr val="0096B7">
              <a:alpha val="14000"/>
            </a:srgbClr>
          </a:solidFill>
          <a:ln w="12700">
            <a:solidFill>
              <a:srgbClr val="0096B7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3611880"/>
            <a:ext cx="3657600" cy="41148"/>
          </a:xfrm>
          <a:prstGeom prst="ellipse">
            <a:avLst/>
          </a:prstGeom>
          <a:solidFill>
            <a:srgbClr val="0096B7">
              <a:alpha val="12000"/>
            </a:srgbClr>
          </a:solidFill>
          <a:ln w="12700">
            <a:solidFill>
              <a:srgbClr val="0096B7">
                <a:alpha val="1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96012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ABCD Ray Transfer Matrices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502920" y="23774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Paraxial Optics · Component Matrices · System Design · Telescope Examples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446227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Optics Course  ·  All formulas typeset with LaTeX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ABCD MATRICES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Paraxial Approximation &amp; ABCD Formalism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paraxial (small-angle) approximation sinθ ≈ θ linearises ray propagation, enabling every optical element to be a 2×2 real matrix: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969" y="1554480"/>
            <a:ext cx="3781063" cy="932688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627" y="2542032"/>
            <a:ext cx="4231747" cy="658368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349" y="3246120"/>
            <a:ext cx="3440302" cy="566928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577840" y="1024128"/>
            <a:ext cx="3246120" cy="3913632"/>
          </a:xfrm>
          <a:prstGeom prst="rect">
            <a:avLst/>
          </a:prstGeom>
          <a:solidFill>
            <a:srgbClr val="1A2A3A"/>
          </a:solidFill>
          <a:ln w="10160">
            <a:solidFill>
              <a:srgbClr val="0096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5577840" y="1024128"/>
            <a:ext cx="3246120" cy="256032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5650992" y="1033272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ABCD Element Meanings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5650992" y="1316736"/>
            <a:ext cx="3081528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y₂/y₁ at θ₁=0  (transverse magnification)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y₂/θ₁ at y₁=0  (units of length)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θ₂/y₁ at θ₁=0  (optical power = −C)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θ₂/θ₁ at y₁=0  (angular magnification)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det(M) = 1  (homogeneous medium)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0: imaging condition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0: afocal (telescope)</a:t>
            </a:r>
            <a:endParaRPr lang="en-US" sz="10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0992" y="3429000"/>
            <a:ext cx="3081528" cy="50780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ABCD MATRICES · COMPONENTS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Optical Component Schematic Symbols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optical element has a standard schematic symbol used in ray diagrams and system layouts: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490472"/>
            <a:ext cx="8503920" cy="33101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4864608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Biconvex lens · Concave mirror · GRIN rod · Dispersing prism · Wave plate (Δφ) · Wire-grid polarizer · BS cube · EOM (LiNbO₃ crystal with electrodes)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ABCD MATRICES · MATERIALS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Optical Materials: Crystal Structures &amp; Microstructures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macroscopic optical properties arise from the microscopic crystal structure. Here is the structural origin of key materials: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517904"/>
            <a:ext cx="8503920" cy="32186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4791456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BK7 amorphous SiO₂ · Calcite trigonal R3̄c · LiNbO₃ trigonal R3c · YIG cubic Ia3̄d · GRIN fibre graded GeO₂ core · Si diamond cubic Fd3̄m · Au FCC thin film · TiO₂/SiO₂ DBR multilayer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ABCD MATRICES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ABCD: Free-Space Propagation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24128"/>
            <a:ext cx="4114800" cy="160020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918" y="2697480"/>
            <a:ext cx="4011044" cy="8046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0040" y="356616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increases with angle (y₂ = y₁ + d·θ₁). Angle unchanged. In medium n: replace d with d/n (reduced distance).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88" y="4224528"/>
            <a:ext cx="3418503" cy="68580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617720" y="1024128"/>
            <a:ext cx="4206240" cy="3913632"/>
          </a:xfrm>
          <a:prstGeom prst="rect">
            <a:avLst/>
          </a:prstGeom>
          <a:solidFill>
            <a:srgbClr val="1A2A3A"/>
          </a:solidFill>
          <a:ln w="10160">
            <a:solidFill>
              <a:srgbClr val="0096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4617720" y="1024128"/>
            <a:ext cx="4206240" cy="256032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4690872" y="1033272"/>
            <a:ext cx="4059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Microscopic Origin &amp; Materials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4690872" y="1316736"/>
            <a:ext cx="4041648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vacuum light travels at c with no interaction. In a dielectric, the macroscopic n = √εᵣ emerges from the Clausius-Mossotti relation linking atomic polarizability to εᵣ. Electrons oscillate driven by E; their re-radiated field slows propagation to c/n.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 of BK7 (n=1.517) → d_eff = 0.659 m for ray-matrix purposes.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 of Si (n=3.48) → d_eff = 0.287 m.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4690872" y="3337560"/>
            <a:ext cx="40416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(λ=589nm):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Air 1.0003 · BK7 1.517 · SiO₂ 1.458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 3.48 · Ge 4.0 · GaAs 3.6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ABCD MATRICES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ABCD: Thin Lens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24128"/>
            <a:ext cx="4114800" cy="160020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918" y="2697480"/>
            <a:ext cx="4011044" cy="8046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0040" y="3566160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 changes angle but not height. Cascade M_free(d₂)·M_lens·M_free(d₁), set B=0 to get 1/f = 1/d₁+1/d₂.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334" y="4187952"/>
            <a:ext cx="3884212" cy="64008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617720" y="1024128"/>
            <a:ext cx="4206240" cy="3913632"/>
          </a:xfrm>
          <a:prstGeom prst="rect">
            <a:avLst/>
          </a:prstGeom>
          <a:solidFill>
            <a:srgbClr val="1A2A3A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4617720" y="1024128"/>
            <a:ext cx="420624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4690872" y="1033272"/>
            <a:ext cx="4059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Microscopic Structure &amp; Materials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4690872" y="1316736"/>
            <a:ext cx="404164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 lenses are amorphous SiO₂ networks. Curved surfaces ground/polished to sub-λ roughness. AR coatings reduce Fresnel reflection &lt;0.1% per surface.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Refractive index from electronic polarizability of Si-O bonds (Kramers-Kronig). Dispersion from UV electronic and mid-IR phonon resonances.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4690872" y="3200400"/>
            <a:ext cx="4041648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BK7: n=1.517, V=64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Fused SiO₂: n=1.458, V=68, UV grade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N-SF11: n=1.784, V=25 (dense flint)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CaF₂: n=1.434, UV &amp; IR range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Si, Ge: mid-IR optics (3–12 μm)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ABCD MATRICES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ABCD: Curved Mirror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24128"/>
            <a:ext cx="4114800" cy="160020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918" y="2697480"/>
            <a:ext cx="4011044" cy="8046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0040" y="35661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to thin lens with f = R/2. In an unfolded cavity diagram, mirrors → equivalent lenses.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845" y="4133088"/>
            <a:ext cx="3995190" cy="658368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617720" y="1024128"/>
            <a:ext cx="4206240" cy="3913632"/>
          </a:xfrm>
          <a:prstGeom prst="rect">
            <a:avLst/>
          </a:prstGeom>
          <a:solidFill>
            <a:srgbClr val="1A2A3A"/>
          </a:solidFill>
          <a:ln w="10160">
            <a:solidFill>
              <a:srgbClr val="0096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4617720" y="1024128"/>
            <a:ext cx="4206240" cy="256032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4690872" y="1033272"/>
            <a:ext cx="4059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Microscopic Structure &amp; Materials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4690872" y="1316736"/>
            <a:ext cx="4041648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Metallic mirrors: Al, Ag, Au thin films (~100 nm) evaporated onto polished glass. Ag: R~98% VIS; Au: R~98% NIR/IR.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Dielectric mirrors: alternating λ/4 layers TiO₂ (n~2.3)/SiO₂ (n~1.45). 20–40 pairs → R&gt;99.99%. Supermirrors for cavity QED reach R&gt;99.9999%.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Substrate: Zerodur® or ULE® glass-ceramic for ultra-low thermal expansion.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4690872" y="3337560"/>
            <a:ext cx="40416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Al: telescopes, broadband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Ag: spectroscopy, optical clocks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Au: IR/THz, λ&gt;700nm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DBR stacks: laser cavities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ABCD MATRICES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ABCD: Thick Lens &amp; Dielectric Slab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24128"/>
            <a:ext cx="4114800" cy="160020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697480"/>
            <a:ext cx="4114800" cy="825487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88" y="3703320"/>
            <a:ext cx="3418503" cy="6858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4617720" y="1024128"/>
            <a:ext cx="4206240" cy="3913632"/>
          </a:xfrm>
          <a:prstGeom prst="rect">
            <a:avLst/>
          </a:prstGeom>
          <a:solidFill>
            <a:srgbClr val="1A2A3A"/>
          </a:solidFill>
          <a:ln w="1016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5"/>
          <p:cNvSpPr/>
          <p:nvPr/>
        </p:nvSpPr>
        <p:spPr>
          <a:xfrm>
            <a:off x="4617720" y="1024128"/>
            <a:ext cx="4206240" cy="2560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4690872" y="1033272"/>
            <a:ext cx="4059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 Lens &amp; Apparent Shift</a:t>
            </a:r>
            <a:endParaRPr lang="en-US" sz="950" dirty="0"/>
          </a:p>
        </p:txBody>
      </p:sp>
      <p:sp>
        <p:nvSpPr>
          <p:cNvPr id="12" name="Text 7"/>
          <p:cNvSpPr/>
          <p:nvPr/>
        </p:nvSpPr>
        <p:spPr>
          <a:xfrm>
            <a:off x="4690872" y="1316736"/>
            <a:ext cx="4041648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planes H,H' shift inward from vertices for biconvex lens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EFL measured from H,H' — not from lens surfaces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Slab shifts apparent object position: δ = t(1−1/n) toward observer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in microscopy: coverslip correction collar, oil immersion (n=1.515)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0.17mm coverslip, n=1.515: δ = 0.17×(1−1/1.515) ≈ 0.058 mm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Apparent thickness of a fish tank wall from outside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ABCD MATRICES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ABCD: Gradient-Index (GRIN) Medium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221" y="1024128"/>
            <a:ext cx="4974838" cy="12984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2395728"/>
            <a:ext cx="5029200" cy="2542032"/>
          </a:xfrm>
          <a:prstGeom prst="rect">
            <a:avLst/>
          </a:prstGeom>
          <a:solidFill>
            <a:srgbClr val="1A2A3A"/>
          </a:solidFill>
          <a:ln w="1016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2395728"/>
            <a:ext cx="5029200" cy="2560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93192" y="2404872"/>
            <a:ext cx="4882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Microscopic Structure &amp; Materials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93192" y="2688336"/>
            <a:ext cx="4864608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GRIN lenses fabricated by controlled ion-exchange: immersing glass in molten salt bath (AgNO₃ or TlNO₃) replaces Na⁺ ions, creating graded dopant → parabolic n(r). Quarter-pitch rod (L=π/2√α) collimates a point source; half-pitch images input to output plane.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GRIN preforms: modified CVD (MCVD) — layer-by-layer SiO₂/GeO₂ deposition with graded Ge doping.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93192" y="4434840"/>
            <a:ext cx="48646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NSG Selfoc® GRIN rods · GRIN fiber collimators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GRIN endoscope objectives · LIDAR · OM3/OM4/OM5</a:t>
            </a:r>
            <a:endParaRPr lang="en-US" sz="10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024128"/>
            <a:ext cx="3291840" cy="39136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ABCD MATRICES · TELESCOPE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Extended Example: Refracting Telescope (Two Doublet Groups)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refractor telescope is an afocal (C=0) system: objective + eyepiece separated by f_obj+f_eye. We trace a ray through all planes using the ABCD cascade: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581912"/>
            <a:ext cx="8503920" cy="1481328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836" y="3127248"/>
            <a:ext cx="3820327" cy="59436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938" y="3785616"/>
            <a:ext cx="4011044" cy="804672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892040" y="3785616"/>
            <a:ext cx="3931920" cy="1938528"/>
          </a:xfrm>
          <a:prstGeom prst="rect">
            <a:avLst/>
          </a:prstGeom>
          <a:solidFill>
            <a:srgbClr val="1A2A3A"/>
          </a:solidFill>
          <a:ln w="1016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4892040" y="3785616"/>
            <a:ext cx="3931920" cy="2560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4965192" y="3794760"/>
            <a:ext cx="3785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 &amp; Interpretation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4965192" y="4059936"/>
            <a:ext cx="3767328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C=0 confirms afocal design: collimated input → collimated output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magnification = −f_obj/f_eye = −500/25 = −20× (inverted)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erecting prism (M=−1) → upright image for terrestrial use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B-element gives the tube length (entrance pupil location)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ABCD MATRICES · TELESCOPE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Extended Example: Schmidt-Cassegrain Reflector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SCT combines a spherical primary mirror (M₁), a Schmidt corrector plate, and a convex secondary mirror (M₂). Beam folded through hole in primary (shown unfolded):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581912"/>
            <a:ext cx="8503920" cy="1481328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1920" y="3127248"/>
            <a:ext cx="4020160" cy="65836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20040" y="3858768"/>
            <a:ext cx="4434840" cy="1737360"/>
          </a:xfrm>
          <a:prstGeom prst="rect">
            <a:avLst/>
          </a:prstGeom>
          <a:solidFill>
            <a:srgbClr val="1A2A3A"/>
          </a:solidFill>
          <a:ln w="10160">
            <a:solidFill>
              <a:srgbClr val="0096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20040" y="3858768"/>
            <a:ext cx="4434840" cy="256032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93192" y="3867912"/>
            <a:ext cx="4288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8" f/10 SCT Parameters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393192" y="4133088"/>
            <a:ext cx="4270248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R₁ = −1000 mm (primary concave), R₂ = +300 mm (secondary convex)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d₁ = 200 mm, d₂ = 300 mm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EFL ≈ 2000 mm (f/10), FOV ~0.5°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provides ~5× Cassegrain amplification of EFL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892040" y="3858768"/>
            <a:ext cx="3931920" cy="1737360"/>
          </a:xfrm>
          <a:prstGeom prst="rect">
            <a:avLst/>
          </a:prstGeom>
          <a:solidFill>
            <a:srgbClr val="1A2A3A"/>
          </a:solidFill>
          <a:ln w="10160">
            <a:solidFill>
              <a:srgbClr val="FB8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892040" y="3858768"/>
            <a:ext cx="3931920" cy="256032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965192" y="3867912"/>
            <a:ext cx="3785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965192" y="4133088"/>
            <a:ext cx="3767328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Schmidt corrector removes spherical aberration of primary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focal distance = B-element of system matrix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Folded path: compact and mechanically stiff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Meade and Celestron for 8–16" amateur scopes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ABCD MATRICES · REFERENCES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ABCD Matrices: References, Problems &amp; Projects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4160520" cy="2331720"/>
          </a:xfrm>
          <a:prstGeom prst="rect">
            <a:avLst/>
          </a:prstGeom>
          <a:solidFill>
            <a:srgbClr val="1A2A3A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416052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014984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 References &amp; Reading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93192" y="1298448"/>
            <a:ext cx="3995928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Hecht, Optics Ch. 5–6: lenses, mirrors, instruments — ABCD introduced informally.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Saleh &amp; Teich, Fundamentals of Photonics Ch. 1–2: ray optics and matrix methods.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Smith, Modern Optical Engineering (2000): practical lens design with matrix methods.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Pedrotti &amp; Pedrotti, Introduction to Optics: ray-matrix chapter with exercises.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160520" cy="2331720"/>
          </a:xfrm>
          <a:prstGeom prst="rect">
            <a:avLst/>
          </a:prstGeom>
          <a:solidFill>
            <a:srgbClr val="1A2A3A"/>
          </a:solidFill>
          <a:ln w="10160">
            <a:solidFill>
              <a:srgbClr val="9B5D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05840"/>
            <a:ext cx="4160520" cy="256032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36592" y="1014984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/ Advanced References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36592" y="1298448"/>
            <a:ext cx="3995928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Siegman, Lasers Ch. 15: ABCD matrices and Gaussian beam propagation — definitive.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Gerrard &amp; Burch, Introduction to Matrix Methods in Optics (1975) — Dover. Classic text.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Saleh &amp; Teich Ch. 9: resonators and Gaussian beams via ABCD.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Yariv, Quantum Electronics Ch. 2: resonator stability, matrix approach.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3429000"/>
            <a:ext cx="8503920" cy="1508760"/>
          </a:xfrm>
          <a:prstGeom prst="rect">
            <a:avLst/>
          </a:prstGeom>
          <a:solidFill>
            <a:srgbClr val="1A2A3A"/>
          </a:solidFill>
          <a:ln w="1016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429000"/>
            <a:ext cx="8503920" cy="2560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" y="3438144"/>
            <a:ext cx="8357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Sets &amp; Projects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93192" y="3721608"/>
            <a:ext cx="83210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[BSc] Compute system matrix for a Galilean telescope (positive + negative lens). Show C=0 and find the angular magnification.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[BSc] A plano-convex BK7 lens (R=50mm, n=1.517, t=8mm) — compute the thick-lens matrix and compare EFL with thin-lens approximation.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[BSc] Derive the stability condition 0≤g₁g₂≤1 for a two-mirror cavity using ABCD matrices.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[MSc] Using ABCD matrices, design a beam expander that expands a 1mm Gaussian beam waist to 10mm with minimum overall length.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[MSc] Model the unfolded cavity of a Nd:YAG laser (R₁=∞, R₂=1m, L=0.5m). Find the intracavity Gaussian beam parameters.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[Project: MSc] Implement a Zemax-like paraxial ray-tracer in Python using ABCD matrices. Simulate a Cassegrain telescope and plot spot diagrams.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Optics — Lecture 2: ABCD Matrices</dc:title>
  <dc:subject>Lecture 2</dc:subject>
  <dc:creator>Linear Optics Course</dc:creator>
  <cp:lastModifiedBy>Linear Optics Course</cp:lastModifiedBy>
  <cp:revision>1</cp:revision>
  <dcterms:created xsi:type="dcterms:W3CDTF">2026-04-18T06:10:56Z</dcterms:created>
  <dcterms:modified xsi:type="dcterms:W3CDTF">2026-04-18T06:10:56Z</dcterms:modified>
</cp:coreProperties>
</file>