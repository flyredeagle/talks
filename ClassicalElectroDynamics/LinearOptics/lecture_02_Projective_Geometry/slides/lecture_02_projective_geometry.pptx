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9B5DE5">
              <a:alpha val="22000"/>
            </a:srgbClr>
          </a:solidFill>
          <a:ln w="12700">
            <a:solidFill>
              <a:srgbClr val="9B5DE5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9B5DE5">
              <a:alpha val="20000"/>
            </a:srgbClr>
          </a:solidFill>
          <a:ln w="12700">
            <a:solidFill>
              <a:srgbClr val="9B5DE5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9B5DE5">
              <a:alpha val="18000"/>
            </a:srgbClr>
          </a:solidFill>
          <a:ln w="12700">
            <a:solidFill>
              <a:srgbClr val="9B5DE5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9B5DE5">
              <a:alpha val="16000"/>
            </a:srgbClr>
          </a:solidFill>
          <a:ln w="12700">
            <a:solidFill>
              <a:srgbClr val="9B5DE5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9B5DE5">
              <a:alpha val="14000"/>
            </a:srgbClr>
          </a:solidFill>
          <a:ln w="12700">
            <a:solidFill>
              <a:srgbClr val="9B5DE5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9B5DE5">
              <a:alpha val="12000"/>
            </a:srgbClr>
          </a:solidFill>
          <a:ln w="12700">
            <a:solidFill>
              <a:srgbClr val="9B5DE5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00b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Projective Geometry &amp; Metric Tensors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Products · Homogeneous Coordinates · Transformations · Distances on Curved Spaces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5029200" cy="50292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HIGH SCHOOL PREREQUISITES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Scalar (Dot) Product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geometric projection to Euclidean distance — the common thread running through all of this lecture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2633472"/>
            <a:ext cx="8458200" cy="530352"/>
          </a:xfrm>
          <a:prstGeom prst="rect">
            <a:avLst/>
          </a:prstGeom>
          <a:solidFill>
            <a:srgbClr val="1A2A3A"/>
          </a:solidFill>
          <a:ln w="7620">
            <a:solidFill>
              <a:srgbClr val="06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633472"/>
            <a:ext cx="14173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70662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269748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 product a·b = |a||b|cosθ measures how much of a lies along b — it is a projection.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227832"/>
            <a:ext cx="8458200" cy="530352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3227832"/>
            <a:ext cx="1417320" cy="53035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30098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formula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47088" y="329184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 = a₁b₁ + a₂b₂ + a₃b₃ — sum of products of components; no angles needed.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822192"/>
            <a:ext cx="8458200" cy="530352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822192"/>
            <a:ext cx="1417320" cy="53035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89534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via dot product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388620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Euclidean distance is d(a,b) = √((a−b)·(a−b)) — derived entirely from the dot product.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4416552"/>
            <a:ext cx="8458200" cy="530352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416552"/>
            <a:ext cx="1417320" cy="53035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48970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47088" y="448056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identity matrix I with any symmetric positive-definite matrix g changes which distances are measured — this is the metric tensor.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· SCALAR PRODUCT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Scalar Product as a Geometric Projection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(dot) product has a precise geometric meaning: it measures the signed length of the projection of one vector onto another. This is the foundation of everything that follows.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859" y="1581912"/>
            <a:ext cx="4836282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525" y="2286000"/>
            <a:ext cx="4248949" cy="7132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3154680"/>
            <a:ext cx="3749040" cy="173736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3504" y="3209544"/>
            <a:ext cx="36393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diagram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868680" y="4480560"/>
            <a:ext cx="2971800" cy="0"/>
          </a:xfrm>
          <a:prstGeom prst="line">
            <a:avLst/>
          </a:prstGeom>
          <a:noFill/>
          <a:ln w="31750">
            <a:solidFill>
              <a:srgbClr val="FFB70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840480" y="434340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68680" y="4480560"/>
            <a:ext cx="1463040" cy="-91440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240280" y="335584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2331720" y="4480560"/>
            <a:ext cx="0" cy="-292608"/>
          </a:xfrm>
          <a:prstGeom prst="line">
            <a:avLst/>
          </a:prstGeom>
          <a:noFill/>
          <a:ln w="15240">
            <a:solidFill>
              <a:srgbClr val="06D6A0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868680" y="4480560"/>
            <a:ext cx="1463040" cy="0"/>
          </a:xfrm>
          <a:prstGeom prst="line">
            <a:avLst/>
          </a:prstGeom>
          <a:noFill/>
          <a:ln w="27940">
            <a:solidFill>
              <a:srgbClr val="06D6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80160" y="45445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1143000" y="411480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434840" y="3154680"/>
            <a:ext cx="4663440" cy="173736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34840" y="3154680"/>
            <a:ext cx="46634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07992" y="3163824"/>
            <a:ext cx="4517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a=(3,1), b=(4,0)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507992" y="3447288"/>
            <a:ext cx="4498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 = 3×4 + 1×0 = 12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 = √(9+1) = √10 ≈ 3.16,  |b| = 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cosθ = 12/(3.16×4) = 0.949 → θ ≈ 18.4°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proj_b(a) = (a·b/|b|²)b = (12/16)(4,0) = (3,0)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Component: a·b/|b| = 12/4 = 3.0  ✓</a:t>
            </a:r>
            <a:endParaRPr lang="en-US" sz="10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129" y="4846320"/>
            <a:ext cx="2165743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· SCALAR PRODUCT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Scalar Product to Euclidean Distance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Euclidean distance between two points is completely determined by the scalar product. This connection will generalise: changing the scalar product changes which distances are measured.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102" y="1581912"/>
            <a:ext cx="4017796" cy="777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450592"/>
            <a:ext cx="4114800" cy="14173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450592"/>
            <a:ext cx="411480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459736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in 2D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3192" y="2724912"/>
            <a:ext cx="39502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a=(a₁,a₂), b=(b₁,b₂). Difference vector: d = a−b = (a₁−b₁, a₂−b₂).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d·d = (a₁−b₁)²+(a₂−b₂)²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d(a,b) = √(d·d) = √((a₁−b₁)²+(a₂−b₂)²)  (Pythagoras ✓)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2450592"/>
            <a:ext cx="4251960" cy="141732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450592"/>
            <a:ext cx="425196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5152" y="2459736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form (key insight)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45152" y="2724912"/>
            <a:ext cx="408736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d(a,b)² = (a−b)ᵀ I (a−b)   where  I = identity matrix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I defines which scalar product we use.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 with any matrix g → different geometry!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metric tensor (Section C of this lecture).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3950208"/>
            <a:ext cx="8503920" cy="102412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950208"/>
            <a:ext cx="85039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3959352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for the rest of the lecture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3192" y="4224528"/>
            <a:ext cx="832104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product ℓ·x = 0 (a point lies on a line) is the central concept in projective geometry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geometry: g = I₃ (identity) gives the familiar flat distances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Minkowski spacetime: g = diag(1,−1,−1,−1) gives relativistic intervals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Sphere: g_ij(θ,φ) encodes curved distances on the surface of a globe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5486400" cy="5486400"/>
          </a:xfrm>
          <a:prstGeom prst="ellipse">
            <a:avLst/>
          </a:prstGeom>
          <a:solidFill>
            <a:srgbClr val="9B5DE5">
              <a:alpha val="10000"/>
            </a:srgbClr>
          </a:solidFill>
          <a:ln w="12700">
            <a:solidFill>
              <a:srgbClr val="9B5DE5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PROJECTIVE GEOMETRY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Ordinary Planes to the Projective Plane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meet · Points at infinity · Duality between points and lines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2487168"/>
            <a:ext cx="8458200" cy="548640"/>
          </a:xfrm>
          <a:prstGeom prst="rect">
            <a:avLst/>
          </a:prstGeom>
          <a:solidFill>
            <a:srgbClr val="1A2A3A"/>
          </a:solidFill>
          <a:ln w="7620">
            <a:solidFill>
              <a:srgbClr val="9B5D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487168"/>
            <a:ext cx="1417320" cy="54864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578608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47088" y="2560320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determine a unique line. Two lines determine a unique point. No exceptions — no 'parallel' lines.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108960"/>
            <a:ext cx="8458200" cy="548640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3108960"/>
            <a:ext cx="1417320" cy="5486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200400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Homogeneous coordinates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47088" y="3182112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and lines both become 3-vectors. The scalar product between them has an exact meaning: incidence (lying on).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730752"/>
            <a:ext cx="8458200" cy="548640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730752"/>
            <a:ext cx="1417320" cy="5486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822192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47088" y="3803904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theorem about points and lines has a dual theorem — swap the words and it still holds.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4352544"/>
            <a:ext cx="8458200" cy="548640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352544"/>
            <a:ext cx="1417320" cy="54864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443984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47088" y="4425696"/>
            <a:ext cx="6858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invertible matrices (homographies H) act on points and lines while preserving incidence.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GEOMETRY · AXIOMS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Axioms of Projective Geometry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(Euclidean) geometry has an awkward exception: parallel lines never meet. Projective geometry removes this exception by adding 'points at infinity'. The result is a cleaner, more symmetric theory.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4405" y="1627632"/>
            <a:ext cx="3995190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377440"/>
            <a:ext cx="4114800" cy="129844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377440"/>
            <a:ext cx="411480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386584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axioms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3192" y="2651760"/>
            <a:ext cx="39502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Any two distinct points lie on a unique 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Any two distinct lines meet in a unique point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There exist four points, no three of which are collinear (non-degenerate quadrilateral — prevents trivial models)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2377440"/>
            <a:ext cx="4251960" cy="129844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377440"/>
            <a:ext cx="425196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45152" y="2386584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Duality Principle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645152" y="2651760"/>
            <a:ext cx="408736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words 'point' and 'line' in any true theorem → get another true theorem.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dual: Any two distinct lines lie on a unique point (= P2).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 has a dual configuration. Every proof has a dual proof.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3749040"/>
            <a:ext cx="411480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749040"/>
            <a:ext cx="411480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3758184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in the projective plane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3192" y="4023360"/>
            <a:ext cx="39502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in ℝ² (same direction d) both pass through the point at infinity (d₁:d₂:0)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parallel families → distinct points at infinity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points at infinity lie on the line at infinity: (0:0:1) row vector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Euclidean plane ℝ² ⊂ ℙ² as the complement of the line at infinity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0" y="3749040"/>
            <a:ext cx="425196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0" y="3749040"/>
            <a:ext cx="425196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45152" y="3758184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theorems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645152" y="4023360"/>
            <a:ext cx="40873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Pappus' theorem: six points on two lines → three intersection points are collinear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Desargues' theorem: two triangles perspective from a point ↔ perspective from a 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Cross-ratio: the one projective invariant of four collinear points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all follow cleanly from the axioms — no coordinates needed!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GEOMETRY · COORDINATES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Homogeneous Coordinates: Points and Lines as 3-Vectors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compute with projective geometry we use homogeneous coordinates. Points become column 3-vectors; lines become row 3-vectors. Both are defined only up to a non-zero scalar multiple.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097" y="1581912"/>
            <a:ext cx="3778406" cy="10789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351" y="1581912"/>
            <a:ext cx="3696698" cy="65836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701" y="2286000"/>
            <a:ext cx="3791997" cy="107899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2743200"/>
            <a:ext cx="4160520" cy="217627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274320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2752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homogeneous coordinates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3017520"/>
            <a:ext cx="39959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(x₁:x₂:x₃) with x₃≠0 corresponds to affine point (x₁/x₃, x₂/x₃) ∈ ℝ²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(x₁:x₂:0) is a point at infinity in direction (x₁,x₂)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doesn't matter: (2:4:2) and (1:2:1) are the same point (1,2)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line ax+by+c=0 ↔ row vector (a : b : c) in projective coordinates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at infinity: (0 : 0 : 1) — contains all points (d₁:d₂:0)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2743200"/>
            <a:ext cx="4160520" cy="217627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274320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2752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3017520"/>
            <a:ext cx="399592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(3,2) ↔ column (3:2:1)ᵀ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infinity 'rightward' ↔ (1:0:0)ᵀ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line y=5 (i.e. 0·x+1·y−5=0) ↔ row (0:1:−5)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at infinity ↔ row (0:0:1)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(0:1:−5)·(3:5:1)ᵀ = 0+5−5 = 0 ✓ (point (3,5) lies on y=5)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(0:0:1)·(d₁:d₂:0)ᵀ = 0 ✓ (all points at infinity lie on line at infinity)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GEOMETRY · INCIDENCE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Incidence as a Scalar Product: ℓ · x = 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operation in projective geometry is the scalar product between a line (row vector) and a point (column vector). It is zero if and only if the point lies on the line — this is the incidence condition.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7385" y="1627632"/>
            <a:ext cx="4709231" cy="6217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278" y="2304288"/>
            <a:ext cx="4045444" cy="65836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205" y="3017520"/>
            <a:ext cx="3695590" cy="10515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4133088"/>
            <a:ext cx="4160520" cy="9144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4133088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414223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and meet via cross product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4407408"/>
            <a:ext cx="3995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through p and q: ℓ = p × q  (treat column vectors as 3D vectors, take cross product)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of lines ℓ and m: x = ℓ × m  (same operation — duality!)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product yields a 3-vector; treat result as column (point) or row (line) as needed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663440" y="4133088"/>
            <a:ext cx="4160520" cy="91440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4133088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414223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where do two lines meet?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4407408"/>
            <a:ext cx="3995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ℓ₁ = (1:0:−2) [line x=2]  and  ℓ₂ = (0:1:−3) [line y=3]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ℓ₁ × ℓ₂ = (0·(−3)−(−2)·1 , (−2)·0−1·(−3) , 1·1−0·0)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= (2 : 3 : 1)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Affine point: (2/1, 3/1) = (2, 3)  ✓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GEOMETRY · TRANSFORMATIONS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3×3 Matrix Transformations: Points, Lines and Invariance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invertible real matrix H (homography) transforms the entire projective plane. It acts differently on points (column vectors) and lines (row vectors) so that incidence is always preserved.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8956" y="1581912"/>
            <a:ext cx="4366088" cy="59436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418" y="2231136"/>
            <a:ext cx="4399165" cy="59436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8956" y="2880360"/>
            <a:ext cx="4366088" cy="59436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566160"/>
            <a:ext cx="4114800" cy="148132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566160"/>
            <a:ext cx="411480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575304"/>
            <a:ext cx="3968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ℓ transforms by H⁻ᵀ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3840480"/>
            <a:ext cx="395020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need ℓ'x' = 0 whenever ℓx = 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x' = Hx   so   ℓ' must satisfy ℓ'(Hx)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(ℓ'H)x = 0  for all x on ℓ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⟹   ℓ'H = ℓ   ⟹  ℓ' = ℓH⁻¹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Equivalently: ℓ'ᵀ = H⁻ᵀ ℓᵀ (column form: covariant).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0" y="3566160"/>
            <a:ext cx="4251960" cy="148132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572000" y="3566160"/>
            <a:ext cx="425196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645152" y="3575304"/>
            <a:ext cx="4105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homographies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645152" y="3840480"/>
            <a:ext cx="408736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motions (rotation + translation): H = [R|t; 0ᵀ|1], preserves distances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Similarities: H = s[R|t; 0ᵀ|1], preserves angles, not distances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Affinities: H = [A|t; 0ᵀ|1], preserves parallelism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projectivity: any 8-dof H, preserves collinearity and cross-ratio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subgroup has its own invariants — projective is the most general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GEOMETRY ·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Summary: The Projective Plane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503920" cy="3913632"/>
          </a:xfrm>
          <a:prstGeom prst="rect">
            <a:avLst/>
          </a:prstGeom>
          <a:solidFill>
            <a:srgbClr val="0A1628"/>
          </a:solidFill>
          <a:ln w="15240">
            <a:solidFill>
              <a:srgbClr val="9B5D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560320" cy="160020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25603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152144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 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435608"/>
            <a:ext cx="239572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3-vector: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(x₁, x₂, x₃)ᵀ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up to scale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Affine: (x₁/x₃, x₂/x₃)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∞:  x₃ = 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143000"/>
            <a:ext cx="2423160" cy="160020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143000"/>
            <a:ext cx="242316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152144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 ℓ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36792" y="1435608"/>
            <a:ext cx="225856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3-vector: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 = (ℓ₁  ℓ₂  ℓ₃)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up to scale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Affine: ℓ₁x+ℓ₂y+ℓ₃=0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∞: (0  0  1)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261872"/>
            <a:ext cx="2697480" cy="1417320"/>
          </a:xfrm>
          <a:prstGeom prst="ellipse">
            <a:avLst/>
          </a:prstGeom>
          <a:solidFill>
            <a:srgbClr val="FFB703">
              <a:alpha val="15000"/>
            </a:srgbClr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01568" y="14813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ℓ · x = 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1956816"/>
            <a:ext cx="2487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lies on 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1920240"/>
            <a:ext cx="-4572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920240"/>
            <a:ext cx="-45720" cy="0"/>
          </a:xfrm>
          <a:prstGeom prst="line">
            <a:avLst/>
          </a:prstGeom>
          <a:noFill/>
          <a:ln w="12700">
            <a:solidFill>
              <a:srgbClr val="FFB70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52928"/>
            <a:ext cx="2560320" cy="105156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52928"/>
            <a:ext cx="25603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62072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x' = H 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0352" y="3127248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∈ GL(3,ℝ)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3×3 invertible matrix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degrees of freedom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2852928"/>
            <a:ext cx="2423160" cy="105156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2852928"/>
            <a:ext cx="242316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2862072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ℓ' = ℓ H⁻¹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36792" y="3127248"/>
            <a:ext cx="2258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 transform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preserves incidence: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ℓ'x' = ℓx always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54680" y="2852928"/>
            <a:ext cx="2926080" cy="105156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54680" y="2852928"/>
            <a:ext cx="292608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27832" y="2862072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&amp; Meet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27832" y="3127248"/>
            <a:ext cx="27614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p∨q:   ℓ = p × q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Point ℓ∧m: x = ℓ × 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(same operation — duality!)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20040" y="4590288"/>
            <a:ext cx="8503920" cy="347472"/>
          </a:xfrm>
          <a:prstGeom prst="rect">
            <a:avLst/>
          </a:prstGeom>
          <a:solidFill>
            <a:srgbClr val="9B5DE5">
              <a:alpha val="8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36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invariant:  ℓ'x' = (ℓH⁻¹)(Hx) = ℓx  — incidence is invariant under all projective transformations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-457200"/>
            <a:ext cx="5943600" cy="5943600"/>
          </a:xfrm>
          <a:prstGeom prst="ellipse">
            <a:avLst/>
          </a:prstGeom>
          <a:solidFill>
            <a:srgbClr val="FB8500">
              <a:alpha val="10000"/>
            </a:srgbClr>
          </a:solidFill>
          <a:ln w="12700">
            <a:solidFill>
              <a:srgbClr val="FB8500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— DISTANCES VIA SCALAR PRODUCTS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Euclidean, Minkowski &amp; Metric Tensors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matrix in the scalar product changes which distances are measured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" y="2487168"/>
            <a:ext cx="8458200" cy="640080"/>
          </a:xfrm>
          <a:prstGeom prst="rect">
            <a:avLst/>
          </a:prstGeom>
          <a:solidFill>
            <a:srgbClr val="1A2A3A"/>
          </a:solidFill>
          <a:ln w="7620">
            <a:solidFill>
              <a:srgbClr val="FB85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2487168"/>
            <a:ext cx="1691640" cy="64008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596896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distance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21408" y="257860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I (identity). Gives the familiar flat-space Pythagoras theorem. Preserved by rotations and reflections.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3200400"/>
            <a:ext cx="8458200" cy="640080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3200400"/>
            <a:ext cx="1691640" cy="64008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310128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Minkowski distance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21408" y="3291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= diag(1,−1,−1,−1). Gives spacetime interval. Preserved by Lorentz boosts. Can be negative!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913632"/>
            <a:ext cx="8458200" cy="640080"/>
          </a:xfrm>
          <a:prstGeom prst="rect">
            <a:avLst/>
          </a:prstGeom>
          <a:solidFill>
            <a:srgbClr val="1A2A3A"/>
          </a:solidFill>
          <a:ln w="7620">
            <a:solidFill>
              <a:srgbClr val="1B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913632"/>
            <a:ext cx="1691640" cy="64008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4023360"/>
            <a:ext cx="15727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21408" y="400507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g_ij(u) varying with position. Gives distances on curved 2D surfaces embedded in 3D space.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TENSORS · EUCLIDEAN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Euclidean Distance: Scalar Product with Identity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familiar Euclidean distance is just a scalar product in disguise. The identity matrix I acts as the 'metric' — it tells us how to compute distances in flat space.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480" y="1581912"/>
            <a:ext cx="8109040" cy="10789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743200"/>
            <a:ext cx="4160520" cy="1353312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743200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752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product with g = I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3192" y="2999232"/>
            <a:ext cx="39959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⟨u,v⟩_I = uᵀ I v = u₁v₁ + u₂v₂ + u₃v₃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|u|² = uᵀ I u = u₁² + u₂² + u₃²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d(a,b)² = (a−b)ᵀ I (a−b)  =  Pythagoras ✓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743200"/>
            <a:ext cx="4160520" cy="1353312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743200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27523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Symmetries preserved by g = I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36592" y="2999232"/>
            <a:ext cx="399592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Rotations: R ᵀ I R = I — all rotations preserve the distance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Reflections: same property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of symmetries is O(3) — the orthogonal group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 also preserve d, giving the Euclidean group E(3)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4160520"/>
            <a:ext cx="8503920" cy="804672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4160520"/>
            <a:ext cx="85039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416966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matrix g IS the geometry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93192" y="44165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symmetric positive-definite matrix g defines a valid inner product and distance. Changing g changes the geometry. The Euclidean case g=I is just the simplest choice. The same scalar product structure xᵀg y applies to all the geometries below.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TENSORS · LORENTZ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Lorentz (Minkowski) Distance: Spacetime Intervals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 with η = diag(1,−1,−1,−1). The resulting 'distance' is the spacetime interval of special relativity — it can be positive, zero (light-like), or negative.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4227" y="1581912"/>
            <a:ext cx="3775547" cy="12984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971800"/>
            <a:ext cx="4160520" cy="1993392"/>
          </a:xfrm>
          <a:prstGeom prst="rect">
            <a:avLst/>
          </a:prstGeom>
          <a:solidFill>
            <a:srgbClr val="1A2A3A"/>
          </a:solidFill>
          <a:ln w="10160">
            <a:solidFill>
              <a:srgbClr val="EF47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971800"/>
            <a:ext cx="4160520" cy="25603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9809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spacetime interval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3192" y="3246120"/>
            <a:ext cx="39959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ds² &gt; 0  (time-like): causally connected events. A massive particle can travel between them. |ds| = proper time elapsed on the particle's clock.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ds² = 0  (light-like / null): events connected by a light ray. Photons travel on these paths. No proper time elapses.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ds² &lt; 0  (space-like): events that cannot influence each other. No physical signal can connect them. |ds| = proper length in rest frame.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971800"/>
            <a:ext cx="4160520" cy="1993392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971800"/>
            <a:ext cx="41605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298094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scalar-product structure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36592" y="3246120"/>
            <a:ext cx="39959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Lorentz inner product: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⟨u,v⟩_η = uᵀ η 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= u⁰v⁰ − u¹v¹ − u²v² − u³v³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looks identical to the projective incidence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scalar product ℓ·x — just a bilinear form with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specific matrix. The geometry is different but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algebraic machinery is the same.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Lorentz boosts Λ satisfy: Λᵀ η Λ = η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(analogous to Rᵀ I R = I for rotations).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TENSORS · SURFACE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 Tensor on a Curved 2D Surface Embedded in 3D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surface embedded in 3D inherits a metric from the ambient Euclidean space. The metric tensor g_ij(u,v) encodes how distances in the surface relate to the coordinate changes (du, dv).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4479" y="1581912"/>
            <a:ext cx="4295042" cy="6858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580" y="2322576"/>
            <a:ext cx="3788841" cy="8686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3273552"/>
            <a:ext cx="3886200" cy="1783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20624" y="3328416"/>
            <a:ext cx="37398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— coordinates (θ,φ)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13232" y="3593592"/>
            <a:ext cx="1463040" cy="1325880"/>
          </a:xfrm>
          <a:prstGeom prst="ellipse">
            <a:avLst/>
          </a:prstGeom>
          <a:solidFill>
            <a:srgbClr val="0096B7">
              <a:alpha val="18000"/>
            </a:srgbClr>
          </a:solidFill>
          <a:ln w="19050">
            <a:solidFill>
              <a:srgbClr val="0096B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232" y="3593592"/>
            <a:ext cx="502920" cy="132588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731520" y="4187952"/>
            <a:ext cx="1417320" cy="347472"/>
          </a:xfrm>
          <a:prstGeom prst="ellipse">
            <a:avLst/>
          </a:prstGeom>
          <a:solidFill>
            <a:srgbClr val="0A1628"/>
          </a:solidFill>
          <a:ln w="12700">
            <a:solidFill>
              <a:srgbClr val="FFB703"/>
            </a:solidFill>
            <a:prstDash val="dash"/>
          </a:ln>
        </p:spPr>
      </p:sp>
      <p:sp>
        <p:nvSpPr>
          <p:cNvPr id="14" name="Text 10"/>
          <p:cNvSpPr/>
          <p:nvPr/>
        </p:nvSpPr>
        <p:spPr>
          <a:xfrm>
            <a:off x="1700784" y="37490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22960" y="437083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φ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16152" y="473659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359152" y="3584448"/>
            <a:ext cx="1737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= R²[1  0 ; 0  sin²θ]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ds² = R²(dθ² + sin²θ dφ²)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equator (θ=π/2): ds² = R²(dθ²+dφ²)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pole (θ→0):       dφ becomes irrelevant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343400" y="3273552"/>
            <a:ext cx="4572000" cy="178308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343400" y="3273552"/>
            <a:ext cx="457200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16552" y="3282696"/>
            <a:ext cx="4425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g from the embedding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416552" y="3529584"/>
            <a:ext cx="4407408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r(θ,φ) = R(sinθcosφ, sinθsinφ, cosθ) ∈ ℝ³: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∂r/∂θ = R(cosθcosφ, cosθsinφ, −sinθ)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∂r/∂φ = R(−sinθsinφ, sinθcosφ, 0)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g_θθ = (∂r/∂θ)·(∂r/∂θ) = R²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g_φφ = (∂r/∂φ)·(∂r/∂φ) = R²sin²θ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g_θφ = (∂r/∂θ)·(∂r/∂φ) = 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 = R²diag(1, sin²θ)  ✓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TENSORS · INNER PRODUCT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 Inner Product, Lengths and Angles via 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we have the metric tensor g, we can define all of geometry: inner products, lengths, angles, and distances — all via the same scalar-product formula with g replacing I.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200" y="1581912"/>
            <a:ext cx="4567600" cy="6217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286000"/>
            <a:ext cx="4206240" cy="132588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286000"/>
            <a:ext cx="42062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29514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a vector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578608"/>
            <a:ext cx="40050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sphere with g=R²diag(1,sin²θ):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|dθ ê_θ| = R dθ   (a step in latitude)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|dφ ê_φ| = R sinθ dφ  (shorter near poles!)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0" y="2286000"/>
            <a:ext cx="4206240" cy="132588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286000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032" y="229514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between vectors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46320" y="2578608"/>
            <a:ext cx="40050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cosα = ⟨u,v⟩_g / (|u|_g |v|_g)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sphere: coordinate lines θ=const and φ=const are orthogonal (g_θφ=0) → g is diagonal ✓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3703320"/>
            <a:ext cx="4206240" cy="132588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0040" y="3703320"/>
            <a:ext cx="420624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3192" y="371246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Geodesic (shortest path)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11480" y="3995928"/>
            <a:ext cx="40050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Minimise ∫ds = ∫√(g_ij u'ⁱ u'ʲ) dt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sphere: great circles. On flat plane: straight lines. The metric determines 'straight'.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0" y="3703320"/>
            <a:ext cx="4206240" cy="132588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3703320"/>
            <a:ext cx="420624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28032" y="371246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curvature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846320" y="3995928"/>
            <a:ext cx="4005072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−(1/√g) ∂/∂u[√g Γ] — derived from 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Sphere: K = 1/R². Flat plane: K = 0. g encodes everything about intrinsic geometry.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0040" y="5120640"/>
            <a:ext cx="8503920" cy="0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TENSORS · UNIFICATION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Unifying Picture: Scalar Products Everywhere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scalar product — a bilinear form defined by a matrix g — appears identically in projective geometry (incidence), in Euclidean geometry, in special relativity, and on curved surfaces. Only the matrix changes.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1737360" cy="274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68249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57400" y="1664208"/>
            <a:ext cx="1737360" cy="274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1682496"/>
            <a:ext cx="16642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794760" y="1664208"/>
            <a:ext cx="2331720" cy="274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31336" y="1682496"/>
            <a:ext cx="2258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product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26480" y="1664208"/>
            <a:ext cx="1920240" cy="274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63056" y="1682496"/>
            <a:ext cx="1847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measures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046720" y="1664208"/>
            <a:ext cx="1371600" cy="2743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83296" y="1682496"/>
            <a:ext cx="12984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1938528"/>
            <a:ext cx="1737360" cy="438912"/>
          </a:xfrm>
          <a:prstGeom prst="rect">
            <a:avLst/>
          </a:prstGeom>
          <a:solidFill>
            <a:srgbClr val="00B4D8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" y="196596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ℙ²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1938528"/>
            <a:ext cx="173736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93976" y="196596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94760" y="1938528"/>
            <a:ext cx="233172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31336" y="1965960"/>
            <a:ext cx="2258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ℓᵀg x = 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126480" y="1938528"/>
            <a:ext cx="192024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63056" y="1965960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Incidence (point on line)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046720" y="1938528"/>
            <a:ext cx="137160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83296" y="196596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GL(3,ℝ) homographies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414016"/>
            <a:ext cx="1737360" cy="438912"/>
          </a:xfrm>
          <a:prstGeom prst="rect">
            <a:avLst/>
          </a:prstGeom>
          <a:solidFill>
            <a:srgbClr val="0096B7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" y="2441448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ℝⁿ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57400" y="2414016"/>
            <a:ext cx="173736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93976" y="2441448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(identity)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794760" y="2414016"/>
            <a:ext cx="233172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31336" y="2441448"/>
            <a:ext cx="2258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uᵀI v = Σ uᵢvᵢ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2414016"/>
            <a:ext cx="192024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63056" y="2441448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Flat distance, angle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2414016"/>
            <a:ext cx="137160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3296" y="2441448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 rotations + translations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2889504"/>
            <a:ext cx="1737360" cy="438912"/>
          </a:xfrm>
          <a:prstGeom prst="rect">
            <a:avLst/>
          </a:prstGeom>
          <a:solidFill>
            <a:srgbClr val="EF476F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" y="2916936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Minkowski ℝ³ˡ¹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57400" y="2889504"/>
            <a:ext cx="173736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93976" y="2916936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diag(1,−1,−1,−1)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94760" y="2889504"/>
            <a:ext cx="233172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31336" y="2916936"/>
            <a:ext cx="2258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uᵀη v = u⁰v⁰−Σ uⁱvⁱ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26480" y="2889504"/>
            <a:ext cx="192024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2916936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Spacetime interval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046720" y="2889504"/>
            <a:ext cx="137160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83296" y="2916936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SO(3,1) Lorentz group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364992"/>
            <a:ext cx="1737360" cy="438912"/>
          </a:xfrm>
          <a:prstGeom prst="rect">
            <a:avLst/>
          </a:prstGeom>
          <a:solidFill>
            <a:srgbClr val="FB8500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" y="3392424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Sphere S²(R)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57400" y="3364992"/>
            <a:ext cx="173736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93976" y="3392424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R²diag(1,sin²θ)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94760" y="3364992"/>
            <a:ext cx="233172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31336" y="3392424"/>
            <a:ext cx="2258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g_ij uⁱ vʲ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26480" y="3364992"/>
            <a:ext cx="192024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63056" y="3392424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 length on sphere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046720" y="3364992"/>
            <a:ext cx="137160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83296" y="3392424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SO(3) rotations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20040" y="3840480"/>
            <a:ext cx="1737360" cy="438912"/>
          </a:xfrm>
          <a:prstGeom prst="rect">
            <a:avLst/>
          </a:prstGeom>
          <a:solidFill>
            <a:srgbClr val="06D6A0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" y="386791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surface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057400" y="3840480"/>
            <a:ext cx="173736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93976" y="3867912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g_ij(u,v) from ∂r/∂uⁱ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4760" y="3840480"/>
            <a:ext cx="233172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31336" y="3867912"/>
            <a:ext cx="2258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g_ij uⁱ vʲ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126480" y="3840480"/>
            <a:ext cx="192024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63056" y="3867912"/>
            <a:ext cx="1847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Curved-surface distance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046720" y="3840480"/>
            <a:ext cx="1371600" cy="438912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386791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Diffeomorphisms preserving 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GEOMETRY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References, Exercises &amp; Problem Sets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Semple &amp; Kneebone, Algebraic Projective Geometry (1952) — Oxford. The classical rigorous introduction.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Coxeter, The Real Projective Plane, 3rd ed. (1993) — Springer. Elegant synthetic treatment.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Hartley &amp; Zisserman, Multiple View Geometry in Computer Vision, 2nd ed. (2004) — Cambridge. Ch. 1–4: homogeneous coords and homographies.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Needham, Visual Complex Analysis — Ch. 3: Möbius transformations as projective maps of ℙ¹.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Strang, Linear Algebra and its Applications — dot products, projections, symmetric matrices.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Misner, Thorne &amp; Wheeler, Gravitation (1973) — Freeman. Box 2.1–2.4: metric tensors, line elements.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Carroll, Spacetime and Geometry (2004) — Pearson. Ch. 1–2: special relativity, metric, Lorentz group.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Carmo, Differential Geometry of Curves and Surfaces (1976) — Prentice Hall. Ch. 1–2: first fundamental form = metric tensor.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Faugeras, Three-Dimensional Computer Vision (1993) — MIT Press. Ch. 3: projective geometry applied to cameras.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Penrose &amp; Rindler, Spinors and Space-Time Vol. 1 — Cambridge. Abstract index notation and metric geometry.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[HS] Show that (1:2:1), (3:4:1) lie on the line (2:−1:0). Verify ℓ·x=0.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[HS] Find the projective intersection of y=2x+1 and y=−x+4. Express both lines as row vectors and compute the cross product.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Prove the dual of Pappus' theorem by swapping 'point' and 'line' in the statement and the proof.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for a homography H ∈ GL(3,ℝ), the cross-ratio (ABCD) = (A'B'C'D') is preserved.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Compute the metric tensor for the cylinder r(θ,z)=(cosθ, sinθ, z). Show that ds² = dθ²+dz² (flat!).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Derive the geodesic equations on the sphere from the metric g=R²diag(1,sin²θ). Show that great circles are solutions.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Show that the Lorentz boost Λ(β) with velocity β satisfies Λᵀ η Λ = η. What is the geometric meaning?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 Project] Implement a projective homography estimator in Python using the DLT algorithm. Unwarp a photographed planar surface using 4-point correspondences.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00b: Projective Geometry</dc:title>
  <dc:subject>Lecture 00b</dc:subject>
  <dc:creator>Linear Optics Course</dc:creator>
  <cp:lastModifiedBy>Linear Optics Course</cp:lastModifiedBy>
  <cp:revision>1</cp:revision>
  <dcterms:created xsi:type="dcterms:W3CDTF">2026-04-18T06:10:54Z</dcterms:created>
  <dcterms:modified xsi:type="dcterms:W3CDTF">2026-04-18T06:10:54Z</dcterms:modified>
</cp:coreProperties>
</file>