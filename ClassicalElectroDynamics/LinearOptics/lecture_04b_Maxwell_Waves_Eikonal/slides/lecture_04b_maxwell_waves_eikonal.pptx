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00B4D8">
              <a:alpha val="14000"/>
            </a:srgbClr>
          </a:solidFill>
          <a:ln w="12700">
            <a:solidFill>
              <a:srgbClr val="00B4D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04b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Maxwell's Equations, Waves &amp; the Eikonal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Equation Derivation · Plane &amp; Spherical Waves · Geometric Optics Limit · Wavefronts · Hamilton–Jacobi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MAXWELL'S EQUATIONS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Maxwell's Equations in Matter (Macroscopic, SI)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 (1865) unified electricity, magnetism, and optics into four coupled PDEs. In a macroscopic linear isotropic medium they take the form below — the starting point for all of electromagnetic optics.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8682" y="1581912"/>
            <a:ext cx="3766636" cy="71323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859" y="2350008"/>
            <a:ext cx="4836282" cy="6583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090672"/>
            <a:ext cx="4160520" cy="1847088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090672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09981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meaning of each equation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364992"/>
            <a:ext cx="3995928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∇·D = ρf  — Gauss's law: free charges are sources of electric displacement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∇·B = 0   — no magnetic monopoles: B-field lines always close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∇×E = −∂B/∂t  — Faraday: changing B induces E (basis of generators, transformers)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∇×H = Jf + ∂D/∂t  — Ampère + Maxwell: currents and changing E produce 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∂D/∂t term (displacement current) was Maxwell's addition — it predicts radiation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3090672"/>
            <a:ext cx="4160520" cy="184708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090672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09981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source-free non-magnetic optical media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36592" y="3364992"/>
            <a:ext cx="3995928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ρf = 0, Jf = 0 (no free charges or currents in glass, air, fibre)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μr ≈ 1 (optical frequencies: μ ≈ μ₀ for all dielectrics)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 = μ₀H, D = ε₀εr E = ε₀n²E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simplifications give the optical wave equations on the next slides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√εr (for μr=1): refractive index from the dielectric function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 = n + iκ: κ is the extinction coefficient (absorption)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421" y="4992624"/>
            <a:ext cx="1191158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MAXWELL'S EQUATIONS · DERIVATION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Deriving the Vector Wave Equation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curl of Faraday's law, then substitute Ampère's law and the vector identity ∇×(∇×E) = ∇(∇·E) − ∇²E. In a uniform source-free medium ∇·E = 0: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9278" y="1581912"/>
            <a:ext cx="4045444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45" y="2295144"/>
            <a:ext cx="4607311" cy="74980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718" y="3099816"/>
            <a:ext cx="4382564" cy="71323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886200"/>
            <a:ext cx="4160520" cy="102412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388620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38953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 of the derivation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4160520"/>
            <a:ext cx="39959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∇×(∇×E) = −μ ∂/∂t (∇×H) = −μ ∂/∂t (∂D/∂t) = −με ∂²E/∂t²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∇×(∇×E) = ∇(∇·E) − ∇²E and ∇·E=0 in uniform medium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∇²E = με ∂²E/∂t²   with   v² = 1/(με) = c²/n²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886200"/>
            <a:ext cx="4160520" cy="102412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388620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38953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approximation: when is it valid?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36592" y="4160520"/>
            <a:ext cx="39959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Cartesian component of E satisfies the scalar wave equation independently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when: n(r) varies slowly on scale λ (slowly-varying envelope / paraxial)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at: sharp interfaces, high-NA focusing (d ~ λ), sub-λ structures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effects then require the full vector theory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WAVES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 Waves: The Elementary Solutions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solution of the wave equation in a uniform medium is the monochromatic plane wave. Any solution can be written as a superposition of plane waves (Fourier / angular spectrum decomposition).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91" y="1581912"/>
            <a:ext cx="4983418" cy="74980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45" y="2386584"/>
            <a:ext cx="4607311" cy="74980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573" y="3191256"/>
            <a:ext cx="4524855" cy="71323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7472" y="3977640"/>
            <a:ext cx="39776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20624" y="4032504"/>
            <a:ext cx="3831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wave geometry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12064" y="4434840"/>
            <a:ext cx="3648456" cy="0"/>
          </a:xfrm>
          <a:prstGeom prst="line">
            <a:avLst/>
          </a:prstGeom>
          <a:noFill/>
          <a:ln w="12700">
            <a:solidFill>
              <a:srgbClr val="8DB0C8"/>
            </a:solidFill>
            <a:prstDash val="dash"/>
          </a:ln>
        </p:spPr>
      </p:sp>
      <p:sp>
        <p:nvSpPr>
          <p:cNvPr id="13" name="Shape 8"/>
          <p:cNvSpPr/>
          <p:nvPr/>
        </p:nvSpPr>
        <p:spPr>
          <a:xfrm>
            <a:off x="1261872" y="4233672"/>
            <a:ext cx="0" cy="530352"/>
          </a:xfrm>
          <a:prstGeom prst="line">
            <a:avLst/>
          </a:prstGeom>
          <a:noFill/>
          <a:ln w="19050">
            <a:solidFill>
              <a:srgbClr val="0096B7">
                <a:alpha val="7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359152" y="4233672"/>
            <a:ext cx="0" cy="530352"/>
          </a:xfrm>
          <a:prstGeom prst="line">
            <a:avLst/>
          </a:prstGeom>
          <a:noFill/>
          <a:ln w="19050">
            <a:solidFill>
              <a:srgbClr val="0096B7">
                <a:alpha val="7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364992" y="4233672"/>
            <a:ext cx="0" cy="530352"/>
          </a:xfrm>
          <a:prstGeom prst="line">
            <a:avLst/>
          </a:prstGeom>
          <a:noFill/>
          <a:ln w="19050">
            <a:solidFill>
              <a:srgbClr val="0096B7">
                <a:alpha val="7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76072" y="4434840"/>
            <a:ext cx="3474720" cy="0"/>
          </a:xfrm>
          <a:prstGeom prst="line">
            <a:avLst/>
          </a:prstGeom>
          <a:noFill/>
          <a:ln w="31750">
            <a:solidFill>
              <a:srgbClr val="FFB70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941064" y="41970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737360" y="403250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96112" y="4215384"/>
            <a:ext cx="0" cy="438912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01952" y="4215384"/>
            <a:ext cx="0" cy="438912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907792" y="4215384"/>
            <a:ext cx="0" cy="438912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4632" y="463600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E⊥k, B⊥k, E⊥B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07992" y="3977640"/>
            <a:ext cx="4315968" cy="91440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07992" y="3977640"/>
            <a:ext cx="4315968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81144" y="3986784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vs group velocity — physical meaning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581144" y="425196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v_φ = ω/k = c/n: speed of phase fronts (wavefronts)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v_g = dω/dk: speed of pulse envelope, energy, information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non-dispersive medium: v_g = v_φ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(n=n(ω)): v_g ≠ v_φ → pulse spreading in fibres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WAVES · SUPERPOSITION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Spectrum: Any Wave as a Sum of Plane Waves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Fourier's theorem, any solution of the wave equation in a uniform medium can be written as a continuous superposition of plane waves. This is the angular spectrum representation — the foundation of Fourier optics.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1297" y="1627632"/>
            <a:ext cx="4301405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450592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450592"/>
            <a:ext cx="42062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45973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wave (single k)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743200"/>
            <a:ext cx="40050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Ẽ(k) = E₀ δ³(k−k₀)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E(r,t) = E₀ exp(ik₀·r − iωt)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Infinitely extended, perfectly coherent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2450592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450592"/>
            <a:ext cx="420624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245973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beam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2743200"/>
            <a:ext cx="40050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Ẽ(k) = Gaussian in kₓ,kᵧ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E(r,t) = Gaussian profile in x,y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Finite waist w₀, divergence θ=λ/(πw₀)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3776472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776472"/>
            <a:ext cx="420624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" y="378561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wave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1480" y="4069080"/>
            <a:ext cx="40050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 weight for all directions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Ẽ(k̂) = const for |k|=nω/c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 = (A/r)exp(ikr−iωt)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3776472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3776472"/>
            <a:ext cx="420624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8032" y="378561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 beam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46320" y="4069080"/>
            <a:ext cx="40050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Ẽ(k,ω) also spread in 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finite temporal extent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velocity dispersion broadens it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0040" y="4992624"/>
            <a:ext cx="8503920" cy="1645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5010912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angular spectrum + transfer function H(kₓ,kᵧ;z) = exp(ikzz) gives exact free-space propagation (no paraxial approximation). Paraxial limit: kz ≈ k − (kₓ²+kᵧ²)/2k → Fresnel propagator.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WAVES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Spherical Waves: Point Sources and Green's Functions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source radiates energy equally in all directions, producing spherical wavefronts. The spherical wave is the fundamental building block of Huygens' construction and the Kirchhoff diffraction integral.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4044" y="1581912"/>
            <a:ext cx="4695913" cy="74980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405" y="2386584"/>
            <a:ext cx="3995190" cy="65836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160" y="3099816"/>
            <a:ext cx="3783680" cy="6583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7472" y="3822192"/>
            <a:ext cx="39776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20624" y="3877056"/>
            <a:ext cx="3831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wavefronts expanding from point source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786384" y="4297680"/>
            <a:ext cx="128016" cy="1280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40664" y="440740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38912" y="4135374"/>
            <a:ext cx="822960" cy="452628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152" y="3934206"/>
            <a:ext cx="1554480" cy="854964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-292608" y="3733038"/>
            <a:ext cx="2286000" cy="12573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-658368" y="3531870"/>
            <a:ext cx="3017520" cy="1659636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6D6A0">
                <a:alpha val="65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50392" y="4361688"/>
            <a:ext cx="1280160" cy="0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0392" y="4361688"/>
            <a:ext cx="1108651" cy="640080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0392" y="4361688"/>
            <a:ext cx="1108651" cy="-640080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0392" y="4361688"/>
            <a:ext cx="640080" cy="1108651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50392" y="4361688"/>
            <a:ext cx="640080" cy="-1108651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399032" y="46268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A/r · exp(ikr)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07992" y="3822192"/>
            <a:ext cx="4315968" cy="107899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07992" y="3822192"/>
            <a:ext cx="4315968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81144" y="3831336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Huygens and diffraction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81144" y="4114800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a wavefront acts as a secondary point source → emits a spherical wavelet (amplitude ∝ A/r exp(ikr))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Huygens' envelope = superposition of all wavelets → next wavefront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integral = rigorous version: ∫G(r,r') ∂E/∂n dS → diffraction formula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integral generalises to ABCD systems (Lecture 09)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 · DERIVATION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Wave Equation to Geometric Optics: The Eikonal Ansatz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wavelength λ is much smaller than all length scales of interest (variation of n, beam size, feature size), the wave equation reduces to geometric optics. This is the eikonal limit — made precise by the WKB / short-wave expansion.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1920" y="1627632"/>
            <a:ext cx="4020160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916" y="2340864"/>
            <a:ext cx="3946169" cy="6583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072384"/>
            <a:ext cx="8503920" cy="56692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0040" y="3072384"/>
            <a:ext cx="1645920" cy="5669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4048" y="314553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k₀² (leading)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029968" y="3118104"/>
            <a:ext cx="6720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−k₀²A|∇S|² + k₀²An²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|∇S|² = n²  (Eikonal equation)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3694176"/>
            <a:ext cx="8503920" cy="56692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0040" y="3694176"/>
            <a:ext cx="1645920" cy="56692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4048" y="376732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k₀¹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029968" y="3739896"/>
            <a:ext cx="6720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2ik₀(∇A·∇S) + ik₀A∇²S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∇·(A²∇S) = 0  (Transport equation)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4315968"/>
            <a:ext cx="8503920" cy="566928"/>
          </a:xfrm>
          <a:prstGeom prst="rect">
            <a:avLst/>
          </a:prstGeom>
          <a:solidFill>
            <a:srgbClr val="1A2A3A"/>
          </a:solidFill>
          <a:ln w="10160">
            <a:solidFill>
              <a:srgbClr val="8DB0C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4315968"/>
            <a:ext cx="1645920" cy="566928"/>
          </a:xfrm>
          <a:prstGeom prst="rect">
            <a:avLst/>
          </a:prstGeom>
          <a:solidFill>
            <a:srgbClr val="8DB0C8">
              <a:alpha val="50000"/>
            </a:srgbClr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4048" y="438912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k₀⁰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029968" y="4361688"/>
            <a:ext cx="6720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∇²A = 0  (wave corrections — diffraction)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Neglected in geometric optics limit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056" y="4937760"/>
            <a:ext cx="116988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 · FERMAT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Eikonal Equation and Fermat's Principle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eikonal equation |∇S|²=n² is fully equivalent to Fermat's principle δ(OPL)=0. Both describe the same rays. The eikonal makes the connection to wave optics precise: S is the OPL from a reference wavefront.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3591" y="1581912"/>
            <a:ext cx="3796817" cy="62179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591" y="2258568"/>
            <a:ext cx="3796817" cy="62179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108" y="2935224"/>
            <a:ext cx="4147784" cy="71323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730752"/>
            <a:ext cx="4160520" cy="1188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3730752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373989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 → Ray equation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4005072"/>
            <a:ext cx="39959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|∇S|²=n² along a ray: d/ds(∇S) = ∇n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∇S = n dr/ds (ray direction scaled by 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d/ds(n dr/ds) = ∇n  (Fermat/Euler-Lagrange ray equation ✓)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eikonal equation is the Hamilton-Jacobi equation for light (next slide)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730752"/>
            <a:ext cx="4160520" cy="118872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3730752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373989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equation → energy conservation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36592" y="4005072"/>
            <a:ext cx="39959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∇·(A²∇S) = 0 means div of energy flux = 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A²∇S is proportional to the Poynting vector ⟨S⟩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ray tube: A²n × (cross-section area) = const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A decreases as the ray tube expands → 1/r for spherical wave ✓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20040" y="4983480"/>
            <a:ext cx="8503920" cy="155448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11480" y="5001768"/>
            <a:ext cx="8321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Maxwell (exact) ⊃ Scalar wave eq. (paraxial/slowly-varying n) ⊃ Helmholtz (monochromatic) ⊃ Eikonal (λ→0) = Fermat = Ray optics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WAVEFRONTS · PHASES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Wavefronts, Phases, and Phase Singularities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wavefront is a surface of constant phase. Rays are perpendicular to wavefronts. But phase is not always well-defined everywhere — wherever the amplitude vanishes, the phase is singular. These singularities are topologically protected.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3591" y="1627632"/>
            <a:ext cx="3796817" cy="62179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414" y="2304288"/>
            <a:ext cx="4355173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383" y="3072384"/>
            <a:ext cx="3773235" cy="62179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844" y="3749040"/>
            <a:ext cx="3648312" cy="71323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20040" y="4526280"/>
            <a:ext cx="4160520" cy="594360"/>
          </a:xfrm>
          <a:prstGeom prst="rect">
            <a:avLst/>
          </a:prstGeom>
          <a:solidFill>
            <a:srgbClr val="1A2A3A"/>
          </a:solidFill>
          <a:ln w="1016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320040" y="4526280"/>
            <a:ext cx="4160520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393192" y="453542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phase undefined?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393192" y="4773168"/>
            <a:ext cx="3995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node: E(r)=0 → φ=arg(0) undefined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fringe centres, beam vortices, speckle nulls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winds by 2πm around each singularity (topological charge m)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663440" y="4526280"/>
            <a:ext cx="4160520" cy="59436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663440" y="4526280"/>
            <a:ext cx="41605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736592" y="453542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vortices — applications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36592" y="4773168"/>
            <a:ext cx="3995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Laguerre-Gaussian beams: charge m carry orbital angular momentum mℏ/photon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STED microscopy uses donut beams (m=1) for sub-diffraction imaging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tweezers: transfer OAM to trapped particles → rotation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information: vortex modes as high-dimensional qudit basis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WAVEFRONTS · ACTION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Wavefronts as Surfaces of Constant Action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eikonal S(r) plays the role of action in mechanics. Surfaces S=const are wavefronts; ∇S gives the wave vector (optical momentum). This is the precise link between wave and geometric optics.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62" y="1581912"/>
            <a:ext cx="3573475" cy="71323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899" y="2350008"/>
            <a:ext cx="4602203" cy="6217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063240"/>
            <a:ext cx="4160520" cy="1847088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063240"/>
            <a:ext cx="41605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0723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vector k and optical momentum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337560"/>
            <a:ext cx="3995928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k₀∇S = (nω/c)ŝ  where ŝ is the ray direction unit vector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perpendicular to wavefronts S=const (k·∇S surface tangent = 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|k| = nω/c = nk₀  — larger in denser media (more oscillations per metre)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matching at interface: k_tangential continuous → Snell's law!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∇φ only if φ is a well-defined smooth function (no singularities)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singularities: k = ∇φ is undefined → ray picture breaks down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3063240"/>
            <a:ext cx="4160520" cy="184708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06324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0723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Snell's law from phase matching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54880" y="3364992"/>
            <a:ext cx="3931920" cy="1170432"/>
          </a:xfrm>
          <a:prstGeom prst="rect">
            <a:avLst/>
          </a:prstGeom>
          <a:solidFill>
            <a:srgbClr val="0A1628"/>
          </a:solidFill>
          <a:ln w="10160">
            <a:solidFill>
              <a:srgbClr val="0096B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64608" y="3950208"/>
            <a:ext cx="3712464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92040" y="345643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n₁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2040" y="40233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n₂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48810" y="3276079"/>
            <a:ext cx="472030" cy="674129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20840" y="3950208"/>
            <a:ext cx="314933" cy="760316"/>
          </a:xfrm>
          <a:prstGeom prst="line">
            <a:avLst/>
          </a:prstGeom>
          <a:noFill/>
          <a:ln w="25400">
            <a:solidFill>
              <a:srgbClr val="0096B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57800" y="3913632"/>
            <a:ext cx="1005840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4206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k_t continuous →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92040" y="44074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n₁sinθ₁ = n₂sinθ₂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846320" y="4608576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interface: tangential component of k must be continuous (boundary condition for E tangential).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n₁k₀ sinθ₁ = n₂k₀ sinθ₂  →  n₁sinθ₁ = n₂sinθ₂  ✓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Snell's law follows directly from phase matching of the wave vector!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HAMILTON–JACOBI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Hamilton–Jacobi Equation for Light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eikonal equation |∇S|²=n² is the optical Hamilton–Jacobi equation. Hamilton's equations then give the ray equations — identical to Fermat's principle. Optics and classical mechanics are the same mathematical structure.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5383" y="1581912"/>
            <a:ext cx="3773235" cy="62179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578" y="2258568"/>
            <a:ext cx="4466844" cy="7132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063240"/>
            <a:ext cx="4160520" cy="1572768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0632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0723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structure of ray optics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337560"/>
            <a:ext cx="399592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Hamiltonian: H(r,p) = |p|² − n²(r) = 0 (on-shell constraint)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position: r = (x,y,z)  Canonical momentum: p = n ŝ = ∇S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Hamilton's equations: dr/dσ = ∂H/∂p = 2p,  dp/dσ = −∂H/∂r = ∇(n²)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Reparametrising σ → s (arc length): dp/ds = ∇n  → Fermat ray eq. d(nŝ)/ds = ∇n 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Snell's law: pₜ = n sinθ conserved across interface (∇n has no tangential component)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3063240"/>
            <a:ext cx="4160520" cy="157276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06324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0723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Paraxial limit → ABCD matrices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36592" y="3337560"/>
            <a:ext cx="399592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optical axis: r=(x,y) small, p=(pₓ,pᵧ) small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linearises: H ≈ p²/2n − (n−n₀)n₀  (paraxial)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space: (y,p) = (y, n sinθ) ≈ (y, nθ) → symplectic 2D space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matrix: linear map on (y,nθ) — det=1 is Liouville's theorem!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invariant nyθ = const ↔ phase-space area conservation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732" y="4690872"/>
            <a:ext cx="1966535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HAMILTON–JACOBI · ANALOGY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 Analogy: Optics ↔ Mechanics ↔ Quantum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mathematical passage — wave equation → eikonal / Hamilton-Jacobi — occurs in quantum mechanics (Schrödinger → classical mechanics, WKB approximation). Light waves are to ray optics as quantum waves are to classical mechanics.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939" y="1627632"/>
            <a:ext cx="4328122" cy="71323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531" y="2395728"/>
            <a:ext cx="4494937" cy="731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218688"/>
            <a:ext cx="14173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56616" y="3236976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737360" y="3218688"/>
            <a:ext cx="23317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773936" y="3236976"/>
            <a:ext cx="2258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equation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069080" y="3218688"/>
            <a:ext cx="1481328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05656" y="3236976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Short-wave limit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550408" y="3218688"/>
            <a:ext cx="14173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586984" y="3236976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967728" y="3218688"/>
            <a:ext cx="1389888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004304" y="3236976"/>
            <a:ext cx="1316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8357616" y="3218688"/>
            <a:ext cx="1380744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94192" y="3236976"/>
            <a:ext cx="1307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Particle/ray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20040" y="3474720"/>
            <a:ext cx="1417320" cy="384048"/>
          </a:xfrm>
          <a:prstGeom prst="rect">
            <a:avLst/>
          </a:prstGeom>
          <a:solidFill>
            <a:srgbClr val="00B4D8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6616" y="3511296"/>
            <a:ext cx="1344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737360" y="3474720"/>
            <a:ext cx="2331720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773936" y="3511296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(∇²−n²/c²∂²/∂t²)u=0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069080" y="3474720"/>
            <a:ext cx="1481328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05656" y="3511296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λ→0 (high freq.)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550408" y="3474720"/>
            <a:ext cx="1417320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86984" y="3511296"/>
            <a:ext cx="1344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OPL = ∫n ds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967728" y="3474720"/>
            <a:ext cx="1389888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004304" y="3511296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∇S = nŝ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357616" y="3474720"/>
            <a:ext cx="1380744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394192" y="3511296"/>
            <a:ext cx="1307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Ray: d(nŝ)/ds=∇n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20040" y="3895344"/>
            <a:ext cx="1417320" cy="384048"/>
          </a:xfrm>
          <a:prstGeom prst="rect">
            <a:avLst/>
          </a:prstGeom>
          <a:solidFill>
            <a:srgbClr val="0096B7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56616" y="3931920"/>
            <a:ext cx="1344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1737360" y="3895344"/>
            <a:ext cx="2331720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773936" y="3931920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iℏ∂ψ/∂t = Ĥψ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069080" y="3895344"/>
            <a:ext cx="1481328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105656" y="3931920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ℏ→0 (WKB)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5550408" y="3895344"/>
            <a:ext cx="1417320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586984" y="3931920"/>
            <a:ext cx="1344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∫p dq (action)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967728" y="3895344"/>
            <a:ext cx="1389888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04304" y="3931920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∇S = mẋ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8357616" y="3895344"/>
            <a:ext cx="1380744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394192" y="3931920"/>
            <a:ext cx="1307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d(mẋ)/dt = −∇V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320040" y="4315968"/>
            <a:ext cx="1417320" cy="384048"/>
          </a:xfrm>
          <a:prstGeom prst="rect">
            <a:avLst/>
          </a:prstGeom>
          <a:solidFill>
            <a:srgbClr val="FFB703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56616" y="4352544"/>
            <a:ext cx="1344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Broglie link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1737360" y="4315968"/>
            <a:ext cx="2331720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773936" y="4352544"/>
            <a:ext cx="225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ψ~exp(iS/ℏ)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069080" y="4315968"/>
            <a:ext cx="1481328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105656" y="4352544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λ_dB = h/p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5550408" y="4315968"/>
            <a:ext cx="1417320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586984" y="4352544"/>
            <a:ext cx="1344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same role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6967728" y="4315968"/>
            <a:ext cx="1389888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004304" y="4352544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ℏk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8357616" y="4315968"/>
            <a:ext cx="1380744" cy="384048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394192" y="4352544"/>
            <a:ext cx="1307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particle follows ray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320040" y="5010912"/>
            <a:ext cx="8503920" cy="13716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11480" y="5029200"/>
            <a:ext cx="8321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1926 paper was motivated by the optical analogy: he wrote the wave equation for matter waves by reverse-engineering from the Hamilton-Jacobi equation, just as Maxwell's eq. reverse-engineers from the eikonal.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Hierarchy of Optical Theories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theories we have studied are nested approximations of Maxwell's equations, each valid when a particular small parameter (λ/L or 1/k₀) justifies dropping certain terms.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8503920" cy="621792"/>
          </a:xfrm>
          <a:prstGeom prst="rect">
            <a:avLst/>
          </a:prstGeom>
          <a:solidFill>
            <a:srgbClr val="1A2A3A"/>
          </a:solidFill>
          <a:ln w="1524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72768"/>
            <a:ext cx="201168" cy="6217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682496"/>
            <a:ext cx="1170432" cy="274320"/>
          </a:xfrm>
          <a:prstGeom prst="rect">
            <a:avLst/>
          </a:prstGeom>
          <a:solidFill>
            <a:srgbClr val="EF476F">
              <a:alpha val="80000"/>
            </a:srgbClr>
          </a:solidFill>
          <a:ln w="10160">
            <a:solidFill>
              <a:srgbClr val="EF4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44384" y="17007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609344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Maxwell's Equations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1883664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for: diffraction, interference, polarization, near-field evanescent fields, photonic bandgap structures, sub-λ imaging.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2194560"/>
            <a:ext cx="0" cy="54864"/>
          </a:xfrm>
          <a:prstGeom prst="line">
            <a:avLst/>
          </a:prstGeom>
          <a:noFill/>
          <a:ln w="1905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49424"/>
            <a:ext cx="8503920" cy="621792"/>
          </a:xfrm>
          <a:prstGeom prst="rect">
            <a:avLst/>
          </a:prstGeom>
          <a:solidFill>
            <a:srgbClr val="1A2A3A"/>
          </a:solidFill>
          <a:ln w="1524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49424"/>
            <a:ext cx="201168" cy="62179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2359152"/>
            <a:ext cx="1170432" cy="274320"/>
          </a:xfrm>
          <a:prstGeom prst="rect">
            <a:avLst/>
          </a:prstGeom>
          <a:solidFill>
            <a:srgbClr val="FB8500">
              <a:alpha val="80000"/>
            </a:srgbClr>
          </a:solidFill>
          <a:ln w="10160">
            <a:solidFill>
              <a:srgbClr val="FB8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44384" y="23774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λ/L arbitrary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286000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Scalar Wave Equation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2560320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when: polarization unimportant, n(r) varies slowly on scale λ. Adds: full diffraction, coherence, Fourier optics (Lectures 08,09).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53712" y="2871216"/>
            <a:ext cx="0" cy="54864"/>
          </a:xfrm>
          <a:prstGeom prst="line">
            <a:avLst/>
          </a:prstGeom>
          <a:noFill/>
          <a:ln w="19050">
            <a:solidFill>
              <a:srgbClr val="FB8500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26080"/>
            <a:ext cx="8503920" cy="621792"/>
          </a:xfrm>
          <a:prstGeom prst="rect">
            <a:avLst/>
          </a:prstGeom>
          <a:solidFill>
            <a:srgbClr val="1A2A3A"/>
          </a:solidFill>
          <a:ln w="1524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26080"/>
            <a:ext cx="201168" cy="6217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7808" y="3035808"/>
            <a:ext cx="1170432" cy="274320"/>
          </a:xfrm>
          <a:prstGeom prst="rect">
            <a:avLst/>
          </a:prstGeom>
          <a:solidFill>
            <a:srgbClr val="FFB703">
              <a:alpha val="80000"/>
            </a:srgbClr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4384" y="305409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freq.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962656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Helmholtz Equation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3236976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when: monochromatic (single wavelength). All of scalar wave optics. Green's function → Kirchhoff, Fresnel, Fraunhofer integrals.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53712" y="3547872"/>
            <a:ext cx="0" cy="54864"/>
          </a:xfrm>
          <a:prstGeom prst="line">
            <a:avLst/>
          </a:prstGeom>
          <a:noFill/>
          <a:ln w="19050">
            <a:solidFill>
              <a:srgbClr val="FFB703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602736"/>
            <a:ext cx="8503920" cy="621792"/>
          </a:xfrm>
          <a:prstGeom prst="rect">
            <a:avLst/>
          </a:prstGeom>
          <a:solidFill>
            <a:srgbClr val="1A2A3A"/>
          </a:solidFill>
          <a:ln w="1524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02736"/>
            <a:ext cx="201168" cy="62179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3712464"/>
            <a:ext cx="1170432" cy="274320"/>
          </a:xfrm>
          <a:prstGeom prst="rect">
            <a:avLst/>
          </a:prstGeom>
          <a:solidFill>
            <a:srgbClr val="0096B7">
              <a:alpha val="80000"/>
            </a:srgbClr>
          </a:solidFill>
          <a:ln w="10160">
            <a:solidFill>
              <a:srgbClr val="0096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44384" y="3730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→ 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39312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Eikonal / Geometric Optics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4360" y="3913632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when: λ ≪ all length scales. Gives: ray tracing, ABCD matrices, Fermat, imaging. Breaks down at: diffraction, singularities.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53712" y="4224528"/>
            <a:ext cx="0" cy="54864"/>
          </a:xfrm>
          <a:prstGeom prst="line">
            <a:avLst/>
          </a:prstGeom>
          <a:noFill/>
          <a:ln w="19050">
            <a:solidFill>
              <a:srgbClr val="0096B7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279392"/>
            <a:ext cx="8503920" cy="621792"/>
          </a:xfrm>
          <a:prstGeom prst="rect">
            <a:avLst/>
          </a:prstGeom>
          <a:solidFill>
            <a:srgbClr val="1A2A3A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279392"/>
            <a:ext cx="20116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07808" y="4389120"/>
            <a:ext cx="1170432" cy="274320"/>
          </a:xfrm>
          <a:prstGeom prst="rect">
            <a:avLst/>
          </a:prstGeom>
          <a:solidFill>
            <a:srgbClr val="00B4D8">
              <a:alpha val="8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44384" y="44074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≪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" y="431596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Paraxial / ABCD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94360" y="4590288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when: rays at small angles to optical axis. Gives: all of Lecture 04 (ABCD matrices), Gaussian beams (Lecture 07). Very widely used.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Maxwell, Waves &amp; Eikonal: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Wolf, Principles of Optics, 7th ed. — Ch. 1: Maxwell's equations, wave equations; Ch. 3.1: eikonal equation. The standard graduate reference.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 — Ch. 5.1–5.3: wave optics, plane waves, spherical waves.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 — Ch. 2: light as an EM wave; derivation of wave equation from Maxwell.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Griffiths, Introduction to Electrodynamics — Ch. 9: EM waves. Excellent undergraduate treatment.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Lectures Vol. II, Ch. 20–22: Maxwell's equations and their consequences.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Sommerfeld, Lectures on Theoretical Physics Vol. 4: Optics — Ch. 4: eikonal. Classic rigorous treatment.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Luneburg, Mathematical Theory of Optics (1964): Hamiltonian optics, eikonal, full geometric optics theory.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Arnold, Mathematical Methods of Classical Mechanics — App. 11: geometric optics and mechanics analogy.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&amp; Mount (1972) Rep. Prog. Phys. 35, 315: semiclassical approximations (WKB) — optics and QM unified.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&amp; Berry (1974) Proc. R. Soc. A 336, 165: original paper on wavefront dislocations (phase singularities).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Take the curl of Faraday's law ∇×E=−∂B/∂t, substitute Ampère, use the vector identity and ∇·E=0 to derive ∇²E = με∂²E/∂t². Show c=1/√(μ₀ε₀).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Verify that E=E₀exp(i(k·r−ωt)) satisfies the wave equation. Show the dispersion relation k²=n²ω²/c² and derive k·E=0 from ∇·E=0.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that u=A/r exp(ikr) satisfies the scalar wave equation ∇²u+k²u=0 for r≠0 by computing ∇²(1/r exp(ikr)) in spherical coordinates.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Substitute u=A(r)exp(ik₀S(r)) into the scalar wave equation and collect terms by powers of k₀ to derive the eikonal and transport equations.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Starting from the Hamilton–Jacobi equation H(r,∇S)=|∇S|²−n²=0, derive Hamilton's equations and show they reduce to d/ds(n dr/ds)=∇n.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Show that Snell's law n₁sinθ₁=n₂sinθ₂ follows from continuity of the tangential component of k=k₀∇S at a flat interface.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 Project] Implement a 2D eikonal solver (fast marching method) for a GRIN lens with n(r)=n₀(1−αr²/2). Plot the wavefront surfaces and overlay ray paths. Compare with the ABCD sinusoidal solution.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04b: Maxwell, Waves &amp; Eikonal</dc:title>
  <dc:subject>Lecture 04b</dc:subject>
  <dc:creator>Linear Optics Course</dc:creator>
  <cp:lastModifiedBy>Linear Optics Course</cp:lastModifiedBy>
  <cp:revision>1</cp:revision>
  <dcterms:created xsi:type="dcterms:W3CDTF">2026-04-18T06:10:57Z</dcterms:created>
  <dcterms:modified xsi:type="dcterms:W3CDTF">2026-04-18T06:10:57Z</dcterms:modified>
</cp:coreProperties>
</file>