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9B5DE5">
              <a:alpha val="22000"/>
            </a:srgbClr>
          </a:solidFill>
          <a:ln w="12700">
            <a:solidFill>
              <a:srgbClr val="9B5DE5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9B5DE5">
              <a:alpha val="20000"/>
            </a:srgbClr>
          </a:solidFill>
          <a:ln w="12700">
            <a:solidFill>
              <a:srgbClr val="9B5DE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9B5DE5">
              <a:alpha val="18000"/>
            </a:srgbClr>
          </a:solidFill>
          <a:ln w="12700">
            <a:solidFill>
              <a:srgbClr val="9B5DE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9B5DE5">
              <a:alpha val="16000"/>
            </a:srgbClr>
          </a:solidFill>
          <a:ln w="12700">
            <a:solidFill>
              <a:srgbClr val="9B5DE5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9B5DE5">
              <a:alpha val="14000"/>
            </a:srgbClr>
          </a:solidFill>
          <a:ln w="12700">
            <a:solidFill>
              <a:srgbClr val="9B5DE5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9B5DE5">
              <a:alpha val="12000"/>
            </a:srgbClr>
          </a:solidFill>
          <a:ln w="12700">
            <a:solidFill>
              <a:srgbClr val="9B5DE5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03b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Fermat's Principle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Path Length · Derivation of All Ray Laws · GRIN Media · Euler–Lagrange · Huygens Connection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Fermat's Principle: Statement and Physical Meaning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 de Fermat (1662) stated that light travels between two points along the path for which the Optical Path Length is stationary — not necessarily minimum, but a saddle point of the OPL functional.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4656" y="1627632"/>
            <a:ext cx="4334689" cy="74980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705" y="2432304"/>
            <a:ext cx="3718591" cy="7498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273552"/>
            <a:ext cx="4160520" cy="1664208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273552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" y="328269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'stationary' means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93192" y="3547872"/>
            <a:ext cx="399592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 = ∫n ds measures the number of wavelengths along the path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Stationary: δ(OPL) = 0 means small path variations produce no first-order change in OPL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a minimum (ordinary reflection/refraction)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 maximum (e.g. rays through an ellipsoidal mirror at the far focus)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 saddle point (some GRIN and resonator configurations)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the action principle in mechanics (Maupertuis)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63440" y="3273552"/>
            <a:ext cx="4160520" cy="166420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3273552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36592" y="328269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Path Length vs. time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736592" y="3547872"/>
            <a:ext cx="399592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 = n·(geometric length). Time of travel = OPL/c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vacuum n=1: OPL = geometric length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glass n=1.5: OPL = 1.5 × geometric length (phase accumulates faster)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accumulated: φ = (2π/λ₀) × OPL = k₀ × OPL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'least time' (original 1662 statement) is a special case when n is constant in each medium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· SNELL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Deriving Snell's Law from Fermat's Principle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crosses a flat interface between media n₁ and n₂. We minimise the total OPL over all possible crossing points x, with the geometry fixed (source height a, observation depth b, lateral separation d).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8807" y="1581912"/>
            <a:ext cx="3746385" cy="7132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2395728"/>
            <a:ext cx="3977640" cy="2514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" y="2450592"/>
            <a:ext cx="3831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 derivation geometry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38912" y="3767328"/>
            <a:ext cx="379476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5661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57200" y="26883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n₁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8404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0392" y="2807208"/>
            <a:ext cx="1508760" cy="96012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59152" y="3767328"/>
            <a:ext cx="1371600" cy="914400"/>
          </a:xfrm>
          <a:prstGeom prst="line">
            <a:avLst/>
          </a:prstGeom>
          <a:noFill/>
          <a:ln w="27940">
            <a:solidFill>
              <a:srgbClr val="0096B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6384" y="2743200"/>
            <a:ext cx="128016" cy="12801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66744" y="461772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95144" y="370332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359152" y="2688336"/>
            <a:ext cx="0" cy="2103120"/>
          </a:xfrm>
          <a:prstGeom prst="line">
            <a:avLst/>
          </a:prstGeom>
          <a:noFill/>
          <a:ln w="12700">
            <a:solidFill>
              <a:srgbClr val="8DB0C8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896112" y="27797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404872" y="38770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50392" y="381304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468880" y="381304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d-x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920240" y="335584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θ₁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450592" y="387705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θ₂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38912" y="4773168"/>
            <a:ext cx="3794760" cy="0"/>
          </a:xfrm>
          <a:prstGeom prst="line">
            <a:avLst/>
          </a:prstGeom>
          <a:noFill/>
          <a:ln w="12700">
            <a:solidFill>
              <a:srgbClr val="8DB0C8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1124712" y="46177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d  →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07992" y="2395728"/>
            <a:ext cx="4315968" cy="251460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07992" y="2395728"/>
            <a:ext cx="4315968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81144" y="2404872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derivation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581144" y="2688336"/>
            <a:ext cx="41605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OPL(x) = n₁·(x/cosθ₁) + n₂·((d−x)/cosθ₂)  [path lengths in each medium]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terms of geometry: OPL = n₁√(a²+x²) + n₂√(b²+(d−x)²)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Stationarity: d(OPL)/dx = 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d/dx[n₁√(a²+x²)] = n₁x/√(a²+x²) = n₁sinθ₁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d/dx[n₂√(b²+(d−x)²)] = −n₂(d−x)/√(b²+(d−x)²) = −n₂sinθ₂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sum to zero: n₁sinθ₁ − n₂sinθ₂ = 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 n₁sinθ₁ = n₂sinθ₂  ✓  (Snell's law derived!)</a:t>
            </a:r>
            <a:endParaRPr lang="en-US" sz="10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466" y="4956048"/>
            <a:ext cx="1385068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· REFLECTION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Deriving the Law of Reflection from Fermat's Principle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from source A at height a reflects off a flat mirror and reaches observer B at height b, with both on the same side of the mirror. We minimise OPL = total geometric path length (n=const).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746" y="1581912"/>
            <a:ext cx="3938508" cy="7498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2423160"/>
            <a:ext cx="3977640" cy="2487168"/>
          </a:xfrm>
          <a:prstGeom prst="rect">
            <a:avLst/>
          </a:prstGeom>
          <a:solidFill>
            <a:srgbClr val="0A1628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" y="2478024"/>
            <a:ext cx="3831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geometry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38912" y="4590288"/>
            <a:ext cx="3794760" cy="0"/>
          </a:xfrm>
          <a:prstGeom prst="line">
            <a:avLst/>
          </a:prstGeom>
          <a:noFill/>
          <a:ln w="38100">
            <a:solidFill>
              <a:srgbClr val="FB85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" y="4590288"/>
            <a:ext cx="3794760" cy="228600"/>
          </a:xfrm>
          <a:prstGeom prst="rect">
            <a:avLst/>
          </a:prstGeom>
          <a:solidFill>
            <a:srgbClr val="FB8500">
              <a:alpha val="15000"/>
            </a:srgbClr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46451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 (n₁ uniform above)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850392" y="2880360"/>
            <a:ext cx="1325880" cy="1709928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76272" y="4590288"/>
            <a:ext cx="1508760" cy="-1572768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807208"/>
            <a:ext cx="146304" cy="14630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11880" y="2944368"/>
            <a:ext cx="146304" cy="14630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12264" y="452628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176272" y="2715768"/>
            <a:ext cx="0" cy="2029968"/>
          </a:xfrm>
          <a:prstGeom prst="line">
            <a:avLst/>
          </a:prstGeom>
          <a:noFill/>
          <a:ln w="12700">
            <a:solidFill>
              <a:srgbClr val="8DB0C8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649224" y="2770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721608" y="28529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50392" y="433425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719072" y="408736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θᵢ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286000" y="408736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θᵣ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95528" y="6245352"/>
            <a:ext cx="109728" cy="109728"/>
          </a:xfrm>
          <a:prstGeom prst="ellipse">
            <a:avLst/>
          </a:prstGeom>
          <a:solidFill>
            <a:srgbClr val="FFB703">
              <a:alpha val="50000"/>
            </a:srgbClr>
          </a:solidFill>
          <a:ln w="12700">
            <a:solidFill>
              <a:srgbClr val="FFB703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21792" y="63367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A'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50392" y="6300216"/>
            <a:ext cx="2834640" cy="-3282696"/>
          </a:xfrm>
          <a:prstGeom prst="line">
            <a:avLst/>
          </a:prstGeom>
          <a:noFill/>
          <a:ln w="12700">
            <a:solidFill>
              <a:srgbClr val="FFB703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4507992" y="2423160"/>
            <a:ext cx="4315968" cy="2487168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07992" y="2423160"/>
            <a:ext cx="4315968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81144" y="2432304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&amp; the mirror-image trick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81144" y="2715768"/>
            <a:ext cx="416052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OPL(x) = √(a²+x²) + √(b²+(d−x)²)  [n=1 above mirror]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d(OPL)/dx = 0: sinθᵢ = sinθᵣ  ⟹  θᵢ = θᵣ  ✓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construction: reflect source A to virtual image A' below mirror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 A'→B is the shortest path: always gives θᵢ = θᵣ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virtual-image construction is a direct consequence of Fermat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curved mirrors too: normal to mirror surface bisects i and 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· TIR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Internal Reflection &amp; OPL Phase Accumulation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3675" y="1024128"/>
            <a:ext cx="3996650" cy="62179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736" y="1700784"/>
            <a:ext cx="3970528" cy="6583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2450592"/>
            <a:ext cx="4160520" cy="2487168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2450592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93192" y="245973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from Fermat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93192" y="2724912"/>
            <a:ext cx="3995928" cy="2139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critical angle θc = arcsin(n₂/n₁), the refracted ray grazes the interface at θ₂=90°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θ₁ &gt; θc, Snell's law gives sinθ₂ = (n₁/n₂)sinθ₁ &gt; 1 — no real solution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OPL perspective: no stationary-OPL path exists through the interface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cannot propagate as a real transmitted ray → total reflection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Evanescent wave: exponentially decaying field penetrates a few λ into medium 2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Evanescent coupling: tunnelling between closely spaced fibres/prisms (FTIR)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63440" y="2450592"/>
            <a:ext cx="4160520" cy="248716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450592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36592" y="245973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 and phase: practical consequences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736592" y="2724912"/>
            <a:ext cx="3995928" cy="2139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path difference (OPD) between two rays → phase difference Δφ = k₀·OPD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Δφ = 2πm → constructive (bright fringe in interferometer)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Δφ = (2m+1)π → destructive (dark fringe)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Anti-reflection coating: layer thickness t = λ/(4n) → OPL = λ/2 → Δφ = π → destructive reflection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coating condition: n_coat = √(n₁ n₂), t = λ₀/(4n_coat)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Fabry-Pérot: resonance when round-trip OPL = mλ (Lec 04, Lasers)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· LENSES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 Design: The Equal OPL Condition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imaging lens maps every ray from a source point to the same image point. By Fermat's principle this requires that all rays have the same OPL — the lens surface is precisely shaped to enforce this.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859" y="1627632"/>
            <a:ext cx="4836282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2377440"/>
            <a:ext cx="3977640" cy="25146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" y="2432304"/>
            <a:ext cx="3831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Equal-OPL lens construction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38912" y="3634740"/>
            <a:ext cx="3794760" cy="0"/>
          </a:xfrm>
          <a:prstGeom prst="line">
            <a:avLst/>
          </a:prstGeom>
          <a:noFill/>
          <a:ln w="12700">
            <a:solidFill>
              <a:srgbClr val="8DB0C8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2212848" y="3131820"/>
            <a:ext cx="109728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12848" y="3259836"/>
            <a:ext cx="109728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12848" y="3387852"/>
            <a:ext cx="109728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12848" y="3515868"/>
            <a:ext cx="109728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12848" y="3643884"/>
            <a:ext cx="109728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12848" y="3771900"/>
            <a:ext cx="109728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12848" y="3899916"/>
            <a:ext cx="109728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12848" y="4027932"/>
            <a:ext cx="109728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" y="3570732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22192" y="3570732"/>
            <a:ext cx="128016" cy="12801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" y="35890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941064" y="35890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31520" y="3634740"/>
            <a:ext cx="1536192" cy="-4572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67712" y="3177540"/>
            <a:ext cx="1673352" cy="457200"/>
          </a:xfrm>
          <a:prstGeom prst="line">
            <a:avLst/>
          </a:prstGeom>
          <a:noFill/>
          <a:ln w="19050">
            <a:solidFill>
              <a:srgbClr val="0096B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" y="3634740"/>
            <a:ext cx="15361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267712" y="3634740"/>
            <a:ext cx="1673352" cy="0"/>
          </a:xfrm>
          <a:prstGeom prst="line">
            <a:avLst/>
          </a:prstGeom>
          <a:noFill/>
          <a:ln w="19050">
            <a:solidFill>
              <a:srgbClr val="0096B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1520" y="3634740"/>
            <a:ext cx="1536192" cy="4572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267712" y="4091940"/>
            <a:ext cx="1673352" cy="-457200"/>
          </a:xfrm>
          <a:prstGeom prst="line">
            <a:avLst/>
          </a:prstGeom>
          <a:noFill/>
          <a:ln w="19050">
            <a:solidFill>
              <a:srgbClr val="0096B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454456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OPL₁ = OPL₂ = OPL₃ = const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07992" y="2377440"/>
            <a:ext cx="4315968" cy="251460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07992" y="2377440"/>
            <a:ext cx="4315968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81144" y="2386584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of the equal-OPL condition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581144" y="2670048"/>
            <a:ext cx="41605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rays from S to P have the same OPL → arrive in phase → constructive interference → bright image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through the centre of the lens travels all in air → has smallest geometric length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marginal ray (through edge) travels mostly in glass → geometric length larger but in glass (higher n) fewer wavelengths fit → OPL equalised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Aberrations arise when the lens surface deviates from the ideal equal-OPL shape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Aspherical lenses and multi-element designs aim to satisfy the OPL condition over a wider field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· VARIATIONAL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Variational Calculus: Euler–Lagrange and the Ray Equation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is a variational principle — it says δ(OPL)=0 for the true ray. Applying the Euler–Lagrange equations to the OPL integral yields the general ray equation, valid in any medium.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1755" y="1609344"/>
            <a:ext cx="4360491" cy="74980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492" y="2414016"/>
            <a:ext cx="4275016" cy="7132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218688"/>
            <a:ext cx="4160520" cy="1719072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218688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" y="322783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Euler–Lagrange derivation outline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93192" y="3493008"/>
            <a:ext cx="39959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 = ∫n(r) ds  with ds = √(dx²+dy²+dz²)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y(x), z(x) as the unknown functions → Lagrangian L = n√(1+y'²+z'²)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E–L equation for y: d/dx(∂L/∂y') − ∂L/∂y = 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vector form: d/ds(n dr/ds) = ∇n  (general 3D ray equation)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uniform medium (∇n=0): d²r/ds²=0 → straight lines ✓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with mechanics: n plays the role of mass×speed (momentum)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63440" y="3218688"/>
            <a:ext cx="4160520" cy="1719072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3218688"/>
            <a:ext cx="41605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36592" y="322783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analogy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736592" y="3493008"/>
            <a:ext cx="39959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 ↔ Hamilton's principle: δ∫L dt = 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 ↔ action S = ∫p dq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n(r) ↔ refractive index momentum |p| = 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equation ↔ Newton's law F = dp/ds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Snell's law ↔ conservation of tangential momentum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 optics (Lie group methods) uses this fully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· GRIN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Fermat in GRIN Media: Curved Ray Paths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gradient-index (GRIN) medium, ∇n ≠ 0, so the ray equation d/ds(n dr/ds) = ∇n predicts curved ray paths. The OPL of each curved ray is stationary — not minimum nor maximum in general.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4492" y="1581912"/>
            <a:ext cx="4275016" cy="71323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40" y="2350008"/>
            <a:ext cx="4729600" cy="12344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349240" y="1581912"/>
            <a:ext cx="3474720" cy="33101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22392" y="1636776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ray paths in GRIN rod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486400" y="1929384"/>
            <a:ext cx="3200400" cy="2807208"/>
          </a:xfrm>
          <a:prstGeom prst="rect">
            <a:avLst/>
          </a:prstGeom>
          <a:solidFill>
            <a:srgbClr val="0096B7">
              <a:alpha val="10000"/>
            </a:srgbClr>
          </a:solidFill>
          <a:ln w="15240">
            <a:solidFill>
              <a:srgbClr val="0096B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0" y="3332988"/>
            <a:ext cx="3200400" cy="0"/>
          </a:xfrm>
          <a:prstGeom prst="line">
            <a:avLst/>
          </a:prstGeom>
          <a:noFill/>
          <a:ln w="10160">
            <a:solidFill>
              <a:srgbClr val="8DB0C8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5550408" y="3332988"/>
            <a:ext cx="39701" cy="118862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590109" y="3451850"/>
            <a:ext cx="39701" cy="11212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29810" y="3563978"/>
            <a:ext cx="39701" cy="9903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69511" y="3663017"/>
            <a:ext cx="39701" cy="8033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09213" y="3743356"/>
            <a:ext cx="39701" cy="5708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48914" y="3800444"/>
            <a:ext cx="39701" cy="30601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88615" y="3831044"/>
            <a:ext cx="39701" cy="2380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828316" y="3833425"/>
            <a:ext cx="39701" cy="-25975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868017" y="3807449"/>
            <a:ext cx="39701" cy="-5285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07718" y="3754591"/>
            <a:ext cx="39701" cy="-7674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47420" y="3677843"/>
            <a:ext cx="39701" cy="-9628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987121" y="3581556"/>
            <a:ext cx="39701" cy="-110372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026822" y="3471184"/>
            <a:ext cx="39701" cy="-118202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66523" y="3352982"/>
            <a:ext cx="39701" cy="-119335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06224" y="3233648"/>
            <a:ext cx="39701" cy="-113706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45925" y="3119941"/>
            <a:ext cx="39701" cy="-101635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185627" y="3018307"/>
            <a:ext cx="39701" cy="-83804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225328" y="2934503"/>
            <a:ext cx="39701" cy="-61226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265029" y="2873277"/>
            <a:ext cx="39701" cy="-35178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304730" y="2838099"/>
            <a:ext cx="39701" cy="-713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344431" y="2830962"/>
            <a:ext cx="39701" cy="2130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384132" y="2852271"/>
            <a:ext cx="39701" cy="4854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423834" y="2900818"/>
            <a:ext cx="39701" cy="73034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463535" y="2973852"/>
            <a:ext cx="39701" cy="93383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503236" y="3067235"/>
            <a:ext cx="39701" cy="108441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542937" y="3175676"/>
            <a:ext cx="39701" cy="117355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582638" y="3293031"/>
            <a:ext cx="39701" cy="11961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622339" y="3412650"/>
            <a:ext cx="39701" cy="115105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662041" y="3527754"/>
            <a:ext cx="39701" cy="10406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701742" y="3631824"/>
            <a:ext cx="39701" cy="8713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741443" y="3718960"/>
            <a:ext cx="39701" cy="6526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781144" y="3784227"/>
            <a:ext cx="39701" cy="3969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820845" y="3823927"/>
            <a:ext cx="39701" cy="11882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860546" y="3835809"/>
            <a:ext cx="39701" cy="-16608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900248" y="3819200"/>
            <a:ext cx="39701" cy="-44158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6939949" y="3775042"/>
            <a:ext cx="39701" cy="-69205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979650" y="3705837"/>
            <a:ext cx="39701" cy="-90331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019351" y="3615506"/>
            <a:ext cx="39701" cy="-10633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059052" y="3509166"/>
            <a:ext cx="39701" cy="-116322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098753" y="3392845"/>
            <a:ext cx="39701" cy="-119713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138455" y="3273131"/>
            <a:ext cx="39701" cy="-116322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178156" y="3156810"/>
            <a:ext cx="39701" cy="-10633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217857" y="3050470"/>
            <a:ext cx="39701" cy="-90331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7257558" y="2960139"/>
            <a:ext cx="39701" cy="-69205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297259" y="2890934"/>
            <a:ext cx="39701" cy="-44158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7336960" y="2846776"/>
            <a:ext cx="39701" cy="-16608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7376662" y="2830167"/>
            <a:ext cx="39701" cy="11882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7416363" y="2842049"/>
            <a:ext cx="39701" cy="3969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7456064" y="2881749"/>
            <a:ext cx="39701" cy="6526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7495765" y="2947016"/>
            <a:ext cx="39701" cy="8713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535466" y="3034152"/>
            <a:ext cx="39701" cy="10406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7575167" y="3138222"/>
            <a:ext cx="39701" cy="115105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614869" y="3253326"/>
            <a:ext cx="39701" cy="11961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7654570" y="3372945"/>
            <a:ext cx="39701" cy="117355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7694271" y="3490300"/>
            <a:ext cx="39701" cy="108441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7733972" y="3598741"/>
            <a:ext cx="39701" cy="93383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773673" y="3692124"/>
            <a:ext cx="39701" cy="73034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7813374" y="3765158"/>
            <a:ext cx="39701" cy="4854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853076" y="3813705"/>
            <a:ext cx="39701" cy="2130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7892777" y="3835014"/>
            <a:ext cx="39701" cy="-713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7932478" y="3827877"/>
            <a:ext cx="39701" cy="-35178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7972179" y="3792699"/>
            <a:ext cx="39701" cy="-61226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8011880" y="3731473"/>
            <a:ext cx="39701" cy="-83804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8051581" y="3647669"/>
            <a:ext cx="39701" cy="-101635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8091283" y="3546035"/>
            <a:ext cx="39701" cy="-113706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8130984" y="3432328"/>
            <a:ext cx="39701" cy="-119335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8170685" y="3312994"/>
            <a:ext cx="39701" cy="-118202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8210386" y="3194792"/>
            <a:ext cx="39701" cy="-110372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8250087" y="3084420"/>
            <a:ext cx="39701" cy="-9628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8289788" y="2988133"/>
            <a:ext cx="39701" cy="-7674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8329490" y="2911385"/>
            <a:ext cx="39701" cy="-5285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369191" y="2858527"/>
            <a:ext cx="39701" cy="-25975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8408892" y="2832551"/>
            <a:ext cx="39701" cy="2380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8448593" y="2834932"/>
            <a:ext cx="39701" cy="30601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8488294" y="2865532"/>
            <a:ext cx="39701" cy="5708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8527995" y="2922620"/>
            <a:ext cx="39701" cy="8033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8567697" y="3002959"/>
            <a:ext cx="39701" cy="99039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8607398" y="3101998"/>
            <a:ext cx="39701" cy="112127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8647099" y="3214126"/>
            <a:ext cx="39701" cy="118862"/>
          </a:xfrm>
          <a:prstGeom prst="line">
            <a:avLst/>
          </a:prstGeom>
          <a:noFill/>
          <a:ln w="20320">
            <a:solidFill>
              <a:srgbClr val="00B4D8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5550408" y="3332988"/>
            <a:ext cx="39701" cy="60512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5590109" y="3393500"/>
            <a:ext cx="39701" cy="57083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629810" y="3450583"/>
            <a:ext cx="39701" cy="50420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5669511" y="3501003"/>
            <a:ext cx="39701" cy="40900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5709213" y="3541903"/>
            <a:ext cx="39701" cy="29063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5748914" y="3570965"/>
            <a:ext cx="39701" cy="1557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5788615" y="3586544"/>
            <a:ext cx="39701" cy="1212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5828316" y="3587756"/>
            <a:ext cx="39701" cy="-13224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5868017" y="3574532"/>
            <a:ext cx="39701" cy="-26910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5907718" y="3547622"/>
            <a:ext cx="39701" cy="-3907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5947420" y="3508551"/>
            <a:ext cx="39701" cy="-4901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5987121" y="3459532"/>
            <a:ext cx="39701" cy="-5618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6026822" y="3403342"/>
            <a:ext cx="39701" cy="-60176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6066523" y="3343167"/>
            <a:ext cx="39701" cy="-60752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6106224" y="3282415"/>
            <a:ext cx="39701" cy="-57887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6145925" y="3224528"/>
            <a:ext cx="39701" cy="-5174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185627" y="3172787"/>
            <a:ext cx="39701" cy="-42664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6225328" y="3130123"/>
            <a:ext cx="39701" cy="-3116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6265029" y="3098953"/>
            <a:ext cx="39701" cy="-1790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6304730" y="3081045"/>
            <a:ext cx="39701" cy="-3633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6344431" y="3077411"/>
            <a:ext cx="39701" cy="10848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6384132" y="3088259"/>
            <a:ext cx="39701" cy="24715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6423834" y="3112974"/>
            <a:ext cx="39701" cy="3718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6463535" y="3150155"/>
            <a:ext cx="39701" cy="4754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6503236" y="3197696"/>
            <a:ext cx="39701" cy="55206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6542937" y="3252902"/>
            <a:ext cx="39701" cy="59744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6582638" y="3312646"/>
            <a:ext cx="39701" cy="60897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6622339" y="3373543"/>
            <a:ext cx="39701" cy="5859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6662041" y="3432142"/>
            <a:ext cx="39701" cy="5298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6701742" y="3485122"/>
            <a:ext cx="39701" cy="4436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6741443" y="3529483"/>
            <a:ext cx="39701" cy="33227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6781144" y="3562710"/>
            <a:ext cx="39701" cy="2021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6820845" y="3582920"/>
            <a:ext cx="39701" cy="604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6860546" y="3588969"/>
            <a:ext cx="39701" cy="-8455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6900248" y="3580514"/>
            <a:ext cx="39701" cy="-22480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6939949" y="3558034"/>
            <a:ext cx="39701" cy="-35232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6979650" y="3522802"/>
            <a:ext cx="39701" cy="-45987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7019351" y="3476815"/>
            <a:ext cx="39701" cy="-54136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7059052" y="3422679"/>
            <a:ext cx="39701" cy="-59218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7098753" y="3363460"/>
            <a:ext cx="39701" cy="-60945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7138455" y="3302516"/>
            <a:ext cx="39701" cy="-59218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7178156" y="3243297"/>
            <a:ext cx="39701" cy="-54136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7217857" y="3189161"/>
            <a:ext cx="39701" cy="-45987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7257558" y="3143174"/>
            <a:ext cx="39701" cy="-35232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7297259" y="3107942"/>
            <a:ext cx="39701" cy="-22480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7336960" y="3085462"/>
            <a:ext cx="39701" cy="-8455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7376662" y="3077007"/>
            <a:ext cx="39701" cy="604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7416363" y="3083056"/>
            <a:ext cx="39701" cy="2021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7456064" y="3103266"/>
            <a:ext cx="39701" cy="33227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7495765" y="3136493"/>
            <a:ext cx="39701" cy="4436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7535466" y="3180854"/>
            <a:ext cx="39701" cy="5298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7575167" y="3233834"/>
            <a:ext cx="39701" cy="5859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7614869" y="3292433"/>
            <a:ext cx="39701" cy="60897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7654570" y="3353330"/>
            <a:ext cx="39701" cy="59744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7694271" y="3413074"/>
            <a:ext cx="39701" cy="55206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7733972" y="3468280"/>
            <a:ext cx="39701" cy="4754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7773673" y="3515821"/>
            <a:ext cx="39701" cy="3718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7813374" y="3553002"/>
            <a:ext cx="39701" cy="24715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7853076" y="3577717"/>
            <a:ext cx="39701" cy="10848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>
            <a:off x="7892777" y="3588565"/>
            <a:ext cx="39701" cy="-3633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>
            <a:off x="7932478" y="3584931"/>
            <a:ext cx="39701" cy="-1790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7972179" y="3567023"/>
            <a:ext cx="39701" cy="-3116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8011880" y="3535853"/>
            <a:ext cx="39701" cy="-42664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55" name="Shape 151"/>
          <p:cNvSpPr/>
          <p:nvPr/>
        </p:nvSpPr>
        <p:spPr>
          <a:xfrm>
            <a:off x="8051581" y="3493189"/>
            <a:ext cx="39701" cy="-5174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56" name="Shape 152"/>
          <p:cNvSpPr/>
          <p:nvPr/>
        </p:nvSpPr>
        <p:spPr>
          <a:xfrm>
            <a:off x="8091283" y="3441448"/>
            <a:ext cx="39701" cy="-57887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8130984" y="3383561"/>
            <a:ext cx="39701" cy="-60752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58" name="Shape 154"/>
          <p:cNvSpPr/>
          <p:nvPr/>
        </p:nvSpPr>
        <p:spPr>
          <a:xfrm>
            <a:off x="8170685" y="3322809"/>
            <a:ext cx="39701" cy="-60176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59" name="Shape 155"/>
          <p:cNvSpPr/>
          <p:nvPr/>
        </p:nvSpPr>
        <p:spPr>
          <a:xfrm>
            <a:off x="8210386" y="3262634"/>
            <a:ext cx="39701" cy="-5618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8250087" y="3206444"/>
            <a:ext cx="39701" cy="-4901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8289788" y="3157425"/>
            <a:ext cx="39701" cy="-39071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62" name="Shape 158"/>
          <p:cNvSpPr/>
          <p:nvPr/>
        </p:nvSpPr>
        <p:spPr>
          <a:xfrm>
            <a:off x="8329490" y="3118354"/>
            <a:ext cx="39701" cy="-26910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63" name="Shape 159"/>
          <p:cNvSpPr/>
          <p:nvPr/>
        </p:nvSpPr>
        <p:spPr>
          <a:xfrm>
            <a:off x="8369191" y="3091444"/>
            <a:ext cx="39701" cy="-13224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8408892" y="3078220"/>
            <a:ext cx="39701" cy="1212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65" name="Shape 161"/>
          <p:cNvSpPr/>
          <p:nvPr/>
        </p:nvSpPr>
        <p:spPr>
          <a:xfrm>
            <a:off x="8448593" y="3079432"/>
            <a:ext cx="39701" cy="15579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66" name="Shape 162"/>
          <p:cNvSpPr/>
          <p:nvPr/>
        </p:nvSpPr>
        <p:spPr>
          <a:xfrm>
            <a:off x="8488294" y="3095011"/>
            <a:ext cx="39701" cy="29063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8527995" y="3124073"/>
            <a:ext cx="39701" cy="40900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68" name="Shape 164"/>
          <p:cNvSpPr/>
          <p:nvPr/>
        </p:nvSpPr>
        <p:spPr>
          <a:xfrm>
            <a:off x="8567697" y="3164973"/>
            <a:ext cx="39701" cy="50420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69" name="Shape 165"/>
          <p:cNvSpPr/>
          <p:nvPr/>
        </p:nvSpPr>
        <p:spPr>
          <a:xfrm>
            <a:off x="8607398" y="3215393"/>
            <a:ext cx="39701" cy="57083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8647099" y="3272476"/>
            <a:ext cx="39701" cy="60512"/>
          </a:xfrm>
          <a:prstGeom prst="line">
            <a:avLst/>
          </a:prstGeom>
          <a:noFill/>
          <a:ln w="20320">
            <a:solidFill>
              <a:srgbClr val="06D6A0"/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>
            <a:off x="5550408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72" name="Shape 168"/>
          <p:cNvSpPr/>
          <p:nvPr/>
        </p:nvSpPr>
        <p:spPr>
          <a:xfrm>
            <a:off x="5590109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73" name="Shape 169"/>
          <p:cNvSpPr/>
          <p:nvPr/>
        </p:nvSpPr>
        <p:spPr>
          <a:xfrm>
            <a:off x="5629810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5669511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75" name="Shape 171"/>
          <p:cNvSpPr/>
          <p:nvPr/>
        </p:nvSpPr>
        <p:spPr>
          <a:xfrm>
            <a:off x="5709213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76" name="Shape 172"/>
          <p:cNvSpPr/>
          <p:nvPr/>
        </p:nvSpPr>
        <p:spPr>
          <a:xfrm>
            <a:off x="5748914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5788615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78" name="Shape 174"/>
          <p:cNvSpPr/>
          <p:nvPr/>
        </p:nvSpPr>
        <p:spPr>
          <a:xfrm>
            <a:off x="5828316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79" name="Shape 175"/>
          <p:cNvSpPr/>
          <p:nvPr/>
        </p:nvSpPr>
        <p:spPr>
          <a:xfrm>
            <a:off x="5868017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80" name="Shape 176"/>
          <p:cNvSpPr/>
          <p:nvPr/>
        </p:nvSpPr>
        <p:spPr>
          <a:xfrm>
            <a:off x="5907718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81" name="Shape 177"/>
          <p:cNvSpPr/>
          <p:nvPr/>
        </p:nvSpPr>
        <p:spPr>
          <a:xfrm>
            <a:off x="5947420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82" name="Shape 178"/>
          <p:cNvSpPr/>
          <p:nvPr/>
        </p:nvSpPr>
        <p:spPr>
          <a:xfrm>
            <a:off x="5987121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83" name="Shape 179"/>
          <p:cNvSpPr/>
          <p:nvPr/>
        </p:nvSpPr>
        <p:spPr>
          <a:xfrm>
            <a:off x="6026822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84" name="Shape 180"/>
          <p:cNvSpPr/>
          <p:nvPr/>
        </p:nvSpPr>
        <p:spPr>
          <a:xfrm>
            <a:off x="6066523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85" name="Shape 181"/>
          <p:cNvSpPr/>
          <p:nvPr/>
        </p:nvSpPr>
        <p:spPr>
          <a:xfrm>
            <a:off x="6106224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86" name="Shape 182"/>
          <p:cNvSpPr/>
          <p:nvPr/>
        </p:nvSpPr>
        <p:spPr>
          <a:xfrm>
            <a:off x="6145925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87" name="Shape 183"/>
          <p:cNvSpPr/>
          <p:nvPr/>
        </p:nvSpPr>
        <p:spPr>
          <a:xfrm>
            <a:off x="6185627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88" name="Shape 184"/>
          <p:cNvSpPr/>
          <p:nvPr/>
        </p:nvSpPr>
        <p:spPr>
          <a:xfrm>
            <a:off x="6225328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89" name="Shape 185"/>
          <p:cNvSpPr/>
          <p:nvPr/>
        </p:nvSpPr>
        <p:spPr>
          <a:xfrm>
            <a:off x="6265029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90" name="Shape 186"/>
          <p:cNvSpPr/>
          <p:nvPr/>
        </p:nvSpPr>
        <p:spPr>
          <a:xfrm>
            <a:off x="6304730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91" name="Shape 187"/>
          <p:cNvSpPr/>
          <p:nvPr/>
        </p:nvSpPr>
        <p:spPr>
          <a:xfrm>
            <a:off x="6344431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92" name="Shape 188"/>
          <p:cNvSpPr/>
          <p:nvPr/>
        </p:nvSpPr>
        <p:spPr>
          <a:xfrm>
            <a:off x="6384132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93" name="Shape 189"/>
          <p:cNvSpPr/>
          <p:nvPr/>
        </p:nvSpPr>
        <p:spPr>
          <a:xfrm>
            <a:off x="6423834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94" name="Shape 190"/>
          <p:cNvSpPr/>
          <p:nvPr/>
        </p:nvSpPr>
        <p:spPr>
          <a:xfrm>
            <a:off x="6463535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95" name="Shape 191"/>
          <p:cNvSpPr/>
          <p:nvPr/>
        </p:nvSpPr>
        <p:spPr>
          <a:xfrm>
            <a:off x="6503236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96" name="Shape 192"/>
          <p:cNvSpPr/>
          <p:nvPr/>
        </p:nvSpPr>
        <p:spPr>
          <a:xfrm>
            <a:off x="6542937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97" name="Shape 193"/>
          <p:cNvSpPr/>
          <p:nvPr/>
        </p:nvSpPr>
        <p:spPr>
          <a:xfrm>
            <a:off x="6582638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98" name="Shape 194"/>
          <p:cNvSpPr/>
          <p:nvPr/>
        </p:nvSpPr>
        <p:spPr>
          <a:xfrm>
            <a:off x="6622339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199" name="Shape 195"/>
          <p:cNvSpPr/>
          <p:nvPr/>
        </p:nvSpPr>
        <p:spPr>
          <a:xfrm>
            <a:off x="6662041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00" name="Shape 196"/>
          <p:cNvSpPr/>
          <p:nvPr/>
        </p:nvSpPr>
        <p:spPr>
          <a:xfrm>
            <a:off x="6701742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01" name="Shape 197"/>
          <p:cNvSpPr/>
          <p:nvPr/>
        </p:nvSpPr>
        <p:spPr>
          <a:xfrm>
            <a:off x="6741443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02" name="Shape 198"/>
          <p:cNvSpPr/>
          <p:nvPr/>
        </p:nvSpPr>
        <p:spPr>
          <a:xfrm>
            <a:off x="6781144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03" name="Shape 199"/>
          <p:cNvSpPr/>
          <p:nvPr/>
        </p:nvSpPr>
        <p:spPr>
          <a:xfrm>
            <a:off x="6820845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04" name="Shape 200"/>
          <p:cNvSpPr/>
          <p:nvPr/>
        </p:nvSpPr>
        <p:spPr>
          <a:xfrm>
            <a:off x="6860546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05" name="Shape 201"/>
          <p:cNvSpPr/>
          <p:nvPr/>
        </p:nvSpPr>
        <p:spPr>
          <a:xfrm>
            <a:off x="6900248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06" name="Shape 202"/>
          <p:cNvSpPr/>
          <p:nvPr/>
        </p:nvSpPr>
        <p:spPr>
          <a:xfrm>
            <a:off x="6939949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07" name="Shape 203"/>
          <p:cNvSpPr/>
          <p:nvPr/>
        </p:nvSpPr>
        <p:spPr>
          <a:xfrm>
            <a:off x="6979650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08" name="Shape 204"/>
          <p:cNvSpPr/>
          <p:nvPr/>
        </p:nvSpPr>
        <p:spPr>
          <a:xfrm>
            <a:off x="7019351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09" name="Shape 205"/>
          <p:cNvSpPr/>
          <p:nvPr/>
        </p:nvSpPr>
        <p:spPr>
          <a:xfrm>
            <a:off x="7059052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10" name="Shape 206"/>
          <p:cNvSpPr/>
          <p:nvPr/>
        </p:nvSpPr>
        <p:spPr>
          <a:xfrm>
            <a:off x="7098753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11" name="Shape 207"/>
          <p:cNvSpPr/>
          <p:nvPr/>
        </p:nvSpPr>
        <p:spPr>
          <a:xfrm>
            <a:off x="7138455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12" name="Shape 208"/>
          <p:cNvSpPr/>
          <p:nvPr/>
        </p:nvSpPr>
        <p:spPr>
          <a:xfrm>
            <a:off x="7178156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13" name="Shape 209"/>
          <p:cNvSpPr/>
          <p:nvPr/>
        </p:nvSpPr>
        <p:spPr>
          <a:xfrm>
            <a:off x="7217857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14" name="Shape 210"/>
          <p:cNvSpPr/>
          <p:nvPr/>
        </p:nvSpPr>
        <p:spPr>
          <a:xfrm>
            <a:off x="7257558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15" name="Shape 211"/>
          <p:cNvSpPr/>
          <p:nvPr/>
        </p:nvSpPr>
        <p:spPr>
          <a:xfrm>
            <a:off x="7297259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16" name="Shape 212"/>
          <p:cNvSpPr/>
          <p:nvPr/>
        </p:nvSpPr>
        <p:spPr>
          <a:xfrm>
            <a:off x="7336960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17" name="Shape 213"/>
          <p:cNvSpPr/>
          <p:nvPr/>
        </p:nvSpPr>
        <p:spPr>
          <a:xfrm>
            <a:off x="7376662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18" name="Shape 214"/>
          <p:cNvSpPr/>
          <p:nvPr/>
        </p:nvSpPr>
        <p:spPr>
          <a:xfrm>
            <a:off x="7416363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19" name="Shape 215"/>
          <p:cNvSpPr/>
          <p:nvPr/>
        </p:nvSpPr>
        <p:spPr>
          <a:xfrm>
            <a:off x="7456064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20" name="Shape 216"/>
          <p:cNvSpPr/>
          <p:nvPr/>
        </p:nvSpPr>
        <p:spPr>
          <a:xfrm>
            <a:off x="7495765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21" name="Shape 217"/>
          <p:cNvSpPr/>
          <p:nvPr/>
        </p:nvSpPr>
        <p:spPr>
          <a:xfrm>
            <a:off x="7535466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22" name="Shape 218"/>
          <p:cNvSpPr/>
          <p:nvPr/>
        </p:nvSpPr>
        <p:spPr>
          <a:xfrm>
            <a:off x="7575167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23" name="Shape 219"/>
          <p:cNvSpPr/>
          <p:nvPr/>
        </p:nvSpPr>
        <p:spPr>
          <a:xfrm>
            <a:off x="7614869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24" name="Shape 220"/>
          <p:cNvSpPr/>
          <p:nvPr/>
        </p:nvSpPr>
        <p:spPr>
          <a:xfrm>
            <a:off x="7654570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25" name="Shape 221"/>
          <p:cNvSpPr/>
          <p:nvPr/>
        </p:nvSpPr>
        <p:spPr>
          <a:xfrm>
            <a:off x="7694271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26" name="Shape 222"/>
          <p:cNvSpPr/>
          <p:nvPr/>
        </p:nvSpPr>
        <p:spPr>
          <a:xfrm>
            <a:off x="7733972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27" name="Shape 223"/>
          <p:cNvSpPr/>
          <p:nvPr/>
        </p:nvSpPr>
        <p:spPr>
          <a:xfrm>
            <a:off x="7773673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28" name="Shape 224"/>
          <p:cNvSpPr/>
          <p:nvPr/>
        </p:nvSpPr>
        <p:spPr>
          <a:xfrm>
            <a:off x="7813374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29" name="Shape 225"/>
          <p:cNvSpPr/>
          <p:nvPr/>
        </p:nvSpPr>
        <p:spPr>
          <a:xfrm>
            <a:off x="7853076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30" name="Shape 226"/>
          <p:cNvSpPr/>
          <p:nvPr/>
        </p:nvSpPr>
        <p:spPr>
          <a:xfrm>
            <a:off x="7892777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31" name="Shape 227"/>
          <p:cNvSpPr/>
          <p:nvPr/>
        </p:nvSpPr>
        <p:spPr>
          <a:xfrm>
            <a:off x="7932478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32" name="Shape 228"/>
          <p:cNvSpPr/>
          <p:nvPr/>
        </p:nvSpPr>
        <p:spPr>
          <a:xfrm>
            <a:off x="7972179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33" name="Shape 229"/>
          <p:cNvSpPr/>
          <p:nvPr/>
        </p:nvSpPr>
        <p:spPr>
          <a:xfrm>
            <a:off x="8011880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34" name="Shape 230"/>
          <p:cNvSpPr/>
          <p:nvPr/>
        </p:nvSpPr>
        <p:spPr>
          <a:xfrm>
            <a:off x="8051581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35" name="Shape 231"/>
          <p:cNvSpPr/>
          <p:nvPr/>
        </p:nvSpPr>
        <p:spPr>
          <a:xfrm>
            <a:off x="8091283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36" name="Shape 232"/>
          <p:cNvSpPr/>
          <p:nvPr/>
        </p:nvSpPr>
        <p:spPr>
          <a:xfrm>
            <a:off x="8130984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37" name="Shape 233"/>
          <p:cNvSpPr/>
          <p:nvPr/>
        </p:nvSpPr>
        <p:spPr>
          <a:xfrm>
            <a:off x="8170685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38" name="Shape 234"/>
          <p:cNvSpPr/>
          <p:nvPr/>
        </p:nvSpPr>
        <p:spPr>
          <a:xfrm>
            <a:off x="8210386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39" name="Shape 235"/>
          <p:cNvSpPr/>
          <p:nvPr/>
        </p:nvSpPr>
        <p:spPr>
          <a:xfrm>
            <a:off x="8250087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40" name="Shape 236"/>
          <p:cNvSpPr/>
          <p:nvPr/>
        </p:nvSpPr>
        <p:spPr>
          <a:xfrm>
            <a:off x="8289788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41" name="Shape 237"/>
          <p:cNvSpPr/>
          <p:nvPr/>
        </p:nvSpPr>
        <p:spPr>
          <a:xfrm>
            <a:off x="8329490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42" name="Shape 238"/>
          <p:cNvSpPr/>
          <p:nvPr/>
        </p:nvSpPr>
        <p:spPr>
          <a:xfrm>
            <a:off x="8369191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43" name="Shape 239"/>
          <p:cNvSpPr/>
          <p:nvPr/>
        </p:nvSpPr>
        <p:spPr>
          <a:xfrm>
            <a:off x="8408892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44" name="Shape 240"/>
          <p:cNvSpPr/>
          <p:nvPr/>
        </p:nvSpPr>
        <p:spPr>
          <a:xfrm>
            <a:off x="8448593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45" name="Shape 241"/>
          <p:cNvSpPr/>
          <p:nvPr/>
        </p:nvSpPr>
        <p:spPr>
          <a:xfrm>
            <a:off x="8488294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46" name="Shape 242"/>
          <p:cNvSpPr/>
          <p:nvPr/>
        </p:nvSpPr>
        <p:spPr>
          <a:xfrm>
            <a:off x="8527995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47" name="Shape 243"/>
          <p:cNvSpPr/>
          <p:nvPr/>
        </p:nvSpPr>
        <p:spPr>
          <a:xfrm>
            <a:off x="8567697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48" name="Shape 244"/>
          <p:cNvSpPr/>
          <p:nvPr/>
        </p:nvSpPr>
        <p:spPr>
          <a:xfrm>
            <a:off x="8607398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49" name="Shape 245"/>
          <p:cNvSpPr/>
          <p:nvPr/>
        </p:nvSpPr>
        <p:spPr>
          <a:xfrm>
            <a:off x="8647099" y="3332988"/>
            <a:ext cx="39701" cy="0"/>
          </a:xfrm>
          <a:prstGeom prst="line">
            <a:avLst/>
          </a:prstGeom>
          <a:noFill/>
          <a:ln w="20320">
            <a:solidFill>
              <a:srgbClr val="FFB703"/>
            </a:solidFill>
            <a:prstDash val="solid"/>
          </a:ln>
        </p:spPr>
      </p:sp>
      <p:sp>
        <p:nvSpPr>
          <p:cNvPr id="250" name="Text 246"/>
          <p:cNvSpPr/>
          <p:nvPr/>
        </p:nvSpPr>
        <p:spPr>
          <a:xfrm>
            <a:off x="553212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Quarter-pitch → collimate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Half-pitch → image</a:t>
            </a:r>
            <a:endParaRPr lang="en-US" sz="800" dirty="0"/>
          </a:p>
        </p:txBody>
      </p:sp>
      <p:sp>
        <p:nvSpPr>
          <p:cNvPr id="251" name="Shape 247"/>
          <p:cNvSpPr/>
          <p:nvPr/>
        </p:nvSpPr>
        <p:spPr>
          <a:xfrm>
            <a:off x="320040" y="3657600"/>
            <a:ext cx="5029200" cy="1261872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2" name="Shape 248"/>
          <p:cNvSpPr/>
          <p:nvPr/>
        </p:nvSpPr>
        <p:spPr>
          <a:xfrm>
            <a:off x="320040" y="3657600"/>
            <a:ext cx="502920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53" name="Text 249"/>
          <p:cNvSpPr/>
          <p:nvPr/>
        </p:nvSpPr>
        <p:spPr>
          <a:xfrm>
            <a:off x="393192" y="3666744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 applications</a:t>
            </a:r>
            <a:endParaRPr lang="en-US" sz="950" dirty="0"/>
          </a:p>
        </p:txBody>
      </p:sp>
      <p:sp>
        <p:nvSpPr>
          <p:cNvPr id="254" name="Text 250"/>
          <p:cNvSpPr/>
          <p:nvPr/>
        </p:nvSpPr>
        <p:spPr>
          <a:xfrm>
            <a:off x="393192" y="3931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fibre: parabolic n(r) → all modes travel same OPL → minimal pulse spreading (GI fibre)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Selfoc® GRIN lenses: quarter-pitch collimates, half-pitch images — used in laser coupling, endoscopes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eye lens: graded n from cortex to centre reduces aberration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Atmosphere: temperature gradient bends light → mirages, astronomical refraction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· HUYGENS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Fermat's Principle and Huygens' Construction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and Huygens' wavelet construction are two faces of the same physics. The OPL perspective gives rays; the wavefront perspective gives Huygens wavelets. Together they explain all of geometric and wave optics.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1920" y="1627632"/>
            <a:ext cx="4020160" cy="65836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345" y="2340864"/>
            <a:ext cx="3629311" cy="594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017520"/>
            <a:ext cx="4160520" cy="1901952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01752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" y="302666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Wavefronts from OPL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93192" y="3291840"/>
            <a:ext cx="39959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Wavefront W(t): surface where OPL from source = constant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are the orthogonal trajectories to wavefronts (normals)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homogeneous medium: plane wavefronts → straight rays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curved surface: wavefront refraction described by Snell = OPL stationarity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Huygens: each point on W emits a spherical wavelet; next wavefront = envelope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63440" y="3017520"/>
            <a:ext cx="4160520" cy="190195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3017520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36592" y="302666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Lagrange–Helmholtz invariant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736592" y="3291840"/>
            <a:ext cx="39959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Fermat: n sinθ is preserved at each ray-trace step along optical axis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Paraxial form: n y θ = const  (Lagrange invariant)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Relates input and output beam properties for any optical system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large-field, large-NA system cannot simultaneously have high magnification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limit on throughput (étendue = n²A·Ω) in optical instruments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4983480"/>
            <a:ext cx="8503920" cy="182880"/>
          </a:xfrm>
          <a:prstGeom prst="rect">
            <a:avLst/>
          </a:prstGeom>
          <a:solidFill>
            <a:srgbClr val="1A2A3A"/>
          </a:solidFill>
          <a:ln w="10160">
            <a:solidFill>
              <a:srgbClr val="1B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11480" y="5001768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Fermat's principle (δOPL=0) → Snell's law + reflection law + GRIN ray equation + lens design condition + Lagrange invariant + wavefront construction — all from one variational statement.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· 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Everything Derived from Fermat's Principle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2286000"/>
            <a:ext cx="2377440" cy="914400"/>
          </a:xfrm>
          <a:prstGeom prst="rect">
            <a:avLst/>
          </a:prstGeom>
          <a:solidFill>
            <a:srgbClr val="9B5DE5">
              <a:alpha val="90000"/>
            </a:srgbClr>
          </a:solidFill>
          <a:ln w="31750">
            <a:solidFill>
              <a:srgbClr val="9B5DE5"/>
            </a:solidFill>
            <a:prstDash val="solid"/>
          </a:ln>
          <a:effectLst>
            <a:outerShdw sx="100000" sy="100000" kx="0" ky="0" algn="bl" rotWithShape="0" blurRad="190500" dist="50800" dir="16200000">
              <a:srgbClr val="9B5DE5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2468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 OPL = 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0" y="29077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-68580" y="694944"/>
            <a:ext cx="1965960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-68580" y="694944"/>
            <a:ext cx="1965960" cy="237744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-13716" y="704088"/>
            <a:ext cx="1856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Snell's Law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-13716" y="969264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n₁sinθ₁=n₂sinθ₂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97380" y="1097280"/>
            <a:ext cx="1485900" cy="1645920"/>
          </a:xfrm>
          <a:prstGeom prst="line">
            <a:avLst/>
          </a:prstGeom>
          <a:noFill/>
          <a:ln w="12700">
            <a:solidFill>
              <a:srgbClr val="0096B7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9020" y="512064"/>
            <a:ext cx="1965960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89020" y="512064"/>
            <a:ext cx="1965960" cy="237744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3884" y="521208"/>
            <a:ext cx="1856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Law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43884" y="786384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θᵢ = θᵣ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89020" y="914400"/>
            <a:ext cx="2171700" cy="1828800"/>
          </a:xfrm>
          <a:prstGeom prst="line">
            <a:avLst/>
          </a:prstGeom>
          <a:noFill/>
          <a:ln w="12700">
            <a:solidFill>
              <a:srgbClr val="FB8500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72300" y="694944"/>
            <a:ext cx="1965960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72300" y="694944"/>
            <a:ext cx="1965960" cy="23774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7164" y="704088"/>
            <a:ext cx="1856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Condition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27164" y="969264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θc=arcsin(n₂/n₁)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60720" y="1097280"/>
            <a:ext cx="1211580" cy="1645920"/>
          </a:xfrm>
          <a:prstGeom prst="line">
            <a:avLst/>
          </a:prstGeom>
          <a:noFill/>
          <a:ln w="12700">
            <a:solidFill>
              <a:srgbClr val="EF476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-251460" y="2340864"/>
            <a:ext cx="1965960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-251460" y="2340864"/>
            <a:ext cx="1965960" cy="2377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-196596" y="2350008"/>
            <a:ext cx="1856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 Ray Equation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-196596" y="2615184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d/ds(n dr/ds)=∇n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714500" y="2743200"/>
            <a:ext cx="1668780" cy="0"/>
          </a:xfrm>
          <a:prstGeom prst="line">
            <a:avLst/>
          </a:prstGeom>
          <a:noFill/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46620" y="2340864"/>
            <a:ext cx="1965960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46620" y="2340864"/>
            <a:ext cx="1965960" cy="23774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01484" y="2350008"/>
            <a:ext cx="1856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Invariant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01484" y="2615184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y θ = const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0" y="2743200"/>
            <a:ext cx="1485900" cy="0"/>
          </a:xfrm>
          <a:prstGeom prst="line">
            <a:avLst/>
          </a:prstGeom>
          <a:noFill/>
          <a:ln w="12700">
            <a:solidFill>
              <a:srgbClr val="FFB703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-68580" y="3986784"/>
            <a:ext cx="1965960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-68580" y="3986784"/>
            <a:ext cx="196596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-13716" y="3995928"/>
            <a:ext cx="1856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Design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-13716" y="4261104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OPL = const for all rays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897380" y="2743200"/>
            <a:ext cx="1485900" cy="1645920"/>
          </a:xfrm>
          <a:prstGeom prst="line">
            <a:avLst/>
          </a:prstGeom>
          <a:noFill/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89020" y="4169664"/>
            <a:ext cx="1965960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589020" y="4169664"/>
            <a:ext cx="1965960" cy="23774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43884" y="4178808"/>
            <a:ext cx="1856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Wavefront / Huygens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43884" y="4443984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rays ⊥ surfaces of const OPL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589020" y="2743200"/>
            <a:ext cx="2171700" cy="1828800"/>
          </a:xfrm>
          <a:prstGeom prst="line">
            <a:avLst/>
          </a:prstGeom>
          <a:noFill/>
          <a:ln w="12700">
            <a:solidFill>
              <a:srgbClr val="48CAE4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72300" y="3986784"/>
            <a:ext cx="1965960" cy="804672"/>
          </a:xfrm>
          <a:prstGeom prst="rect">
            <a:avLst/>
          </a:prstGeom>
          <a:solidFill>
            <a:srgbClr val="1A2A3A"/>
          </a:solidFill>
          <a:ln w="19050">
            <a:solidFill>
              <a:srgbClr val="FF6B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72300" y="3986784"/>
            <a:ext cx="1965960" cy="23774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27164" y="3995928"/>
            <a:ext cx="1856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Accumulation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027164" y="4261104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 = k₀ · OPL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760720" y="2743200"/>
            <a:ext cx="1211580" cy="1645920"/>
          </a:xfrm>
          <a:prstGeom prst="line">
            <a:avLst/>
          </a:prstGeom>
          <a:noFill/>
          <a:ln w="12700">
            <a:solidFill>
              <a:srgbClr val="FF6B9D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Fermat's Principle: References, Problems &amp; Projects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References &amp; Reading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Hecht, Optics, 5th ed. — Ch. 4.3–4.5: Fermat's principle, derivation of Snell's law, reflection.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&amp; Wolf, Principles of Optics — Ch. 3.1–3.3: Fermat's principle and the eikonal equation.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&amp; White, Fundamentals of Optics — Ch. 1–2: Fermat and geometric optics.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Feynman, QED: The Strange Theory of Light and Matter — intuitive path-integral view of Fermat.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Lectures Vol. I, Ch. 26: 'Optics: the Principle of Least Time'.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Advanced References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Teich, Fundamentals of Photonics — Ch. 1.3: ray optics from Fermat's principle.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Goodman, Introduction to Fourier Optics — App. A: OPL and phase in diffraction integrals.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Luneburg, Mathematical Theory of Optics (1964): rigorous variational optics, Hamiltonian formulation.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Arnold, Mathematical Methods of Classical Mechanics — Ch. 9: geometric optics as classical mechanics.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Sharma, Introduction to Computational Optics (2006): numerical ray-tracing from Fermat.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15087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3814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&amp; Projects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372160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Starting from OPL(x)=n₁√(a²+x²)+n₂√(b²+(d−x)²), take d(OPL)/dx=0 and show it gives Snell's law exactly.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Use Fermat's principle to show that a flat mirror satisfies θᵢ=θᵣ using the virtual-image construction.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Prove that a plano-convex lens with R₁=∞ and n=1.5 satisfies the equal-OPL condition for a source at infinity when the curved surface has radius R = f(n−1).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Show that the AR coating condition t=λ₀/(4n_coat) with n_coat=√(n₁n₂) follows from requiring OPD=λ/2 for the two surface reflections.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Apply the Euler–Lagrange equations to OPL=∫n(r)ds to derive the ray equation d/ds(n dr/ds)=∇n in 3D.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For a parabolic GRIN medium n(r)=n₀(1−αr²/2), solve the ray equation to show r(z)=r₀cos(√α z). Confirm with the ABCD matrix.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 Project] Implement a numerical ray-tracer using Fermat's principle (OPL minimisation with Newton's method) and trace a paraxial ray through a biconvex lens. Compare with the thin-lens ABCD result.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03b: Fermat's Principle</dc:title>
  <dc:subject>Lecture 03b</dc:subject>
  <dc:creator>Linear Optics Course</dc:creator>
  <cp:lastModifiedBy>Linear Optics Course</cp:lastModifiedBy>
  <cp:revision>1</cp:revision>
  <dcterms:created xsi:type="dcterms:W3CDTF">2026-04-18T06:10:55Z</dcterms:created>
  <dcterms:modified xsi:type="dcterms:W3CDTF">2026-04-18T06:10:55Z</dcterms:modified>
</cp:coreProperties>
</file>