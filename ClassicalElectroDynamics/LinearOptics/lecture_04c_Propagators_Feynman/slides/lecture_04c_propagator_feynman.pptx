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6D6A0">
              <a:alpha val="22000"/>
            </a:srgbClr>
          </a:solidFill>
          <a:ln w="12700">
            <a:solidFill>
              <a:srgbClr val="06D6A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6D6A0">
              <a:alpha val="16000"/>
            </a:srgbClr>
          </a:solidFill>
          <a:ln w="12700">
            <a:solidFill>
              <a:srgbClr val="06D6A0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04c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Propagators &amp; the Feynman Path Integral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All Paths · Optical Propagator · Huygens Derived · Collins Integral · Feynman Diagrams for Light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Idea: Light Takes ALL Paths — Not Just Fermat's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says light takes the path of stationary OPL. Feynman (1948, inspired by Dirac) revealed the deeper truth: light simultaneously takes ALL paths, each contributing a phasor exp(ik₀·OPL). Interference between paths cancels all but the stationary one — recovering Fermat.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160520" cy="2029968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41605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7007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(Classical)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1965960"/>
            <a:ext cx="399592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travels on ONE path: the path where δ(OPL)=0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paths are forbidden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exact rays in the geometric limit λ→0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explain diffraction, interference, tunnelling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— but WHY does light 'know' which path to take?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160520" cy="2029968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691640"/>
            <a:ext cx="41605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7007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Path Integral (Wave)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36592" y="1965960"/>
            <a:ext cx="3995928" cy="1682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travels on ALL paths simultaneously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 contributes amplitude exp(ik₀·OPL)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near stationary OPL add coherently → ray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far from stationary OPL cancel by destructive interference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 EMERGES as a consequence</a:t>
            </a:r>
            <a:endParaRPr lang="en-US" sz="10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05" y="3794760"/>
            <a:ext cx="4283991" cy="74980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20040" y="4617720"/>
            <a:ext cx="8503920" cy="502920"/>
          </a:xfrm>
          <a:prstGeom prst="rect">
            <a:avLst/>
          </a:prstGeom>
          <a:solidFill>
            <a:srgbClr val="1A2A3A"/>
          </a:solidFill>
          <a:ln w="10160">
            <a:solidFill>
              <a:srgbClr val="1B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93192" y="463600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phasor exp(ik₀·OPL) for each path depends on the path's OPL = ∫n ds. When k₀ is large (λ small), the phases oscillate rapidly between nearby paths — cancellation is near-total everywhere except near the stationary-OPL Fermat path.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DEFINITION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Optical Propagator K(B,A): Definition and Properties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optical propagator K(B,A) is the amplitude for a photon to travel from point A to point B. It equals the sum (functional integral) of exp(ik₀·OPL) over all possible trajectories from A to B.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05" y="1581912"/>
            <a:ext cx="4283991" cy="7498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423160"/>
            <a:ext cx="420624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423160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43230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rule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715768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K(C,A) = ∫K(C,B)·K(B,A) 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a complete set of intermediate points — propagation is concatenation of propagators. This is the semigroup property.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2423160"/>
            <a:ext cx="420624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423160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43230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2715768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∫|K(B,A)|² dB = 1  (in lossless media)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probability of arriving somewhere = 1. Propagation through lossless optics is unitary — a Fourier transform in disguise.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3685032"/>
            <a:ext cx="420624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685032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369417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condition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1480" y="3977640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K(B,A) → δ²(B−A) as z→0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limit of zero propagation distance, the propagator is a delta function — a point stays a point.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3685032"/>
            <a:ext cx="420624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685032"/>
            <a:ext cx="420624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369417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Green's function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46320" y="3977640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K(B,A) is the outgoing Green's function of the Helmholtz equation: (∇²+k²)K = −δ(B−A)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wave: K=exp(ikr)/r  Paraxial: Fresnel kernel.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STATIONARY PHASE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Recovering Fermat's Principle from the Path Integral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k₀ = 2π/λ is large (geometric optics limit), the phase k₀·OPL[path] oscillates rapidly as we vary the path. The dominant contribution comes from paths where the phase is stationary — the method of stationary phase.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6254" y="1609344"/>
            <a:ext cx="3391493" cy="74980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983" y="2414016"/>
            <a:ext cx="3436034" cy="685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3182112"/>
            <a:ext cx="39776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3236976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Phasor cancellation — why Fermat emerges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03504" y="4032504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" y="407822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941064" y="403250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41648" y="407822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67512" y="4096512"/>
            <a:ext cx="1668780" cy="-475488"/>
          </a:xfrm>
          <a:prstGeom prst="line">
            <a:avLst/>
          </a:prstGeom>
          <a:noFill/>
          <a:ln w="15240">
            <a:solidFill>
              <a:srgbClr val="8DB0C8">
                <a:alpha val="1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336292" y="3621024"/>
            <a:ext cx="1668780" cy="475488"/>
          </a:xfrm>
          <a:prstGeom prst="line">
            <a:avLst/>
          </a:prstGeom>
          <a:noFill/>
          <a:ln w="15240">
            <a:solidFill>
              <a:srgbClr val="8DB0C8">
                <a:alpha val="1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7512" y="4096512"/>
            <a:ext cx="1668780" cy="-356616"/>
          </a:xfrm>
          <a:prstGeom prst="line">
            <a:avLst/>
          </a:prstGeom>
          <a:noFill/>
          <a:ln w="15240">
            <a:solidFill>
              <a:srgbClr val="8DB0C8">
                <a:alpha val="1875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36292" y="3739896"/>
            <a:ext cx="1668780" cy="356616"/>
          </a:xfrm>
          <a:prstGeom prst="line">
            <a:avLst/>
          </a:prstGeom>
          <a:noFill/>
          <a:ln w="15240">
            <a:solidFill>
              <a:srgbClr val="8DB0C8">
                <a:alpha val="1875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7512" y="4096512"/>
            <a:ext cx="1668780" cy="-237744"/>
          </a:xfrm>
          <a:prstGeom prst="line">
            <a:avLst/>
          </a:prstGeom>
          <a:noFill/>
          <a:ln w="15240">
            <a:solidFill>
              <a:srgbClr val="8DB0C8">
                <a:alpha val="275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336292" y="3858768"/>
            <a:ext cx="1668780" cy="237744"/>
          </a:xfrm>
          <a:prstGeom prst="line">
            <a:avLst/>
          </a:prstGeom>
          <a:noFill/>
          <a:ln w="15240">
            <a:solidFill>
              <a:srgbClr val="8DB0C8">
                <a:alpha val="275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12" y="4096512"/>
            <a:ext cx="1668780" cy="-118872"/>
          </a:xfrm>
          <a:prstGeom prst="line">
            <a:avLst/>
          </a:prstGeom>
          <a:noFill/>
          <a:ln w="15240">
            <a:solidFill>
              <a:srgbClr val="8DB0C8">
                <a:alpha val="3625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336292" y="3977640"/>
            <a:ext cx="1668780" cy="118872"/>
          </a:xfrm>
          <a:prstGeom prst="line">
            <a:avLst/>
          </a:prstGeom>
          <a:noFill/>
          <a:ln w="15240">
            <a:solidFill>
              <a:srgbClr val="8DB0C8">
                <a:alpha val="3625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7512" y="4096512"/>
            <a:ext cx="1668780" cy="0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336292" y="4096512"/>
            <a:ext cx="1668780" cy="0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7512" y="4096512"/>
            <a:ext cx="1668780" cy="118872"/>
          </a:xfrm>
          <a:prstGeom prst="line">
            <a:avLst/>
          </a:prstGeom>
          <a:noFill/>
          <a:ln w="15240">
            <a:solidFill>
              <a:srgbClr val="8DB0C8">
                <a:alpha val="3625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336292" y="4215384"/>
            <a:ext cx="1668780" cy="-118872"/>
          </a:xfrm>
          <a:prstGeom prst="line">
            <a:avLst/>
          </a:prstGeom>
          <a:noFill/>
          <a:ln w="15240">
            <a:solidFill>
              <a:srgbClr val="8DB0C8">
                <a:alpha val="3625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67512" y="4096512"/>
            <a:ext cx="1668780" cy="237744"/>
          </a:xfrm>
          <a:prstGeom prst="line">
            <a:avLst/>
          </a:prstGeom>
          <a:noFill/>
          <a:ln w="15240">
            <a:solidFill>
              <a:srgbClr val="8DB0C8">
                <a:alpha val="275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336292" y="4334256"/>
            <a:ext cx="1668780" cy="-237744"/>
          </a:xfrm>
          <a:prstGeom prst="line">
            <a:avLst/>
          </a:prstGeom>
          <a:noFill/>
          <a:ln w="15240">
            <a:solidFill>
              <a:srgbClr val="8DB0C8">
                <a:alpha val="275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67512" y="4096512"/>
            <a:ext cx="1668780" cy="356616"/>
          </a:xfrm>
          <a:prstGeom prst="line">
            <a:avLst/>
          </a:prstGeom>
          <a:noFill/>
          <a:ln w="15240">
            <a:solidFill>
              <a:srgbClr val="8DB0C8">
                <a:alpha val="1875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336292" y="4453128"/>
            <a:ext cx="1668780" cy="-356616"/>
          </a:xfrm>
          <a:prstGeom prst="line">
            <a:avLst/>
          </a:prstGeom>
          <a:noFill/>
          <a:ln w="15240">
            <a:solidFill>
              <a:srgbClr val="8DB0C8">
                <a:alpha val="1875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67512" y="4096512"/>
            <a:ext cx="1668780" cy="475488"/>
          </a:xfrm>
          <a:prstGeom prst="line">
            <a:avLst/>
          </a:prstGeom>
          <a:noFill/>
          <a:ln w="15240">
            <a:solidFill>
              <a:srgbClr val="8DB0C8">
                <a:alpha val="1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336292" y="4572000"/>
            <a:ext cx="1668780" cy="-475488"/>
          </a:xfrm>
          <a:prstGeom prst="line">
            <a:avLst/>
          </a:prstGeom>
          <a:noFill/>
          <a:ln w="15240">
            <a:solidFill>
              <a:srgbClr val="8DB0C8">
                <a:alpha val="1000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673352" y="362102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 path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(stationary OPL)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896112" y="4572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Off-path: phases cancel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507992" y="3182112"/>
            <a:ext cx="4315968" cy="173736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507992" y="3182112"/>
            <a:ext cx="4315968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81144" y="3191256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physically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581144" y="3474720"/>
            <a:ext cx="41605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k₀: paths far from Fermat have rapidly varying phase → their phasors point in random directions → sum ≈ 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within Δpath ~ √(λz) of the Fermat path have |ΔPhase| &lt; π → add coherently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coherent strip has width √(λz) — the first Fresnel zone radius!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optics (λ→0): strip shrinks to a line → single ray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optics (finite λ): strip has finite width → diffraction</a:t>
            </a:r>
            <a:endParaRPr lang="en-US" sz="105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645" y="4956048"/>
            <a:ext cx="1116711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FREE SPACE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Free-Space Propagator: Spherical Wave and Fresnel Kernel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integral over all straight-line paths in free space (n=1) can be evaluated exactly. In 3D it gives a spherical wave; in the paraxial approximation it gives the Fresnel diffraction kernel.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334" y="1581912"/>
            <a:ext cx="3941333" cy="6858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688" y="2322576"/>
            <a:ext cx="3300624" cy="6858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345" y="3063240"/>
            <a:ext cx="3403310" cy="6583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794760"/>
            <a:ext cx="4160520" cy="111556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79476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80390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→ paraxial derivation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069080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3D: K(B,A) = exp(ikr)/(iλr)  where r=|B−A| (spherical wave)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Paraxial (small angles, r≈z+ρ²/2z): expand r in powers of (x₂−x₁)/z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K_paraxial = (i/λz)^½ exp(iπ(x₂−x₁)²/λz)  — the Fresnel kernel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free-space propagator: B=z, A=D=1, C=0 in ABCD notation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794760"/>
            <a:ext cx="4160520" cy="111556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79476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380390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Huygens–Fresnel from path integral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069080"/>
            <a:ext cx="3995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Convolving U(x₁) with K_free gives U(x₂) at distance 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x₁ on the input wavefront acts as a secondary source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K(x₂,x₁) = amplitude contribution from that secondary source to x₂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Huygens' principle — now derived, not postulated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ABCD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ABCD Propagator: Collins Integral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paraxial optical system described by an ABCD matrix, the path integral can be evaluated in closed form. The result is the Collins integral — the universal propagator for paraxial optics.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0857" y="1581912"/>
            <a:ext cx="4162286" cy="74980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180" y="2386584"/>
            <a:ext cx="3471640" cy="68580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693" y="3127248"/>
            <a:ext cx="3248614" cy="62179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7472" y="3822192"/>
            <a:ext cx="397764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20624" y="3877056"/>
            <a:ext cx="3831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of paraxial ray through ABCD system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12064" y="4379976"/>
            <a:ext cx="3648456" cy="0"/>
          </a:xfrm>
          <a:prstGeom prst="line">
            <a:avLst/>
          </a:prstGeom>
          <a:noFill/>
          <a:ln w="10160">
            <a:solidFill>
              <a:srgbClr val="8DB0C8"/>
            </a:solidFill>
            <a:prstDash val="dash"/>
          </a:ln>
        </p:spPr>
      </p:sp>
      <p:sp>
        <p:nvSpPr>
          <p:cNvPr id="13" name="Shape 8"/>
          <p:cNvSpPr/>
          <p:nvPr/>
        </p:nvSpPr>
        <p:spPr>
          <a:xfrm>
            <a:off x="804672" y="4059936"/>
            <a:ext cx="109728" cy="640080"/>
          </a:xfrm>
          <a:prstGeom prst="rect">
            <a:avLst/>
          </a:prstGeom>
          <a:solidFill>
            <a:srgbClr val="0096B7">
              <a:alpha val="60000"/>
            </a:srgbClr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764792" y="4059936"/>
            <a:ext cx="109728" cy="640080"/>
          </a:xfrm>
          <a:prstGeom prst="rect">
            <a:avLst/>
          </a:prstGeom>
          <a:solidFill>
            <a:srgbClr val="FFB703">
              <a:alpha val="6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724912" y="4059936"/>
            <a:ext cx="109728" cy="640080"/>
          </a:xfrm>
          <a:prstGeom prst="rect">
            <a:avLst/>
          </a:prstGeom>
          <a:solidFill>
            <a:srgbClr val="0096B7">
              <a:alpha val="60000"/>
            </a:srgbClr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39312" y="4059936"/>
            <a:ext cx="109728" cy="640080"/>
          </a:xfrm>
          <a:prstGeom prst="rect">
            <a:avLst/>
          </a:prstGeom>
          <a:solidFill>
            <a:srgbClr val="EF476F">
              <a:alpha val="6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12064" y="4315968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032504" y="431596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02336" y="44348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x₁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069080" y="44348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x₂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261872" y="4663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 B; C D]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4096512"/>
            <a:ext cx="3758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OPL = (Ax₁²−2x₁x₂+Dx₂²)/(2B)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63440" y="3822192"/>
            <a:ext cx="4160520" cy="111556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822192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36592" y="383133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cases of Collins integral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736592" y="4114800"/>
            <a:ext cx="399592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B=0: imaging condition — Collins kernel → δ(x₂−Ax₁) (magnified image)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A=D=0, B=f: Fourier transform — lens at focal plane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d: A=D=1, B=d, C=0 → Fresnel kernel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lens f: A=D=1, B=0, C=−1/f → quadratic phase screen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THIN LENS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 Lens as a Quadratic Phase Screen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lens imparts a quadratic phase to the field — it does not propagate the field spatially, it multiplies it by a phase factor that converts a plane wave into a converging spherical wave.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1119" y="1581912"/>
            <a:ext cx="3281763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2331720"/>
            <a:ext cx="84582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386584"/>
            <a:ext cx="8311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lens phase screen focuses: path-integral picture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21708" y="2852928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1708" y="2962656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1708" y="3072384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1708" y="3182112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21708" y="3291840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1708" y="3401568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21708" y="3511296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21708" y="3621024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1708" y="3730752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21708" y="3840480"/>
            <a:ext cx="109728" cy="73152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2064" y="3355848"/>
            <a:ext cx="8129016" cy="0"/>
          </a:xfrm>
          <a:prstGeom prst="line">
            <a:avLst/>
          </a:prstGeom>
          <a:noFill/>
          <a:ln w="10160">
            <a:solidFill>
              <a:srgbClr val="8DB0C8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576072" y="2916936"/>
            <a:ext cx="400050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6572" y="2916936"/>
            <a:ext cx="3726180" cy="438912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3099816"/>
            <a:ext cx="400050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6572" y="3099816"/>
            <a:ext cx="3726180" cy="256032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072" y="3355848"/>
            <a:ext cx="400050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6572" y="3355848"/>
            <a:ext cx="3726180" cy="0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6072" y="3611880"/>
            <a:ext cx="400050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6572" y="3611880"/>
            <a:ext cx="3726180" cy="-256032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6072" y="3794760"/>
            <a:ext cx="4000500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6572" y="3794760"/>
            <a:ext cx="3726180" cy="-438912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9600" y="3282696"/>
            <a:ext cx="146304" cy="146304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57616" y="3227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(focal point)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4632" y="3840480"/>
            <a:ext cx="8183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via edge = longer geometric path, thinner glass → shorter glass OPL → equal total OPL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4224528"/>
            <a:ext cx="4160520" cy="7132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0040" y="4224528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3192" y="423367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+ lens + free space = imaging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393192" y="4480560"/>
            <a:ext cx="3995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K_system = K_free(d₂) · K_lens(f) · K_free(d₁)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imaging when 1/d₁ + 1/d₂ = 1/f  (thin lens formula — derived from propagator convolution)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663440" y="4224528"/>
            <a:ext cx="4160520" cy="7132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63440" y="4224528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36592" y="423367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as Fourier transform (object at front focal plane)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736592" y="4480560"/>
            <a:ext cx="3995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d₁=f: K_system = K_free(f) · K_lens(f) · K_free(f)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field at back focal plane ∝ FT{U_in(x₁)} at spatial frequency x₂/(λf)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DIAGRAMS · REFLECTION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Feynman Diagrams for Optics I: Mirror Reflection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Feynman diagram represents one class of paths. For mirror reflection: integrate the propagator product K(B,Q)·r(Q)·K(Q,A) over all possible reflection points Q on the mirror surface. Stationary phase selects the specular point.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038" y="1627632"/>
            <a:ext cx="3531923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844" y="2304288"/>
            <a:ext cx="3648312" cy="7132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3108960"/>
            <a:ext cx="397764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3163824"/>
            <a:ext cx="3831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reflection points Q (Feynman)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4645152"/>
            <a:ext cx="3758184" cy="0"/>
          </a:xfrm>
          <a:prstGeom prst="line">
            <a:avLst/>
          </a:prstGeom>
          <a:noFill/>
          <a:ln w="31750">
            <a:solidFill>
              <a:srgbClr val="FB850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4645152"/>
            <a:ext cx="3758184" cy="182880"/>
          </a:xfrm>
          <a:prstGeom prst="rect">
            <a:avLst/>
          </a:prstGeom>
          <a:solidFill>
            <a:srgbClr val="FB8500">
              <a:alpha val="18000"/>
            </a:srgbClr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6384" y="3456432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21024" y="3547872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" y="34290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721608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50392" y="3520440"/>
            <a:ext cx="-82296" cy="1124712"/>
          </a:xfrm>
          <a:prstGeom prst="line">
            <a:avLst/>
          </a:prstGeom>
          <a:noFill/>
          <a:ln w="12700">
            <a:solidFill>
              <a:srgbClr val="8DB0C8">
                <a:alpha val="26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8096" y="4645152"/>
            <a:ext cx="2916936" cy="-1033272"/>
          </a:xfrm>
          <a:prstGeom prst="line">
            <a:avLst/>
          </a:prstGeom>
          <a:noFill/>
          <a:ln w="12700">
            <a:solidFill>
              <a:srgbClr val="8DB0C8">
                <a:alpha val="26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4608576"/>
            <a:ext cx="73152" cy="73152"/>
          </a:xfrm>
          <a:prstGeom prst="ellipse">
            <a:avLst/>
          </a:prstGeom>
          <a:solidFill>
            <a:srgbClr val="8DB0C8">
              <a:alpha val="26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0392" y="3520440"/>
            <a:ext cx="256032" cy="1124712"/>
          </a:xfrm>
          <a:prstGeom prst="line">
            <a:avLst/>
          </a:prstGeom>
          <a:noFill/>
          <a:ln w="12700">
            <a:solidFill>
              <a:srgbClr val="8DB0C8">
                <a:alpha val="34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06424" y="4645152"/>
            <a:ext cx="2578608" cy="-1033272"/>
          </a:xfrm>
          <a:prstGeom prst="line">
            <a:avLst/>
          </a:prstGeom>
          <a:noFill/>
          <a:ln w="12700">
            <a:solidFill>
              <a:srgbClr val="8DB0C8">
                <a:alpha val="34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69848" y="4608576"/>
            <a:ext cx="73152" cy="73152"/>
          </a:xfrm>
          <a:prstGeom prst="ellipse">
            <a:avLst/>
          </a:prstGeom>
          <a:solidFill>
            <a:srgbClr val="8DB0C8">
              <a:alpha val="34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0392" y="3520440"/>
            <a:ext cx="621792" cy="1124712"/>
          </a:xfrm>
          <a:prstGeom prst="line">
            <a:avLst/>
          </a:prstGeom>
          <a:noFill/>
          <a:ln w="12700">
            <a:solidFill>
              <a:srgbClr val="8DB0C8">
                <a:alpha val="42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472184" y="4645152"/>
            <a:ext cx="2212848" cy="-1033272"/>
          </a:xfrm>
          <a:prstGeom prst="line">
            <a:avLst/>
          </a:prstGeom>
          <a:noFill/>
          <a:ln w="12700">
            <a:solidFill>
              <a:srgbClr val="8DB0C8">
                <a:alpha val="42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435608" y="4608576"/>
            <a:ext cx="73152" cy="73152"/>
          </a:xfrm>
          <a:prstGeom prst="ellipse">
            <a:avLst/>
          </a:prstGeom>
          <a:solidFill>
            <a:srgbClr val="8DB0C8">
              <a:alpha val="42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0392" y="3520440"/>
            <a:ext cx="987552" cy="1124712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837944" y="4645152"/>
            <a:ext cx="1847088" cy="-1033272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801368" y="4608576"/>
            <a:ext cx="73152" cy="7315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50392" y="3520440"/>
            <a:ext cx="1353312" cy="1124712"/>
          </a:xfrm>
          <a:prstGeom prst="line">
            <a:avLst/>
          </a:prstGeom>
          <a:noFill/>
          <a:ln w="12700">
            <a:solidFill>
              <a:srgbClr val="8DB0C8">
                <a:alpha val="42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203704" y="4645152"/>
            <a:ext cx="1481328" cy="-1033272"/>
          </a:xfrm>
          <a:prstGeom prst="line">
            <a:avLst/>
          </a:prstGeom>
          <a:noFill/>
          <a:ln w="12700">
            <a:solidFill>
              <a:srgbClr val="8DB0C8">
                <a:alpha val="42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167128" y="4608576"/>
            <a:ext cx="73152" cy="73152"/>
          </a:xfrm>
          <a:prstGeom prst="ellipse">
            <a:avLst/>
          </a:prstGeom>
          <a:solidFill>
            <a:srgbClr val="8DB0C8">
              <a:alpha val="42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50392" y="3520440"/>
            <a:ext cx="1719072" cy="1124712"/>
          </a:xfrm>
          <a:prstGeom prst="line">
            <a:avLst/>
          </a:prstGeom>
          <a:noFill/>
          <a:ln w="12700">
            <a:solidFill>
              <a:srgbClr val="8DB0C8">
                <a:alpha val="3400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9464" y="4645152"/>
            <a:ext cx="1115568" cy="-1033272"/>
          </a:xfrm>
          <a:prstGeom prst="line">
            <a:avLst/>
          </a:prstGeom>
          <a:noFill/>
          <a:ln w="12700">
            <a:solidFill>
              <a:srgbClr val="8DB0C8">
                <a:alpha val="34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532888" y="4608576"/>
            <a:ext cx="73152" cy="73152"/>
          </a:xfrm>
          <a:prstGeom prst="ellipse">
            <a:avLst/>
          </a:prstGeom>
          <a:solidFill>
            <a:srgbClr val="8DB0C8">
              <a:alpha val="34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50392" y="3520440"/>
            <a:ext cx="2084832" cy="1124712"/>
          </a:xfrm>
          <a:prstGeom prst="line">
            <a:avLst/>
          </a:prstGeom>
          <a:noFill/>
          <a:ln w="12700">
            <a:solidFill>
              <a:srgbClr val="8DB0C8">
                <a:alpha val="26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5224" y="4645152"/>
            <a:ext cx="749808" cy="-1033272"/>
          </a:xfrm>
          <a:prstGeom prst="line">
            <a:avLst/>
          </a:prstGeom>
          <a:noFill/>
          <a:ln w="12700">
            <a:solidFill>
              <a:srgbClr val="8DB0C8">
                <a:alpha val="26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898648" y="4608576"/>
            <a:ext cx="73152" cy="73152"/>
          </a:xfrm>
          <a:prstGeom prst="ellipse">
            <a:avLst/>
          </a:prstGeom>
          <a:solidFill>
            <a:srgbClr val="8DB0C8">
              <a:alpha val="26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50392" y="3520440"/>
            <a:ext cx="2450592" cy="1124712"/>
          </a:xfrm>
          <a:prstGeom prst="line">
            <a:avLst/>
          </a:prstGeom>
          <a:noFill/>
          <a:ln w="12700">
            <a:solidFill>
              <a:srgbClr val="8DB0C8">
                <a:alpha val="1800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300984" y="4645152"/>
            <a:ext cx="384048" cy="-1033272"/>
          </a:xfrm>
          <a:prstGeom prst="line">
            <a:avLst/>
          </a:prstGeom>
          <a:noFill/>
          <a:ln w="12700">
            <a:solidFill>
              <a:srgbClr val="8DB0C8">
                <a:alpha val="18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264408" y="4608576"/>
            <a:ext cx="73152" cy="73152"/>
          </a:xfrm>
          <a:prstGeom prst="ellipse">
            <a:avLst/>
          </a:prstGeom>
          <a:solidFill>
            <a:srgbClr val="8DB0C8">
              <a:alpha val="18000"/>
            </a:srgbClr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691640" y="41696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(specular,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OPL)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 integrate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stationary phase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507992" y="3108960"/>
            <a:ext cx="4315968" cy="182880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507992" y="3108960"/>
            <a:ext cx="4315968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581144" y="3118104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stationary-phase analysis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4581144" y="3401568"/>
            <a:ext cx="4160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OPL(Q) = |Q−A|+|Q−B| is stationary at Q=Q₀ where θᵢ=θᵣ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Stationary-phase integral → amplitude r(Q₀)·K(B,Q₀)·K(Q₀,A)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reflection DERIVED — not assumed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Non-specular paths contribute corrections of order (λ/L) — the Goos-Hänchen shift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grazing incidence: many Q contribute → diffuse scattering from rough surfaces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Feynman explains reflection in his book QED (1985)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DIAGRAMS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Feynman Diagrams for Optics II: Refraction &amp; Double Slit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path-integral machinery gives Snell's law for refraction and the double-slit interference pattern — both as consequences of the same principle: sum exp(ik₀·OPL) over all paths.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8004" y="1554480"/>
            <a:ext cx="3507993" cy="6858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591" y="2295144"/>
            <a:ext cx="3796817" cy="6217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2999232"/>
            <a:ext cx="3977640" cy="19385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3054096"/>
            <a:ext cx="3831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slit: two Feynman paths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48640" y="3904488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2064" y="402336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947672" y="3273552"/>
            <a:ext cx="91440" cy="548640"/>
          </a:xfrm>
          <a:prstGeom prst="rect">
            <a:avLst/>
          </a:prstGeom>
          <a:solidFill>
            <a:srgbClr val="E8F4F8">
              <a:alpha val="80000"/>
            </a:srgbClr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947672" y="4005072"/>
            <a:ext cx="91440" cy="548640"/>
          </a:xfrm>
          <a:prstGeom prst="rect">
            <a:avLst/>
          </a:prstGeom>
          <a:solidFill>
            <a:srgbClr val="E8F4F8">
              <a:alpha val="80000"/>
            </a:srgbClr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920240" y="3840480"/>
            <a:ext cx="109728" cy="109728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920240" y="4517136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39112" y="38221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S₁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39112" y="449884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S₂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941064" y="3721608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59936" y="373075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76656" y="3968496"/>
            <a:ext cx="1271016" cy="-73152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020824" y="3895344"/>
            <a:ext cx="1984248" cy="-109728"/>
          </a:xfrm>
          <a:prstGeom prst="line">
            <a:avLst/>
          </a:prstGeom>
          <a:noFill/>
          <a:ln w="22860">
            <a:solidFill>
              <a:srgbClr val="0096B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6656" y="3968496"/>
            <a:ext cx="1271016" cy="603504"/>
          </a:xfrm>
          <a:prstGeom prst="line">
            <a:avLst/>
          </a:prstGeom>
          <a:noFill/>
          <a:ln w="22860">
            <a:solidFill>
              <a:srgbClr val="9B5D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020824" y="4572000"/>
            <a:ext cx="1984248" cy="-786384"/>
          </a:xfrm>
          <a:prstGeom prst="line">
            <a:avLst/>
          </a:prstGeom>
          <a:noFill/>
          <a:ln w="22860">
            <a:solidFill>
              <a:srgbClr val="9B5D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67712" y="32186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96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K₁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267712" y="39502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D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K₂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4498848"/>
            <a:ext cx="3758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U=K₁+K₂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I=|K₁+K₂|²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507992" y="2999232"/>
            <a:ext cx="4315968" cy="19385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07992" y="2999232"/>
            <a:ext cx="4315968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81144" y="3008376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 and double slit from one principle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581144" y="3291840"/>
            <a:ext cx="4160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Refraction: integrate K(B,Q)·t(Q)·K(Q,A) over interface. Stationary phase at Q₀ gives n₁sinθ₁=n₂sinθ₂ — Snell's law derived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t(Q) = Fresnel transmission coefficient (amplitude and phase from Maxwell boundary conditions)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slit: two discrete paths S₁ and S₂. No integral needed — only two terms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I(P) = |K₁+K₂|² = I₁+I₂+2√(I₁I₂)cos(Δφ) — standard interference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Δφ = k₀(OPL₂−OPL₁) = k₀d sinθ → fringes at sinθ = mλ/d ✓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FRESNEL ZONES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Fresnel Zones as Path-Integral Grouping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Fresnel zones are the natural partition of the path integral: each zone is the annular region of the wavefront whose OPL to the observation point P lies within one half-wavelength of the previous zone. Adjacent zones contribute opposite-sign amplitudes.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3981" y="1627632"/>
            <a:ext cx="4436038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531" y="2340864"/>
            <a:ext cx="3726937" cy="62179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920" y="3017520"/>
            <a:ext cx="4020160" cy="6583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749040"/>
            <a:ext cx="416052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74904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7581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radii and Fresnel number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023360"/>
            <a:ext cx="3995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 radius: rₘ = √(mλz)  (from OPL = z+mλ/2)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each zone ≈ πλz = const (zones have equal area!)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Fresnel number N_F = a²/(λz): number of zones in aperture of radius 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 ≫ 1: many zones cancel → geometric shadow (ray optics regime)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 ~ 1: ~1 zone → strong diffraction → maximum on-axis intensity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749040"/>
            <a:ext cx="4160520" cy="11704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74904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37581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plate: constructive interference by design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023360"/>
            <a:ext cx="3995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 even zones: odd zones add constructively → focus!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plate focal length: f = r₁²/λ  (r₁ = radius of first zone)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plate has multiple foci: f, f/3, f/5, ... (higher diffraction orders)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zone plates: only focusing element for hard X-rays (lenses don't work)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BABINET &amp; WKB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Babinet's Principle and the Semiclassical Propagator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Babinet's principle follows immediately from the linearity of the path integral. The semiclassical propagator generalises beyond the single-ray Fermat limit, capturing interference between multiple classical paths.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4405" y="1581912"/>
            <a:ext cx="3995190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04" y="2295144"/>
            <a:ext cx="3855592" cy="7498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3127248"/>
            <a:ext cx="41605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127248"/>
            <a:ext cx="416052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3192" y="313639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Babinet's principle derivation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93192" y="3401568"/>
            <a:ext cx="39959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integral over aperture + path integral over obstacle = path integral over free plane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U_aperture(P) + U_obstacle(P) = U_free(P)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diffraction pattern of aperture and its complement are related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points where U_free=0 (dark fringes of free aperture): U_aperture = −U_obstacle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3127248"/>
            <a:ext cx="41605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3127248"/>
            <a:ext cx="41605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36592" y="313639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Semiclassical propagator (WKB)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36592" y="3401568"/>
            <a:ext cx="3995928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 Fermat ray: sum over ALL classical paths (multiple reflections, diffraction paths)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Vleck determinant |det ∂²S/∂x_A∂x_B|^½ = amplitude weight (encodes ray-tube spreading)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Maslov index μ: counts caustic crossings (π/2 phase shift each)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at caustics: ray density → ∞, need full wave treatment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ray-tracing in resonators, tunnelling, catastrophe optics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20040" y="4407408"/>
            <a:ext cx="8503920" cy="566928"/>
          </a:xfrm>
          <a:prstGeom prst="rect">
            <a:avLst/>
          </a:prstGeom>
          <a:solidFill>
            <a:srgbClr val="1A2A3A"/>
          </a:solidFill>
          <a:ln w="10160">
            <a:solidFill>
              <a:srgbClr val="1B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4407408"/>
            <a:ext cx="85039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93192" y="4416552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hierarchy: Path integral → Fermat → ABCD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integral K=∫D[r]exp(ik₀OPL)  ⟶  Stationary phase (k₀→∞)  ⟶  Fermat ray  ⟶  Paraxial (small angles)  ⟶  ABCD matrices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[Wave optics: all λ effects]              [Single ray, no diffraction]                      [Linear ray optics]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Everything from One Principle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optical path integral K = ∫D[r] exp(ik₀ OPL) is the most complete description of paraxial light propagation. All other results are approximations or special cases.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377440"/>
            <a:ext cx="2377440" cy="1005840"/>
          </a:xfrm>
          <a:prstGeom prst="ellipse">
            <a:avLst/>
          </a:prstGeom>
          <a:solidFill>
            <a:srgbClr val="06D6A0">
              <a:alpha val="90000"/>
            </a:srgbClr>
          </a:solidFill>
          <a:ln w="317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2624328"/>
            <a:ext cx="2231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∫D[r] e^{ik₀OPL}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56432" y="2944368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Path Integral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8620" y="1042416"/>
            <a:ext cx="1965960" cy="658368"/>
          </a:xfrm>
          <a:prstGeom prst="rect">
            <a:avLst/>
          </a:prstGeom>
          <a:solidFill>
            <a:srgbClr val="1A2A3A"/>
          </a:solidFill>
          <a:ln w="1905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" y="1042416"/>
            <a:ext cx="1965960" cy="219456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" y="1051560"/>
            <a:ext cx="1856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Huygens–Fresnel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84" y="1298448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intermediate plane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54580" y="1700784"/>
            <a:ext cx="1028700" cy="676656"/>
          </a:xfrm>
          <a:prstGeom prst="line">
            <a:avLst/>
          </a:prstGeom>
          <a:noFill/>
          <a:ln w="15240">
            <a:solidFill>
              <a:srgbClr val="0096B7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89020" y="932688"/>
            <a:ext cx="1965960" cy="658368"/>
          </a:xfrm>
          <a:prstGeom prst="rect">
            <a:avLst/>
          </a:prstGeom>
          <a:solidFill>
            <a:srgbClr val="1A2A3A"/>
          </a:solidFill>
          <a:ln w="1905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89020" y="932688"/>
            <a:ext cx="1965960" cy="219456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3884" y="941832"/>
            <a:ext cx="1856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Fermat's Principle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43884" y="118872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stationary phase k₀→∞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89020" y="1591056"/>
            <a:ext cx="982980" cy="786384"/>
          </a:xfrm>
          <a:prstGeom prst="line">
            <a:avLst/>
          </a:prstGeom>
          <a:noFill/>
          <a:ln w="15240">
            <a:solidFill>
              <a:srgbClr val="FB8500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9420" y="1042416"/>
            <a:ext cx="1965960" cy="658368"/>
          </a:xfrm>
          <a:prstGeom prst="rect">
            <a:avLst/>
          </a:prstGeom>
          <a:solidFill>
            <a:srgbClr val="1A2A3A"/>
          </a:solidFill>
          <a:ln w="1905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9420" y="1042416"/>
            <a:ext cx="1965960" cy="219456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4284" y="1051560"/>
            <a:ext cx="1856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/ Collins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44284" y="1298448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paraxial + closed-form eval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1700784"/>
            <a:ext cx="1028700" cy="676656"/>
          </a:xfrm>
          <a:prstGeom prst="line">
            <a:avLst/>
          </a:prstGeom>
          <a:noFill/>
          <a:ln w="15240">
            <a:solidFill>
              <a:srgbClr val="9B5DE5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8620" y="4041648"/>
            <a:ext cx="1965960" cy="658368"/>
          </a:xfrm>
          <a:prstGeom prst="rect">
            <a:avLst/>
          </a:prstGeom>
          <a:solidFill>
            <a:srgbClr val="1A2A3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8620" y="4041648"/>
            <a:ext cx="1965960" cy="21945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" y="4050792"/>
            <a:ext cx="1856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= phase screen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" y="429768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 OPL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54580" y="3383280"/>
            <a:ext cx="1028700" cy="658368"/>
          </a:xfrm>
          <a:prstGeom prst="line">
            <a:avLst/>
          </a:prstGeom>
          <a:noFill/>
          <a:ln w="15240">
            <a:solidFill>
              <a:srgbClr val="FFB703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9020" y="4224528"/>
            <a:ext cx="1965960" cy="658368"/>
          </a:xfrm>
          <a:prstGeom prst="rect">
            <a:avLst/>
          </a:prstGeom>
          <a:solidFill>
            <a:srgbClr val="1A2A3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89020" y="4224528"/>
            <a:ext cx="1965960" cy="21945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43884" y="4233672"/>
            <a:ext cx="1856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Fresnel / Babinet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43884" y="448056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zones, apertures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89020" y="3383280"/>
            <a:ext cx="982980" cy="841248"/>
          </a:xfrm>
          <a:prstGeom prst="line">
            <a:avLst/>
          </a:prstGeom>
          <a:noFill/>
          <a:ln w="15240">
            <a:solidFill>
              <a:srgbClr val="EF476F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89420" y="4041648"/>
            <a:ext cx="1965960" cy="658368"/>
          </a:xfrm>
          <a:prstGeom prst="rect">
            <a:avLst/>
          </a:prstGeom>
          <a:solidFill>
            <a:srgbClr val="1A2A3A"/>
          </a:solidFill>
          <a:ln w="19050">
            <a:solidFill>
              <a:srgbClr val="FF6B9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89420" y="4041648"/>
            <a:ext cx="1965960" cy="219456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4284" y="4050792"/>
            <a:ext cx="1856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Semiclassical WKB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44284" y="429768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over classical paths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60720" y="3383280"/>
            <a:ext cx="1028700" cy="658368"/>
          </a:xfrm>
          <a:prstGeom prst="line">
            <a:avLst/>
          </a:prstGeom>
          <a:noFill/>
          <a:ln w="15240">
            <a:solidFill>
              <a:srgbClr val="FF6B9D">
                <a:alpha val="5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PROPAGATORS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Propagators &amp; Feynman: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Feynman, QED: The Strange Theory of Light and Matter (1985) — Princeton. Chapter 1–2: the path-integral view of light, reflection, refraction, lenses — intuitive and non-technical.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 — Ch. 10: Fresnel diffraction; Ch. 4.4: Huygens–Fresnel principle.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Wolf, Principles of Optics — Ch. 8: Fresnel zones, Babinet, Kirchhoff integral.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— Ch. 4.3: Fresnel diffraction and Collins integral.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Goodman, Introduction to Fourier Optics, 4th ed. — Ch. 3–5: scalar diffraction and the propagator viewpoint.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Collins (1970) J. Opt. Soc. Am 60, 1168: original paper on the ABCD diffraction integral.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&amp; Hibbs, Quantum Mechanics and Path Integrals (1965) — Dover. Original path-integral formulation; optics analogy in Ch. 2.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Berry &amp; Upstill (1980) Prog. Optics 18, 257: catastrophe optics — semiclassical propagator at caustics.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Siegman, Lasers — Ch. 16–17: Huygens' integral and ABCD propagation for Gaussian beams.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Use the Fresnel zone formula rₘ=√(mλz) to find the radius of the 5th Fresnel zone for λ=633nm and z=1m. Verify that all zones have approximately equal area πλz.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blocking odd Fresnel zones (keeping even zones) gives a zone plate with the same focal length f=r₁²/λ but a phase-shifted focus.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Using U=K₁+K₂ for a double slit with slit separation d, derive the fringe spacing Δy=λL/d at a screen distance 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Apply Babinet's principle: if a circular disk of radius a produces diffraction pattern U_disk(P), what is U_aperture(P) for a circular hole of the same radius?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Evaluate the Collins integral for free space (A=D=1, B=z, C=0) applied to a Gaussian input U(x₁)=exp(−x₁²/w₀²). Show the output is a Gaussian beam and find w(z).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Apply stationary phase to the mirror reflection integral ∫K(B,Q)·K(Q,A)dQ. Show that the stationary point satisfies θᵢ=θᵣ, deriving the law of reflection.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 Project] Implement the Collins integral numerically in Python using the FFT (angular-spectrum method). Propagate a top-hat aperture field through 10cm of free space and compare with the analytical Fresnel pattern.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04c: Propagators &amp; Feynman Path Integral</dc:title>
  <dc:subject>Lecture 04c</dc:subject>
  <dc:creator>Linear Optics Course</dc:creator>
  <cp:lastModifiedBy>Linear Optics Course</cp:lastModifiedBy>
  <cp:revision>1</cp:revision>
  <dcterms:created xsi:type="dcterms:W3CDTF">2026-04-18T06:10:58Z</dcterms:created>
  <dcterms:modified xsi:type="dcterms:W3CDTF">2026-04-18T06:10:58Z</dcterms:modified>
</cp:coreProperties>
</file>