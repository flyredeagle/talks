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9B5DE5">
              <a:alpha val="22000"/>
            </a:srgbClr>
          </a:solidFill>
          <a:ln w="12700">
            <a:solidFill>
              <a:srgbClr val="9B5DE5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9B5DE5">
              <a:alpha val="20000"/>
            </a:srgbClr>
          </a:solidFill>
          <a:ln w="12700">
            <a:solidFill>
              <a:srgbClr val="9B5DE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9B5DE5">
              <a:alpha val="18000"/>
            </a:srgbClr>
          </a:solidFill>
          <a:ln w="12700">
            <a:solidFill>
              <a:srgbClr val="9B5DE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9B5DE5">
              <a:alpha val="16000"/>
            </a:srgbClr>
          </a:solidFill>
          <a:ln w="12700">
            <a:solidFill>
              <a:srgbClr val="9B5DE5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9B5DE5">
              <a:alpha val="14000"/>
            </a:srgbClr>
          </a:solidFill>
          <a:ln w="12700">
            <a:solidFill>
              <a:srgbClr val="9B5DE5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9B5DE5">
              <a:alpha val="12000"/>
            </a:srgbClr>
          </a:solidFill>
          <a:ln w="12700">
            <a:solidFill>
              <a:srgbClr val="9B5DE5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Fourier Optics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Superposition · Spatial Frequencies · Eigenmodes · Transfer Functions · Rainbow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OPTICS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Equation Linearity &amp; Angular Spectrum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 equation is linear: if E₁ and E₂ are solutions, so is aE₁+bE₂. The general solution is a superposition of plane waves — the angular spectrum: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5304" y="1581912"/>
            <a:ext cx="4073391" cy="80467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20" y="2441448"/>
            <a:ext cx="4020160" cy="65836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78" y="3145536"/>
            <a:ext cx="3229044" cy="548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749040"/>
            <a:ext cx="8503920" cy="80467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74904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75818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Components as Linear Integral Operators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73" y="4005072"/>
            <a:ext cx="3336679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OPTICS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as a Fourier Transform Operator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738" y="1024128"/>
            <a:ext cx="5242523" cy="89611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200" y="1965960"/>
            <a:ext cx="4729600" cy="65836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531" y="2679192"/>
            <a:ext cx="3726937" cy="62179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364992"/>
            <a:ext cx="8503920" cy="9144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20040" y="4343400"/>
            <a:ext cx="4206240" cy="6858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5"/>
          <p:cNvSpPr/>
          <p:nvPr/>
        </p:nvSpPr>
        <p:spPr>
          <a:xfrm>
            <a:off x="320040" y="4343400"/>
            <a:ext cx="42062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393192" y="435254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 Imaging System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393192" y="459028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Object→FT plane (spatial filter H(fx))→image. Low-pass, high-pass, notch, phase-contrast, matched filter.</a:t>
            </a:r>
            <a:endParaRPr lang="en-US" sz="950" dirty="0"/>
          </a:p>
        </p:txBody>
      </p:sp>
      <p:sp>
        <p:nvSpPr>
          <p:cNvPr id="14" name="Shape 8"/>
          <p:cNvSpPr/>
          <p:nvPr/>
        </p:nvSpPr>
        <p:spPr>
          <a:xfrm>
            <a:off x="4754880" y="4343400"/>
            <a:ext cx="4206240" cy="6858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754880" y="4343400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828032" y="435254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Spectrum H(f,z)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828032" y="459028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H=exp(iπλz(fx²+fy²)) paraxial. Evanescent for |f|&gt;1/λ. Free-space propagation = phase filter.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OPTICS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Rainbow: White Light as a Fourier Superposition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light is an equal superposition of all visible wavelengths (380–740 nm). A prism or grating performs an optical Fourier transform, separating the eigenmodes by spatial frequency: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81912"/>
            <a:ext cx="8503920" cy="31272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continuous rainbow — all Fourier eigenmodes present. Bottom: amplitude spectrum showing major colour components as Fourier coefficients. Green (530nm) has highest spectral weight in white light.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OPTICS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Fourier Eigenmodes: Plane Waves as Basis Functions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Fourier series expresses any periodic function as a sum of sinusoidal eigenmodes. In optics, these eigenmodes are plane waves — the natural solutions of the linear wave equation: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311" y="1581912"/>
            <a:ext cx="4195378" cy="7772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04872"/>
            <a:ext cx="8503920" cy="12984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767328"/>
            <a:ext cx="4160520" cy="1298448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767328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77647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Eigenmodes &amp; Fourier Series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4041648"/>
            <a:ext cx="3995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waves are eigenfunctions of any translation-invariant optical system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decomposes any field into eigenmodes; IFT reconstructs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series cₙ=(1/L)∫E(x)e^{-i2πnx/L}dx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3767328"/>
            <a:ext cx="4160520" cy="129844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767328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77647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Rainbow &amp; White Light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4041648"/>
            <a:ext cx="3995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= optical Fourier analyser: disperses eigenmodes by frequency f=1/λ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colour = one eigenmode at spatial frequency fₙ=1/λₙ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 all → white light (Newton's prism experiment, 1672)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OPTICS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Fourier Optics: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Ch. 11: Fourier methods in optics — accessible introduction.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 Ch. 4: Fourier optics — wave optics and spatial filtering.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Gaskill, Linear Systems, Fourier Transforms, and Optics (1978) — Wiley: classic systems approach.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Goodman, Introduction to Fourier Optics, 4th ed. (2017) — definitive graduate reference.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Voelz, Computational Fourier Optics (SPIE 2011): numerical implementation with MATLAB/Python.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Goodman, Statistical Optics (2015): coherence and Fourier methods in speckle and imaging.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Fraunhofer pattern of a rectangular aperture (a×b) is a sinc² pattern. Find first zero positions.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In a 4-f system (f=100mm), design a filter removing spatial frequencies above 100 cyc/mm. What aperture diameter?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Derive coherent transfer function (CTF) and compare with incoherent OTF.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Implement angular spectrum propagation method in Python/NumPy. Propagate a Gaussian beam and compare with analytical result.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MSc] Simulate a phase-contrast microscope using Fourier optics. Show π/2 phase ring converts phase objects to amplitude contrast.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5: Fourier Optics</dc:title>
  <dc:subject>Lecture 5</dc:subject>
  <dc:creator>Linear Optics Course</dc:creator>
  <cp:lastModifiedBy>Linear Optics Course</cp:lastModifiedBy>
  <cp:revision>1</cp:revision>
  <dcterms:created xsi:type="dcterms:W3CDTF">2026-04-18T06:11:00Z</dcterms:created>
  <dcterms:modified xsi:type="dcterms:W3CDTF">2026-04-18T06:11:00Z</dcterms:modified>
</cp:coreProperties>
</file>