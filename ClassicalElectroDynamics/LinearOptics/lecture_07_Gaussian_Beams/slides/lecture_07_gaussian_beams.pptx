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FB8500">
              <a:alpha val="22000"/>
            </a:srgbClr>
          </a:solidFill>
          <a:ln w="12700">
            <a:solidFill>
              <a:srgbClr val="FB850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FB8500">
              <a:alpha val="20000"/>
            </a:srgbClr>
          </a:solidFill>
          <a:ln w="12700">
            <a:solidFill>
              <a:srgbClr val="FB850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FB8500">
              <a:alpha val="18000"/>
            </a:srgbClr>
          </a:solidFill>
          <a:ln w="12700">
            <a:solidFill>
              <a:srgbClr val="FB8500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FB8500">
              <a:alpha val="16000"/>
            </a:srgbClr>
          </a:solidFill>
          <a:ln w="12700">
            <a:solidFill>
              <a:srgbClr val="FB8500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FB8500">
              <a:alpha val="14000"/>
            </a:srgbClr>
          </a:solidFill>
          <a:ln w="12700">
            <a:solidFill>
              <a:srgbClr val="FB8500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FB8500">
              <a:alpha val="12000"/>
            </a:srgbClr>
          </a:solidFill>
          <a:ln w="12700">
            <a:solidFill>
              <a:srgbClr val="FB8500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Beams &amp; Beam Optics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q-Parameter · ABCD Kogelnik Law · Focused Beam Worked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BEAMS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Beam: Field, Parameters &amp; Geometry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378" y="1024128"/>
            <a:ext cx="3555243" cy="71323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448" y="1792224"/>
            <a:ext cx="3265104" cy="65836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487168"/>
            <a:ext cx="8503920" cy="123444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94" y="3785616"/>
            <a:ext cx="3704212" cy="621792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67" y="4462272"/>
            <a:ext cx="3419066" cy="566928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4617720" y="3785616"/>
            <a:ext cx="4206240" cy="1243584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5"/>
          <p:cNvSpPr/>
          <p:nvPr/>
        </p:nvSpPr>
        <p:spPr>
          <a:xfrm>
            <a:off x="4617720" y="3785616"/>
            <a:ext cx="42062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690872" y="3794760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Resonator Self-Consistency</a:t>
            </a:r>
            <a:endParaRPr lang="en-US" sz="9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4059936"/>
            <a:ext cx="4041648" cy="806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BEAMS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q-Parameter &amp; ABCD Kogelnik Transform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q-parameter ABCD law (Kogelnik bilinear transform) is the same 2×2 matrix as in geometric ray optics — unifying ray and wave treatments of paraxial beams: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947" y="1581912"/>
            <a:ext cx="3922107" cy="65836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48" y="2286000"/>
            <a:ext cx="3584504" cy="594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2999232"/>
            <a:ext cx="2788920" cy="16916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2999232"/>
            <a:ext cx="2788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008376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space (d)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11480" y="3273552"/>
            <a:ext cx="26060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M=[1,d;0,1]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q₂=q₁+d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(beam expands)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46120" y="2999232"/>
            <a:ext cx="2788920" cy="16916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46120" y="2999232"/>
            <a:ext cx="27889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19272" y="3008376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lens (f)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337560" y="3273552"/>
            <a:ext cx="26060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M=[1,0;−1/f,1]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1/q₂=1/q₁−1/f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(curvature shift)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72200" y="2999232"/>
            <a:ext cx="2788920" cy="169164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2999232"/>
            <a:ext cx="2788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45352" y="3008376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Resonator eigenmode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263640" y="3273552"/>
            <a:ext cx="26060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M=[A,B;C,D]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Cq²+(D−A)q−B=0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(stable mode)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724" y="4736592"/>
            <a:ext cx="1832551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BEAMS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Focusing a Gaussian Beam with a Thin Lens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 beam (waist w₀ at z=0) propagates to a thin lens at z=d₁, then focuses to waist w₀' at d₂ beyond the lens. We use the q-parameter ABCD method: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05" y="1581912"/>
            <a:ext cx="3540791" cy="59436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67" y="2212848"/>
            <a:ext cx="3419066" cy="56692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834640"/>
            <a:ext cx="4160520" cy="109728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22" y="3986784"/>
            <a:ext cx="4004757" cy="71323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663440" y="1024128"/>
            <a:ext cx="416052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4663440" y="1024128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736592" y="103327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Example &amp; Special Cases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4736592" y="1316736"/>
            <a:ext cx="3995928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λ=1064nm, w₀=1mm, d₁=500mm, f=200mm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z_R = πw₀²/λ = π×1²/0.001064 = 2953 mm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d₁−f = 500−200 = 300 mm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w₀' = 1×200/√(300²+2953²) = 200/2966 ≈ 0.0674 mm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z_R' = π(0.0674)²/0.001064 ≈ 13.4 mm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Special: d₁=f → w₀'=fλ/(πw₀): lens Fourier-transforms beam!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Special: z_R&gt;&gt;f → w₀'≈fλ/(πw₀): diffraction limit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663440" y="3566160"/>
            <a:ext cx="4160520" cy="137160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663440" y="3566160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736592" y="357530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Physical Insights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736592" y="3840480"/>
            <a:ext cx="39959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Focusing tighter requires larger input beam w₀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limit: w₀'=fλ/(πw₀) — cannot beat λ/NA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 factor: real beams w₀'θ=M²λ/π, M²=1 ideal Gaussian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BEAMS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Beams: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Teich, Fundamentals of Photonics Ch. 3: Gaussian beam optics — clear and complete.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 Ch. 5.6: beam optics and coherence.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Svelto, Principles of Lasers Ch. 4: Gaussian modes in laser cavities.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Siegman, Lasers Ch. 16–20: definitive Gaussian beams, ABCD, and resonators.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Kogelnik &amp; Li (1966) Proc. IEEE 54, 1312: original ABCD Gaussian beam paper.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11146: Laser beam characterisation (M² measurement standard).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HeNe laser (λ=633nm), w₀=0.5mm. Calculate beam radius and R(z) at z=1m and z=10m.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Using q-parameter: propagate Gaussian through 2m free space then 50mm lens. Find new waist.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Design beam expander (two lenses) expanding 0.5mm waist to 5mm, minimum total length.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Show that a lens at z=z_R maximises the focal spot area. What is the optimal position for minimum spot?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[Project: BSc] Measure M² of a diode laser using CCD camera + Python. Compare with diffraction-limited prediction.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[Project: MSc] Simulate resonator modes using round-trip q-parameter self-consistency. Plot mode size vs. mirror radius.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4: Gaussian Beams</dc:title>
  <dc:subject>Lecture 4</dc:subject>
  <dc:creator>Linear Optics Course</dc:creator>
  <cp:lastModifiedBy>Linear Optics Course</cp:lastModifiedBy>
  <cp:revision>1</cp:revision>
  <dcterms:created xsi:type="dcterms:W3CDTF">2026-04-18T06:11:00Z</dcterms:created>
  <dcterms:modified xsi:type="dcterms:W3CDTF">2026-04-18T06:11:00Z</dcterms:modified>
</cp:coreProperties>
</file>