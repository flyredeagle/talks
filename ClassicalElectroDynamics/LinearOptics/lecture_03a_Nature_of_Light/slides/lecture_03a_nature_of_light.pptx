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274320"/>
            <a:ext cx="3657600" cy="41148"/>
          </a:xfrm>
          <a:prstGeom prst="ellipse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502920"/>
            <a:ext cx="3657600" cy="41148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280160"/>
            <a:ext cx="3657600" cy="41148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2057400"/>
            <a:ext cx="3657600" cy="41148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834640"/>
            <a:ext cx="3657600" cy="41148"/>
          </a:xfrm>
          <a:prstGeom prst="ellipse">
            <a:avLst/>
          </a:prstGeom>
          <a:solidFill>
            <a:srgbClr val="00B4D8">
              <a:alpha val="14000"/>
            </a:srgbClr>
          </a:solidFill>
          <a:ln w="12700">
            <a:solidFill>
              <a:srgbClr val="00B4D8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3611880"/>
            <a:ext cx="3657600" cy="41148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03a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9601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Nature of Light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Electromagnetic Waves · Photons · Geometric Optics · Wave Optics · Historical Gallery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Optics Course  ·  All formulas typeset with LaTeX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OF LIGHT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Nature of Light: Waves and Photons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4114800" cy="3913632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41148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33272"/>
            <a:ext cx="3968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Picture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316736"/>
            <a:ext cx="395020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Electromagnetic wave — oscillating E and B fields perpendicular to propagation direction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Maxwell's equations predict c = 1/√(ε₀μ₀) ≈ 3×10⁸ m/s in vacuum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 λ, frequency ν, angular frequency ω = 2πν  →  c = λν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Polarization: the direction of the E-field oscillation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of waves → interference and diffraction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spectrum: 380 nm (violet) to 740 nm (deep red)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3246120"/>
            <a:ext cx="3950208" cy="691387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4069080"/>
            <a:ext cx="3950208" cy="53370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617720" y="1024128"/>
            <a:ext cx="4206240" cy="3913632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17720" y="1024128"/>
            <a:ext cx="420624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90872" y="1033272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Picture (Photons)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690872" y="1316736"/>
            <a:ext cx="404164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is quantised into photons — discrete energy packets E = hν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Wave-particle duality: single photons still create interference patterns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 spin ±ℏ ↔ left/right circular polarization states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optics: photon number unchanged, only paths and phases altered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states (lasers) are well described by classical E-field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Entangled photons: quantum optics regime, beyond linear optics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3246120"/>
            <a:ext cx="4041648" cy="64534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432" y="4005072"/>
            <a:ext cx="397052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OF LIGHT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Maxwell's Equations and the EM Wave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0005" y="1024128"/>
            <a:ext cx="4283991" cy="74980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40" y="1828800"/>
            <a:ext cx="4872921" cy="6583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" y="2578608"/>
            <a:ext cx="4160520" cy="2359152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20040" y="2578608"/>
            <a:ext cx="41605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93192" y="2587752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consequences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93192" y="2852928"/>
            <a:ext cx="39959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1/√(ε₀μ₀) — speed of light predicted from electric and magnetic constants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medium: v = c/n  where n = √(εᵣμᵣ) ≥ 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and B are perpendicular to each other and to the propagation direction 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intensity I = ½ε₀c|E₀|² — proportional to E-field amplitude squared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plane wave: E(r,t) = E₀cos(k·r − ωt + φ)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663440" y="2578608"/>
            <a:ext cx="4160520" cy="2359152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2578608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36592" y="2587752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Dispersion: n(λ) and the Sellmeier equation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736592" y="2852928"/>
            <a:ext cx="39959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is not constant — it varies with wavelength λ (dispersion)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Sellmeier: n²(λ)=1+Σ Bᵢλ²/(λ²−Cᵢ) — fits glass data precisely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velocity: vg = c/(n − λ dn/dλ) — speed of a pulse envelope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velocity dispersion (GVD): β₂ = d²k/dω² — pulse broadening per unit length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dispersion (dn/dλ &lt; 0): blue light slower than red — prisms, glass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dispersion: red slower than blue — used in fibre optic systems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" y="5001768"/>
            <a:ext cx="8503920" cy="13716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" y="5020056"/>
            <a:ext cx="8321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BK7 glass: n(589nm)=1.517, dn/dλ&lt;0 (normal). Fused SiO₂: anomalous dispersion above 1.27 μm — key for telecom fibre.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OF LIGHT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Geometric Optics: Rays, Lenses &amp; Mirrors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4434840" cy="7625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901952"/>
            <a:ext cx="4434840" cy="2212848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901952"/>
            <a:ext cx="443484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" y="1911096"/>
            <a:ext cx="4288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93192" y="2194560"/>
            <a:ext cx="42702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Lensmaker's equation: 1/f = (n−1)(1/R₁ − 1/R₂)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lens imaging: 1/f = 1/dₒ + 1/dᵢ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Transverse magnification: m = −dᵢ/dₒ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mirror focal length: f = R/2 (concave, R&gt;0)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critical angle: θc = arcsin(n₂/n₁) for n₁&gt;n₂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power: P = 1/f in diopters (m⁻¹)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96" y="4187952"/>
            <a:ext cx="3970528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937760" y="1024128"/>
            <a:ext cx="3886200" cy="3913632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937760" y="1024128"/>
            <a:ext cx="388620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10912" y="1033272"/>
            <a:ext cx="3739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Refractive Index Table (λ=589 nm)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010912" y="1316736"/>
            <a:ext cx="3721608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Vacuum:     n = 1.000 (exact, by definition)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Air:         n = 1.0003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Water:      n = 1.333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BK7 glass: n = 1.517, Abbe V = 64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SiO₂: n = 1.458, V = 68 (UV grade)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N-SF11 flint: n = 1.784, V = 25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Diamond:   n = 2.417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Silicon:     n = 3.48 (IR, 3–12 μm)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3703320"/>
            <a:ext cx="3721608" cy="5028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OF LIGHT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Optics: Interference, Diffraction &amp; Coherence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4206240" cy="1938528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42062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33272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Huygens' Principle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316736"/>
            <a:ext cx="404164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on a wavefront acts as a new secondary source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of secondary wavelets = new wavefront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bending of light at apertures (diffraction)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 integral makes this rigorous (Lecture 08)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24128"/>
            <a:ext cx="4206240" cy="1938528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24128"/>
            <a:ext cx="420624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033272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Young's Double Slit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316736"/>
            <a:ext cx="4041648" cy="6453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828032" y="2148840"/>
            <a:ext cx="4041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diff Δ = d sinθ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fringes: Δ = mλ  Dark: Δ = (m+½)λ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Fringe spacing Δy = λL/d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3054096"/>
            <a:ext cx="4206240" cy="1938528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3054096"/>
            <a:ext cx="420624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3192" y="3063240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Single-Slit Diffraction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93192" y="3346704"/>
            <a:ext cx="404164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I(θ) = I₀ sinc²(πa sinθ/λ)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minimum: sinθ = λ/a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Narrower slit → wider diffraction pattern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limit: Rayleigh criterion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54880" y="3054096"/>
            <a:ext cx="4206240" cy="1938528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3054096"/>
            <a:ext cx="420624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28032" y="3063240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&amp; Optical Path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828032" y="3346704"/>
            <a:ext cx="404164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coherence length: Lc = λ²/Δλ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 = n·d,  phase = 2π·OPL/λ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difference Δ &lt; Lc required for stable fringes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coherence: determines fringe visibility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OPTICS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Pioneers of Optics: A Historical Gallery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420624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24128"/>
            <a:ext cx="164592" cy="89611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107899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Ibn al-Haytham (Alhazen)  (965–1040)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7784" y="1371600"/>
            <a:ext cx="3895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of Optics (1021): first rigorous theory of vision, reflection, refraction, camera obscura. Introduced experimental method.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024128"/>
            <a:ext cx="420624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24128"/>
            <a:ext cx="164592" cy="8961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92624" y="107899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Willebrord Snellius  (1580–1626)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92624" y="1371600"/>
            <a:ext cx="3895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the law of refraction experimentally (1621). Published posthumously by Descartes as 'Snell's law'.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011680"/>
            <a:ext cx="420624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011680"/>
            <a:ext cx="164592" cy="89611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2066544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Pierre de Fermat  (1601–1665)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7784" y="2359152"/>
            <a:ext cx="3895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time (1662): light takes the path that minimises travel time — predicts Snell's law from a single variational statement.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011680"/>
            <a:ext cx="420624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011680"/>
            <a:ext cx="164592" cy="89611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2624" y="2066544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Christiaan Huygens  (1629–1695)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92624" y="2359152"/>
            <a:ext cx="3895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Traité de la Lumière (1678): wave theory of light, Huygens' principle, double refraction in Iceland spar (calcite).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999232"/>
            <a:ext cx="420624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999232"/>
            <a:ext cx="164592" cy="89611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" y="305409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Isaac Newton  (1643–1727)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7784" y="3346704"/>
            <a:ext cx="3895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Opticks (1704): dispersion of white light into spectrum, corpuscular theory, Newton's rings, first diffraction observations.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99232"/>
            <a:ext cx="420624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99232"/>
            <a:ext cx="164592" cy="8961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3054096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Thomas Young  (1773–1829)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92624" y="3346704"/>
            <a:ext cx="3895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Double-slit experiment (1801): definitively proved the wave nature of light. First to use the word 'wavelength'.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986784"/>
            <a:ext cx="420624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EF476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986784"/>
            <a:ext cx="164592" cy="89611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" y="404164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Augustin-Jean Fresnel  (1788–1827)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57784" y="4334256"/>
            <a:ext cx="3895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theory of diffraction (1818), polarization, Fresnel equations, Fresnel zones, Fresnel lens. Synthesis of Huygens and Young.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986784"/>
            <a:ext cx="420624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FF6B9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986784"/>
            <a:ext cx="164592" cy="89611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404164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James Clerk Maxwell  (1831–1879)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92624" y="4334256"/>
            <a:ext cx="3895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Treatise on Electricity and Magnetism (1873): unified EM theory. Predicted c = 1/√(ε₀μ₀) — light is an electromagnetic wave.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OF LIGHT · REFERENCES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Nature of Light: References, Problems &amp; Projects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1605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References &amp; Reading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Hecht, Optics, 5th ed. (2017) — Pearson. Chapters 1–5. The standard BSc optics text.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&amp; White, Fundamentals of Optics, 4th ed. (2001) — McGraw-Hill. Chapters 1–4.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&amp; Wolf, Principles of Optics, 7th ed. (1999) — Cambridge. Chapters 1–3.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 Lectures on Physics, Vol. I, Ch. 26–33. Free at feynmanlectures.caltech.edu.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Newton, Opticks (1704) — Dover reprint. Original dispersion and colour experiments.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/ Advanced References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&amp; Teich, Fundamentals of Photonics, 3rd ed. (2019) — Wiley. Chapters 1–5.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Mandel &amp; Wolf, Optical Coherence and Quantum Optics (1995) — Cambridge. Coherence theory.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&amp; Wolf, Chapters 8–12: polarization, coherence, interference at graduate level.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Agrawal, Nonlinear Fiber Optics (2019): dispersion engineering in modern fibres.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Dirac, The Principles of Quantum Mechanics Ch. 1: single-photon interference.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8503920" cy="150876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29000"/>
            <a:ext cx="8503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438144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Sets &amp; Projects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" y="3721608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Starting from Maxwell's equations in vacuum, derive the wave equation and show c = 1/√(ε₀μ₀).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A BK7 glass lens (n=1.517) has R₁=50mm, R₂=−50mm. Compute f, then verify with the thin-lens imaging formula for dₒ=200mm.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Calculate the coherence length of a sodium lamp (Δλ=0.6nm at λ=589nm). How many fringes are visible in a Michelson interferometer?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Using the Sellmeier equation for BK7, compute the GVD β₂ at 800nm. How long does a 100fs Gaussian pulse remain transform-limited after propagating 10 cm?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[Project: BSc] Write a Python simulation of Young's double-slit with finite-width slits. Plot fringe visibility vs. slit separation for different coherence lengths.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Optics — Lecture 03a: Nature of Light</dc:title>
  <dc:subject>Lecture 03a</dc:subject>
  <dc:creator>Linear Optics Course</dc:creator>
  <cp:lastModifiedBy>Linear Optics Course</cp:lastModifiedBy>
  <cp:revision>1</cp:revision>
  <dcterms:created xsi:type="dcterms:W3CDTF">2026-04-18T06:10:55Z</dcterms:created>
  <dcterms:modified xsi:type="dcterms:W3CDTF">2026-04-18T06:10:55Z</dcterms:modified>
</cp:coreProperties>
</file>