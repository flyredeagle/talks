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FFB703">
              <a:alpha val="22000"/>
            </a:srgbClr>
          </a:solidFill>
          <a:ln w="12700">
            <a:solidFill>
              <a:srgbClr val="FFB70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FFB703">
              <a:alpha val="18000"/>
            </a:srgbClr>
          </a:solidFill>
          <a:ln w="12700">
            <a:solidFill>
              <a:srgbClr val="FFB703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FFB703">
              <a:alpha val="16000"/>
            </a:srgbClr>
          </a:solidFill>
          <a:ln w="12700">
            <a:solidFill>
              <a:srgbClr val="FFB703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FFB703">
              <a:alpha val="14000"/>
            </a:srgbClr>
          </a:solidFill>
          <a:ln w="12700">
            <a:solidFill>
              <a:srgbClr val="FFB703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FFB703">
              <a:alpha val="12000"/>
            </a:srgbClr>
          </a:solidFill>
          <a:ln w="12700">
            <a:solidFill>
              <a:srgbClr val="FFB703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Calculus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Algebra · Jones Vectors · Component Matrices · Superposition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Vectors: Representing Polarization States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58" y="1024128"/>
            <a:ext cx="4193364" cy="84124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78" y="1920240"/>
            <a:ext cx="4011044" cy="8046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2852928"/>
            <a:ext cx="27889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2852928"/>
            <a:ext cx="2788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28620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linear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11480" y="3145536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0]ᵀ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2852928"/>
            <a:ext cx="27889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2852928"/>
            <a:ext cx="27889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19272" y="28620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linear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337560" y="3145536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1]ᵀ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2852928"/>
            <a:ext cx="27889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2852928"/>
            <a:ext cx="2788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45352" y="28620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+45° linear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63640" y="3145536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1]ᵀ / √2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20040" y="3950208"/>
            <a:ext cx="27889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3950208"/>
            <a:ext cx="27889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3192" y="39593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11480" y="4242816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−i]ᵀ / √2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246120" y="3950208"/>
            <a:ext cx="27889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46120" y="3950208"/>
            <a:ext cx="27889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19272" y="39593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337560" y="4242816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+i]ᵀ / √2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172200" y="3950208"/>
            <a:ext cx="27889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72200" y="3950208"/>
            <a:ext cx="27889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45352" y="395935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263640" y="4242816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[cosχ, i sinχ]ᵀ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Matrix: Linear Polarizer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108" y="1024128"/>
            <a:ext cx="4785904" cy="9601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29968"/>
            <a:ext cx="4892040" cy="126187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97" y="3364992"/>
            <a:ext cx="4196126" cy="5669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0040" y="4005072"/>
            <a:ext cx="4892040" cy="9144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320040" y="4005072"/>
            <a:ext cx="4892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93192" y="40142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93192" y="4279392"/>
            <a:ext cx="4681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J_H · J_V = 0  (crossed polarizers block each other)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= I_max/I_min: sheet ~10³:1, Glan-Taylor &gt;10⁵:1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angle, wavelength range, damage threshold are key specs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394960" y="1024128"/>
            <a:ext cx="342900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394960" y="1024128"/>
            <a:ext cx="34290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68112" y="103327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468112" y="1316736"/>
            <a:ext cx="32644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polarizers (Polaroid™): PVA film stretched to align polymer chains, doped with iodine chains that absorb the E-component parallel to the stretch direction (dichroism). ER~10³:1.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Wire-grid polarizers: sub-λ Al or Au wires on ZnSe or fused silica substrate. TM transmitted, TE reflected. Used in IR/THz.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Glan-Taylor prism: calcite birefringence (nₑ=1.658, nₒ=1.486) separates polarizations via TIR at the cemented interface. ER&gt;10⁵:1.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68112" y="4133088"/>
            <a:ext cx="3264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Thorlabs LPVIS100 (sheet)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Glan-Taylor calcite (ER&gt;10⁵:1)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wire-grid: ZnSe substrate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PBS cube: MacNeille coating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bg><p:bgPr><a:solidFill><a:srgbClr val="0D1B2A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9144000" cy="73152"/></a:xfrm><a:prstGeom prst="rect"><a:avLst></a:avLst></a:prstGeom><a:solidFill><a:srgbClr val="00B4D8"/></a:solidFill><a:ln w="12700"><a:solidFill><a:srgbClr val="00B4D8"/></a:solidFill><a:prstDash val="solid"/></a:ln></p:spPr></p:sp><p:sp><p:nvSpPr><p:cNvPr id="3" name="Text 1"></p:cNvPr><p:cNvSpPr/><p:nvPr></p:nvPr></p:nvSpPr><p:spPr><a:xfrm><a:off x="320040" y="109728"/><a:ext cx="6400800" cy="201168"/></a:xfrm><a:prstGeom prst="rect"><a:avLst></a:avLst></a:prstGeom><a:noFill/><a:ln></a:ln></p:spPr><p:txBody><a:bodyPr wrap="square" rtlCol="0" anchor="ctr"></a:bodyPr><a:lstStyle/><a:p><a:pPr indent="0" marL="0"><a:buNone/></a:pPr><a:r><a:rPr lang="en-US" sz="750" b="1" spc="200" kern="0" dirty="0"><a:solidFill><a:srgbClr val="8DB0C8"/></a:solidFill><a:latin typeface="Calibri" pitchFamily="34" charset="0"/><a:ea typeface="Calibri" pitchFamily="34" charset="-122"/><a:cs typeface="Calibri" pitchFamily="34" charset="-120"/></a:rPr><a:t>JONES CALCULUS</a:t></a:r><a:endParaRPr lang="en-US" sz="750" dirty="0"/></a:p></p:txBody></p:sp><p:sp><p:nvSpPr><p:cNvPr id="4" name="Text 2"></p:cNvPr><p:cNvSpPr/><p:nvPr></p:nvPr></p:nvSpPr><p:spPr><a:xfrm><a:off x="320040" y="292608"/><a:ext cx="8503920" cy="621792"/></a:xfrm><a:prstGeom prst="rect"><a:avLst></a:avLst></a:prstGeom><a:noFill/><a:ln></a:ln></p:spPr><p:txBody><a:bodyPr wrap="square" rtlCol="0" anchor="ctr"></a:bodyPr><a:lstStyle/><a:p><a:pPr indent="0" marL="0"><a:buNone/></a:pPr><a:r><a:rPr lang="en-US" sz="2400" b="1" dirty="0"><a:solidFill><a:srgbClr val="FFFFFF"/></a:solidFill><a:latin typeface="Georgia" pitchFamily="34" charset="0"/><a:ea typeface="Georgia" pitchFamily="34" charset="-122"/><a:cs typeface="Georgia" pitchFamily="34" charset="-120"/></a:rPr><a:t>Jones Matrix: Wave Plate (Phase Retarder)</a:t></a:r><a:endParaRPr lang="en-US" sz="2400" dirty="0"/></a:p></p:txBody></p:sp><p:sp><p:nvSpPr><p:cNvPr id="5" name="Shape 3"></p:cNvPr><p:cNvSpPr/><p:nvPr></p:nvPr></p:nvSpPr><p:spPr><a:xfrm><a:off x="320040" y="941832"/><a:ext cx="8503920" cy="0"/></a:xfrm><a:prstGeom prst="line"><a:avLst></a:avLst></a:prstGeom><a:noFill/><a:ln w="19050"><a:solidFill><a:srgbClr val="00B4D8"><a:alpha val="70000"/></a:srgbClr></a:solidFill><a:prstDash val="solid"/></a:ln></p:spPr></p:sp><p:pic>  <p:nvPicPr><p:cNvPr id="6" name="Image 0" descr="preencoded.png">    </p:cNvPr>    <p:cNvPicPr><a:picLocks noChangeAspect="1"/></p:cNvPicPr>    <p:nvPr></p:nvPr>  </p:nvPicPr><p:blipFill><a:blip r:embed="rId1"></a:blip>  <a:stretch><a:fillRect/></a:stretch></p:blipFill><p:spPr> <a:xfrm>  <a:off x="2428817" y="1024128"/>  <a:ext cx="4286365" cy="868680"/> </a:xfrm> <a:prstGeom prst="rect"><a:avLst/></a:prstGeom></p:spPr></p:pic><p:pic>  <p:nvPicPr><p:cNvPr id="7" name="Image 1" descr="preencoded.png">    </p:cNvPr>    <p:cNvPicPr><a:picLocks noChangeAspect="1"/></p:cNvPicPr>    <p:nvPr></p:nvPr>  </p:nvPicPr><p:blipFill><a:blip r:embed="rId2"></a:blip>  <a:stretch><a:fillRect/></a:stretch></p:blipFill><p:spPr> <a:xfrm>  <a:off x="320040" y="1938528"/>  <a:ext cx="8503920" cy="1051560"/> </a:xfrm> <a:prstGeom prst="rect"><a:avLst/></a:prstGeom></p:spPr></p:pic><p:sp><p:nvSpPr><p:cNvPr id="8" name="Shape 4"></p:cNvPr><p:cNvSpPr/><p:nvPr></p:nvPr></p:nvSpPr><p:spPr><a:xfrm><a:off x="320040" y="3090672"/><a:ext cx="2788920" cy="1508760"/></a:xfrm><a:prstGeom prst="rect"><a:avLst></a:avLst></a:prstGeom><a:solidFill><a:srgbClr val="1A2A3A"/></a:solidFill><a:ln w="10160"><a:solidFill><a:srgbClr val="0096B7"/></a:solidFill><a:prstDash val="solid"/></a:ln><a:effectLst> <a:outerShdw sx="100000" sy="100000" kx="0" ky="0" algn="bl" rotWithShape="0" blurRad="101600" dist="38100" dir="8100000"> <a:srgbClr val="000000"> <a:alpha val="25000"/></a:srgbClr> </a:outerShdw></a:effectLst></p:spPr></p:sp><p:sp><p:nvSpPr><p:cNvPr id="9" name="Shape 5"></p:cNvPr><p:cNvSpPr/><p:nvPr></p:nvPr></p:nvSpPr><p:spPr><a:xfrm><a:off x="320040" y="3090672"/><a:ext cx="2788920" cy="256032"/></a:xfrm><a:prstGeom prst="rect"><a:avLst></a:avLst></a:prstGeom><a:solidFill><a:srgbClr val="0096B7"/></a:solidFill><a:ln w="12700"><a:solidFill><a:srgbClr val="0096B7"/></a:solidFill><a:prstDash val="solid"/></a:ln></p:spPr></p:sp><p:sp><p:nvSpPr><p:cNvPr id="10" name="Text 6"></p:cNvPr><p:cNvSpPr/><p:nvPr></p:nvPr></p:nvSpPr><p:spPr><a:xfrm><a:off x="393192" y="3099816"/><a:ext cx="2642616" cy="228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950" b="1" dirty="0"><a:solidFill><a:srgbClr val="0D1B2A"/></a:solidFill><a:latin typeface="Calibri" pitchFamily="34" charset="0"/><a:ea typeface="Calibri" pitchFamily="34" charset="-122"/><a:cs typeface="Calibri" pitchFamily="34" charset="-120"/></a:rPr><a:t>QWP (Γ=π/2)</a:t></a:r><a:endParaRPr lang="en-US" sz="950" dirty="0"/></a:p></p:txBody></p:sp><p:sp><p:nvSpPr><p:cNvPr id="11" name="Text 7"></p:cNvPr><p:cNvSpPr/><p:nvPr></p:nvPr></p:nvSpPr><p:spPr><a:xfrm><a:off x="393192" y="3364992"/><a:ext cx="2633472" cy="1170432"/></a:xfrm><a:prstGeom prst="rect"><a:avLst></a:avLst></a:prstGeom><a:noFill/><a:ln></a:ln></p:spPr><p:txBody><a:bodyPr wrap="square" rtlCol="0" anchor="ctr"></a:bodyPr><a:lstStyle/><a:p><a:pPr indent="0" marL="0"><a:buNone/></a:pPr><a:r><a:rPr lang="en-US" sz="1050" dirty="0"><a:solidFill><a:srgbClr val="E8F4F8"/></a:solidFill><a:latin typeface="Calibri" pitchFamily="34" charset="0"/><a:ea typeface="Calibri" pitchFamily="34" charset="-122"/><a:cs typeface="Calibri" pitchFamily="34" charset="-120"/></a:rPr><a:t>Converts +45° linear → RCP. Converts circular → linear. Used in optical isolators and ellipsometry.</a:t></a:r><a:endParaRPr lang="en-US" sz="1050" dirty="0"/></a:p></p:txBody></p:sp><p:sp><p:nvSpPr><p:cNvPr id="12" name="Shape 8"></p:cNvPr><p:cNvSpPr/><p:nvPr></p:nvPr></p:nvSpPr><p:spPr><a:xfrm><a:off x="3246120" y="3090672"/><a:ext cx="2788920" cy="1508760"/></a:xfrm><a:prstGeom prst="rect"><a:avLst></a:avLst></a:prstGeom><a:solidFill><a:srgbClr val="1A2A3A"/></a:solidFill><a:ln w="10160"><a:solidFill><a:srgbClr val="FFB703"/></a:solidFill><a:prstDash val="solid"/></a:ln><a:effectLst> <a:outerShdw sx="100000" sy="100000" kx="0" ky="0" algn="bl" rotWithShape="0" blurRad="101600" dist="38100" dir="8100000"> <a:srgbClr val="000000"> <a:alpha val="25000"/></a:srgbClr> </a:outerShdw></a:effectLst></p:spPr></p:sp><p:sp><p:nvSpPr><p:cNvPr id="13" name="Shape 9"></p:cNvPr><p:cNvSpPr/><p:nvPr></p:nvPr></p:nvSpPr><p:spPr><a:xfrm><a:off x="3246120" y="3090672"/><a:ext cx="2788920" cy="256032"/></a:xfrm><a:prstGeom prst="rect"><a:avLst></a:avLst></a:prstGeom><a:solidFill><a:srgbClr val="FFB703"/></a:solidFill><a:ln w="12700"><a:solidFill><a:srgbClr val="FFB703"/></a:solidFill><a:prstDash val="solid"/></a:ln></p:spPr></p:sp><p:sp><p:nvSpPr><p:cNvPr id="14" name="Text 10"></p:cNvPr><p:cNvSpPr/><p:nvPr></p:nvPr></p:nvSpPr><p:spPr><a:xfrm><a:off x="3319272" y="3099816"/><a:ext cx="2642616" cy="228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950" b="1" dirty="0"><a:solidFill><a:srgbClr val="0D1B2A"/></a:solidFill><a:latin typeface="Calibri" pitchFamily="34" charset="0"/><a:ea typeface="Calibri" pitchFamily="34" charset="-122"/><a:cs typeface="Calibri" pitchFamily="34" charset="-120"/></a:rPr><a:t>HWP (Γ=π)</a:t></a:r><a:endParaRPr lang="en-US" sz="950" dirty="0"/></a:p></p:txBody></p:sp><p:sp><p:nvSpPr><p:cNvPr id="15" name="Text 11"></p:cNvPr><p:cNvSpPr/><p:nvPr></p:nvPr></p:nvSpPr><p:spPr><a:xfrm><a:off x="3319272" y="3364992"/><a:ext cx="2633472" cy="1170432"/></a:xfrm><a:prstGeom prst="rect"><a:avLst></a:avLst></a:prstGeom><a:noFill/><a:ln></a:ln></p:spPr><p:txBody><a:bodyPr wrap="square" rtlCol="0" anchor="ctr"></a:bodyPr><a:lstStyle/><a:p><a:pPr indent="0" marL="0"><a:buNone/></a:pPr><a:r><a:rPr lang="en-US" sz="1050" dirty="0"><a:solidFill><a:srgbClr val="E8F4F8"/></a:solidFill><a:latin typeface="Calibri" pitchFamily="34" charset="0"/><a:ea typeface="Calibri" pitchFamily="34" charset="-122"/><a:cs typeface="Calibri" pitchFamily="34" charset="-120"/></a:rPr><a:t>Rotates linear polarization by 2θ. Converts RCP → LCP. Used in beam steering and polarization rotation.</a:t></a:r><a:endParaRPr lang="en-US" sz="1050" dirty="0"/></a:p></p:txBody></p:sp><p:sp><p:nvSpPr><p:cNvPr id="16" name="Shape 12"></p:cNvPr><p:cNvSpPr/><p:nvPr></p:nvPr></p:nvSpPr><p:spPr><a:xfrm><a:off x="6172200" y="3090672"/><a:ext cx="2788920" cy="1508760"/></a:xfrm><a:prstGeom prst="rect"><a:avLst></a:avLst></a:prstGeom><a:solidFill><a:srgbClr val="1A2A3A"/></a:solidFill><a:ln w="10160"><a:solidFill><a:srgbClr val="06D6A0"/></a:solidFill><a:prstDash val="solid"/></a:ln><a:effectLst> <a:outerShdw sx="100000" sy="100000" kx="0" ky="0" algn="bl" rotWithShape="0" blurRad="101600" dist="38100" dir="8100000"> <a:srgbClr val="000000"> <a:alpha val="25000"/></a:srgbClr> </a:outerShdw></a:effectLst></p:spPr></p:sp><p:sp><p:nvSpPr><p:cNvPr id="17" name="Shape 13"></p:cNvPr><p:cNvSpPr/><p:nvPr></p:nvPr></p:nvSpPr><p:spPr><a:xfrm><a:off x="6172200" y="3090672"/><a:ext cx="2788920" cy="256032"/></a:xfrm><a:prstGeom prst="rect"><a:avLst></a:avLst></a:prstGeom><a:solidFill><a:srgbClr val="06D6A0"/></a:solidFill><a:ln w="12700"><a:solidFill><a:srgbClr val="06D6A0"/></a:solidFill><a:prstDash val="solid"/></a:ln></p:spPr></p:sp><p:sp><p:nvSpPr><p:cNvPr id="18" name="Text 14"></p:cNvPr><p:cNvSpPr/><p:nvPr></p:nvPr></p:nvSpPr><p:spPr><a:xfrm><a:off x="6245352" y="3099816"/><a:ext cx="2642616" cy="228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950" b="1" dirty="0"><a:solidFill><a:srgbClr val="0D1B2A"/></a:solidFill><a:latin typeface="Calibri" pitchFamily="34" charset="0"/><a:ea typeface="Calibri" pitchFamily="34" charset="-122"/><a:cs typeface="Calibri" pitchFamily="34" charset="-120"/></a:rPr><a:t>Full wave (Γ=2π)</a:t></a:r><a:endParaRPr lang="en-US" sz="950" dirty="0"/></a:p></p:txBody></p:sp><p:sp><p:nvSpPr><p:cNvPr id="19" name="Text 15"></p:cNvPr><p:cNvSpPr/><p:nvPr></p:nvPr></p:nvSpPr><p:spPr><a:xfrm><a:off x="6245352" y="3364992"/><a:ext cx="2633472" cy="1170432"/></a:xfrm><a:prstGeom prst="rect"><a:avLst></a:avLst></a:prstGeom><a:noFill/><a:ln></a:ln></p:spPr><p:txBody><a:bodyPr wrap="square" rtlCol="0" anchor="ctr"></a:bodyPr><a:lstStyle/><a:p><a:pPr indent="0" marL="0"><a:buNone/></a:pPr><a:r><a:rPr lang="en-US" sz="1050" dirty="0"><a:solidFill><a:srgbClr val="E8F4F8"/></a:solidFill><a:latin typeface="Calibri" pitchFamily="34" charset="0"/><a:ea typeface="Calibri" pitchFamily="34" charset="-122"/><a:cs typeface="Calibri" pitchFamily="34" charset="-120"/></a:rPr><a:t>Identity for all polarization states except at oblique angles. Used in birefringence compensators.</a:t></a:r><a:endParaRPr lang="en-US" sz="1050" dirty="0"/></a:p></p:txBody></p:sp><p:sp><p:nvSpPr><p:cNvPr id="20" name="Shape 16"></p:cNvPr><p:cNvSpPr/><p:nvPr></p:nvPr></p:nvSpPr><p:spPr><a:xfrm><a:off x="914400" y="914400"/><a:ext cx="914400" cy="914400"/></a:xfrm><a:prstGeom prst="class Slide {
    constructor(params) {
        var _a;
        this.addSlide = params.addSlide;
        this.getSlide = params.getSlide;
        this._name = `Slide ${params.slideNumber}`;
        this._presLayout = params.presLayout;
        this._rId = params.slideRId;
        this._rels = [];
        this._relsChart = [];
        this._relsMedia = [];
        this._setSlideNum = params.setSlideNum;
        this._slideId = params.slideId;
        this._slideLayout = params.slideLayout || null;
        this._slideNum = params.slideNumber;
        this._slideObjects = [];
        /** NOTE: Slide Numbers: In order for Slide Numbers to function they need to be in all 3 files: master/layout/slide
         * `defineSlideMaster` and `addNewSlide.slideNumber` will add {slideNumber} to `this.masterSlide` and `this.slideLayouts`
         * so, lastly, add to the Slide now.
         */
        this._slideNumberProps = ((_a = this._slideLayout) === null || _a === void 0 ? void 0 : _a._slideNumberProps) ? this._slideLayout._slideNumberProps : null;
    }
    set bkgd(value) {
        this._bkgd = value;
        if (!this._background || !this._background.color) {
            if (!this._background)
                this._background = {};
            if (typeof value === 'string')
                this._background.color = value;
        }
    }
    get bkgd() {
        return this._bkgd;
    }
    set background(props) {
        this._background = props;
        // Add background (image data/path must be captured before `exportPresentation()` is called)
        if (props)
            addBackgroundDefinition(props, this);
    }
    get background() {
        return this._background;
    }
    set color(value) {
        this._color = value;
    }
    get color() {
        return this._color;
    }
    set hidden(value) {
        this._hidden = value;
    }
    get hidden() {
        return this._hidden;
    }
    /**
     * @type {SlideNumberProps}
     */
    set slideNumber(value) {
        // NOTE: Slide Numbers: In order for Slide Numbers to function they need to be in all 3 files: master/layout/slide
        this._slideNumberProps = value;
        this._setSlideNum(value);
    }
    get slideNumber() {
        return this._slideNumberProps;
    }
    get newAutoPagedSlides() {
        return this._newAutoPagedSlides;
    }
    /**
     * Add chart to Slide
     * @param {CHART_NAME|IChartMulti[]} type - chart type
     * @param {object[]} data - data object
     * @param {IChartOpts} options - chart options
     * @return {Slide} this Slide
     */
    addChart(type, data, options) {
        // FUTURE: TODO-VERSION-4: Remove first arg - only take data and opts, with "type" required on opts
        // Set `_type` on IChartOptsLib as its what is used as object is passed around
        const optionsWithType = options || {};
        optionsWithType._type = type;
        addChartDefinition(this, type, data, options);
        return this;
    }
    /**
     * Add image to Slide
     * @param {ImageProps} options - image options
     * @return {Slide} this Slide
     */
    addImage(options) {
        addImageDefinition(this, options);
        return this;
    }
    /**
     * Add media (audio/video) to Slide
     * @param {MediaProps} options - media options
     * @return {Slide} this Slide
     */
    addMedia(options) {
        addMediaDefinition(this, options);
        return this;
    }
    /**
     * Add speaker notes to Slide
     * @docs https://gitbrent.github.io/PptxGenJS/docs/speaker-notes.html
     * @param {string} notes - notes to add to slide
     * @return {Slide} this Slide
     */
    addNotes(notes) {
        addNotesDefinition(this, notes);
        return this;
    }
    /**
     * Add shape to Slide
     * @param {SHAPE_NAME} shapeName - shape name
     * @param {ShapeProps} options - shape options
     * @return {Slide} this Slide
     */
    addShape(shapeName, options) {
        // NOTE: As of v3.1.0, <script> users are passing the old shape object from the shapes file (orig to the project)
        // But React/TypeScript users are passing the shapeName from an enum, which is a simple string, so lets cast
        // <script./> => `pptx.shapes.RECTANGLE` [string] "rect" ... shapeName['name'] = 'rect'
        // TypeScript => `pptxgen.shapes.RECTANGLE` [string] "rect" ... shapeName = 'rect'
        // let shapeNameDecode = typeof shapeName === 'object' && shapeName['name'] ? shapeName['name'] : shapeName
        addShapeDefinition(this, shapeName, options);
        return this;
    }
    /**
     * Add table to Slide
     * @param {TableRow[]} tableRows - table rows
     * @param {TableProps} options - table options
     * @return {Slide} this Slide
     */
    addTable(tableRows, options) {
        // FUTURE: we pass `this` - we dont need to pass layouts - they can be read from this!
        this._newAutoPagedSlides = addTableDefinition(this, tableRows, options, this._slideLayout, this._presLayout, this.addSlide, this.getSlide);
        return this;
    }
    /**
     * Add text to Slide
     * @param {string|TextProps[]} text - text string or complex object
     * @param {TextPropsOptions} options - text options
     * @return {Slide} this Slide
     */
    addText(text, options) {
        const textParam = typeof text === 'string' || typeof text === 'number' ? [{ text, options }] : text;
        addTextDefinition(this, textParam, options, false);
        return this;
    }
}"><a:avLst></a:avLst></a:prstGeom><a:noFill/><a:ln></a:ln></p:spPr></p:sp><p:sp><p:nvSpPr><p:cNvPr id="21" name="Shape 17"></p:cNvPr><p:cNvSpPr/><p:nvPr></p:nvPr></p:nvSpPr><p:spPr><a:xfrm><a:off x="320040" y="4663440"/><a:ext cx="8503920" cy="292608"/></a:xfrm><a:prstGeom prst="rect"><a:avLst></a:avLst></a:prstGeom><a:solidFill><a:srgbClr val="1B2E4A"/></a:solidFill><a:ln w="12700"><a:solidFill><a:srgbClr val="1B2E4A"/></a:solidFill><a:prstDash val="solid"/></a:ln></p:spPr></p:sp><p:sp><p:nvSpPr><p:cNvPr id="22" name="Text 18"></p:cNvPr><p:cNvSpPr/><p:nvPr></p:nvPr></p:nvSpPr><p:spPr><a:xfrm><a:off x="457200" y="4681728"/><a:ext cx="8321040" cy="256032"/></a:xfrm><a:prstGeom prst="rect"><a:avLst></a:avLst></a:prstGeom><a:noFill/><a:ln></a:ln></p:spPr><p:txBody><a:bodyPr wrap="square" rtlCol="0" anchor="ctr"></a:bodyPr><a:lstStyle/><a:p><a:pPr indent="0" marL="0"><a:buNone/></a:pPr><a:r><a:rPr lang="en-US" sz="850" dirty="0"><a:solidFill><a:srgbClr val="8DB0C8"/></a:solidFill><a:latin typeface="Calibri" pitchFamily="34" charset="0"/><a:ea typeface="Calibri" pitchFamily="34" charset="-122"/><a:cs typeface="Calibri" pitchFamily="34" charset="-120"/></a:rPr><a:t>Materials: Calcite Δn=0.172 · Quartz Δn=0.009 · MgF₂ Δn=0.011 · LiNbO₃ (tunable EO) · YVO₄ nₑ=2.149,nₒ=1.945 · PVA polymer films</a:t></a:r><a:endParaRPr lang="en-US" sz="850" dirty="0"/></a:p></p:txBody></p:sp></p:spTree></p:cSld><p:clrMapOvr><a:masterClrMapping/></p:clrMapOvr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Matrix: Beamsplitter &amp; Polarizing Beamsplitter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008" y="1024128"/>
            <a:ext cx="4330104" cy="868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38528"/>
            <a:ext cx="4892040" cy="11155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127248"/>
            <a:ext cx="489204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3127248"/>
            <a:ext cx="489204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313639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matrices &amp; interference condition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93192" y="3401568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J_T = [1,0;0,0]  (transmits p-pol / 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J_R = [0,0;0,1]  (reflects s-pol / 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Interference visibility = 1 only when both beams have same polarization state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94960" y="1024128"/>
            <a:ext cx="342900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024128"/>
            <a:ext cx="342900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68112" y="103327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68112" y="1316736"/>
            <a:ext cx="32644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BS: two right-angle prisms cemented (optical cement n~1.52) with metal-dielectric or all-dielectric coating at hypotenuse, designed for R≈T at 45°.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BS: tilted glass plate — introduces walk-off astigmatism. Simpler but less achromatic.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MacNeille design: multilayer coating on hypotenuse. TIR-based PBS (Glan-Thompson): very high 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BK7 (VIS), fused silica (UV), ZnSe (mid-IR), CaF₂ (broad IR).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68112" y="4133088"/>
            <a:ext cx="3264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50:50 cube: Thorlabs BS010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PBS cube: ER&gt;500:1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Glan-Thompson: TIR-based, high 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Non-polarizing cube: equal R/T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Matrix: Faraday Rotator &amp; Optical Isolator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40" y="1024128"/>
            <a:ext cx="3788841" cy="868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38528"/>
            <a:ext cx="4892040" cy="11155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12724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Non-reciprocal: back-propagating light rotates by ADDITIONAL +θ_F (not −θ_F). Breaks time-reversal symmetry.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3703320"/>
            <a:ext cx="489204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703320"/>
            <a:ext cx="489204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712464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Isolator (30–60 dB isolation)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959352"/>
            <a:ext cx="4681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P(0°) → Faraday 45° → P(45°)  [forward: 0°→45°→pass]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Backward: 45°→45°+45°=90° → blocked by P(0°)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394960" y="1024128"/>
            <a:ext cx="342900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1024128"/>
            <a:ext cx="342900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68112" y="103327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468112" y="1316736"/>
            <a:ext cx="32644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Magneto-optical effect: applied B-field lifts degeneracy of LCP/RCP modes via Zeeman splitting → n₊≠n₋ (circular birefringence). θ_F = (n₋−n₊)πL/λ.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 (Y₃Fe₅O₁₂): cubic garnet, Ia3̄d space group. V≈−0.12°/(Oe·cm) at 1064nm.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TGG (Tb₃Ga₅O₁₂): V≈−134 rad/(T·m) at 1064nm. Dominant for high-power lasers.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Bi:YIG thin film: very high Verdet for integrated photonics isolators.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68112" y="4133088"/>
            <a:ext cx="3264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YIG: V≈−0.12°/(Oe·cm)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TGG: V≈−134 rad/(T·m)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Bi:YIG: integrated photonics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Insertion loss: &lt;0.3 dB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Matrix: Electro-Optic Modulator (Pockels EOM)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892040" cy="84121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01952"/>
            <a:ext cx="4892040" cy="1097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063240"/>
            <a:ext cx="4892040" cy="144475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3063240"/>
            <a:ext cx="48920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3072384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Pockels Effect Fundamentals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93192" y="3337560"/>
            <a:ext cx="4681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χ⁽²⁾ ≠ 0 required (non-centrosymmetric crystal). Applied E-field changes n via Δn = −½n³rE (linear EO / Pockels coefficient r). LiNbO₃: r₃₃≈31 pm/V. AC voltage V(t) modulates polarization state dynamically for RF modulation up to ~40 GHz.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94960" y="1024128"/>
            <a:ext cx="342900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024128"/>
            <a:ext cx="34290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68112" y="103327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68112" y="1316736"/>
            <a:ext cx="32644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LiNbO₃: trigonal (R3c), ferroelectric at RT. r₃₃=31 pm/V, Vπ~200–400V for cm-length crystal. Telecom modulator workhorse.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KTP (KTiOPO₄): orthorhombic (Pna2₁). r₃₃=35 pm/V, lower Vπ.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 (β-BaB₂O₄): UV range, r₂₂=2.7 pm/V. For UV pulse pickers.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niobate on insulator (LNOI): Vπ&lt;1V in nanophotonic waveguide, &gt;100GHz bandwidth.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68112" y="4133088"/>
            <a:ext cx="32644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EOM: GHz modulation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Q-switch, pulse picker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Mach-Zehnder modulator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LNOI: Vπ&lt;1V, &gt;100GHz BW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Superposition &amp; Cascade in Jones Calculus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 is a direct application of linear algebra. The linearity of Maxwell's equations means both Jones vectors and matrices obey the superposition principle: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683" y="1581912"/>
            <a:ext cx="4764634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859" y="2286000"/>
            <a:ext cx="4836282" cy="6583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017520"/>
            <a:ext cx="4160520" cy="190195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01752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02666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Examples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291840"/>
            <a:ext cx="399592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+ V (δ=0): E=[1,1]ᵀ/√2 → +45° linear polarization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+ V (δ=π/2): E=[1,i]ᵀ/√2 → right circular polarization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elliptical state is a superposition of H and V basis states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and LCP are a complete circular basis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017520"/>
            <a:ext cx="4160520" cy="190195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01752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02666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Across Multiple Components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291840"/>
            <a:ext cx="399592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J = Jₙ·...·J₂·J₁ — product of all element matrices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J·(aE₁+bE₂) = aJ·E₁ + bJ·E₂ for any complex a,b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through any number of elements: full linearity retained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polarization state space is a complex vector space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CALCULUS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Jones Calculus: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Ch. 8: polarization — intuitive introduction with diagrams.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Pedrotti Ch. 14–16: matrix methods for polarization.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 Ch. 6: polarization optics and Jones matrices.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 Ch. 9: birefringence, wave plates, polarizing elements.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Yariv &amp; Yeh, Optical Waves in Crystals (1984): definitive Jones/Mueller with crystal physics.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Chipman, Handbook of Optics Vol. II Ch. 22–27: Jones and Mueller — comprehensive.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Collett, Field Guide to Polarization (SPIE 2005): compact graduate reference.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Azzam &amp; Bashara, Ellipsometry and Polarized Light (1977): Mueller/Stokes depth.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Compute J = J_QWP(45°)·J_HWP(22.5°). Verify it rotates horizontal → vertical polarization.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a HWP with fast axis at 45° converts RCP to LCP. Use Jones matrix formalism.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An isolator: Faraday 45° between two polarizers. Compute forward and backward transmission in dB.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Derive the Jones matrix for a Babinet-Soleil compensator; show it generates any polarization state from horizontal input.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Compute the Jones matrix for a Lyot filter and plot the transmission spectrum vs. wavelength.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MSc] Simulate a full Stokes polarimeter (4-state measurement); reconstruct Stokes vector from noisy intensity data.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3: Jones Calculus</dc:title>
  <dc:subject>Lecture 3</dc:subject>
  <dc:creator>Linear Optics Course</dc:creator>
  <cp:lastModifiedBy>Linear Optics Course</cp:lastModifiedBy>
  <cp:revision>1</cp:revision>
  <dcterms:created xsi:type="dcterms:W3CDTF">2026-04-18T06:10:59Z</dcterms:created>
  <dcterms:modified xsi:type="dcterms:W3CDTF">2026-04-18T06:10:59Z</dcterms:modified>
</cp:coreProperties>
</file>