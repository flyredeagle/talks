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FF6B9D">
              <a:alpha val="22000"/>
            </a:srgbClr>
          </a:solidFill>
          <a:ln w="12700">
            <a:solidFill>
              <a:srgbClr val="FF6B9D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FF6B9D">
              <a:alpha val="20000"/>
            </a:srgbClr>
          </a:solidFill>
          <a:ln w="12700">
            <a:solidFill>
              <a:srgbClr val="FF6B9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FF6B9D">
              <a:alpha val="18000"/>
            </a:srgbClr>
          </a:solidFill>
          <a:ln w="12700">
            <a:solidFill>
              <a:srgbClr val="FF6B9D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FF6B9D">
              <a:alpha val="16000"/>
            </a:srgbClr>
          </a:solidFill>
          <a:ln w="12700">
            <a:solidFill>
              <a:srgbClr val="FF6B9D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FF6B9D">
              <a:alpha val="14000"/>
            </a:srgbClr>
          </a:solidFill>
          <a:ln w="12700">
            <a:solidFill>
              <a:srgbClr val="FF6B9D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FF6B9D">
              <a:alpha val="12000"/>
            </a:srgbClr>
          </a:solidFill>
          <a:ln w="12700">
            <a:solidFill>
              <a:srgbClr val="FF6B9D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Mueller Calculus &amp; Stokes Formalism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Polarization · Stokes Vectors · Mueller Matrices · Poincaré Sphere · Polarimetry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MUELLER CALCULUS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Stokes Parameters: Describing Partially Polarized Light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vectors describe only fully coherent, fully polarized light. Stokes parameters S₀–S₃ are real, time-averaged intensity differences — they describe any polarization state: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543" y="1627632"/>
            <a:ext cx="4132194" cy="129844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45" y="2971800"/>
            <a:ext cx="4309191" cy="74980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417320"/>
            <a:ext cx="3749040" cy="23774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3794760"/>
            <a:ext cx="2788920" cy="59436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20040" y="3794760"/>
            <a:ext cx="16459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8640" y="3831336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linear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48640" y="40690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1, 0, 0]ᵀ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246120" y="3794760"/>
            <a:ext cx="2788920" cy="59436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246120" y="3794760"/>
            <a:ext cx="164592" cy="5943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474720" y="3831336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linear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3474720" y="40690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−1, 0, 0]ᵀ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72200" y="3794760"/>
            <a:ext cx="2788920" cy="5943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72200" y="3794760"/>
            <a:ext cx="164592" cy="594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0" y="3831336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+45° linear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00800" y="40690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0, 1, 0]ᵀ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0040" y="4453128"/>
            <a:ext cx="2788920" cy="59436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20040" y="4453128"/>
            <a:ext cx="164592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8970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48640" y="47274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0, 0, 1]ᵀ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246120" y="4453128"/>
            <a:ext cx="2788920" cy="59436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246120" y="4453128"/>
            <a:ext cx="164592" cy="59436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474720" y="448970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474720" y="47274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0, 0, −1]ᵀ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172200" y="4453128"/>
            <a:ext cx="2788920" cy="594360"/>
          </a:xfrm>
          <a:prstGeom prst="rect">
            <a:avLst/>
          </a:prstGeom>
          <a:solidFill>
            <a:srgbClr val="1A2A3A"/>
          </a:solidFill>
          <a:ln w="10160">
            <a:solidFill>
              <a:srgbClr val="8DB0C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172200" y="4453128"/>
            <a:ext cx="164592" cy="594360"/>
          </a:xfrm>
          <a:prstGeom prst="rect">
            <a:avLst/>
          </a:prstGeom>
          <a:solidFill>
            <a:srgbClr val="8DB0C8"/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400800" y="448970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Unpolarized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400800" y="47274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0, 0, 0]ᵀ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MUELLER CALCULUS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Mueller Matrices &amp; Component Examples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859" y="1024128"/>
            <a:ext cx="4836282" cy="65836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02" y="1737360"/>
            <a:ext cx="3259196" cy="102412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102" y="1737360"/>
            <a:ext cx="3259196" cy="102412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20040" y="2834640"/>
            <a:ext cx="8503920" cy="118872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320040" y="283464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93192" y="284378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Mueller vs Jones Comparison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93192" y="31089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polarized only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736592" y="31089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DOP (0 to 1)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93192" y="34564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parameters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736592" y="34564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real parameters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393192" y="3803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depolarization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736592" y="3803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Depolarization natural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93192" y="415137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Phase-sensitive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736592" y="415137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averages only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2834640"/>
            <a:ext cx="0" cy="118872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371600" y="28529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943600" y="28529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Mueller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402" y="4087368"/>
            <a:ext cx="2677196" cy="841248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923" y="4974336"/>
            <a:ext cx="812153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MUELLER CALCULUS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Mueller Matrix: Polarizer and Wave Plate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Mueller matrix acts on the 4-component Stokes vector. Here are the matrices for the key polarization elements: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160520" cy="19202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6362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Linear Polarizer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828800"/>
            <a:ext cx="3995928" cy="125562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3440" y="1554480"/>
            <a:ext cx="4160520" cy="19202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55448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156362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QWP (fast axis horizontal)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28800"/>
            <a:ext cx="3995928" cy="125562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0040" y="3547872"/>
            <a:ext cx="8503920" cy="137160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547872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93192" y="3557016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→ Mueller Conversion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964" y="3822192"/>
            <a:ext cx="3055496" cy="96012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118" y="4828032"/>
            <a:ext cx="1579187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MUELLER CALCULUS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Mueller Calculus: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 Ch. 8.12: Stokes parameters and degree of polarization.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 Ch. 6.6: Mueller matrices and Stokes vectors.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Pedrotti Ch. 16: partial polarization and Mueller calculus.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Chipman, Handbook of Optics Vol. II Ch. 22–27 — most comprehensive Mueller/Jones reference.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Azzam &amp; Bashara, Ellipsometry and Polarized Light (1977): Mueller and coherency matrices.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&amp; Ossikovski, Polarized Light, Fundamentals and Applications (2016) — Cambridge UP.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 (1986) Optik 75, 26: eigenvalue decomposition of Mueller matrices.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Compute Stokes vector for +45° linear light through QWP (fast axis horizontal). What polarization results?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Verify that Mueller matrix for H polarizer satisfies M²=M (idempotent). What does this mean physically?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that for a non-depolarizing element, det(M) = (det J)² where J is the Jones matrix.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Design a Stokes polarimeter using 4 intensity measurements. Write the measurement matrix and show it can be inverted.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Decompose a general Mueller matrix using the Lu-Chipman polar decomposition into depolarizer, retarder, and diattenuator.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[Project: MSc] Implement Mueller matrix spectropolarimeter simulation in Python. Model polarimetric properties of a cholesteric liquid crystal layer.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7: Mueller Calculus</dc:title>
  <dc:subject>Lecture 7</dc:subject>
  <dc:creator>Linear Optics Course</dc:creator>
  <cp:lastModifiedBy>Linear Optics Course</cp:lastModifiedBy>
  <cp:revision>1</cp:revision>
  <dcterms:created xsi:type="dcterms:W3CDTF">2026-04-18T06:11:00Z</dcterms:created>
  <dcterms:modified xsi:type="dcterms:W3CDTF">2026-04-18T06:11:00Z</dcterms:modified>
</cp:coreProperties>
</file>